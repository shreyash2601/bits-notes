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notesSlides/notesSlide1.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8"/>
  </p:notesMasterIdLst>
  <p:sldIdLst>
    <p:sldId id="257" r:id="rId2"/>
    <p:sldId id="412" r:id="rId3"/>
    <p:sldId id="260" r:id="rId4"/>
    <p:sldId id="261" r:id="rId5"/>
    <p:sldId id="286" r:id="rId6"/>
    <p:sldId id="307" r:id="rId7"/>
    <p:sldId id="287" r:id="rId8"/>
    <p:sldId id="288" r:id="rId9"/>
    <p:sldId id="289" r:id="rId10"/>
    <p:sldId id="290" r:id="rId11"/>
    <p:sldId id="291" r:id="rId12"/>
    <p:sldId id="292" r:id="rId13"/>
    <p:sldId id="293" r:id="rId14"/>
    <p:sldId id="294" r:id="rId15"/>
    <p:sldId id="295" r:id="rId16"/>
    <p:sldId id="296" r:id="rId17"/>
    <p:sldId id="297" r:id="rId18"/>
    <p:sldId id="298" r:id="rId19"/>
    <p:sldId id="299" r:id="rId20"/>
    <p:sldId id="300" r:id="rId21"/>
    <p:sldId id="301" r:id="rId22"/>
    <p:sldId id="302" r:id="rId23"/>
    <p:sldId id="303" r:id="rId24"/>
    <p:sldId id="304" r:id="rId25"/>
    <p:sldId id="305" r:id="rId26"/>
    <p:sldId id="306" r:id="rId27"/>
    <p:sldId id="308" r:id="rId28"/>
    <p:sldId id="263" r:id="rId29"/>
    <p:sldId id="310" r:id="rId30"/>
    <p:sldId id="264" r:id="rId31"/>
    <p:sldId id="265" r:id="rId32"/>
    <p:sldId id="266" r:id="rId33"/>
    <p:sldId id="267" r:id="rId34"/>
    <p:sldId id="268" r:id="rId35"/>
    <p:sldId id="269" r:id="rId36"/>
    <p:sldId id="270" r:id="rId37"/>
    <p:sldId id="271" r:id="rId38"/>
    <p:sldId id="272" r:id="rId39"/>
    <p:sldId id="273" r:id="rId40"/>
    <p:sldId id="274" r:id="rId41"/>
    <p:sldId id="275" r:id="rId42"/>
    <p:sldId id="276" r:id="rId43"/>
    <p:sldId id="277" r:id="rId44"/>
    <p:sldId id="278" r:id="rId45"/>
    <p:sldId id="279" r:id="rId46"/>
    <p:sldId id="280" r:id="rId47"/>
    <p:sldId id="281" r:id="rId48"/>
    <p:sldId id="282" r:id="rId49"/>
    <p:sldId id="283" r:id="rId50"/>
    <p:sldId id="284" r:id="rId51"/>
    <p:sldId id="285" r:id="rId52"/>
    <p:sldId id="311" r:id="rId53"/>
    <p:sldId id="312" r:id="rId54"/>
    <p:sldId id="313" r:id="rId55"/>
    <p:sldId id="315" r:id="rId56"/>
    <p:sldId id="316" r:id="rId57"/>
    <p:sldId id="317" r:id="rId58"/>
    <p:sldId id="318" r:id="rId59"/>
    <p:sldId id="319" r:id="rId60"/>
    <p:sldId id="320" r:id="rId61"/>
    <p:sldId id="321" r:id="rId62"/>
    <p:sldId id="322" r:id="rId63"/>
    <p:sldId id="323" r:id="rId64"/>
    <p:sldId id="324" r:id="rId65"/>
    <p:sldId id="325" r:id="rId66"/>
    <p:sldId id="326" r:id="rId67"/>
    <p:sldId id="327" r:id="rId68"/>
    <p:sldId id="328" r:id="rId69"/>
    <p:sldId id="329" r:id="rId70"/>
    <p:sldId id="330" r:id="rId71"/>
    <p:sldId id="331" r:id="rId72"/>
    <p:sldId id="332" r:id="rId73"/>
    <p:sldId id="333" r:id="rId74"/>
    <p:sldId id="334" r:id="rId75"/>
    <p:sldId id="336" r:id="rId76"/>
    <p:sldId id="337" r:id="rId77"/>
    <p:sldId id="338" r:id="rId78"/>
    <p:sldId id="339" r:id="rId79"/>
    <p:sldId id="340" r:id="rId80"/>
    <p:sldId id="341" r:id="rId81"/>
    <p:sldId id="342" r:id="rId82"/>
    <p:sldId id="343" r:id="rId83"/>
    <p:sldId id="344" r:id="rId84"/>
    <p:sldId id="345" r:id="rId85"/>
    <p:sldId id="346" r:id="rId86"/>
    <p:sldId id="347" r:id="rId87"/>
    <p:sldId id="348" r:id="rId88"/>
    <p:sldId id="349" r:id="rId89"/>
    <p:sldId id="350" r:id="rId90"/>
    <p:sldId id="351" r:id="rId91"/>
    <p:sldId id="352" r:id="rId92"/>
    <p:sldId id="353" r:id="rId93"/>
    <p:sldId id="354" r:id="rId94"/>
    <p:sldId id="355" r:id="rId95"/>
    <p:sldId id="356" r:id="rId96"/>
    <p:sldId id="357" r:id="rId97"/>
    <p:sldId id="358" r:id="rId98"/>
    <p:sldId id="359" r:id="rId99"/>
    <p:sldId id="360" r:id="rId100"/>
    <p:sldId id="361" r:id="rId101"/>
    <p:sldId id="362" r:id="rId102"/>
    <p:sldId id="363" r:id="rId103"/>
    <p:sldId id="364" r:id="rId104"/>
    <p:sldId id="365" r:id="rId105"/>
    <p:sldId id="366" r:id="rId106"/>
    <p:sldId id="367" r:id="rId107"/>
    <p:sldId id="369" r:id="rId108"/>
    <p:sldId id="370" r:id="rId109"/>
    <p:sldId id="371" r:id="rId110"/>
    <p:sldId id="372" r:id="rId111"/>
    <p:sldId id="373" r:id="rId112"/>
    <p:sldId id="374" r:id="rId113"/>
    <p:sldId id="375" r:id="rId114"/>
    <p:sldId id="377" r:id="rId115"/>
    <p:sldId id="378" r:id="rId116"/>
    <p:sldId id="379" r:id="rId117"/>
    <p:sldId id="380" r:id="rId118"/>
    <p:sldId id="381" r:id="rId119"/>
    <p:sldId id="382" r:id="rId120"/>
    <p:sldId id="383" r:id="rId121"/>
    <p:sldId id="384" r:id="rId122"/>
    <p:sldId id="385" r:id="rId123"/>
    <p:sldId id="386" r:id="rId124"/>
    <p:sldId id="387" r:id="rId125"/>
    <p:sldId id="388" r:id="rId126"/>
    <p:sldId id="389" r:id="rId127"/>
    <p:sldId id="390" r:id="rId128"/>
    <p:sldId id="392" r:id="rId129"/>
    <p:sldId id="393" r:id="rId130"/>
    <p:sldId id="394" r:id="rId131"/>
    <p:sldId id="395" r:id="rId132"/>
    <p:sldId id="396" r:id="rId133"/>
    <p:sldId id="397" r:id="rId134"/>
    <p:sldId id="399" r:id="rId135"/>
    <p:sldId id="400" r:id="rId136"/>
    <p:sldId id="401" r:id="rId137"/>
    <p:sldId id="402" r:id="rId138"/>
    <p:sldId id="403" r:id="rId139"/>
    <p:sldId id="404" r:id="rId140"/>
    <p:sldId id="405" r:id="rId141"/>
    <p:sldId id="406" r:id="rId142"/>
    <p:sldId id="407" r:id="rId143"/>
    <p:sldId id="408" r:id="rId144"/>
    <p:sldId id="409" r:id="rId145"/>
    <p:sldId id="410" r:id="rId146"/>
    <p:sldId id="411" r:id="rId14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0114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94641" autoAdjust="0"/>
  </p:normalViewPr>
  <p:slideViewPr>
    <p:cSldViewPr>
      <p:cViewPr varScale="1">
        <p:scale>
          <a:sx n="75" d="100"/>
          <a:sy n="75" d="100"/>
        </p:scale>
        <p:origin x="1594"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presProps" Target="presProps.xml"/><Relationship Id="rId5" Type="http://schemas.openxmlformats.org/officeDocument/2006/relationships/slide" Target="slides/slide4.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viewProps" Target="viewProps.xml"/><Relationship Id="rId155" Type="http://schemas.openxmlformats.org/officeDocument/2006/relationships/customXml" Target="../customXml/item3.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theme" Target="theme/theme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customXml" Target="../customXml/item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customXml" Target="../customXml/item2.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554E17E-ACDA-4D33-BCAE-677FB616DBEF}" type="datetimeFigureOut">
              <a:rPr lang="en-IN" smtClean="0"/>
              <a:pPr/>
              <a:t>31-07-2026</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7BC08CD-08CE-4BE9-82DB-405CF9CCA283}" type="slidenum">
              <a:rPr lang="en-IN" smtClean="0"/>
              <a:pPr/>
              <a:t>‹#›</a:t>
            </a:fld>
            <a:endParaRPr lang="en-IN"/>
          </a:p>
        </p:txBody>
      </p:sp>
    </p:spTree>
    <p:extLst>
      <p:ext uri="{BB962C8B-B14F-4D97-AF65-F5344CB8AC3E}">
        <p14:creationId xmlns:p14="http://schemas.microsoft.com/office/powerpoint/2010/main" val="18837853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C7BC08CD-08CE-4BE9-82DB-405CF9CCA283}" type="slidenum">
              <a:rPr lang="en-IN" smtClean="0"/>
              <a:pPr/>
              <a:t>3</a:t>
            </a:fld>
            <a:endParaRPr lang="en-IN"/>
          </a:p>
        </p:txBody>
      </p:sp>
    </p:spTree>
    <p:extLst>
      <p:ext uri="{BB962C8B-B14F-4D97-AF65-F5344CB8AC3E}">
        <p14:creationId xmlns:p14="http://schemas.microsoft.com/office/powerpoint/2010/main" val="317520057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a:blip r:embed="rId2" cstate="print"/>
          <a:stretch>
            <a:fillRect/>
          </a:stretch>
        </a:blipFill>
        <a:effectLst/>
      </p:bgPr>
    </p:bg>
    <p:spTree>
      <p:nvGrpSpPr>
        <p:cNvPr id="1" name=""/>
        <p:cNvGrpSpPr/>
        <p:nvPr/>
      </p:nvGrpSpPr>
      <p:grpSpPr>
        <a:xfrm>
          <a:off x="0" y="0"/>
          <a:ext cx="0" cy="0"/>
          <a:chOff x="0" y="0"/>
          <a:chExt cx="0" cy="0"/>
        </a:xfrm>
      </p:grpSpPr>
      <p:sp>
        <p:nvSpPr>
          <p:cNvPr id="7" name="Rectangle 6"/>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rtlCol="0" anchor="ctr" anchorCtr="0"/>
          <a:lstStyle/>
          <a:p>
            <a:pPr algn="l"/>
            <a:endParaRPr lang="en-US" dirty="0">
              <a:latin typeface="Arial" pitchFamily="34" charset="0"/>
              <a:cs typeface="Arial" pitchFamily="34" charset="0"/>
            </a:endParaRPr>
          </a:p>
        </p:txBody>
      </p:sp>
      <p:sp>
        <p:nvSpPr>
          <p:cNvPr id="22" name="Rectangle 21"/>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Rectangle 22"/>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Rectangle 23"/>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26" name="Picture 25" descr="BITS_university_logo_whitevert.png"/>
          <p:cNvPicPr>
            <a:picLocks noChangeAspect="1"/>
          </p:cNvPicPr>
          <p:nvPr userDrawn="1"/>
        </p:nvPicPr>
        <p:blipFill rotWithShape="1">
          <a:blip r:embed="rId3" cstate="print">
            <a:extLst>
              <a:ext uri="{28A0092B-C50C-407E-A947-70E740481C1C}">
                <a14:useLocalDpi xmlns:a14="http://schemas.microsoft.com/office/drawing/2010/main" val="0"/>
              </a:ext>
            </a:extLst>
          </a:blip>
          <a:srcRect/>
          <a:stretch/>
        </p:blipFill>
        <p:spPr>
          <a:xfrm>
            <a:off x="76200" y="3352800"/>
            <a:ext cx="2057400" cy="1980000"/>
          </a:xfrm>
          <a:prstGeom prst="rect">
            <a:avLst/>
          </a:prstGeom>
        </p:spPr>
      </p:pic>
      <p:grpSp>
        <p:nvGrpSpPr>
          <p:cNvPr id="32" name="Group 31"/>
          <p:cNvGrpSpPr/>
          <p:nvPr userDrawn="1"/>
        </p:nvGrpSpPr>
        <p:grpSpPr>
          <a:xfrm>
            <a:off x="-76200" y="5257800"/>
            <a:ext cx="2209800" cy="685800"/>
            <a:chOff x="76200" y="2209800"/>
            <a:chExt cx="2209800" cy="685800"/>
          </a:xfrm>
        </p:grpSpPr>
        <p:sp>
          <p:nvSpPr>
            <p:cNvPr id="30" name="TextBox 29"/>
            <p:cNvSpPr txBox="1"/>
            <p:nvPr userDrawn="1"/>
          </p:nvSpPr>
          <p:spPr>
            <a:xfrm>
              <a:off x="76200" y="2209800"/>
              <a:ext cx="2209800" cy="553998"/>
            </a:xfrm>
            <a:prstGeom prst="rect">
              <a:avLst/>
            </a:prstGeom>
            <a:noFill/>
          </p:spPr>
          <p:txBody>
            <a:bodyPr wrap="square" rtlCol="0">
              <a:spAutoFit/>
            </a:bodyPr>
            <a:lstStyle/>
            <a:p>
              <a:pPr algn="ct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31" name="TextBox 30"/>
            <p:cNvSpPr txBox="1"/>
            <p:nvPr userDrawn="1"/>
          </p:nvSpPr>
          <p:spPr>
            <a:xfrm>
              <a:off x="228600" y="2664768"/>
              <a:ext cx="1905000" cy="230832"/>
            </a:xfrm>
            <a:prstGeom prst="rect">
              <a:avLst/>
            </a:prstGeom>
            <a:noFill/>
          </p:spPr>
          <p:txBody>
            <a:bodyPr wrap="square" rtlCol="0">
              <a:spAutoFit/>
            </a:bodyPr>
            <a:lstStyle/>
            <a:p>
              <a:pPr algn="ctr"/>
              <a:r>
                <a:rPr lang="en-US" sz="900" spc="-150" dirty="0">
                  <a:solidFill>
                    <a:srgbClr val="FFFFFF"/>
                  </a:solidFill>
                  <a:latin typeface="Arial"/>
                  <a:cs typeface="Arial"/>
                </a:rPr>
                <a:t>Pilani | Dubai</a:t>
              </a:r>
              <a:r>
                <a:rPr lang="en-US" sz="900" spc="-150" baseline="0" dirty="0">
                  <a:solidFill>
                    <a:srgbClr val="FFFFFF"/>
                  </a:solidFill>
                  <a:latin typeface="Arial"/>
                  <a:cs typeface="Arial"/>
                </a:rPr>
                <a:t> | Goa | Hyderabad</a:t>
              </a:r>
              <a:endParaRPr lang="en-US" sz="900" spc="-150" dirty="0">
                <a:solidFill>
                  <a:srgbClr val="FFFFFF"/>
                </a:solidFill>
                <a:latin typeface="Arial"/>
                <a:cs typeface="Arial"/>
              </a:endParaRPr>
            </a:p>
          </p:txBody>
        </p:sp>
      </p:grpSp>
      <p:sp>
        <p:nvSpPr>
          <p:cNvPr id="11" name="Title 1"/>
          <p:cNvSpPr>
            <a:spLocks noGrp="1"/>
          </p:cNvSpPr>
          <p:nvPr>
            <p:ph type="title" hasCustomPrompt="1"/>
          </p:nvPr>
        </p:nvSpPr>
        <p:spPr>
          <a:xfrm>
            <a:off x="2514600" y="3810000"/>
            <a:ext cx="6019800" cy="1524000"/>
          </a:xfrm>
        </p:spPr>
        <p:txBody>
          <a:bodyPr anchor="ctr" anchorCtr="0">
            <a:noAutofit/>
          </a:bodyPr>
          <a:lstStyle>
            <a:lvl1pPr algn="l">
              <a:lnSpc>
                <a:spcPts val="4000"/>
              </a:lnSpc>
              <a:defRPr sz="4400" baseline="0">
                <a:solidFill>
                  <a:schemeClr val="bg1"/>
                </a:solidFill>
              </a:defRPr>
            </a:lvl1pPr>
          </a:lstStyle>
          <a:p>
            <a:r>
              <a:rPr lang="en-GB" dirty="0"/>
              <a:t>Please enter the presentation title here</a:t>
            </a:r>
            <a:endParaRPr lang="en-US" dirty="0"/>
          </a:p>
        </p:txBody>
      </p:sp>
      <p:sp>
        <p:nvSpPr>
          <p:cNvPr id="2" name="Date Placeholder 1">
            <a:extLst>
              <a:ext uri="{FF2B5EF4-FFF2-40B4-BE49-F238E27FC236}">
                <a16:creationId xmlns:a16="http://schemas.microsoft.com/office/drawing/2014/main" id="{A389C1E6-9A33-4660-8215-AD7CFB9E25A2}"/>
              </a:ext>
            </a:extLst>
          </p:cNvPr>
          <p:cNvSpPr>
            <a:spLocks noGrp="1"/>
          </p:cNvSpPr>
          <p:nvPr>
            <p:ph type="dt" sz="half" idx="10"/>
          </p:nvPr>
        </p:nvSpPr>
        <p:spPr/>
        <p:txBody>
          <a:bodyPr/>
          <a:lstStyle/>
          <a:p>
            <a:r>
              <a:rPr lang="en-US"/>
              <a:t>Auguts 1, 2026</a:t>
            </a:r>
          </a:p>
        </p:txBody>
      </p:sp>
      <p:sp>
        <p:nvSpPr>
          <p:cNvPr id="3" name="Footer Placeholder 2">
            <a:extLst>
              <a:ext uri="{FF2B5EF4-FFF2-40B4-BE49-F238E27FC236}">
                <a16:creationId xmlns:a16="http://schemas.microsoft.com/office/drawing/2014/main" id="{F30A9E00-0706-4B0C-9543-052F617689EC}"/>
              </a:ext>
            </a:extLst>
          </p:cNvPr>
          <p:cNvSpPr>
            <a:spLocks noGrp="1"/>
          </p:cNvSpPr>
          <p:nvPr>
            <p:ph type="ftr" sz="quarter" idx="11"/>
          </p:nvPr>
        </p:nvSpPr>
        <p:spPr/>
        <p:txBody>
          <a:bodyPr/>
          <a:lstStyle/>
          <a:p>
            <a:r>
              <a:rPr lang="en-US"/>
              <a:t>SEZG651/SSZG653 Software Architectures</a:t>
            </a:r>
          </a:p>
        </p:txBody>
      </p:sp>
      <p:sp>
        <p:nvSpPr>
          <p:cNvPr id="4" name="Slide Number Placeholder 3">
            <a:extLst>
              <a:ext uri="{FF2B5EF4-FFF2-40B4-BE49-F238E27FC236}">
                <a16:creationId xmlns:a16="http://schemas.microsoft.com/office/drawing/2014/main" id="{FF93FD4A-D7E4-4CFD-9684-6D45C1BA16FA}"/>
              </a:ext>
            </a:extLst>
          </p:cNvPr>
          <p:cNvSpPr>
            <a:spLocks noGrp="1"/>
          </p:cNvSpPr>
          <p:nvPr>
            <p:ph type="sldNum" sz="quarter" idx="12"/>
          </p:nvPr>
        </p:nvSpPr>
        <p:spPr>
          <a:xfrm>
            <a:off x="7206762" y="6356350"/>
            <a:ext cx="1937238" cy="365125"/>
          </a:xfrm>
        </p:spPr>
        <p:txBody>
          <a:bodyPr/>
          <a:lstStyle/>
          <a:p>
            <a:fld id="{BC8D7E44-7D4F-4942-A8C9-2DF6BF8399E8}"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bg>
      <p:bgPr>
        <a:blipFill rotWithShape="1">
          <a:blip r:embed="rId2" cstate="print"/>
          <a:stretch>
            <a:fillRect/>
          </a:stretch>
        </a:blipFill>
        <a:effectLst/>
      </p:bgPr>
    </p:bg>
    <p:spTree>
      <p:nvGrpSpPr>
        <p:cNvPr id="1" name=""/>
        <p:cNvGrpSpPr/>
        <p:nvPr/>
      </p:nvGrpSpPr>
      <p:grpSpPr>
        <a:xfrm>
          <a:off x="0" y="0"/>
          <a:ext cx="0" cy="0"/>
          <a:chOff x="0" y="0"/>
          <a:chExt cx="0" cy="0"/>
        </a:xfrm>
      </p:grpSpPr>
      <p:sp>
        <p:nvSpPr>
          <p:cNvPr id="4" name="Rectangle 3"/>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Arial" pitchFamily="34" charset="0"/>
              <a:cs typeface="Arial" pitchFamily="34" charset="0"/>
            </a:endParaRPr>
          </a:p>
        </p:txBody>
      </p:sp>
      <p:sp>
        <p:nvSpPr>
          <p:cNvPr id="5" name="Rectangle 4"/>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Rectangle 5"/>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7"/>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9" name="Picture 8" descr="BITS_university_logo_whitevert.png"/>
          <p:cNvPicPr>
            <a:picLocks noChangeAspect="1"/>
          </p:cNvPicPr>
          <p:nvPr userDrawn="1"/>
        </p:nvPicPr>
        <p:blipFill rotWithShape="1">
          <a:blip r:embed="rId3" cstate="print">
            <a:extLst>
              <a:ext uri="{28A0092B-C50C-407E-A947-70E740481C1C}">
                <a14:useLocalDpi xmlns:a14="http://schemas.microsoft.com/office/drawing/2010/main" val="0"/>
              </a:ext>
            </a:extLst>
          </a:blip>
          <a:srcRect/>
          <a:stretch/>
        </p:blipFill>
        <p:spPr>
          <a:xfrm>
            <a:off x="76200" y="3352800"/>
            <a:ext cx="2057400" cy="1980000"/>
          </a:xfrm>
          <a:prstGeom prst="rect">
            <a:avLst/>
          </a:prstGeom>
        </p:spPr>
      </p:pic>
      <p:grpSp>
        <p:nvGrpSpPr>
          <p:cNvPr id="10" name="Group 9"/>
          <p:cNvGrpSpPr/>
          <p:nvPr userDrawn="1"/>
        </p:nvGrpSpPr>
        <p:grpSpPr>
          <a:xfrm>
            <a:off x="-76200" y="5257800"/>
            <a:ext cx="2209800" cy="685800"/>
            <a:chOff x="76200" y="2209800"/>
            <a:chExt cx="2209800" cy="685800"/>
          </a:xfrm>
        </p:grpSpPr>
        <p:sp>
          <p:nvSpPr>
            <p:cNvPr id="11" name="TextBox 10"/>
            <p:cNvSpPr txBox="1"/>
            <p:nvPr userDrawn="1"/>
          </p:nvSpPr>
          <p:spPr>
            <a:xfrm>
              <a:off x="76200" y="2209800"/>
              <a:ext cx="2209800" cy="553998"/>
            </a:xfrm>
            <a:prstGeom prst="rect">
              <a:avLst/>
            </a:prstGeom>
            <a:noFill/>
          </p:spPr>
          <p:txBody>
            <a:bodyPr wrap="square" rtlCol="0">
              <a:spAutoFit/>
            </a:bodyPr>
            <a:lstStyle/>
            <a:p>
              <a:pPr algn="ct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12" name="TextBox 11"/>
            <p:cNvSpPr txBox="1"/>
            <p:nvPr userDrawn="1"/>
          </p:nvSpPr>
          <p:spPr>
            <a:xfrm>
              <a:off x="228600" y="2664768"/>
              <a:ext cx="1905000" cy="230832"/>
            </a:xfrm>
            <a:prstGeom prst="rect">
              <a:avLst/>
            </a:prstGeom>
            <a:noFill/>
          </p:spPr>
          <p:txBody>
            <a:bodyPr wrap="square" rtlCol="0">
              <a:spAutoFit/>
            </a:bodyPr>
            <a:lstStyle/>
            <a:p>
              <a:pPr algn="ctr"/>
              <a:r>
                <a:rPr lang="en-US" sz="900" spc="-150" dirty="0">
                  <a:solidFill>
                    <a:srgbClr val="FFFFFF"/>
                  </a:solidFill>
                  <a:latin typeface="Arial"/>
                  <a:cs typeface="Arial"/>
                </a:rPr>
                <a:t>Pilani | Dubai</a:t>
              </a:r>
              <a:r>
                <a:rPr lang="en-US" sz="900" spc="-150" baseline="0" dirty="0">
                  <a:solidFill>
                    <a:srgbClr val="FFFFFF"/>
                  </a:solidFill>
                  <a:latin typeface="Arial"/>
                  <a:cs typeface="Arial"/>
                </a:rPr>
                <a:t> | Goa | Hyderabad</a:t>
              </a:r>
              <a:endParaRPr lang="en-US" sz="900" spc="-150" dirty="0">
                <a:solidFill>
                  <a:srgbClr val="FFFFFF"/>
                </a:solidFill>
                <a:latin typeface="Arial"/>
                <a:cs typeface="Arial"/>
              </a:endParaRPr>
            </a:p>
          </p:txBody>
        </p:sp>
      </p:grpSp>
      <p:sp>
        <p:nvSpPr>
          <p:cNvPr id="7" name="Content Placeholder 6"/>
          <p:cNvSpPr>
            <a:spLocks noGrp="1"/>
          </p:cNvSpPr>
          <p:nvPr>
            <p:ph sz="quarter" idx="13" hasCustomPrompt="1"/>
          </p:nvPr>
        </p:nvSpPr>
        <p:spPr>
          <a:xfrm>
            <a:off x="2514600" y="5410200"/>
            <a:ext cx="6019800" cy="533400"/>
          </a:xfrm>
        </p:spPr>
        <p:txBody>
          <a:bodyPr anchor="b" anchorCtr="0">
            <a:noAutofit/>
          </a:bodyPr>
          <a:lstStyle>
            <a:lvl1pPr marL="0" indent="0" algn="r">
              <a:lnSpc>
                <a:spcPts val="1800"/>
              </a:lnSpc>
              <a:spcBef>
                <a:spcPts val="0"/>
              </a:spcBef>
              <a:buNone/>
              <a:defRPr sz="1800" baseline="0">
                <a:solidFill>
                  <a:schemeClr val="bg1"/>
                </a:solidFill>
              </a:defRPr>
            </a:lvl1pPr>
          </a:lstStyle>
          <a:p>
            <a:pPr lvl="0"/>
            <a:r>
              <a:rPr lang="en-GB" dirty="0"/>
              <a:t>Presenter details comes here</a:t>
            </a:r>
          </a:p>
          <a:p>
            <a:pPr lvl="0"/>
            <a:r>
              <a:rPr lang="en-GB" dirty="0"/>
              <a:t>Date and other details can come here</a:t>
            </a:r>
          </a:p>
        </p:txBody>
      </p:sp>
      <p:sp>
        <p:nvSpPr>
          <p:cNvPr id="2" name="Title 1"/>
          <p:cNvSpPr>
            <a:spLocks noGrp="1"/>
          </p:cNvSpPr>
          <p:nvPr>
            <p:ph type="title" hasCustomPrompt="1"/>
          </p:nvPr>
        </p:nvSpPr>
        <p:spPr>
          <a:xfrm>
            <a:off x="2514600" y="3810000"/>
            <a:ext cx="6019800" cy="1524000"/>
          </a:xfrm>
        </p:spPr>
        <p:txBody>
          <a:bodyPr anchor="ctr" anchorCtr="0">
            <a:noAutofit/>
          </a:bodyPr>
          <a:lstStyle>
            <a:lvl1pPr algn="l">
              <a:lnSpc>
                <a:spcPts val="4000"/>
              </a:lnSpc>
              <a:defRPr sz="4400" baseline="0">
                <a:solidFill>
                  <a:schemeClr val="bg1"/>
                </a:solidFill>
              </a:defRPr>
            </a:lvl1pPr>
          </a:lstStyle>
          <a:p>
            <a:r>
              <a:rPr lang="en-GB" dirty="0"/>
              <a:t>Please enter the presentation title here</a:t>
            </a:r>
            <a:endParaRPr lang="en-US" dirty="0"/>
          </a:p>
        </p:txBody>
      </p:sp>
      <p:sp>
        <p:nvSpPr>
          <p:cNvPr id="3" name="Date Placeholder 2">
            <a:extLst>
              <a:ext uri="{FF2B5EF4-FFF2-40B4-BE49-F238E27FC236}">
                <a16:creationId xmlns:a16="http://schemas.microsoft.com/office/drawing/2014/main" id="{EF140E3B-903D-44FF-B76A-1A74F8CAA9C3}"/>
              </a:ext>
            </a:extLst>
          </p:cNvPr>
          <p:cNvSpPr>
            <a:spLocks noGrp="1"/>
          </p:cNvSpPr>
          <p:nvPr>
            <p:ph type="dt" sz="half" idx="14"/>
          </p:nvPr>
        </p:nvSpPr>
        <p:spPr/>
        <p:txBody>
          <a:bodyPr/>
          <a:lstStyle/>
          <a:p>
            <a:r>
              <a:rPr lang="en-US"/>
              <a:t>Auguts 1, 2026</a:t>
            </a:r>
          </a:p>
        </p:txBody>
      </p:sp>
      <p:sp>
        <p:nvSpPr>
          <p:cNvPr id="13" name="Footer Placeholder 12">
            <a:extLst>
              <a:ext uri="{FF2B5EF4-FFF2-40B4-BE49-F238E27FC236}">
                <a16:creationId xmlns:a16="http://schemas.microsoft.com/office/drawing/2014/main" id="{9AF849AF-005D-45B2-8B61-4DDF84849F36}"/>
              </a:ext>
            </a:extLst>
          </p:cNvPr>
          <p:cNvSpPr>
            <a:spLocks noGrp="1"/>
          </p:cNvSpPr>
          <p:nvPr>
            <p:ph type="ftr" sz="quarter" idx="15"/>
          </p:nvPr>
        </p:nvSpPr>
        <p:spPr/>
        <p:txBody>
          <a:bodyPr/>
          <a:lstStyle/>
          <a:p>
            <a:r>
              <a:rPr lang="en-US"/>
              <a:t>SEZG651/SSZG653 Software Architectures</a:t>
            </a:r>
          </a:p>
        </p:txBody>
      </p:sp>
      <p:sp>
        <p:nvSpPr>
          <p:cNvPr id="14" name="Slide Number Placeholder 13">
            <a:extLst>
              <a:ext uri="{FF2B5EF4-FFF2-40B4-BE49-F238E27FC236}">
                <a16:creationId xmlns:a16="http://schemas.microsoft.com/office/drawing/2014/main" id="{B81B6769-8356-43BB-A576-AD606E333014}"/>
              </a:ext>
            </a:extLst>
          </p:cNvPr>
          <p:cNvSpPr>
            <a:spLocks noGrp="1"/>
          </p:cNvSpPr>
          <p:nvPr>
            <p:ph type="sldNum" sz="quarter" idx="16"/>
          </p:nvPr>
        </p:nvSpPr>
        <p:spPr>
          <a:xfrm>
            <a:off x="7315200" y="6340475"/>
            <a:ext cx="1828800" cy="365125"/>
          </a:xfrm>
        </p:spPr>
        <p:txBody>
          <a:bodyPr/>
          <a:lstStyle/>
          <a:p>
            <a:fld id="{BC8D7E44-7D4F-4942-A8C9-2DF6BF8399E8}" type="slidenum">
              <a:rPr lang="en-US" smtClean="0"/>
              <a:pPr/>
              <a:t>‹#›</a:t>
            </a:fld>
            <a:endParaRPr lang="en-US" dirty="0"/>
          </a:p>
        </p:txBody>
      </p:sp>
    </p:spTree>
    <p:extLst>
      <p:ext uri="{BB962C8B-B14F-4D97-AF65-F5344CB8AC3E}">
        <p14:creationId xmlns:p14="http://schemas.microsoft.com/office/powerpoint/2010/main" val="1136243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7" name="Picture 2" descr="\\Server\D\jyoti\FI023_BITS_v1\styleguide img\IMG_5627_b.jpg"/>
          <p:cNvPicPr>
            <a:picLocks noChangeAspect="1" noChangeArrowheads="1"/>
          </p:cNvPicPr>
          <p:nvPr userDrawn="1"/>
        </p:nvPicPr>
        <p:blipFill>
          <a:blip r:embed="rId2" cstate="print"/>
          <a:srcRect/>
          <a:stretch>
            <a:fillRect/>
          </a:stretch>
        </p:blipFill>
        <p:spPr bwMode="auto">
          <a:xfrm>
            <a:off x="0" y="0"/>
            <a:ext cx="9144000" cy="6858000"/>
          </a:xfrm>
          <a:prstGeom prst="rect">
            <a:avLst/>
          </a:prstGeom>
          <a:noFill/>
        </p:spPr>
      </p:pic>
      <p:sp>
        <p:nvSpPr>
          <p:cNvPr id="8" name="Rectangle 7"/>
          <p:cNvSpPr/>
          <p:nvPr userDrawn="1"/>
        </p:nvSpPr>
        <p:spPr>
          <a:xfrm>
            <a:off x="0" y="4282182"/>
            <a:ext cx="9144000" cy="2575818"/>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5" name="Picture 14" descr="Picture 7.png"/>
          <p:cNvPicPr>
            <a:picLocks noChangeAspect="1"/>
          </p:cNvPicPr>
          <p:nvPr userDrawn="1"/>
        </p:nvPicPr>
        <p:blipFill>
          <a:blip r:embed="rId3" cstate="print"/>
          <a:srcRect l="1923" b="5336"/>
          <a:stretch>
            <a:fillRect/>
          </a:stretch>
        </p:blipFill>
        <p:spPr>
          <a:xfrm>
            <a:off x="6629400" y="-1"/>
            <a:ext cx="2193193" cy="692697"/>
          </a:xfrm>
          <a:prstGeom prst="rect">
            <a:avLst/>
          </a:prstGeom>
        </p:spPr>
      </p:pic>
      <p:sp>
        <p:nvSpPr>
          <p:cNvPr id="17" name="Content Placeholder 16"/>
          <p:cNvSpPr>
            <a:spLocks noGrp="1"/>
          </p:cNvSpPr>
          <p:nvPr>
            <p:ph sz="quarter" idx="10" hasCustomPrompt="1"/>
          </p:nvPr>
        </p:nvSpPr>
        <p:spPr>
          <a:xfrm>
            <a:off x="304800" y="4648200"/>
            <a:ext cx="84582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dirty="0"/>
              <a:t>Topic headings here </a:t>
            </a:r>
          </a:p>
          <a:p>
            <a:pPr lvl="0"/>
            <a:r>
              <a:rPr lang="en-US" dirty="0"/>
              <a:t>(separator - can run in two lines)</a:t>
            </a:r>
          </a:p>
        </p:txBody>
      </p:sp>
      <p:sp>
        <p:nvSpPr>
          <p:cNvPr id="11" name="Rectangle 10"/>
          <p:cNvSpPr/>
          <p:nvPr userDrawn="1"/>
        </p:nvSpPr>
        <p:spPr>
          <a:xfrm>
            <a:off x="2882900" y="677545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Rectangle 15"/>
          <p:cNvSpPr/>
          <p:nvPr userDrawn="1"/>
        </p:nvSpPr>
        <p:spPr>
          <a:xfrm>
            <a:off x="-12700" y="677545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Rectangle 17"/>
          <p:cNvSpPr/>
          <p:nvPr userDrawn="1"/>
        </p:nvSpPr>
        <p:spPr>
          <a:xfrm>
            <a:off x="5778500" y="677545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12" name="Group 11"/>
          <p:cNvGrpSpPr/>
          <p:nvPr userDrawn="1"/>
        </p:nvGrpSpPr>
        <p:grpSpPr>
          <a:xfrm>
            <a:off x="6858000" y="762000"/>
            <a:ext cx="2209800" cy="685800"/>
            <a:chOff x="76200" y="2209800"/>
            <a:chExt cx="2209800" cy="685800"/>
          </a:xfrm>
        </p:grpSpPr>
        <p:sp>
          <p:nvSpPr>
            <p:cNvPr id="13" name="TextBox 12"/>
            <p:cNvSpPr txBox="1"/>
            <p:nvPr userDrawn="1"/>
          </p:nvSpPr>
          <p:spPr>
            <a:xfrm>
              <a:off x="76200" y="2209800"/>
              <a:ext cx="2209800" cy="553998"/>
            </a:xfrm>
            <a:prstGeom prst="rect">
              <a:avLst/>
            </a:prstGeom>
            <a:noFill/>
          </p:spPr>
          <p:txBody>
            <a:bodyPr wrap="square" rtlCol="0">
              <a:spAutoFit/>
            </a:bodyPr>
            <a:lstStyle/>
            <a:p>
              <a:pPr algn="ct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14" name="TextBox 13"/>
            <p:cNvSpPr txBox="1"/>
            <p:nvPr userDrawn="1"/>
          </p:nvSpPr>
          <p:spPr>
            <a:xfrm>
              <a:off x="228600" y="2664768"/>
              <a:ext cx="1905000" cy="230832"/>
            </a:xfrm>
            <a:prstGeom prst="rect">
              <a:avLst/>
            </a:prstGeom>
            <a:noFill/>
          </p:spPr>
          <p:txBody>
            <a:bodyPr wrap="square" rtlCol="0">
              <a:spAutoFit/>
            </a:bodyPr>
            <a:lstStyle/>
            <a:p>
              <a:pPr algn="ctr"/>
              <a:r>
                <a:rPr lang="en-US" sz="900" spc="-150" dirty="0">
                  <a:solidFill>
                    <a:srgbClr val="FFFFFF"/>
                  </a:solidFill>
                  <a:latin typeface="Arial"/>
                  <a:cs typeface="Arial"/>
                </a:rPr>
                <a:t>Pilani | Dubai</a:t>
              </a:r>
              <a:r>
                <a:rPr lang="en-US" sz="900" spc="-150" baseline="0" dirty="0">
                  <a:solidFill>
                    <a:srgbClr val="FFFFFF"/>
                  </a:solidFill>
                  <a:latin typeface="Arial"/>
                  <a:cs typeface="Arial"/>
                </a:rPr>
                <a:t> | Goa | Hyderabad</a:t>
              </a:r>
              <a:endParaRPr lang="en-US" sz="900" spc="-150" dirty="0">
                <a:solidFill>
                  <a:srgbClr val="FFFFFF"/>
                </a:solidFill>
                <a:latin typeface="Arial"/>
                <a:cs typeface="Arial"/>
              </a:endParaRPr>
            </a:p>
          </p:txBody>
        </p:sp>
      </p:grpSp>
      <p:sp>
        <p:nvSpPr>
          <p:cNvPr id="2" name="Date Placeholder 1">
            <a:extLst>
              <a:ext uri="{FF2B5EF4-FFF2-40B4-BE49-F238E27FC236}">
                <a16:creationId xmlns:a16="http://schemas.microsoft.com/office/drawing/2014/main" id="{FF33449E-F921-4097-ACEB-2539608ECFE2}"/>
              </a:ext>
            </a:extLst>
          </p:cNvPr>
          <p:cNvSpPr>
            <a:spLocks noGrp="1"/>
          </p:cNvSpPr>
          <p:nvPr>
            <p:ph type="dt" sz="half" idx="11"/>
          </p:nvPr>
        </p:nvSpPr>
        <p:spPr/>
        <p:txBody>
          <a:bodyPr/>
          <a:lstStyle/>
          <a:p>
            <a:r>
              <a:rPr lang="en-US"/>
              <a:t>Auguts 1, 2026</a:t>
            </a:r>
            <a:endParaRPr lang="en-US" dirty="0"/>
          </a:p>
        </p:txBody>
      </p:sp>
      <p:sp>
        <p:nvSpPr>
          <p:cNvPr id="3" name="Footer Placeholder 2">
            <a:extLst>
              <a:ext uri="{FF2B5EF4-FFF2-40B4-BE49-F238E27FC236}">
                <a16:creationId xmlns:a16="http://schemas.microsoft.com/office/drawing/2014/main" id="{4CFB3AF7-233A-45D2-85EE-5EC3FDF5EF5F}"/>
              </a:ext>
            </a:extLst>
          </p:cNvPr>
          <p:cNvSpPr>
            <a:spLocks noGrp="1"/>
          </p:cNvSpPr>
          <p:nvPr>
            <p:ph type="ftr" sz="quarter" idx="12"/>
          </p:nvPr>
        </p:nvSpPr>
        <p:spPr/>
        <p:txBody>
          <a:bodyPr/>
          <a:lstStyle/>
          <a:p>
            <a:r>
              <a:rPr lang="en-US"/>
              <a:t>SEZG651/SSZG653 Software Architectures</a:t>
            </a:r>
            <a:endParaRPr lang="en-US" dirty="0"/>
          </a:p>
        </p:txBody>
      </p:sp>
      <p:sp>
        <p:nvSpPr>
          <p:cNvPr id="4" name="Slide Number Placeholder 3">
            <a:extLst>
              <a:ext uri="{FF2B5EF4-FFF2-40B4-BE49-F238E27FC236}">
                <a16:creationId xmlns:a16="http://schemas.microsoft.com/office/drawing/2014/main" id="{C3ED4B6A-FADE-4F8D-8A09-32D7B65878C5}"/>
              </a:ext>
            </a:extLst>
          </p:cNvPr>
          <p:cNvSpPr>
            <a:spLocks noGrp="1"/>
          </p:cNvSpPr>
          <p:nvPr>
            <p:ph type="sldNum" sz="quarter" idx="13"/>
          </p:nvPr>
        </p:nvSpPr>
        <p:spPr>
          <a:xfrm>
            <a:off x="7010400" y="6313488"/>
            <a:ext cx="2133600" cy="365125"/>
          </a:xfrm>
        </p:spPr>
        <p:txBody>
          <a:bodyPr/>
          <a:lstStyle/>
          <a:p>
            <a:fld id="{BC8D7E44-7D4F-4942-A8C9-2DF6BF8399E8}"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2400" u="none" strike="noStrike" kern="1200" cap="none" spc="0" normalizeH="0" noProof="0" dirty="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endParaRPr lang="en-US" dirty="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endParaRPr lang="en-US" dirty="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endParaRPr lang="en-US" dirty="0"/>
          </a:p>
        </p:txBody>
      </p:sp>
      <p:sp>
        <p:nvSpPr>
          <p:cNvPr id="7" name="TextBox 6"/>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grpSp>
        <p:nvGrpSpPr>
          <p:cNvPr id="12" name="Group 11"/>
          <p:cNvGrpSpPr/>
          <p:nvPr userDrawn="1"/>
        </p:nvGrpSpPr>
        <p:grpSpPr>
          <a:xfrm>
            <a:off x="2083888" y="6550671"/>
            <a:ext cx="7060112"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16" name="Picture 15"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grpSp>
        <p:nvGrpSpPr>
          <p:cNvPr id="19" name="Group 18"/>
          <p:cNvGrpSpPr/>
          <p:nvPr userDrawn="1"/>
        </p:nvGrpSpPr>
        <p:grpSpPr>
          <a:xfrm>
            <a:off x="2133600" y="6558112"/>
            <a:ext cx="70104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3" name="Group 22"/>
          <p:cNvGrpSpPr/>
          <p:nvPr userDrawn="1"/>
        </p:nvGrpSpPr>
        <p:grpSpPr>
          <a:xfrm>
            <a:off x="0" y="1295400"/>
            <a:ext cx="70104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27"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sp>
        <p:nvSpPr>
          <p:cNvPr id="5" name="Date Placeholder 4">
            <a:extLst>
              <a:ext uri="{FF2B5EF4-FFF2-40B4-BE49-F238E27FC236}">
                <a16:creationId xmlns:a16="http://schemas.microsoft.com/office/drawing/2014/main" id="{A4116052-1273-4EC0-ADD6-422E16AA4781}"/>
              </a:ext>
            </a:extLst>
          </p:cNvPr>
          <p:cNvSpPr>
            <a:spLocks noGrp="1"/>
          </p:cNvSpPr>
          <p:nvPr>
            <p:ph type="dt" sz="half" idx="12"/>
          </p:nvPr>
        </p:nvSpPr>
        <p:spPr/>
        <p:txBody>
          <a:bodyPr/>
          <a:lstStyle/>
          <a:p>
            <a:r>
              <a:rPr lang="en-US"/>
              <a:t>Auguts 1, 2026</a:t>
            </a:r>
          </a:p>
        </p:txBody>
      </p:sp>
      <p:sp>
        <p:nvSpPr>
          <p:cNvPr id="6" name="Footer Placeholder 5">
            <a:extLst>
              <a:ext uri="{FF2B5EF4-FFF2-40B4-BE49-F238E27FC236}">
                <a16:creationId xmlns:a16="http://schemas.microsoft.com/office/drawing/2014/main" id="{4FDE8E7A-623C-40DD-A712-BEEDA93A9756}"/>
              </a:ext>
            </a:extLst>
          </p:cNvPr>
          <p:cNvSpPr>
            <a:spLocks noGrp="1"/>
          </p:cNvSpPr>
          <p:nvPr>
            <p:ph type="ftr" sz="quarter" idx="13"/>
          </p:nvPr>
        </p:nvSpPr>
        <p:spPr/>
        <p:txBody>
          <a:bodyPr/>
          <a:lstStyle/>
          <a:p>
            <a:r>
              <a:rPr lang="en-US"/>
              <a:t>SEZG651/SSZG653 Software Architectures</a:t>
            </a:r>
          </a:p>
        </p:txBody>
      </p:sp>
      <p:sp>
        <p:nvSpPr>
          <p:cNvPr id="8" name="Slide Number Placeholder 7">
            <a:extLst>
              <a:ext uri="{FF2B5EF4-FFF2-40B4-BE49-F238E27FC236}">
                <a16:creationId xmlns:a16="http://schemas.microsoft.com/office/drawing/2014/main" id="{0CD26A9A-C7D3-441E-9815-2014756B5490}"/>
              </a:ext>
            </a:extLst>
          </p:cNvPr>
          <p:cNvSpPr>
            <a:spLocks noGrp="1"/>
          </p:cNvSpPr>
          <p:nvPr>
            <p:ph type="sldNum" sz="quarter" idx="14"/>
          </p:nvPr>
        </p:nvSpPr>
        <p:spPr>
          <a:xfrm>
            <a:off x="7010400" y="6101551"/>
            <a:ext cx="2133600" cy="365125"/>
          </a:xfrm>
        </p:spPr>
        <p:txBody>
          <a:bodyPr/>
          <a:lstStyle/>
          <a:p>
            <a:fld id="{BC8D7E44-7D4F-4942-A8C9-2DF6BF8399E8}"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17" name="Picture 16"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3" name="Content Placeholder 2"/>
          <p:cNvSpPr>
            <a:spLocks noGrp="1"/>
          </p:cNvSpPr>
          <p:nvPr userDrawn="1">
            <p:ph sz="half" idx="1" hasCustomPrompt="1"/>
          </p:nvPr>
        </p:nvSpPr>
        <p:spPr>
          <a:xfrm>
            <a:off x="4572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vl2pPr>
            <a:lvl3pPr>
              <a:defRPr sz="2000"/>
            </a:lvl3pPr>
            <a:lvl4pPr>
              <a:defRPr sz="1800"/>
            </a:lvl4pPr>
            <a:lvl5pPr>
              <a:defRPr sz="1800"/>
            </a:lvl5pPr>
            <a:lvl6pPr>
              <a:defRPr sz="1800"/>
            </a:lvl6pPr>
            <a:lvl7pPr>
              <a:defRPr sz="1800"/>
            </a:lvl7pPr>
            <a:lvl8pPr>
              <a:defRPr sz="1800"/>
            </a:lvl8pPr>
            <a:lvl9pPr>
              <a:defRPr sz="1800"/>
            </a:lvl9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2400" u="none" strike="noStrike" kern="1200" cap="none" spc="0" normalizeH="0" noProof="0" dirty="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dirty="0"/>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dirty="0"/>
          </a:p>
        </p:txBody>
      </p:sp>
      <p:sp>
        <p:nvSpPr>
          <p:cNvPr id="4" name="Content Placeholder 3"/>
          <p:cNvSpPr>
            <a:spLocks noGrp="1"/>
          </p:cNvSpPr>
          <p:nvPr userDrawn="1">
            <p:ph sz="half" idx="2" hasCustomPrompt="1"/>
          </p:nvPr>
        </p:nvSpPr>
        <p:spPr>
          <a:xfrm>
            <a:off x="49530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vl3pPr>
              <a:defRPr sz="2000"/>
            </a:lvl3pPr>
            <a:lvl4pPr>
              <a:defRPr sz="1800"/>
            </a:lvl4pPr>
            <a:lvl5pPr>
              <a:defRPr sz="1800"/>
            </a:lvl5pPr>
            <a:lvl6pPr>
              <a:defRPr sz="1800"/>
            </a:lvl6pPr>
            <a:lvl7pPr>
              <a:defRPr sz="1800"/>
            </a:lvl7pPr>
            <a:lvl8pPr>
              <a:defRPr sz="1800"/>
            </a:lvl8pPr>
            <a:lvl9pPr>
              <a:defRPr sz="1800"/>
            </a:lvl9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lvl="1"/>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2400" u="none" strike="noStrike" kern="1200" cap="none" spc="0" normalizeH="0" noProof="0" dirty="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lvl="1"/>
            <a:endParaRPr lang="en-US" dirty="0"/>
          </a:p>
          <a:p>
            <a:pPr lvl="1"/>
            <a:endParaRPr lang="en-US" dirty="0"/>
          </a:p>
        </p:txBody>
      </p:sp>
      <p:sp>
        <p:nvSpPr>
          <p:cNvPr id="19" name="Content Placeholder 18"/>
          <p:cNvSpPr>
            <a:spLocks noGrp="1"/>
          </p:cNvSpPr>
          <p:nvPr userDrawn="1">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20" name="Group 19"/>
          <p:cNvGrpSpPr/>
          <p:nvPr userDrawn="1"/>
        </p:nvGrpSpPr>
        <p:grpSpPr>
          <a:xfrm>
            <a:off x="0" y="1295400"/>
            <a:ext cx="7010400" cy="45719"/>
            <a:chOff x="1905000" y="6553200"/>
            <a:chExt cx="7010400" cy="45719"/>
          </a:xfrm>
        </p:grpSpPr>
        <p:sp>
          <p:nvSpPr>
            <p:cNvPr id="21" name="Rectangle 20"/>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Rectangle 2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Rectangle 22"/>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9" name="Group 28"/>
          <p:cNvGrpSpPr/>
          <p:nvPr userDrawn="1"/>
        </p:nvGrpSpPr>
        <p:grpSpPr>
          <a:xfrm>
            <a:off x="2133600" y="6553200"/>
            <a:ext cx="7010400" cy="45719"/>
            <a:chOff x="1905000" y="6553200"/>
            <a:chExt cx="7010400" cy="45719"/>
          </a:xfrm>
        </p:grpSpPr>
        <p:sp>
          <p:nvSpPr>
            <p:cNvPr id="30" name="Rectangle 2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 name="Rectangle 3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 name="Rectangle 3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33" name="TextBox 32"/>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sp>
        <p:nvSpPr>
          <p:cNvPr id="2" name="Date Placeholder 1">
            <a:extLst>
              <a:ext uri="{FF2B5EF4-FFF2-40B4-BE49-F238E27FC236}">
                <a16:creationId xmlns:a16="http://schemas.microsoft.com/office/drawing/2014/main" id="{6ED4B0F8-D031-4A9E-92CA-E8B9C130C62F}"/>
              </a:ext>
            </a:extLst>
          </p:cNvPr>
          <p:cNvSpPr>
            <a:spLocks noGrp="1"/>
          </p:cNvSpPr>
          <p:nvPr>
            <p:ph type="dt" sz="half" idx="11"/>
          </p:nvPr>
        </p:nvSpPr>
        <p:spPr/>
        <p:txBody>
          <a:bodyPr/>
          <a:lstStyle/>
          <a:p>
            <a:r>
              <a:rPr lang="en-US"/>
              <a:t>Auguts 1, 2026</a:t>
            </a:r>
          </a:p>
        </p:txBody>
      </p:sp>
      <p:sp>
        <p:nvSpPr>
          <p:cNvPr id="5" name="Footer Placeholder 4">
            <a:extLst>
              <a:ext uri="{FF2B5EF4-FFF2-40B4-BE49-F238E27FC236}">
                <a16:creationId xmlns:a16="http://schemas.microsoft.com/office/drawing/2014/main" id="{B7088829-EECA-49B6-9EB3-BCB216DDBB94}"/>
              </a:ext>
            </a:extLst>
          </p:cNvPr>
          <p:cNvSpPr>
            <a:spLocks noGrp="1"/>
          </p:cNvSpPr>
          <p:nvPr>
            <p:ph type="ftr" sz="quarter" idx="12"/>
          </p:nvPr>
        </p:nvSpPr>
        <p:spPr/>
        <p:txBody>
          <a:bodyPr/>
          <a:lstStyle/>
          <a:p>
            <a:r>
              <a:rPr lang="en-US"/>
              <a:t>SEZG651/SSZG653 Software Architectures</a:t>
            </a:r>
          </a:p>
        </p:txBody>
      </p:sp>
      <p:sp>
        <p:nvSpPr>
          <p:cNvPr id="6" name="Slide Number Placeholder 5">
            <a:extLst>
              <a:ext uri="{FF2B5EF4-FFF2-40B4-BE49-F238E27FC236}">
                <a16:creationId xmlns:a16="http://schemas.microsoft.com/office/drawing/2014/main" id="{27A03438-FC3D-42A9-8AF7-A14C2054D949}"/>
              </a:ext>
            </a:extLst>
          </p:cNvPr>
          <p:cNvSpPr>
            <a:spLocks noGrp="1"/>
          </p:cNvSpPr>
          <p:nvPr>
            <p:ph type="sldNum" sz="quarter" idx="13"/>
          </p:nvPr>
        </p:nvSpPr>
        <p:spPr>
          <a:xfrm>
            <a:off x="6972300" y="6142574"/>
            <a:ext cx="2133600" cy="403541"/>
          </a:xfrm>
        </p:spPr>
        <p:txBody>
          <a:bodyPr/>
          <a:lstStyle/>
          <a:p>
            <a:fld id="{BC8D7E44-7D4F-4942-A8C9-2DF6BF8399E8}"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535112"/>
            <a:ext cx="4040188"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362199"/>
            <a:ext cx="4040188"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2"/>
            <a:ext cx="4041775"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362199"/>
            <a:ext cx="4041775"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11" name="Group 10"/>
          <p:cNvGrpSpPr/>
          <p:nvPr userDrawn="1"/>
        </p:nvGrpSpPr>
        <p:grpSpPr>
          <a:xfrm>
            <a:off x="0" y="1295400"/>
            <a:ext cx="70104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16" name="Group 15"/>
          <p:cNvGrpSpPr/>
          <p:nvPr userDrawn="1"/>
        </p:nvGrpSpPr>
        <p:grpSpPr>
          <a:xfrm>
            <a:off x="2133600" y="6553200"/>
            <a:ext cx="7010400" cy="45719"/>
            <a:chOff x="1905000" y="6553200"/>
            <a:chExt cx="7010400" cy="45719"/>
          </a:xfrm>
        </p:grpSpPr>
        <p:sp>
          <p:nvSpPr>
            <p:cNvPr id="17" name="Rectangle 1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Rectangle 1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Rectangle 1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20" name="Picture 19"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21" name="TextBox 20"/>
          <p:cNvSpPr txBox="1"/>
          <p:nvPr userDrawn="1"/>
        </p:nvSpPr>
        <p:spPr>
          <a:xfrm>
            <a:off x="3314700" y="6598919"/>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5"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6" name="Group 5"/>
          <p:cNvGrpSpPr/>
          <p:nvPr userDrawn="1"/>
        </p:nvGrpSpPr>
        <p:grpSpPr>
          <a:xfrm>
            <a:off x="0" y="1295400"/>
            <a:ext cx="7010400" cy="45719"/>
            <a:chOff x="1905000" y="6553200"/>
            <a:chExt cx="7010400" cy="45719"/>
          </a:xfrm>
        </p:grpSpPr>
        <p:sp>
          <p:nvSpPr>
            <p:cNvPr id="7" name="Rectangle 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Rectangle 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11" name="Group 10"/>
          <p:cNvGrpSpPr/>
          <p:nvPr userDrawn="1"/>
        </p:nvGrpSpPr>
        <p:grpSpPr>
          <a:xfrm>
            <a:off x="2133600" y="6553200"/>
            <a:ext cx="70104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15" name="Picture 14"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16" name="TextBox 15"/>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sp>
        <p:nvSpPr>
          <p:cNvPr id="2" name="Date Placeholder 1">
            <a:extLst>
              <a:ext uri="{FF2B5EF4-FFF2-40B4-BE49-F238E27FC236}">
                <a16:creationId xmlns:a16="http://schemas.microsoft.com/office/drawing/2014/main" id="{445DD9E3-F004-45EE-BC53-8795F8E8816A}"/>
              </a:ext>
            </a:extLst>
          </p:cNvPr>
          <p:cNvSpPr>
            <a:spLocks noGrp="1"/>
          </p:cNvSpPr>
          <p:nvPr>
            <p:ph type="dt" sz="half" idx="11"/>
          </p:nvPr>
        </p:nvSpPr>
        <p:spPr/>
        <p:txBody>
          <a:bodyPr/>
          <a:lstStyle/>
          <a:p>
            <a:r>
              <a:rPr lang="en-US"/>
              <a:t>Auguts 1, 2026</a:t>
            </a:r>
          </a:p>
        </p:txBody>
      </p:sp>
      <p:sp>
        <p:nvSpPr>
          <p:cNvPr id="3" name="Footer Placeholder 2">
            <a:extLst>
              <a:ext uri="{FF2B5EF4-FFF2-40B4-BE49-F238E27FC236}">
                <a16:creationId xmlns:a16="http://schemas.microsoft.com/office/drawing/2014/main" id="{2EFC770E-EF70-4FCE-A166-B9462D1C0F8B}"/>
              </a:ext>
            </a:extLst>
          </p:cNvPr>
          <p:cNvSpPr>
            <a:spLocks noGrp="1"/>
          </p:cNvSpPr>
          <p:nvPr>
            <p:ph type="ftr" sz="quarter" idx="12"/>
          </p:nvPr>
        </p:nvSpPr>
        <p:spPr/>
        <p:txBody>
          <a:bodyPr/>
          <a:lstStyle/>
          <a:p>
            <a:r>
              <a:rPr lang="en-US"/>
              <a:t>SEZG651/SSZG653 Software Architectures</a:t>
            </a:r>
          </a:p>
        </p:txBody>
      </p:sp>
      <p:sp>
        <p:nvSpPr>
          <p:cNvPr id="4" name="Slide Number Placeholder 3">
            <a:extLst>
              <a:ext uri="{FF2B5EF4-FFF2-40B4-BE49-F238E27FC236}">
                <a16:creationId xmlns:a16="http://schemas.microsoft.com/office/drawing/2014/main" id="{B55FC222-269D-47E2-8242-B002730600B0}"/>
              </a:ext>
            </a:extLst>
          </p:cNvPr>
          <p:cNvSpPr>
            <a:spLocks noGrp="1"/>
          </p:cNvSpPr>
          <p:nvPr>
            <p:ph type="sldNum" sz="quarter" idx="13"/>
          </p:nvPr>
        </p:nvSpPr>
        <p:spPr>
          <a:xfrm>
            <a:off x="7010400" y="6217260"/>
            <a:ext cx="2133600" cy="365125"/>
          </a:xfrm>
        </p:spPr>
        <p:txBody>
          <a:bodyPr/>
          <a:lstStyle/>
          <a:p>
            <a:fld id="{BC8D7E44-7D4F-4942-A8C9-2DF6BF8399E8}"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5050" y="1600200"/>
            <a:ext cx="5111750" cy="45259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600200"/>
            <a:ext cx="3008313" cy="45259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Content Placeholder 18"/>
          <p:cNvSpPr>
            <a:spLocks noGrp="1"/>
          </p:cNvSpPr>
          <p:nvPr>
            <p:ph sz="quarter" idx="13"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9" name="Group 8"/>
          <p:cNvGrpSpPr/>
          <p:nvPr userDrawn="1"/>
        </p:nvGrpSpPr>
        <p:grpSpPr>
          <a:xfrm>
            <a:off x="0" y="1295400"/>
            <a:ext cx="7010400" cy="45719"/>
            <a:chOff x="1905000" y="6553200"/>
            <a:chExt cx="7010400" cy="45719"/>
          </a:xfrm>
        </p:grpSpPr>
        <p:sp>
          <p:nvSpPr>
            <p:cNvPr id="10" name="Rectangle 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ectangle 1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14" name="Group 13"/>
          <p:cNvGrpSpPr/>
          <p:nvPr userDrawn="1"/>
        </p:nvGrpSpPr>
        <p:grpSpPr>
          <a:xfrm>
            <a:off x="2133600" y="6553200"/>
            <a:ext cx="7010400" cy="45719"/>
            <a:chOff x="1905000" y="6553200"/>
            <a:chExt cx="7010400" cy="45719"/>
          </a:xfrm>
        </p:grpSpPr>
        <p:sp>
          <p:nvSpPr>
            <p:cNvPr id="15" name="Rectangle 14"/>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Rectangle 16"/>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18" name="Picture 17"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19" name="TextBox 18"/>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sp>
        <p:nvSpPr>
          <p:cNvPr id="2" name="Date Placeholder 1">
            <a:extLst>
              <a:ext uri="{FF2B5EF4-FFF2-40B4-BE49-F238E27FC236}">
                <a16:creationId xmlns:a16="http://schemas.microsoft.com/office/drawing/2014/main" id="{0074CF8A-883F-4144-AB15-923DF648E0CE}"/>
              </a:ext>
            </a:extLst>
          </p:cNvPr>
          <p:cNvSpPr>
            <a:spLocks noGrp="1"/>
          </p:cNvSpPr>
          <p:nvPr>
            <p:ph type="dt" sz="half" idx="14"/>
          </p:nvPr>
        </p:nvSpPr>
        <p:spPr/>
        <p:txBody>
          <a:bodyPr/>
          <a:lstStyle/>
          <a:p>
            <a:r>
              <a:rPr lang="en-US"/>
              <a:t>Auguts 1, 2026</a:t>
            </a:r>
          </a:p>
        </p:txBody>
      </p:sp>
      <p:sp>
        <p:nvSpPr>
          <p:cNvPr id="5" name="Footer Placeholder 4">
            <a:extLst>
              <a:ext uri="{FF2B5EF4-FFF2-40B4-BE49-F238E27FC236}">
                <a16:creationId xmlns:a16="http://schemas.microsoft.com/office/drawing/2014/main" id="{FA6C6268-F619-48BB-933B-E115CE93C624}"/>
              </a:ext>
            </a:extLst>
          </p:cNvPr>
          <p:cNvSpPr>
            <a:spLocks noGrp="1"/>
          </p:cNvSpPr>
          <p:nvPr>
            <p:ph type="ftr" sz="quarter" idx="15"/>
          </p:nvPr>
        </p:nvSpPr>
        <p:spPr/>
        <p:txBody>
          <a:bodyPr/>
          <a:lstStyle/>
          <a:p>
            <a:r>
              <a:rPr lang="en-US"/>
              <a:t>SEZG651/SSZG653 Software Architectures</a:t>
            </a:r>
          </a:p>
        </p:txBody>
      </p:sp>
      <p:sp>
        <p:nvSpPr>
          <p:cNvPr id="6" name="Slide Number Placeholder 5">
            <a:extLst>
              <a:ext uri="{FF2B5EF4-FFF2-40B4-BE49-F238E27FC236}">
                <a16:creationId xmlns:a16="http://schemas.microsoft.com/office/drawing/2014/main" id="{CFC9EFE8-733E-4AFB-BDAB-0CE5D93733CF}"/>
              </a:ext>
            </a:extLst>
          </p:cNvPr>
          <p:cNvSpPr>
            <a:spLocks noGrp="1"/>
          </p:cNvSpPr>
          <p:nvPr>
            <p:ph type="sldNum" sz="quarter" idx="16"/>
          </p:nvPr>
        </p:nvSpPr>
        <p:spPr>
          <a:xfrm>
            <a:off x="7010400" y="6206025"/>
            <a:ext cx="2133600" cy="365125"/>
          </a:xfrm>
        </p:spPr>
        <p:txBody>
          <a:bodyPr/>
          <a:lstStyle/>
          <a:p>
            <a:fld id="{BC8D7E44-7D4F-4942-A8C9-2DF6BF8399E8}"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5407025"/>
            <a:ext cx="5486400" cy="304800"/>
          </a:xfrm>
        </p:spPr>
        <p:txBody>
          <a:bodyPr anchor="b">
            <a:normAutofit/>
          </a:bodyPr>
          <a:lstStyle>
            <a:lvl1pPr algn="l">
              <a:defRPr sz="1800" b="1" spc="0"/>
            </a:lvl1pPr>
          </a:lstStyle>
          <a:p>
            <a:r>
              <a:rPr lang="en-US" dirty="0"/>
              <a:t>Click to edit Master title style</a:t>
            </a:r>
          </a:p>
        </p:txBody>
      </p:sp>
      <p:sp>
        <p:nvSpPr>
          <p:cNvPr id="3" name="Picture Placeholder 2"/>
          <p:cNvSpPr>
            <a:spLocks noGrp="1"/>
          </p:cNvSpPr>
          <p:nvPr>
            <p:ph type="pic" idx="1"/>
          </p:nvPr>
        </p:nvSpPr>
        <p:spPr>
          <a:xfrm>
            <a:off x="1792288" y="1828800"/>
            <a:ext cx="5486400" cy="3429000"/>
          </a:xfrm>
          <a:ln w="57150">
            <a:solidFill>
              <a:schemeClr val="accent1">
                <a:lumMod val="20000"/>
                <a:lumOff val="80000"/>
              </a:schemeClr>
            </a:solidFill>
          </a:ln>
        </p:spPr>
        <p:style>
          <a:lnRef idx="2">
            <a:schemeClr val="accent1"/>
          </a:lnRef>
          <a:fillRef idx="1">
            <a:schemeClr val="lt1"/>
          </a:fillRef>
          <a:effectRef idx="0">
            <a:schemeClr val="accent1"/>
          </a:effectRef>
          <a:fontRef idx="none"/>
        </p:style>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711825"/>
            <a:ext cx="5486400" cy="304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6" name="Group 5"/>
          <p:cNvGrpSpPr/>
          <p:nvPr userDrawn="1"/>
        </p:nvGrpSpPr>
        <p:grpSpPr>
          <a:xfrm>
            <a:off x="0" y="1295400"/>
            <a:ext cx="7010400" cy="45719"/>
            <a:chOff x="1905000" y="6553200"/>
            <a:chExt cx="7010400" cy="45719"/>
          </a:xfrm>
        </p:grpSpPr>
        <p:sp>
          <p:nvSpPr>
            <p:cNvPr id="7" name="Rectangle 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Rectangle 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11" name="Group 10"/>
          <p:cNvGrpSpPr/>
          <p:nvPr userDrawn="1"/>
        </p:nvGrpSpPr>
        <p:grpSpPr>
          <a:xfrm>
            <a:off x="2133600" y="6553200"/>
            <a:ext cx="70104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15" name="Picture 14"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16" name="TextBox 15"/>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sp>
        <p:nvSpPr>
          <p:cNvPr id="10" name="Date Placeholder 9">
            <a:extLst>
              <a:ext uri="{FF2B5EF4-FFF2-40B4-BE49-F238E27FC236}">
                <a16:creationId xmlns:a16="http://schemas.microsoft.com/office/drawing/2014/main" id="{FB6E1B0A-851E-4A0C-B89D-3CC106FF0C5B}"/>
              </a:ext>
            </a:extLst>
          </p:cNvPr>
          <p:cNvSpPr>
            <a:spLocks noGrp="1"/>
          </p:cNvSpPr>
          <p:nvPr>
            <p:ph type="dt" sz="half" idx="11"/>
          </p:nvPr>
        </p:nvSpPr>
        <p:spPr/>
        <p:txBody>
          <a:bodyPr/>
          <a:lstStyle/>
          <a:p>
            <a:r>
              <a:rPr lang="en-US"/>
              <a:t>Auguts 1, 2026</a:t>
            </a:r>
          </a:p>
        </p:txBody>
      </p:sp>
      <p:sp>
        <p:nvSpPr>
          <p:cNvPr id="17" name="Footer Placeholder 16">
            <a:extLst>
              <a:ext uri="{FF2B5EF4-FFF2-40B4-BE49-F238E27FC236}">
                <a16:creationId xmlns:a16="http://schemas.microsoft.com/office/drawing/2014/main" id="{224DB619-8B4A-4430-9A32-51334D35E42E}"/>
              </a:ext>
            </a:extLst>
          </p:cNvPr>
          <p:cNvSpPr>
            <a:spLocks noGrp="1"/>
          </p:cNvSpPr>
          <p:nvPr>
            <p:ph type="ftr" sz="quarter" idx="12"/>
          </p:nvPr>
        </p:nvSpPr>
        <p:spPr/>
        <p:txBody>
          <a:bodyPr/>
          <a:lstStyle/>
          <a:p>
            <a:r>
              <a:rPr lang="en-US"/>
              <a:t>SEZG651/SSZG653 Software Architectures</a:t>
            </a:r>
          </a:p>
        </p:txBody>
      </p:sp>
      <p:sp>
        <p:nvSpPr>
          <p:cNvPr id="18" name="Slide Number Placeholder 17">
            <a:extLst>
              <a:ext uri="{FF2B5EF4-FFF2-40B4-BE49-F238E27FC236}">
                <a16:creationId xmlns:a16="http://schemas.microsoft.com/office/drawing/2014/main" id="{8986382B-03E0-49E8-ABB3-DDB76510459C}"/>
              </a:ext>
            </a:extLst>
          </p:cNvPr>
          <p:cNvSpPr>
            <a:spLocks noGrp="1"/>
          </p:cNvSpPr>
          <p:nvPr>
            <p:ph type="sldNum" sz="quarter" idx="13"/>
          </p:nvPr>
        </p:nvSpPr>
        <p:spPr>
          <a:xfrm>
            <a:off x="7010400" y="6210934"/>
            <a:ext cx="2133600" cy="365125"/>
          </a:xfrm>
        </p:spPr>
        <p:txBody>
          <a:bodyPr/>
          <a:lstStyle/>
          <a:p>
            <a:fld id="{BC8D7E44-7D4F-4942-A8C9-2DF6BF8399E8}"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20" name="Group 19"/>
          <p:cNvGrpSpPr/>
          <p:nvPr userDrawn="1"/>
        </p:nvGrpSpPr>
        <p:grpSpPr>
          <a:xfrm>
            <a:off x="0" y="1295400"/>
            <a:ext cx="7010400" cy="45719"/>
            <a:chOff x="1905000" y="6553200"/>
            <a:chExt cx="7010400" cy="45719"/>
          </a:xfrm>
        </p:grpSpPr>
        <p:sp>
          <p:nvSpPr>
            <p:cNvPr id="21" name="Rectangle 20"/>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Rectangle 2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Rectangle 22"/>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5" name="Group 24"/>
          <p:cNvGrpSpPr/>
          <p:nvPr userDrawn="1"/>
        </p:nvGrpSpPr>
        <p:grpSpPr>
          <a:xfrm>
            <a:off x="2133600" y="6553200"/>
            <a:ext cx="7010400" cy="45719"/>
            <a:chOff x="1905000" y="6553200"/>
            <a:chExt cx="7010400" cy="45719"/>
          </a:xfrm>
        </p:grpSpPr>
        <p:sp>
          <p:nvSpPr>
            <p:cNvPr id="26" name="Rectangle 25"/>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Rectangle 26"/>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 name="Rectangle 27"/>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29" name="Picture 28"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30" name="TextBox 29"/>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1219200" y="381000"/>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18"/>
          <p:cNvSpPr>
            <a:spLocks noGrp="1"/>
          </p:cNvSpPr>
          <p:nvPr>
            <p:ph sz="quarter" idx="10" hasCustomPrompt="1"/>
          </p:nvPr>
        </p:nvSpPr>
        <p:spPr>
          <a:xfrm rot="5400000">
            <a:off x="5410200" y="2743200"/>
            <a:ext cx="58674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8" name="Group 7"/>
          <p:cNvGrpSpPr/>
          <p:nvPr userDrawn="1"/>
        </p:nvGrpSpPr>
        <p:grpSpPr>
          <a:xfrm rot="5400000">
            <a:off x="5006340" y="2567940"/>
            <a:ext cx="5181600" cy="45719"/>
            <a:chOff x="1905000" y="6553200"/>
            <a:chExt cx="7010400" cy="45719"/>
          </a:xfrm>
        </p:grpSpPr>
        <p:sp>
          <p:nvSpPr>
            <p:cNvPr id="9" name="Rectangle 8"/>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Rectangle 9"/>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10"/>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17" name="Picture 16" descr="Picture 7.png"/>
          <p:cNvPicPr>
            <a:picLocks noChangeAspect="1"/>
          </p:cNvPicPr>
          <p:nvPr userDrawn="1"/>
        </p:nvPicPr>
        <p:blipFill>
          <a:blip r:embed="rId2" cstate="print"/>
          <a:srcRect l="1923" b="5336"/>
          <a:stretch>
            <a:fillRect/>
          </a:stretch>
        </p:blipFill>
        <p:spPr>
          <a:xfrm rot="5400000">
            <a:off x="-758715" y="1131248"/>
            <a:ext cx="2193193" cy="692697"/>
          </a:xfrm>
          <a:prstGeom prst="rect">
            <a:avLst/>
          </a:prstGeom>
        </p:spPr>
      </p:pic>
      <p:sp>
        <p:nvSpPr>
          <p:cNvPr id="18" name="TextBox 17"/>
          <p:cNvSpPr txBox="1"/>
          <p:nvPr userDrawn="1"/>
        </p:nvSpPr>
        <p:spPr>
          <a:xfrm rot="5400000">
            <a:off x="-2794428" y="3808884"/>
            <a:ext cx="5867400" cy="230832"/>
          </a:xfrm>
          <a:prstGeom prst="rect">
            <a:avLst/>
          </a:prstGeom>
          <a:noFill/>
        </p:spPr>
        <p:txBody>
          <a:bodyPr wrap="square" rtlCol="0">
            <a:spAutoFit/>
          </a:bodyPr>
          <a:lstStyle/>
          <a:p>
            <a:pPr algn="r"/>
            <a:r>
              <a:rPr lang="en-US" sz="900" b="1" dirty="0">
                <a:solidFill>
                  <a:srgbClr val="101141"/>
                </a:solidFill>
                <a:latin typeface="Arial"/>
                <a:cs typeface="Arial"/>
              </a:rPr>
              <a:t>BITS </a:t>
            </a:r>
            <a:r>
              <a:rPr lang="en-US" sz="900" dirty="0">
                <a:solidFill>
                  <a:srgbClr val="101141"/>
                </a:solidFill>
                <a:latin typeface="Arial"/>
                <a:cs typeface="Arial"/>
              </a:rPr>
              <a:t>Pilani, Deemed</a:t>
            </a:r>
            <a:r>
              <a:rPr lang="en-US" sz="900" baseline="0" dirty="0">
                <a:solidFill>
                  <a:srgbClr val="101141"/>
                </a:solidFill>
                <a:latin typeface="Arial"/>
                <a:cs typeface="Arial"/>
              </a:rPr>
              <a:t> to be University under Section 3 of UGC Act, 1956</a:t>
            </a:r>
            <a:endParaRPr lang="en-US" sz="900" dirty="0">
              <a:solidFill>
                <a:srgbClr val="101141"/>
              </a:solidFill>
              <a:latin typeface="Arial"/>
              <a:cs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71600" y="274638"/>
            <a:ext cx="7715200" cy="778098"/>
          </a:xfrm>
        </p:spPr>
        <p:txBody>
          <a:bodyPr/>
          <a:lstStyle/>
          <a:p>
            <a:r>
              <a:rPr lang="en-US" dirty="0"/>
              <a:t>Click to edit Master title style</a:t>
            </a:r>
            <a:endParaRPr lang="en-AU"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026" name="Picture 2" descr="C:\Users\lbass\Documents\SAP3\SAP3 cover.jp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5496" y="116632"/>
            <a:ext cx="953592" cy="953592"/>
          </a:xfrm>
          <a:prstGeom prst="rect">
            <a:avLst/>
          </a:prstGeom>
          <a:noFill/>
          <a:extLst>
            <a:ext uri="{909E8E84-426E-40dd-AFC4-6F175D3DCCD1}">
              <a14:hiddenFill xmlns="" xmlns:a14="http://schemas.microsoft.com/office/drawing/2010/main">
                <a:solidFill>
                  <a:srgbClr val="FFFFFF"/>
                </a:solidFill>
              </a14:hiddenFill>
            </a:ext>
          </a:extLst>
        </p:spPr>
      </p:pic>
      <p:sp>
        <p:nvSpPr>
          <p:cNvPr id="9" name="Footer Placeholder 8"/>
          <p:cNvSpPr>
            <a:spLocks noGrp="1"/>
          </p:cNvSpPr>
          <p:nvPr>
            <p:ph type="ftr" sz="quarter" idx="11"/>
          </p:nvPr>
        </p:nvSpPr>
        <p:spPr>
          <a:xfrm>
            <a:off x="1403648" y="6356350"/>
            <a:ext cx="6336704" cy="365125"/>
          </a:xfrm>
        </p:spPr>
        <p:txBody>
          <a:bodyPr/>
          <a:lstStyle/>
          <a:p>
            <a:r>
              <a:rPr lang="en-AU"/>
              <a:t>SEZG651/SSZG653 Software Architectures</a:t>
            </a:r>
            <a:endParaRPr lang="en-AU" dirty="0"/>
          </a:p>
        </p:txBody>
      </p:sp>
    </p:spTree>
    <p:extLst>
      <p:ext uri="{BB962C8B-B14F-4D97-AF65-F5344CB8AC3E}">
        <p14:creationId xmlns:p14="http://schemas.microsoft.com/office/powerpoint/2010/main" val="28810298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2400" u="none" strike="noStrike" kern="1200" cap="none" spc="0" normalizeH="0" noProof="0" dirty="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endParaRPr lang="en-US" dirty="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endParaRPr lang="en-US" dirty="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endParaRPr lang="en-US" dirty="0"/>
          </a:p>
        </p:txBody>
      </p:sp>
      <p:sp>
        <p:nvSpPr>
          <p:cNvPr id="7" name="TextBox 6"/>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grpSp>
        <p:nvGrpSpPr>
          <p:cNvPr id="12" name="Group 11"/>
          <p:cNvGrpSpPr/>
          <p:nvPr userDrawn="1"/>
        </p:nvGrpSpPr>
        <p:grpSpPr>
          <a:xfrm>
            <a:off x="2083888" y="6550671"/>
            <a:ext cx="7060112"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16" name="Picture 15"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grpSp>
        <p:nvGrpSpPr>
          <p:cNvPr id="19" name="Group 18"/>
          <p:cNvGrpSpPr/>
          <p:nvPr userDrawn="1"/>
        </p:nvGrpSpPr>
        <p:grpSpPr>
          <a:xfrm>
            <a:off x="2133600" y="6558112"/>
            <a:ext cx="70104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3" name="Group 22"/>
          <p:cNvGrpSpPr/>
          <p:nvPr userDrawn="1"/>
        </p:nvGrpSpPr>
        <p:grpSpPr>
          <a:xfrm>
            <a:off x="0" y="1295400"/>
            <a:ext cx="70104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27"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sp>
        <p:nvSpPr>
          <p:cNvPr id="4" name="Content Placeholder 3">
            <a:extLst>
              <a:ext uri="{FF2B5EF4-FFF2-40B4-BE49-F238E27FC236}">
                <a16:creationId xmlns:a16="http://schemas.microsoft.com/office/drawing/2014/main" id="{6FA95B91-80DC-439F-8C70-3B1EBFBBF1F5}"/>
              </a:ext>
            </a:extLst>
          </p:cNvPr>
          <p:cNvSpPr>
            <a:spLocks noGrp="1"/>
          </p:cNvSpPr>
          <p:nvPr>
            <p:ph sz="quarter" idx="11"/>
          </p:nvPr>
        </p:nvSpPr>
        <p:spPr>
          <a:xfrm>
            <a:off x="4495800" y="6363741"/>
            <a:ext cx="914400" cy="9144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4116052-1273-4EC0-ADD6-422E16AA4781}"/>
              </a:ext>
            </a:extLst>
          </p:cNvPr>
          <p:cNvSpPr>
            <a:spLocks noGrp="1"/>
          </p:cNvSpPr>
          <p:nvPr>
            <p:ph type="dt" sz="half" idx="12"/>
          </p:nvPr>
        </p:nvSpPr>
        <p:spPr/>
        <p:txBody>
          <a:bodyPr/>
          <a:lstStyle/>
          <a:p>
            <a:r>
              <a:rPr lang="en-US"/>
              <a:t>Auguts 1, 2026</a:t>
            </a:r>
          </a:p>
        </p:txBody>
      </p:sp>
      <p:sp>
        <p:nvSpPr>
          <p:cNvPr id="6" name="Footer Placeholder 5">
            <a:extLst>
              <a:ext uri="{FF2B5EF4-FFF2-40B4-BE49-F238E27FC236}">
                <a16:creationId xmlns:a16="http://schemas.microsoft.com/office/drawing/2014/main" id="{4FDE8E7A-623C-40DD-A712-BEEDA93A9756}"/>
              </a:ext>
            </a:extLst>
          </p:cNvPr>
          <p:cNvSpPr>
            <a:spLocks noGrp="1"/>
          </p:cNvSpPr>
          <p:nvPr>
            <p:ph type="ftr" sz="quarter" idx="13"/>
          </p:nvPr>
        </p:nvSpPr>
        <p:spPr/>
        <p:txBody>
          <a:bodyPr/>
          <a:lstStyle/>
          <a:p>
            <a:r>
              <a:rPr lang="en-US"/>
              <a:t>SEZG651/SSZG653 Software Architectures</a:t>
            </a:r>
          </a:p>
        </p:txBody>
      </p:sp>
      <p:sp>
        <p:nvSpPr>
          <p:cNvPr id="8" name="Slide Number Placeholder 7">
            <a:extLst>
              <a:ext uri="{FF2B5EF4-FFF2-40B4-BE49-F238E27FC236}">
                <a16:creationId xmlns:a16="http://schemas.microsoft.com/office/drawing/2014/main" id="{0CD26A9A-C7D3-441E-9815-2014756B5490}"/>
              </a:ext>
            </a:extLst>
          </p:cNvPr>
          <p:cNvSpPr>
            <a:spLocks noGrp="1"/>
          </p:cNvSpPr>
          <p:nvPr>
            <p:ph type="sldNum" sz="quarter" idx="14"/>
          </p:nvPr>
        </p:nvSpPr>
        <p:spPr>
          <a:xfrm>
            <a:off x="7010400" y="6101551"/>
            <a:ext cx="2133600" cy="365125"/>
          </a:xfrm>
        </p:spPr>
        <p:txBody>
          <a:bodyPr/>
          <a:lstStyle/>
          <a:p>
            <a:fld id="{BC8D7E44-7D4F-4942-A8C9-2DF6BF8399E8}" type="slidenum">
              <a:rPr lang="en-US" smtClean="0"/>
              <a:pPr/>
              <a:t>‹#›</a:t>
            </a:fld>
            <a:endParaRPr lang="en-US" dirty="0"/>
          </a:p>
        </p:txBody>
      </p:sp>
    </p:spTree>
    <p:extLst>
      <p:ext uri="{BB962C8B-B14F-4D97-AF65-F5344CB8AC3E}">
        <p14:creationId xmlns:p14="http://schemas.microsoft.com/office/powerpoint/2010/main" val="30945031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svg"/><Relationship Id="rId2" Type="http://schemas.openxmlformats.org/officeDocument/2006/relationships/slideLayout" Target="../slideLayouts/slideLayout2.xml"/><Relationship Id="rId16"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sv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Arial" pitchFamily="34" charset="0"/>
                <a:cs typeface="Arial" pitchFamily="34" charset="0"/>
              </a:defRPr>
            </a:lvl1pPr>
          </a:lstStyle>
          <a:p>
            <a:r>
              <a:rPr lang="en-US"/>
              <a:t>Auguts 1, 2026</a:t>
            </a:r>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Arial" pitchFamily="34" charset="0"/>
                <a:cs typeface="Arial" pitchFamily="34" charset="0"/>
              </a:defRPr>
            </a:lvl1pPr>
          </a:lstStyle>
          <a:p>
            <a:r>
              <a:rPr lang="en-US"/>
              <a:t>SEZG651/SSZG653 Software Architectures</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latin typeface="Arial" pitchFamily="34" charset="0"/>
                <a:cs typeface="Arial" pitchFamily="34" charset="0"/>
              </a:defRPr>
            </a:lvl1pPr>
          </a:lstStyle>
          <a:p>
            <a:fld id="{BC8D7E44-7D4F-4942-A8C9-2DF6BF8399E8}" type="slidenum">
              <a:rPr lang="en-US" smtClean="0"/>
              <a:pPr/>
              <a:t>‹#›</a:t>
            </a:fld>
            <a:endParaRPr lang="en-US" dirty="0"/>
          </a:p>
        </p:txBody>
      </p:sp>
      <p:grpSp>
        <p:nvGrpSpPr>
          <p:cNvPr id="7" name="Group 6">
            <a:extLst>
              <a:ext uri="{FF2B5EF4-FFF2-40B4-BE49-F238E27FC236}">
                <a16:creationId xmlns:a16="http://schemas.microsoft.com/office/drawing/2014/main" id="{E0E544D6-3543-7340-E89F-E19934BBBFC9}"/>
              </a:ext>
            </a:extLst>
          </p:cNvPr>
          <p:cNvGrpSpPr/>
          <p:nvPr userDrawn="1"/>
        </p:nvGrpSpPr>
        <p:grpSpPr>
          <a:xfrm>
            <a:off x="-59470" y="-641099"/>
            <a:ext cx="9267429" cy="8253818"/>
            <a:chOff x="-59470" y="-641099"/>
            <a:chExt cx="9267429" cy="8253818"/>
          </a:xfrm>
        </p:grpSpPr>
        <p:pic>
          <p:nvPicPr>
            <p:cNvPr id="8" name="Graphic 7">
              <a:extLst>
                <a:ext uri="{FF2B5EF4-FFF2-40B4-BE49-F238E27FC236}">
                  <a16:creationId xmlns:a16="http://schemas.microsoft.com/office/drawing/2014/main" id="{E1F39EEA-7B33-516A-AFBF-810E42505E43}"/>
                </a:ext>
              </a:extLst>
            </p:cNvPr>
            <p:cNvPicPr>
              <a:picLocks noChangeAspect="1"/>
            </p:cNvPicPr>
            <p:nvPr userDrawn="1"/>
          </p:nvPicPr>
          <p:blipFill>
            <a:blip>
              <a:extLst>
                <a:ext uri="{96DAC541-7B7A-43D3-8B79-37D633B846F1}">
                  <asvg:svgBlip xmlns:asvg="http://schemas.microsoft.com/office/drawing/2016/SVG/main" r:embed="rId15"/>
                </a:ext>
              </a:extLst>
            </a:blip>
            <a:stretch>
              <a:fillRect/>
            </a:stretch>
          </p:blipFill>
          <p:spPr>
            <a:xfrm rot="1789776">
              <a:off x="1948972" y="1734076"/>
              <a:ext cx="5246055" cy="5246055"/>
            </a:xfrm>
            <a:prstGeom prst="rect">
              <a:avLst/>
            </a:prstGeom>
          </p:spPr>
        </p:pic>
        <p:pic>
          <p:nvPicPr>
            <p:cNvPr id="11" name="Graphic 10">
              <a:extLst>
                <a:ext uri="{FF2B5EF4-FFF2-40B4-BE49-F238E27FC236}">
                  <a16:creationId xmlns:a16="http://schemas.microsoft.com/office/drawing/2014/main" id="{C4D80259-F66D-03E6-A130-A27FE9B647C5}"/>
                </a:ext>
              </a:extLst>
            </p:cNvPr>
            <p:cNvPicPr>
              <a:picLocks noChangeAspect="1"/>
            </p:cNvPicPr>
            <p:nvPr userDrawn="1"/>
          </p:nvPicPr>
          <p:blipFill>
            <a:blip>
              <a:extLst>
                <a:ext uri="{96DAC541-7B7A-43D3-8B79-37D633B846F1}">
                  <asvg:svgBlip xmlns:asvg="http://schemas.microsoft.com/office/drawing/2016/SVG/main" r:embed="rId15"/>
                </a:ext>
              </a:extLst>
            </a:blip>
            <a:stretch>
              <a:fillRect/>
            </a:stretch>
          </p:blipFill>
          <p:spPr>
            <a:xfrm rot="3624369">
              <a:off x="-59470" y="4282884"/>
              <a:ext cx="3329835" cy="3329835"/>
            </a:xfrm>
            <a:prstGeom prst="rect">
              <a:avLst/>
            </a:prstGeom>
          </p:spPr>
        </p:pic>
        <p:pic>
          <p:nvPicPr>
            <p:cNvPr id="12" name="Graphic 11">
              <a:extLst>
                <a:ext uri="{FF2B5EF4-FFF2-40B4-BE49-F238E27FC236}">
                  <a16:creationId xmlns:a16="http://schemas.microsoft.com/office/drawing/2014/main" id="{0994B9F6-7967-4D47-0DF3-FFF4E7A06EB6}"/>
                </a:ext>
              </a:extLst>
            </p:cNvPr>
            <p:cNvPicPr>
              <a:picLocks noChangeAspect="1"/>
            </p:cNvPicPr>
            <p:nvPr userDrawn="1"/>
          </p:nvPicPr>
          <p:blipFill>
            <a:blip>
              <a:extLst>
                <a:ext uri="{96DAC541-7B7A-43D3-8B79-37D633B846F1}">
                  <asvg:svgBlip xmlns:asvg="http://schemas.microsoft.com/office/drawing/2016/SVG/main" r:embed="rId15"/>
                </a:ext>
              </a:extLst>
            </a:blip>
            <a:stretch>
              <a:fillRect/>
            </a:stretch>
          </p:blipFill>
          <p:spPr>
            <a:xfrm>
              <a:off x="5878124" y="4281440"/>
              <a:ext cx="3329835" cy="3329835"/>
            </a:xfrm>
            <a:prstGeom prst="rect">
              <a:avLst/>
            </a:prstGeom>
          </p:spPr>
        </p:pic>
        <p:pic>
          <p:nvPicPr>
            <p:cNvPr id="13" name="Graphic 12">
              <a:extLst>
                <a:ext uri="{FF2B5EF4-FFF2-40B4-BE49-F238E27FC236}">
                  <a16:creationId xmlns:a16="http://schemas.microsoft.com/office/drawing/2014/main" id="{B492C2A5-3C5F-26C3-0DBA-5DEBACB08184}"/>
                </a:ext>
              </a:extLst>
            </p:cNvPr>
            <p:cNvPicPr>
              <a:picLocks noChangeAspect="1"/>
            </p:cNvPicPr>
            <p:nvPr userDrawn="1"/>
          </p:nvPicPr>
          <p:blipFill>
            <a:blip>
              <a:extLst>
                <a:ext uri="{96DAC541-7B7A-43D3-8B79-37D633B846F1}">
                  <asvg:svgBlip xmlns:asvg="http://schemas.microsoft.com/office/drawing/2016/SVG/main" r:embed="rId15"/>
                </a:ext>
              </a:extLst>
            </a:blip>
            <a:stretch>
              <a:fillRect/>
            </a:stretch>
          </p:blipFill>
          <p:spPr>
            <a:xfrm>
              <a:off x="20318" y="-641098"/>
              <a:ext cx="3329835" cy="3329835"/>
            </a:xfrm>
            <a:prstGeom prst="rect">
              <a:avLst/>
            </a:prstGeom>
          </p:spPr>
        </p:pic>
        <p:pic>
          <p:nvPicPr>
            <p:cNvPr id="14" name="Graphic 13">
              <a:extLst>
                <a:ext uri="{FF2B5EF4-FFF2-40B4-BE49-F238E27FC236}">
                  <a16:creationId xmlns:a16="http://schemas.microsoft.com/office/drawing/2014/main" id="{F61B0375-6966-89D2-6674-FC729FD63FAB}"/>
                </a:ext>
              </a:extLst>
            </p:cNvPr>
            <p:cNvPicPr>
              <a:picLocks noChangeAspect="1"/>
            </p:cNvPicPr>
            <p:nvPr userDrawn="1"/>
          </p:nvPicPr>
          <p:blipFill>
            <a:blip>
              <a:extLst>
                <a:ext uri="{96DAC541-7B7A-43D3-8B79-37D633B846F1}">
                  <asvg:svgBlip xmlns:asvg="http://schemas.microsoft.com/office/drawing/2016/SVG/main" r:embed="rId15"/>
                </a:ext>
              </a:extLst>
            </a:blip>
            <a:stretch>
              <a:fillRect/>
            </a:stretch>
          </p:blipFill>
          <p:spPr>
            <a:xfrm rot="3604717">
              <a:off x="5806918" y="-641099"/>
              <a:ext cx="3329835" cy="3329835"/>
            </a:xfrm>
            <a:prstGeom prst="rect">
              <a:avLst/>
            </a:prstGeom>
          </p:spPr>
        </p:pic>
        <p:grpSp>
          <p:nvGrpSpPr>
            <p:cNvPr id="15" name="Group 14">
              <a:extLst>
                <a:ext uri="{FF2B5EF4-FFF2-40B4-BE49-F238E27FC236}">
                  <a16:creationId xmlns:a16="http://schemas.microsoft.com/office/drawing/2014/main" id="{10CCE0F1-7A02-2A7D-269C-19767096E8A8}"/>
                </a:ext>
              </a:extLst>
            </p:cNvPr>
            <p:cNvGrpSpPr/>
            <p:nvPr userDrawn="1"/>
          </p:nvGrpSpPr>
          <p:grpSpPr>
            <a:xfrm>
              <a:off x="0" y="0"/>
              <a:ext cx="9144001" cy="6857673"/>
              <a:chOff x="0" y="0"/>
              <a:chExt cx="9144001" cy="6857673"/>
            </a:xfrm>
          </p:grpSpPr>
          <p:grpSp>
            <p:nvGrpSpPr>
              <p:cNvPr id="17" name="Group 6">
                <a:extLst>
                  <a:ext uri="{FF2B5EF4-FFF2-40B4-BE49-F238E27FC236}">
                    <a16:creationId xmlns:a16="http://schemas.microsoft.com/office/drawing/2014/main" id="{421E63F4-5EEA-2FF7-AD79-8A6FABE3665F}"/>
                  </a:ext>
                </a:extLst>
              </p:cNvPr>
              <p:cNvGrpSpPr/>
              <p:nvPr userDrawn="1"/>
            </p:nvGrpSpPr>
            <p:grpSpPr>
              <a:xfrm>
                <a:off x="0" y="1295400"/>
                <a:ext cx="7010401" cy="46038"/>
                <a:chOff x="0" y="0"/>
                <a:chExt cx="7010400" cy="46037"/>
              </a:xfrm>
            </p:grpSpPr>
            <p:sp>
              <p:nvSpPr>
                <p:cNvPr id="24" name="Rectangle 6">
                  <a:extLst>
                    <a:ext uri="{FF2B5EF4-FFF2-40B4-BE49-F238E27FC236}">
                      <a16:creationId xmlns:a16="http://schemas.microsoft.com/office/drawing/2014/main" id="{47D232A0-0E8A-DA78-0B56-C01523EFAB59}"/>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25" name="Rectangle 7">
                  <a:extLst>
                    <a:ext uri="{FF2B5EF4-FFF2-40B4-BE49-F238E27FC236}">
                      <a16:creationId xmlns:a16="http://schemas.microsoft.com/office/drawing/2014/main" id="{CC1EF670-875D-C980-3D45-53130DDCD4A4}"/>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26" name="Rectangle 8">
                  <a:extLst>
                    <a:ext uri="{FF2B5EF4-FFF2-40B4-BE49-F238E27FC236}">
                      <a16:creationId xmlns:a16="http://schemas.microsoft.com/office/drawing/2014/main" id="{85B1DE08-F34D-C9CE-53B6-F7C64EFDA5D5}"/>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grpSp>
            <p:nvGrpSpPr>
              <p:cNvPr id="18" name="Group 10">
                <a:extLst>
                  <a:ext uri="{FF2B5EF4-FFF2-40B4-BE49-F238E27FC236}">
                    <a16:creationId xmlns:a16="http://schemas.microsoft.com/office/drawing/2014/main" id="{FD0F6F6D-5481-599B-4411-90A56743976A}"/>
                  </a:ext>
                </a:extLst>
              </p:cNvPr>
              <p:cNvGrpSpPr/>
              <p:nvPr userDrawn="1"/>
            </p:nvGrpSpPr>
            <p:grpSpPr>
              <a:xfrm>
                <a:off x="2133600" y="6553200"/>
                <a:ext cx="7010401" cy="46038"/>
                <a:chOff x="0" y="0"/>
                <a:chExt cx="7010400" cy="46037"/>
              </a:xfrm>
            </p:grpSpPr>
            <p:sp>
              <p:nvSpPr>
                <p:cNvPr id="21" name="Rectangle 10">
                  <a:extLst>
                    <a:ext uri="{FF2B5EF4-FFF2-40B4-BE49-F238E27FC236}">
                      <a16:creationId xmlns:a16="http://schemas.microsoft.com/office/drawing/2014/main" id="{8D394C7B-9364-6CD3-D557-1F1B61B0EF84}"/>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22" name="Rectangle 11">
                  <a:extLst>
                    <a:ext uri="{FF2B5EF4-FFF2-40B4-BE49-F238E27FC236}">
                      <a16:creationId xmlns:a16="http://schemas.microsoft.com/office/drawing/2014/main" id="{33FE60B6-0E9A-14C2-8D71-F60C081FC176}"/>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23" name="Rectangle 12">
                  <a:extLst>
                    <a:ext uri="{FF2B5EF4-FFF2-40B4-BE49-F238E27FC236}">
                      <a16:creationId xmlns:a16="http://schemas.microsoft.com/office/drawing/2014/main" id="{2D07333C-B47D-D931-DC8A-3D8739A381EE}"/>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pic>
            <p:nvPicPr>
              <p:cNvPr id="19" name="Picture 14" descr="Picture 14">
                <a:extLst>
                  <a:ext uri="{FF2B5EF4-FFF2-40B4-BE49-F238E27FC236}">
                    <a16:creationId xmlns:a16="http://schemas.microsoft.com/office/drawing/2014/main" id="{DC35F19F-09C8-C6D7-6144-F9CE2ECAAEBF}"/>
                  </a:ext>
                </a:extLst>
              </p:cNvPr>
              <p:cNvPicPr>
                <a:picLocks noChangeAspect="1"/>
              </p:cNvPicPr>
              <p:nvPr userDrawn="1"/>
            </p:nvPicPr>
            <p:blipFill>
              <a:blip r:embed="rId16"/>
              <a:srcRect t="2677" b="2677"/>
              <a:stretch>
                <a:fillRect/>
              </a:stretch>
            </p:blipFill>
            <p:spPr>
              <a:xfrm>
                <a:off x="6629400" y="0"/>
                <a:ext cx="2193925" cy="692150"/>
              </a:xfrm>
              <a:prstGeom prst="rect">
                <a:avLst/>
              </a:prstGeom>
              <a:ln w="12700">
                <a:miter lim="400000"/>
              </a:ln>
            </p:spPr>
          </p:pic>
          <p:sp>
            <p:nvSpPr>
              <p:cNvPr id="20" name="TextBox 14">
                <a:extLst>
                  <a:ext uri="{FF2B5EF4-FFF2-40B4-BE49-F238E27FC236}">
                    <a16:creationId xmlns:a16="http://schemas.microsoft.com/office/drawing/2014/main" id="{ADF4F4BE-AAE2-088A-C943-391F67E71B26}"/>
                  </a:ext>
                </a:extLst>
              </p:cNvPr>
              <p:cNvSpPr txBox="1"/>
              <p:nvPr userDrawn="1"/>
            </p:nvSpPr>
            <p:spPr>
              <a:xfrm>
                <a:off x="3322319" y="6596063"/>
                <a:ext cx="5775962" cy="26161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gn="r">
                  <a:defRPr sz="1100" b="1">
                    <a:solidFill>
                      <a:srgbClr val="101141"/>
                    </a:solidFill>
                    <a:latin typeface="+mj-lt"/>
                    <a:ea typeface="+mj-ea"/>
                    <a:cs typeface="+mj-cs"/>
                    <a:sym typeface="Arial"/>
                  </a:defRPr>
                </a:pPr>
                <a:r>
                  <a:rPr lang="en-IN" dirty="0"/>
                  <a:t>BITS </a:t>
                </a:r>
                <a:r>
                  <a:rPr lang="en-IN" b="0" dirty="0" err="1"/>
                  <a:t>Pilani</a:t>
                </a:r>
                <a:r>
                  <a:rPr lang="en-IN" b="0" dirty="0"/>
                  <a:t>, Deemed to be University under Section 3 of UGC Act, 1956</a:t>
                </a:r>
              </a:p>
            </p:txBody>
          </p:sp>
        </p:grpSp>
        <p:pic>
          <p:nvPicPr>
            <p:cNvPr id="16" name="Graphic 15">
              <a:extLst>
                <a:ext uri="{FF2B5EF4-FFF2-40B4-BE49-F238E27FC236}">
                  <a16:creationId xmlns:a16="http://schemas.microsoft.com/office/drawing/2014/main" id="{32749D54-D53A-C38C-D83D-BE24DBC2E9FD}"/>
                </a:ext>
              </a:extLst>
            </p:cNvPr>
            <p:cNvPicPr>
              <a:picLocks noChangeAspect="1"/>
            </p:cNvPicPr>
            <p:nvPr userDrawn="1"/>
          </p:nvPicPr>
          <p:blipFill>
            <a:blip>
              <a:extLst>
                <a:ext uri="{96DAC541-7B7A-43D3-8B79-37D633B846F1}">
                  <asvg:svgBlip xmlns:asvg="http://schemas.microsoft.com/office/drawing/2016/SVG/main" r:embed="rId17"/>
                </a:ext>
              </a:extLst>
            </a:blip>
            <a:stretch>
              <a:fillRect/>
            </a:stretch>
          </p:blipFill>
          <p:spPr>
            <a:xfrm>
              <a:off x="3810002" y="2493406"/>
              <a:ext cx="1523997" cy="1523997"/>
            </a:xfrm>
            <a:prstGeom prst="rect">
              <a:avLst/>
            </a:prstGeom>
          </p:spPr>
        </p:pic>
      </p:grpSp>
    </p:spTree>
  </p:cSld>
  <p:clrMap bg1="lt1" tx1="dk1" bg2="lt2" tx2="dk2" accent1="accent1" accent2="accent2" accent3="accent3" accent4="accent4" accent5="accent5" accent6="accent6" hlink="hlink" folHlink="folHlink"/>
  <p:sldLayoutIdLst>
    <p:sldLayoutId id="2147483649" r:id="rId1"/>
    <p:sldLayoutId id="2147483660" r:id="rId2"/>
    <p:sldLayoutId id="2147483651" r:id="rId3"/>
    <p:sldLayoutId id="2147483650" r:id="rId4"/>
    <p:sldLayoutId id="2147483652" r:id="rId5"/>
    <p:sldLayoutId id="2147483653" r:id="rId6"/>
    <p:sldLayoutId id="2147483655" r:id="rId7"/>
    <p:sldLayoutId id="2147483656" r:id="rId8"/>
    <p:sldLayoutId id="2147483657" r:id="rId9"/>
    <p:sldLayoutId id="2147483658" r:id="rId10"/>
    <p:sldLayoutId id="2147483659" r:id="rId11"/>
    <p:sldLayoutId id="2147483661" r:id="rId12"/>
    <p:sldLayoutId id="2147483662" r:id="rId13"/>
  </p:sldLayoutIdLst>
  <p:hf hdr="0"/>
  <p:txStyles>
    <p:titleStyle>
      <a:lvl1pPr algn="l" defTabSz="914400" rtl="0" eaLnBrk="1" latinLnBrk="0" hangingPunct="1">
        <a:spcBef>
          <a:spcPct val="0"/>
        </a:spcBef>
        <a:buNone/>
        <a:defRPr sz="4000" b="1" kern="1200" spc="-150">
          <a:solidFill>
            <a:schemeClr val="tx1"/>
          </a:solidFill>
          <a:latin typeface="Arial" pitchFamily="34" charset="0"/>
          <a:ea typeface="+mj-ea"/>
          <a:cs typeface="Arial" pitchFamily="34" charset="0"/>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pitchFamily="34" charset="0"/>
          <a:ea typeface="+mn-ea"/>
          <a:cs typeface="Arial"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 Target="slide27.xml"/><Relationship Id="rId2" Type="http://schemas.openxmlformats.org/officeDocument/2006/relationships/slide" Target="slide3.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82.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13.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008C5D9-A13E-486C-5724-938B49E6D52D}"/>
              </a:ext>
            </a:extLst>
          </p:cNvPr>
          <p:cNvSpPr>
            <a:spLocks noGrp="1"/>
          </p:cNvSpPr>
          <p:nvPr>
            <p:ph type="title"/>
          </p:nvPr>
        </p:nvSpPr>
        <p:spPr>
          <a:xfrm>
            <a:off x="2514600" y="3810000"/>
            <a:ext cx="6019800" cy="1981200"/>
          </a:xfrm>
        </p:spPr>
        <p:txBody>
          <a:bodyPr/>
          <a:lstStyle/>
          <a:p>
            <a:r>
              <a:rPr lang="en-US" dirty="0"/>
              <a:t>SEZG651/ SSZG653 </a:t>
            </a:r>
            <a:br>
              <a:rPr lang="en-US" dirty="0"/>
            </a:br>
            <a:r>
              <a:rPr lang="en-US" dirty="0"/>
              <a:t>Software Architectures</a:t>
            </a:r>
            <a:br>
              <a:rPr lang="en-US" dirty="0"/>
            </a:br>
            <a:br>
              <a:rPr lang="en-US" dirty="0"/>
            </a:br>
            <a:r>
              <a:rPr lang="en-US" sz="3200" dirty="0"/>
              <a:t>CS02 </a:t>
            </a:r>
            <a:r>
              <a:rPr lang="en-US" sz="3200"/>
              <a:t>Quality Attributes 1 of 2</a:t>
            </a:r>
            <a:endParaRPr lang="en-IN" sz="3200" dirty="0"/>
          </a:p>
        </p:txBody>
      </p:sp>
      <p:sp>
        <p:nvSpPr>
          <p:cNvPr id="5" name="Date Placeholder 4">
            <a:extLst>
              <a:ext uri="{FF2B5EF4-FFF2-40B4-BE49-F238E27FC236}">
                <a16:creationId xmlns:a16="http://schemas.microsoft.com/office/drawing/2014/main" id="{C8DB7FCC-1E1B-4ED6-A110-099AFCD682BC}"/>
              </a:ext>
            </a:extLst>
          </p:cNvPr>
          <p:cNvSpPr>
            <a:spLocks noGrp="1"/>
          </p:cNvSpPr>
          <p:nvPr>
            <p:ph type="dt" sz="half" idx="10"/>
          </p:nvPr>
        </p:nvSpPr>
        <p:spPr/>
        <p:txBody>
          <a:bodyPr/>
          <a:lstStyle/>
          <a:p>
            <a:r>
              <a:rPr lang="en-US"/>
              <a:t>Auguts 1, 2026</a:t>
            </a:r>
            <a:endParaRPr lang="en-US" dirty="0"/>
          </a:p>
        </p:txBody>
      </p:sp>
      <p:sp>
        <p:nvSpPr>
          <p:cNvPr id="4" name="Footer Placeholder 3">
            <a:extLst>
              <a:ext uri="{FF2B5EF4-FFF2-40B4-BE49-F238E27FC236}">
                <a16:creationId xmlns:a16="http://schemas.microsoft.com/office/drawing/2014/main" id="{8BC7C6D1-3127-44AB-815C-6CD30FAB8EDC}"/>
              </a:ext>
            </a:extLst>
          </p:cNvPr>
          <p:cNvSpPr>
            <a:spLocks noGrp="1"/>
          </p:cNvSpPr>
          <p:nvPr>
            <p:ph type="ftr" sz="quarter" idx="11"/>
          </p:nvPr>
        </p:nvSpPr>
        <p:spPr/>
        <p:txBody>
          <a:bodyPr/>
          <a:lstStyle/>
          <a:p>
            <a:r>
              <a:rPr lang="en-US"/>
              <a:t>SEZG651/SSZG653 Software Architectures</a:t>
            </a:r>
            <a:endParaRPr lang="en-US" dirty="0"/>
          </a:p>
        </p:txBody>
      </p:sp>
      <p:sp>
        <p:nvSpPr>
          <p:cNvPr id="3" name="Slide Number Placeholder 2">
            <a:extLst>
              <a:ext uri="{FF2B5EF4-FFF2-40B4-BE49-F238E27FC236}">
                <a16:creationId xmlns:a16="http://schemas.microsoft.com/office/drawing/2014/main" id="{21BFEEC9-39FE-4ED3-9492-253B21FC616A}"/>
              </a:ext>
            </a:extLst>
          </p:cNvPr>
          <p:cNvSpPr>
            <a:spLocks noGrp="1"/>
          </p:cNvSpPr>
          <p:nvPr>
            <p:ph type="sldNum" sz="quarter" idx="12"/>
          </p:nvPr>
        </p:nvSpPr>
        <p:spPr/>
        <p:txBody>
          <a:bodyPr/>
          <a:lstStyle/>
          <a:p>
            <a:fld id="{BC8D7E44-7D4F-4942-A8C9-2DF6BF8399E8}" type="slidenum">
              <a:rPr lang="en-US" smtClean="0"/>
              <a:pPr/>
              <a:t>1</a:t>
            </a:fld>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CA07E38-18B7-192F-AD1D-70AAFCC4D6ED}"/>
              </a:ext>
            </a:extLst>
          </p:cNvPr>
          <p:cNvSpPr>
            <a:spLocks noGrp="1"/>
          </p:cNvSpPr>
          <p:nvPr>
            <p:ph idx="1"/>
          </p:nvPr>
        </p:nvSpPr>
        <p:spPr/>
        <p:txBody>
          <a:bodyPr/>
          <a:lstStyle/>
          <a:p>
            <a:r>
              <a:rPr lang="en-IN" dirty="0">
                <a:hlinkClick r:id="rId2" action="ppaction://hlinksldjump"/>
              </a:rPr>
              <a:t>Understanding Quality Attributes</a:t>
            </a:r>
            <a:endParaRPr lang="en-IN" dirty="0"/>
          </a:p>
          <a:p>
            <a:pPr lvl="0"/>
            <a:r>
              <a:rPr lang="en-IN" dirty="0">
                <a:hlinkClick r:id="rId3" action="ppaction://hlinksldjump"/>
              </a:rPr>
              <a:t>Availability</a:t>
            </a:r>
            <a:endParaRPr lang="en-IN" dirty="0"/>
          </a:p>
          <a:p>
            <a:pPr lvl="0"/>
            <a:r>
              <a:rPr lang="en-IN" dirty="0"/>
              <a:t>Performance</a:t>
            </a:r>
          </a:p>
          <a:p>
            <a:pPr lvl="0"/>
            <a:r>
              <a:rPr lang="en-IN" dirty="0"/>
              <a:t>Usability</a:t>
            </a:r>
          </a:p>
          <a:p>
            <a:pPr lvl="0"/>
            <a:r>
              <a:rPr lang="en-IN" dirty="0"/>
              <a:t>Security</a:t>
            </a:r>
          </a:p>
          <a:p>
            <a:r>
              <a:rPr lang="en-IN" dirty="0"/>
              <a:t>Modifiability</a:t>
            </a:r>
          </a:p>
        </p:txBody>
      </p:sp>
      <p:sp>
        <p:nvSpPr>
          <p:cNvPr id="3" name="Text Placeholder 2">
            <a:extLst>
              <a:ext uri="{FF2B5EF4-FFF2-40B4-BE49-F238E27FC236}">
                <a16:creationId xmlns:a16="http://schemas.microsoft.com/office/drawing/2014/main" id="{C0FDE832-04DA-4DF2-6EE0-DFACFE3FC5ED}"/>
              </a:ext>
            </a:extLst>
          </p:cNvPr>
          <p:cNvSpPr>
            <a:spLocks noGrp="1"/>
          </p:cNvSpPr>
          <p:nvPr>
            <p:ph type="body" sz="half" idx="2"/>
          </p:nvPr>
        </p:nvSpPr>
        <p:spPr/>
        <p:txBody>
          <a:bodyPr/>
          <a:lstStyle/>
          <a:p>
            <a:r>
              <a:rPr lang="en-IN" dirty="0"/>
              <a:t>Quality Attribute Scenario</a:t>
            </a:r>
          </a:p>
          <a:p>
            <a:pPr marL="285750" indent="-285750">
              <a:buFont typeface="Arial" panose="020B0604020202020204" pitchFamily="34" charset="0"/>
              <a:buChar char="•"/>
            </a:pPr>
            <a:r>
              <a:rPr lang="en-IN" dirty="0"/>
              <a:t>Source of Stimulus</a:t>
            </a:r>
          </a:p>
          <a:p>
            <a:pPr marL="285750" indent="-285750">
              <a:buFont typeface="Arial" panose="020B0604020202020204" pitchFamily="34" charset="0"/>
              <a:buChar char="•"/>
            </a:pPr>
            <a:r>
              <a:rPr lang="en-IN" dirty="0"/>
              <a:t>Stimulus</a:t>
            </a:r>
          </a:p>
          <a:p>
            <a:pPr marL="285750" indent="-285750">
              <a:buFont typeface="Arial" panose="020B0604020202020204" pitchFamily="34" charset="0"/>
              <a:buChar char="•"/>
            </a:pPr>
            <a:r>
              <a:rPr lang="en-IN" dirty="0"/>
              <a:t>Artifact</a:t>
            </a:r>
          </a:p>
          <a:p>
            <a:pPr marL="285750" indent="-285750">
              <a:buFont typeface="Arial" panose="020B0604020202020204" pitchFamily="34" charset="0"/>
              <a:buChar char="•"/>
            </a:pPr>
            <a:r>
              <a:rPr lang="en-IN" dirty="0"/>
              <a:t>Environment</a:t>
            </a:r>
          </a:p>
          <a:p>
            <a:pPr marL="285750" indent="-285750">
              <a:buFont typeface="Arial" panose="020B0604020202020204" pitchFamily="34" charset="0"/>
              <a:buChar char="•"/>
            </a:pPr>
            <a:r>
              <a:rPr lang="en-IN" dirty="0"/>
              <a:t>Response</a:t>
            </a:r>
          </a:p>
          <a:p>
            <a:pPr marL="285750" indent="-285750">
              <a:buFont typeface="Arial" panose="020B0604020202020204" pitchFamily="34" charset="0"/>
              <a:buChar char="•"/>
            </a:pPr>
            <a:r>
              <a:rPr lang="en-IN" dirty="0"/>
              <a:t>Response Measure</a:t>
            </a:r>
          </a:p>
          <a:p>
            <a:pPr marL="285750" indent="-285750">
              <a:buFont typeface="Arial" panose="020B0604020202020204" pitchFamily="34" charset="0"/>
              <a:buChar char="•"/>
            </a:pPr>
            <a:endParaRPr lang="en-IN" dirty="0"/>
          </a:p>
          <a:p>
            <a:r>
              <a:rPr lang="en-IN" dirty="0"/>
              <a:t>Management Action</a:t>
            </a:r>
          </a:p>
          <a:p>
            <a:pPr marL="341313" indent="-341313">
              <a:buFont typeface="Arial" panose="020B0604020202020204" pitchFamily="34" charset="0"/>
              <a:buChar char="•"/>
            </a:pPr>
            <a:r>
              <a:rPr lang="en-US" dirty="0"/>
              <a:t>Allocation of responsibilities</a:t>
            </a:r>
          </a:p>
          <a:p>
            <a:pPr marL="341313" indent="-341313">
              <a:buFont typeface="Arial" panose="020B0604020202020204" pitchFamily="34" charset="0"/>
              <a:buChar char="•"/>
            </a:pPr>
            <a:r>
              <a:rPr lang="en-US" dirty="0"/>
              <a:t>Coordination model</a:t>
            </a:r>
          </a:p>
          <a:p>
            <a:pPr marL="341313" indent="-341313">
              <a:buFont typeface="Arial" panose="020B0604020202020204" pitchFamily="34" charset="0"/>
              <a:buChar char="•"/>
            </a:pPr>
            <a:r>
              <a:rPr lang="en-US" dirty="0"/>
              <a:t>Data model</a:t>
            </a:r>
          </a:p>
          <a:p>
            <a:pPr marL="341313" indent="-341313">
              <a:buFont typeface="Arial" panose="020B0604020202020204" pitchFamily="34" charset="0"/>
              <a:buChar char="•"/>
            </a:pPr>
            <a:r>
              <a:rPr lang="en-US" dirty="0"/>
              <a:t>Management of resources</a:t>
            </a:r>
          </a:p>
          <a:p>
            <a:pPr marL="341313" indent="-341313">
              <a:buFont typeface="Arial" panose="020B0604020202020204" pitchFamily="34" charset="0"/>
              <a:buChar char="•"/>
            </a:pPr>
            <a:r>
              <a:rPr lang="en-US" dirty="0"/>
              <a:t>Mapping among architectural elements</a:t>
            </a:r>
          </a:p>
          <a:p>
            <a:pPr marL="341313" indent="-341313">
              <a:buFont typeface="Arial" panose="020B0604020202020204" pitchFamily="34" charset="0"/>
              <a:buChar char="•"/>
            </a:pPr>
            <a:r>
              <a:rPr lang="en-US" dirty="0"/>
              <a:t>Binding time decisions</a:t>
            </a:r>
          </a:p>
          <a:p>
            <a:pPr marL="341313" indent="-341313">
              <a:buFont typeface="Arial" panose="020B0604020202020204" pitchFamily="34" charset="0"/>
              <a:buChar char="•"/>
            </a:pPr>
            <a:r>
              <a:rPr lang="en-US" dirty="0"/>
              <a:t>Choice of technology</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p:txBody>
      </p:sp>
      <p:sp>
        <p:nvSpPr>
          <p:cNvPr id="4" name="Content Placeholder 3">
            <a:extLst>
              <a:ext uri="{FF2B5EF4-FFF2-40B4-BE49-F238E27FC236}">
                <a16:creationId xmlns:a16="http://schemas.microsoft.com/office/drawing/2014/main" id="{1F8B14EC-1FFD-D4F5-9829-4E0BF019651A}"/>
              </a:ext>
            </a:extLst>
          </p:cNvPr>
          <p:cNvSpPr>
            <a:spLocks noGrp="1"/>
          </p:cNvSpPr>
          <p:nvPr>
            <p:ph sz="quarter" idx="13"/>
          </p:nvPr>
        </p:nvSpPr>
        <p:spPr/>
        <p:txBody>
          <a:bodyPr/>
          <a:lstStyle/>
          <a:p>
            <a:r>
              <a:rPr lang="en-IN" dirty="0"/>
              <a:t>Index</a:t>
            </a:r>
          </a:p>
        </p:txBody>
      </p:sp>
      <p:sp>
        <p:nvSpPr>
          <p:cNvPr id="5" name="Date Placeholder 4">
            <a:extLst>
              <a:ext uri="{FF2B5EF4-FFF2-40B4-BE49-F238E27FC236}">
                <a16:creationId xmlns:a16="http://schemas.microsoft.com/office/drawing/2014/main" id="{EE9F9BB4-D84D-AF22-D33F-2DF79E5B1EF6}"/>
              </a:ext>
            </a:extLst>
          </p:cNvPr>
          <p:cNvSpPr>
            <a:spLocks noGrp="1"/>
          </p:cNvSpPr>
          <p:nvPr>
            <p:ph type="dt" sz="half" idx="14"/>
          </p:nvPr>
        </p:nvSpPr>
        <p:spPr/>
        <p:txBody>
          <a:bodyPr/>
          <a:lstStyle/>
          <a:p>
            <a:r>
              <a:rPr lang="en-US"/>
              <a:t>Auguts 1, 2026</a:t>
            </a:r>
          </a:p>
        </p:txBody>
      </p:sp>
      <p:sp>
        <p:nvSpPr>
          <p:cNvPr id="6" name="Footer Placeholder 5">
            <a:extLst>
              <a:ext uri="{FF2B5EF4-FFF2-40B4-BE49-F238E27FC236}">
                <a16:creationId xmlns:a16="http://schemas.microsoft.com/office/drawing/2014/main" id="{C3AED4A5-6F96-16A4-18B5-549D4D05C6B8}"/>
              </a:ext>
            </a:extLst>
          </p:cNvPr>
          <p:cNvSpPr>
            <a:spLocks noGrp="1"/>
          </p:cNvSpPr>
          <p:nvPr>
            <p:ph type="ftr" sz="quarter" idx="15"/>
          </p:nvPr>
        </p:nvSpPr>
        <p:spPr/>
        <p:txBody>
          <a:bodyPr/>
          <a:lstStyle/>
          <a:p>
            <a:r>
              <a:rPr lang="en-US"/>
              <a:t>SEZG651/SSZG653 Software Architectures</a:t>
            </a:r>
          </a:p>
        </p:txBody>
      </p:sp>
      <p:sp>
        <p:nvSpPr>
          <p:cNvPr id="7" name="Slide Number Placeholder 6">
            <a:extLst>
              <a:ext uri="{FF2B5EF4-FFF2-40B4-BE49-F238E27FC236}">
                <a16:creationId xmlns:a16="http://schemas.microsoft.com/office/drawing/2014/main" id="{89E32168-A8EF-2C90-2672-09DCD911D713}"/>
              </a:ext>
            </a:extLst>
          </p:cNvPr>
          <p:cNvSpPr>
            <a:spLocks noGrp="1"/>
          </p:cNvSpPr>
          <p:nvPr>
            <p:ph type="sldNum" sz="quarter" idx="16"/>
          </p:nvPr>
        </p:nvSpPr>
        <p:spPr/>
        <p:txBody>
          <a:bodyPr/>
          <a:lstStyle/>
          <a:p>
            <a:fld id="{BC8D7E44-7D4F-4942-A8C9-2DF6BF8399E8}" type="slidenum">
              <a:rPr lang="en-US" smtClean="0"/>
              <a:pPr/>
              <a:t>2</a:t>
            </a:fld>
            <a:endParaRPr lang="en-US" dirty="0"/>
          </a:p>
        </p:txBody>
      </p:sp>
    </p:spTree>
    <p:extLst>
      <p:ext uri="{BB962C8B-B14F-4D97-AF65-F5344CB8AC3E}">
        <p14:creationId xmlns:p14="http://schemas.microsoft.com/office/powerpoint/2010/main" val="2830391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AU" sz="3200" dirty="0"/>
              <a:t>Understanding Quality Attributes</a:t>
            </a:r>
            <a:br>
              <a:rPr lang="en-AU" sz="3200" dirty="0"/>
            </a:br>
            <a:r>
              <a:rPr lang="en-AU" sz="3200" dirty="0"/>
              <a:t>Module 2 – L1</a:t>
            </a:r>
            <a:endParaRPr lang="en-US" sz="3200" dirty="0"/>
          </a:p>
        </p:txBody>
      </p:sp>
      <p:sp>
        <p:nvSpPr>
          <p:cNvPr id="6" name="Content Placeholder 5"/>
          <p:cNvSpPr>
            <a:spLocks noGrp="1"/>
          </p:cNvSpPr>
          <p:nvPr>
            <p:ph sz="quarter" idx="13"/>
          </p:nvPr>
        </p:nvSpPr>
        <p:spPr/>
        <p:txBody>
          <a:bodyPr/>
          <a:lstStyle/>
          <a:p>
            <a:r>
              <a:rPr lang="en-US" sz="1800" dirty="0"/>
              <a:t>Harvinder S Jabbal </a:t>
            </a:r>
          </a:p>
          <a:p>
            <a:r>
              <a:rPr lang="en-US" dirty="0"/>
              <a:t>CSIS, Work Integrated Learning Programs</a:t>
            </a:r>
          </a:p>
        </p:txBody>
      </p:sp>
      <p:sp>
        <p:nvSpPr>
          <p:cNvPr id="2" name="Slide Number Placeholder 1">
            <a:extLst>
              <a:ext uri="{FF2B5EF4-FFF2-40B4-BE49-F238E27FC236}">
                <a16:creationId xmlns:a16="http://schemas.microsoft.com/office/drawing/2014/main" id="{7F90C164-BD80-4958-B5AD-15C0024F6F1D}"/>
              </a:ext>
            </a:extLst>
          </p:cNvPr>
          <p:cNvSpPr>
            <a:spLocks noGrp="1"/>
          </p:cNvSpPr>
          <p:nvPr>
            <p:ph type="sldNum" sz="quarter" idx="16"/>
          </p:nvPr>
        </p:nvSpPr>
        <p:spPr/>
        <p:txBody>
          <a:bodyPr/>
          <a:lstStyle/>
          <a:p>
            <a:fld id="{BC8D7E44-7D4F-4942-A8C9-2DF6BF8399E8}" type="slidenum">
              <a:rPr lang="en-US" smtClean="0"/>
              <a:pPr/>
              <a:t>3</a:t>
            </a:fld>
            <a:endParaRPr lang="en-US" dirty="0"/>
          </a:p>
        </p:txBody>
      </p:sp>
      <p:sp>
        <p:nvSpPr>
          <p:cNvPr id="3" name="Footer Placeholder 2">
            <a:extLst>
              <a:ext uri="{FF2B5EF4-FFF2-40B4-BE49-F238E27FC236}">
                <a16:creationId xmlns:a16="http://schemas.microsoft.com/office/drawing/2014/main" id="{2618058F-E2B6-466F-9CC1-565AF74727FA}"/>
              </a:ext>
            </a:extLst>
          </p:cNvPr>
          <p:cNvSpPr>
            <a:spLocks noGrp="1"/>
          </p:cNvSpPr>
          <p:nvPr>
            <p:ph type="ftr" sz="quarter" idx="15"/>
          </p:nvPr>
        </p:nvSpPr>
        <p:spPr/>
        <p:txBody>
          <a:bodyPr/>
          <a:lstStyle/>
          <a:p>
            <a:r>
              <a:rPr lang="en-US"/>
              <a:t>SEZG651/SSZG653 Software Architectures</a:t>
            </a:r>
            <a:endParaRPr lang="en-US" dirty="0"/>
          </a:p>
        </p:txBody>
      </p:sp>
      <p:sp>
        <p:nvSpPr>
          <p:cNvPr id="4" name="Date Placeholder 3">
            <a:extLst>
              <a:ext uri="{FF2B5EF4-FFF2-40B4-BE49-F238E27FC236}">
                <a16:creationId xmlns:a16="http://schemas.microsoft.com/office/drawing/2014/main" id="{791BFCCC-1B52-43EB-9B30-A96190E558FD}"/>
              </a:ext>
            </a:extLst>
          </p:cNvPr>
          <p:cNvSpPr>
            <a:spLocks noGrp="1"/>
          </p:cNvSpPr>
          <p:nvPr>
            <p:ph type="dt" sz="half" idx="14"/>
          </p:nvPr>
        </p:nvSpPr>
        <p:spPr/>
        <p:txBody>
          <a:bodyPr/>
          <a:lstStyle/>
          <a:p>
            <a:r>
              <a:rPr lang="en-US"/>
              <a:t>Auguts 1, 2026</a:t>
            </a:r>
          </a:p>
        </p:txBody>
      </p:sp>
    </p:spTree>
    <p:extLst>
      <p:ext uri="{BB962C8B-B14F-4D97-AF65-F5344CB8AC3E}">
        <p14:creationId xmlns:p14="http://schemas.microsoft.com/office/powerpoint/2010/main" val="14456447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pPr>
              <a:buFont typeface="Arial" panose="020B0604020202020204" pitchFamily="34" charset="0"/>
              <a:buChar char="•"/>
            </a:pPr>
            <a:r>
              <a:rPr lang="en-US" sz="3600" dirty="0"/>
              <a:t>Architecture and Requirements</a:t>
            </a:r>
          </a:p>
          <a:p>
            <a:pPr>
              <a:buFont typeface="Arial" panose="020B0604020202020204" pitchFamily="34" charset="0"/>
              <a:buChar char="•"/>
            </a:pPr>
            <a:r>
              <a:rPr lang="en-US" sz="3600" dirty="0"/>
              <a:t>Functionality</a:t>
            </a:r>
          </a:p>
          <a:p>
            <a:pPr>
              <a:buFont typeface="Arial" panose="020B0604020202020204" pitchFamily="34" charset="0"/>
              <a:buChar char="•"/>
            </a:pPr>
            <a:r>
              <a:rPr lang="en-US" sz="3600" dirty="0"/>
              <a:t>Quality Attribute Considerations</a:t>
            </a:r>
          </a:p>
          <a:p>
            <a:pPr>
              <a:buFont typeface="Arial" panose="020B0604020202020204" pitchFamily="34" charset="0"/>
              <a:buChar char="•"/>
            </a:pPr>
            <a:r>
              <a:rPr lang="en-US" sz="3600" dirty="0"/>
              <a:t>Specifying Quality Attribute Requirements</a:t>
            </a:r>
          </a:p>
          <a:p>
            <a:pPr>
              <a:buFont typeface="Arial" panose="020B0604020202020204" pitchFamily="34" charset="0"/>
              <a:buChar char="•"/>
            </a:pPr>
            <a:r>
              <a:rPr lang="en-US" sz="3600" dirty="0"/>
              <a:t>Achieving Quality Attributes through Tactics</a:t>
            </a:r>
          </a:p>
          <a:p>
            <a:pPr>
              <a:buFont typeface="Arial" panose="020B0604020202020204" pitchFamily="34" charset="0"/>
              <a:buChar char="•"/>
            </a:pPr>
            <a:r>
              <a:rPr lang="en-US" sz="3600" dirty="0"/>
              <a:t>Guiding Quality Design Decisions</a:t>
            </a:r>
          </a:p>
        </p:txBody>
      </p:sp>
      <p:sp>
        <p:nvSpPr>
          <p:cNvPr id="4" name="Content Placeholder 3"/>
          <p:cNvSpPr>
            <a:spLocks noGrp="1"/>
          </p:cNvSpPr>
          <p:nvPr>
            <p:ph sz="quarter" idx="10"/>
          </p:nvPr>
        </p:nvSpPr>
        <p:spPr/>
        <p:txBody>
          <a:bodyPr/>
          <a:lstStyle/>
          <a:p>
            <a:r>
              <a:rPr lang="en-AU" dirty="0"/>
              <a:t>Understanding Quality Attributes</a:t>
            </a:r>
            <a:endParaRPr lang="en-US" dirty="0"/>
          </a:p>
        </p:txBody>
      </p:sp>
      <p:sp>
        <p:nvSpPr>
          <p:cNvPr id="2" name="Slide Number Placeholder 1">
            <a:extLst>
              <a:ext uri="{FF2B5EF4-FFF2-40B4-BE49-F238E27FC236}">
                <a16:creationId xmlns:a16="http://schemas.microsoft.com/office/drawing/2014/main" id="{8C8E1AD4-5D04-4004-81C7-4F76CC99FFAE}"/>
              </a:ext>
            </a:extLst>
          </p:cNvPr>
          <p:cNvSpPr>
            <a:spLocks noGrp="1"/>
          </p:cNvSpPr>
          <p:nvPr>
            <p:ph type="sldNum" sz="quarter" idx="14"/>
          </p:nvPr>
        </p:nvSpPr>
        <p:spPr/>
        <p:txBody>
          <a:bodyPr/>
          <a:lstStyle/>
          <a:p>
            <a:fld id="{BC8D7E44-7D4F-4942-A8C9-2DF6BF8399E8}" type="slidenum">
              <a:rPr lang="en-US" smtClean="0"/>
              <a:pPr/>
              <a:t>4</a:t>
            </a:fld>
            <a:endParaRPr lang="en-US" dirty="0"/>
          </a:p>
        </p:txBody>
      </p:sp>
      <p:sp>
        <p:nvSpPr>
          <p:cNvPr id="5" name="Footer Placeholder 4">
            <a:extLst>
              <a:ext uri="{FF2B5EF4-FFF2-40B4-BE49-F238E27FC236}">
                <a16:creationId xmlns:a16="http://schemas.microsoft.com/office/drawing/2014/main" id="{CAD97967-705A-447D-AEC0-09B799C298DB}"/>
              </a:ext>
            </a:extLst>
          </p:cNvPr>
          <p:cNvSpPr>
            <a:spLocks noGrp="1"/>
          </p:cNvSpPr>
          <p:nvPr>
            <p:ph type="ftr" sz="quarter" idx="13"/>
          </p:nvPr>
        </p:nvSpPr>
        <p:spPr/>
        <p:txBody>
          <a:bodyPr/>
          <a:lstStyle/>
          <a:p>
            <a:r>
              <a:rPr lang="en-US"/>
              <a:t>SEZG651/SSZG653 Software Architectures</a:t>
            </a:r>
          </a:p>
        </p:txBody>
      </p:sp>
      <p:sp>
        <p:nvSpPr>
          <p:cNvPr id="6" name="Date Placeholder 5">
            <a:extLst>
              <a:ext uri="{FF2B5EF4-FFF2-40B4-BE49-F238E27FC236}">
                <a16:creationId xmlns:a16="http://schemas.microsoft.com/office/drawing/2014/main" id="{21E2D98D-3C01-486A-BD10-5FB36BC3F674}"/>
              </a:ext>
            </a:extLst>
          </p:cNvPr>
          <p:cNvSpPr>
            <a:spLocks noGrp="1"/>
          </p:cNvSpPr>
          <p:nvPr>
            <p:ph type="dt" sz="half" idx="12"/>
          </p:nvPr>
        </p:nvSpPr>
        <p:spPr/>
        <p:txBody>
          <a:bodyPr/>
          <a:lstStyle/>
          <a:p>
            <a:r>
              <a:rPr lang="en-US"/>
              <a:t>Auguts 1, 2026</a:t>
            </a:r>
          </a:p>
        </p:txBody>
      </p:sp>
    </p:spTree>
    <p:extLst>
      <p:ext uri="{BB962C8B-B14F-4D97-AF65-F5344CB8AC3E}">
        <p14:creationId xmlns:p14="http://schemas.microsoft.com/office/powerpoint/2010/main" val="1987644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System requirements can be categorized as:</a:t>
            </a:r>
          </a:p>
          <a:p>
            <a:pPr lvl="1"/>
            <a:r>
              <a:rPr lang="en-US" dirty="0"/>
              <a:t>Functional requirements.  These requirements state what the system must do, how it must behave or react to run-time stimuli.  </a:t>
            </a:r>
          </a:p>
          <a:p>
            <a:pPr lvl="1"/>
            <a:r>
              <a:rPr lang="en-US" dirty="0"/>
              <a:t>Quality attribute requirements. These requirements annotate (qualify) functional requirements. Qualification might be how fast the function must be performed, how resilient it must be to erroneous input, how easy the function is to learn, etc. </a:t>
            </a:r>
          </a:p>
          <a:p>
            <a:pPr lvl="1"/>
            <a:r>
              <a:rPr lang="en-US" dirty="0"/>
              <a:t>Constraints. A constraint is a design decision with zero degrees of freedom.  That is, it’s a design decision that has already been made for you.  </a:t>
            </a:r>
          </a:p>
          <a:p>
            <a:endParaRPr lang="en-US" dirty="0"/>
          </a:p>
          <a:p>
            <a:endParaRPr lang="en-US" dirty="0"/>
          </a:p>
          <a:p>
            <a:endParaRPr lang="en-US"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lstStyle/>
          <a:p>
            <a:r>
              <a:rPr lang="en-US" dirty="0"/>
              <a:t>Architecture and Requirements</a:t>
            </a:r>
          </a:p>
        </p:txBody>
      </p:sp>
      <p:sp>
        <p:nvSpPr>
          <p:cNvPr id="2" name="Date Placeholder 1">
            <a:extLst>
              <a:ext uri="{FF2B5EF4-FFF2-40B4-BE49-F238E27FC236}">
                <a16:creationId xmlns:a16="http://schemas.microsoft.com/office/drawing/2014/main" id="{FFD020C7-4950-4377-BE61-AB0EC45E5068}"/>
              </a:ext>
            </a:extLst>
          </p:cNvPr>
          <p:cNvSpPr>
            <a:spLocks noGrp="1"/>
          </p:cNvSpPr>
          <p:nvPr>
            <p:ph type="dt" sz="half" idx="12"/>
          </p:nvPr>
        </p:nvSpPr>
        <p:spPr/>
        <p:txBody>
          <a:bodyPr/>
          <a:lstStyle/>
          <a:p>
            <a:r>
              <a:rPr lang="en-US"/>
              <a:t>Auguts 1, 2026</a:t>
            </a:r>
          </a:p>
        </p:txBody>
      </p:sp>
      <p:sp>
        <p:nvSpPr>
          <p:cNvPr id="5" name="Slide Number Placeholder 4">
            <a:extLst>
              <a:ext uri="{FF2B5EF4-FFF2-40B4-BE49-F238E27FC236}">
                <a16:creationId xmlns:a16="http://schemas.microsoft.com/office/drawing/2014/main" id="{BE3EED22-7F5E-4626-8825-FC81C6D990B7}"/>
              </a:ext>
            </a:extLst>
          </p:cNvPr>
          <p:cNvSpPr>
            <a:spLocks noGrp="1"/>
          </p:cNvSpPr>
          <p:nvPr>
            <p:ph type="sldNum" sz="quarter" idx="14"/>
          </p:nvPr>
        </p:nvSpPr>
        <p:spPr/>
        <p:txBody>
          <a:bodyPr/>
          <a:lstStyle/>
          <a:p>
            <a:fld id="{BC8D7E44-7D4F-4942-A8C9-2DF6BF8399E8}" type="slidenum">
              <a:rPr lang="en-US" smtClean="0"/>
              <a:pPr/>
              <a:t>5</a:t>
            </a:fld>
            <a:endParaRPr lang="en-US" dirty="0"/>
          </a:p>
        </p:txBody>
      </p:sp>
    </p:spTree>
    <p:extLst>
      <p:ext uri="{BB962C8B-B14F-4D97-AF65-F5344CB8AC3E}">
        <p14:creationId xmlns:p14="http://schemas.microsoft.com/office/powerpoint/2010/main" val="11381734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6AB815F5-4A1F-42C2-A3E0-2E6B1924A8DF}"/>
              </a:ext>
            </a:extLst>
          </p:cNvPr>
          <p:cNvPicPr>
            <a:picLocks noGrp="1" noChangeAspect="1"/>
          </p:cNvPicPr>
          <p:nvPr>
            <p:ph idx="1"/>
          </p:nvPr>
        </p:nvPicPr>
        <p:blipFill>
          <a:blip r:embed="rId2" cstate="print"/>
          <a:stretch>
            <a:fillRect/>
          </a:stretch>
        </p:blipFill>
        <p:spPr>
          <a:xfrm>
            <a:off x="533400" y="1360118"/>
            <a:ext cx="7620000" cy="5106558"/>
          </a:xfrm>
          <a:prstGeom prst="rect">
            <a:avLst/>
          </a:prstGeom>
        </p:spPr>
      </p:pic>
      <p:sp>
        <p:nvSpPr>
          <p:cNvPr id="3" name="Content Placeholder 2">
            <a:extLst>
              <a:ext uri="{FF2B5EF4-FFF2-40B4-BE49-F238E27FC236}">
                <a16:creationId xmlns:a16="http://schemas.microsoft.com/office/drawing/2014/main" id="{034CD11D-34AC-4E3D-999B-35C415893807}"/>
              </a:ext>
            </a:extLst>
          </p:cNvPr>
          <p:cNvSpPr>
            <a:spLocks noGrp="1"/>
          </p:cNvSpPr>
          <p:nvPr>
            <p:ph sz="quarter" idx="10"/>
          </p:nvPr>
        </p:nvSpPr>
        <p:spPr/>
        <p:txBody>
          <a:bodyPr/>
          <a:lstStyle/>
          <a:p>
            <a:r>
              <a:rPr lang="en-IN" dirty="0"/>
              <a:t>Architectural Description</a:t>
            </a:r>
          </a:p>
        </p:txBody>
      </p:sp>
      <p:sp>
        <p:nvSpPr>
          <p:cNvPr id="5" name="Date Placeholder 4">
            <a:extLst>
              <a:ext uri="{FF2B5EF4-FFF2-40B4-BE49-F238E27FC236}">
                <a16:creationId xmlns:a16="http://schemas.microsoft.com/office/drawing/2014/main" id="{749F792A-A3D0-4386-8EDB-EF5D3F7999F6}"/>
              </a:ext>
            </a:extLst>
          </p:cNvPr>
          <p:cNvSpPr>
            <a:spLocks noGrp="1"/>
          </p:cNvSpPr>
          <p:nvPr>
            <p:ph type="dt" sz="half" idx="12"/>
          </p:nvPr>
        </p:nvSpPr>
        <p:spPr/>
        <p:txBody>
          <a:bodyPr/>
          <a:lstStyle/>
          <a:p>
            <a:r>
              <a:rPr lang="en-US"/>
              <a:t>Auguts 1, 2026</a:t>
            </a:r>
          </a:p>
        </p:txBody>
      </p:sp>
      <p:sp>
        <p:nvSpPr>
          <p:cNvPr id="6" name="Footer Placeholder 5">
            <a:extLst>
              <a:ext uri="{FF2B5EF4-FFF2-40B4-BE49-F238E27FC236}">
                <a16:creationId xmlns:a16="http://schemas.microsoft.com/office/drawing/2014/main" id="{13A04A51-BBCA-40EC-9ACC-B410BA6DF6D4}"/>
              </a:ext>
            </a:extLst>
          </p:cNvPr>
          <p:cNvSpPr>
            <a:spLocks noGrp="1"/>
          </p:cNvSpPr>
          <p:nvPr>
            <p:ph type="ftr" sz="quarter" idx="13"/>
          </p:nvPr>
        </p:nvSpPr>
        <p:spPr/>
        <p:txBody>
          <a:bodyPr/>
          <a:lstStyle/>
          <a:p>
            <a:r>
              <a:rPr lang="en-US"/>
              <a:t>SEZG651/SSZG653 Software Architectures</a:t>
            </a:r>
          </a:p>
        </p:txBody>
      </p:sp>
      <p:sp>
        <p:nvSpPr>
          <p:cNvPr id="7" name="Slide Number Placeholder 6">
            <a:extLst>
              <a:ext uri="{FF2B5EF4-FFF2-40B4-BE49-F238E27FC236}">
                <a16:creationId xmlns:a16="http://schemas.microsoft.com/office/drawing/2014/main" id="{B1677324-21BF-4075-8EEB-4920BF0D7E23}"/>
              </a:ext>
            </a:extLst>
          </p:cNvPr>
          <p:cNvSpPr>
            <a:spLocks noGrp="1"/>
          </p:cNvSpPr>
          <p:nvPr>
            <p:ph type="sldNum" sz="quarter" idx="14"/>
          </p:nvPr>
        </p:nvSpPr>
        <p:spPr/>
        <p:txBody>
          <a:bodyPr/>
          <a:lstStyle/>
          <a:p>
            <a:fld id="{BC8D7E44-7D4F-4942-A8C9-2DF6BF8399E8}" type="slidenum">
              <a:rPr lang="en-US" smtClean="0"/>
              <a:pPr/>
              <a:t>6</a:t>
            </a:fld>
            <a:endParaRPr lang="en-US" dirty="0"/>
          </a:p>
        </p:txBody>
      </p:sp>
    </p:spTree>
    <p:extLst>
      <p:ext uri="{BB962C8B-B14F-4D97-AF65-F5344CB8AC3E}">
        <p14:creationId xmlns:p14="http://schemas.microsoft.com/office/powerpoint/2010/main" val="10387256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itchFamily="34" charset="0"/>
              <a:buChar char="•"/>
            </a:pPr>
            <a:r>
              <a:rPr lang="en-US" dirty="0"/>
              <a:t>Functionality is the ability of the system to do the work for which it was intended.  </a:t>
            </a:r>
          </a:p>
          <a:p>
            <a:pPr>
              <a:buFont typeface="Arial" pitchFamily="34" charset="0"/>
              <a:buChar char="•"/>
            </a:pPr>
            <a:r>
              <a:rPr lang="en-US" dirty="0"/>
              <a:t>Functionality has a strange relationship to architecture:</a:t>
            </a:r>
          </a:p>
          <a:p>
            <a:pPr lvl="1"/>
            <a:r>
              <a:rPr lang="en-US" dirty="0"/>
              <a:t>functionality does not determine architecture; given a set of required functionality, there is no end to the architectures you could create to satisfy that functionality</a:t>
            </a:r>
          </a:p>
          <a:p>
            <a:pPr lvl="1"/>
            <a:r>
              <a:rPr lang="en-US" dirty="0"/>
              <a:t>functionality and quality attributes are orthogonal</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lstStyle/>
          <a:p>
            <a:r>
              <a:rPr lang="en-US" dirty="0"/>
              <a:t>Functionality </a:t>
            </a:r>
          </a:p>
        </p:txBody>
      </p:sp>
      <p:sp>
        <p:nvSpPr>
          <p:cNvPr id="2" name="Date Placeholder 1">
            <a:extLst>
              <a:ext uri="{FF2B5EF4-FFF2-40B4-BE49-F238E27FC236}">
                <a16:creationId xmlns:a16="http://schemas.microsoft.com/office/drawing/2014/main" id="{5F024564-AC37-4986-8FB3-6CD572290633}"/>
              </a:ext>
            </a:extLst>
          </p:cNvPr>
          <p:cNvSpPr>
            <a:spLocks noGrp="1"/>
          </p:cNvSpPr>
          <p:nvPr>
            <p:ph type="dt" sz="half" idx="12"/>
          </p:nvPr>
        </p:nvSpPr>
        <p:spPr/>
        <p:txBody>
          <a:bodyPr/>
          <a:lstStyle/>
          <a:p>
            <a:r>
              <a:rPr lang="en-US"/>
              <a:t>Auguts 1, 2026</a:t>
            </a:r>
          </a:p>
        </p:txBody>
      </p:sp>
      <p:sp>
        <p:nvSpPr>
          <p:cNvPr id="5" name="Slide Number Placeholder 4">
            <a:extLst>
              <a:ext uri="{FF2B5EF4-FFF2-40B4-BE49-F238E27FC236}">
                <a16:creationId xmlns:a16="http://schemas.microsoft.com/office/drawing/2014/main" id="{50A5F2EA-168B-4947-9E34-34EDE4D5CF8C}"/>
              </a:ext>
            </a:extLst>
          </p:cNvPr>
          <p:cNvSpPr>
            <a:spLocks noGrp="1"/>
          </p:cNvSpPr>
          <p:nvPr>
            <p:ph type="sldNum" sz="quarter" idx="14"/>
          </p:nvPr>
        </p:nvSpPr>
        <p:spPr/>
        <p:txBody>
          <a:bodyPr/>
          <a:lstStyle/>
          <a:p>
            <a:fld id="{BC8D7E44-7D4F-4942-A8C9-2DF6BF8399E8}" type="slidenum">
              <a:rPr lang="en-US" smtClean="0"/>
              <a:pPr/>
              <a:t>7</a:t>
            </a:fld>
            <a:endParaRPr lang="en-US" dirty="0"/>
          </a:p>
        </p:txBody>
      </p:sp>
    </p:spTree>
    <p:extLst>
      <p:ext uri="{BB962C8B-B14F-4D97-AF65-F5344CB8AC3E}">
        <p14:creationId xmlns:p14="http://schemas.microsoft.com/office/powerpoint/2010/main" val="6264199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itchFamily="34" charset="0"/>
              <a:buChar char="•"/>
            </a:pPr>
            <a:r>
              <a:rPr lang="en-US" dirty="0"/>
              <a:t>If a functional requirement is "when the user presses the green button the Options dialog appears”:</a:t>
            </a:r>
          </a:p>
          <a:p>
            <a:pPr lvl="1"/>
            <a:r>
              <a:rPr lang="en-US" dirty="0"/>
              <a:t>a performance QA annotation might describe how quickly the dialog will appear; </a:t>
            </a:r>
          </a:p>
          <a:p>
            <a:pPr lvl="1"/>
            <a:r>
              <a:rPr lang="en-US" dirty="0"/>
              <a:t>an availability QA annotation might describe how often this function will fail, and how quickly it will be repaired; </a:t>
            </a:r>
          </a:p>
          <a:p>
            <a:pPr lvl="1"/>
            <a:r>
              <a:rPr lang="en-US" dirty="0"/>
              <a:t>a usability QA annotation might describe how easy it is to learn this function.</a:t>
            </a:r>
          </a:p>
          <a:p>
            <a:endParaRPr lang="en-US"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lstStyle/>
          <a:p>
            <a:r>
              <a:rPr lang="en-US" dirty="0"/>
              <a:t>Quality Attribute Considerations</a:t>
            </a:r>
          </a:p>
        </p:txBody>
      </p:sp>
      <p:sp>
        <p:nvSpPr>
          <p:cNvPr id="2" name="Date Placeholder 1">
            <a:extLst>
              <a:ext uri="{FF2B5EF4-FFF2-40B4-BE49-F238E27FC236}">
                <a16:creationId xmlns:a16="http://schemas.microsoft.com/office/drawing/2014/main" id="{B092E4CE-AE03-4DF2-8C86-BD26DABFA006}"/>
              </a:ext>
            </a:extLst>
          </p:cNvPr>
          <p:cNvSpPr>
            <a:spLocks noGrp="1"/>
          </p:cNvSpPr>
          <p:nvPr>
            <p:ph type="dt" sz="half" idx="12"/>
          </p:nvPr>
        </p:nvSpPr>
        <p:spPr/>
        <p:txBody>
          <a:bodyPr/>
          <a:lstStyle/>
          <a:p>
            <a:r>
              <a:rPr lang="en-US"/>
              <a:t>Auguts 1, 2026</a:t>
            </a:r>
          </a:p>
        </p:txBody>
      </p:sp>
      <p:sp>
        <p:nvSpPr>
          <p:cNvPr id="5" name="Slide Number Placeholder 4">
            <a:extLst>
              <a:ext uri="{FF2B5EF4-FFF2-40B4-BE49-F238E27FC236}">
                <a16:creationId xmlns:a16="http://schemas.microsoft.com/office/drawing/2014/main" id="{7CA892DD-1421-4F2E-8BA5-F62F34103394}"/>
              </a:ext>
            </a:extLst>
          </p:cNvPr>
          <p:cNvSpPr>
            <a:spLocks noGrp="1"/>
          </p:cNvSpPr>
          <p:nvPr>
            <p:ph type="sldNum" sz="quarter" idx="14"/>
          </p:nvPr>
        </p:nvSpPr>
        <p:spPr/>
        <p:txBody>
          <a:bodyPr/>
          <a:lstStyle/>
          <a:p>
            <a:fld id="{BC8D7E44-7D4F-4942-A8C9-2DF6BF8399E8}" type="slidenum">
              <a:rPr lang="en-US" smtClean="0"/>
              <a:pPr/>
              <a:t>8</a:t>
            </a:fld>
            <a:endParaRPr lang="en-US" dirty="0"/>
          </a:p>
        </p:txBody>
      </p:sp>
    </p:spTree>
    <p:extLst>
      <p:ext uri="{BB962C8B-B14F-4D97-AF65-F5344CB8AC3E}">
        <p14:creationId xmlns:p14="http://schemas.microsoft.com/office/powerpoint/2010/main" val="6452768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10000"/>
          </a:bodyPr>
          <a:lstStyle/>
          <a:p>
            <a:r>
              <a:rPr lang="en-US" dirty="0"/>
              <a:t>There are three problems with previous discussions of quality attributes: </a:t>
            </a:r>
          </a:p>
          <a:p>
            <a:pPr marL="514350" lvl="0" indent="-514350">
              <a:buFont typeface="+mj-lt"/>
              <a:buAutoNum type="arabicPeriod"/>
            </a:pPr>
            <a:r>
              <a:rPr lang="en-US" sz="2800" dirty="0"/>
              <a:t>The definitions provided for an attribute are not testable. It is meaningless to say that a system will be “modifiable”. </a:t>
            </a:r>
          </a:p>
          <a:p>
            <a:pPr marL="514350" lvl="0" indent="-514350">
              <a:buFont typeface="+mj-lt"/>
              <a:buAutoNum type="arabicPeriod"/>
            </a:pPr>
            <a:r>
              <a:rPr lang="en-US" sz="2800" dirty="0"/>
              <a:t>Endless time is wasted on arguing over which quality a concern belongs to. Is a system failure due to a denial of service attack an aspect of availability, performance, security, or usability? </a:t>
            </a:r>
          </a:p>
          <a:p>
            <a:pPr marL="514350" lvl="0" indent="-514350">
              <a:buFont typeface="+mj-lt"/>
              <a:buAutoNum type="arabicPeriod"/>
            </a:pPr>
            <a:r>
              <a:rPr lang="en-US" sz="2800" dirty="0"/>
              <a:t>Each attribute community has developed its own vocabulary.</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lstStyle/>
          <a:p>
            <a:r>
              <a:rPr lang="en-US" dirty="0"/>
              <a:t>Quality Attribute Considerations</a:t>
            </a:r>
          </a:p>
        </p:txBody>
      </p:sp>
      <p:sp>
        <p:nvSpPr>
          <p:cNvPr id="2" name="Date Placeholder 1">
            <a:extLst>
              <a:ext uri="{FF2B5EF4-FFF2-40B4-BE49-F238E27FC236}">
                <a16:creationId xmlns:a16="http://schemas.microsoft.com/office/drawing/2014/main" id="{5E354247-5FE8-47E9-90AE-8D613AE03A6A}"/>
              </a:ext>
            </a:extLst>
          </p:cNvPr>
          <p:cNvSpPr>
            <a:spLocks noGrp="1"/>
          </p:cNvSpPr>
          <p:nvPr>
            <p:ph type="dt" sz="half" idx="12"/>
          </p:nvPr>
        </p:nvSpPr>
        <p:spPr/>
        <p:txBody>
          <a:bodyPr/>
          <a:lstStyle/>
          <a:p>
            <a:r>
              <a:rPr lang="en-US"/>
              <a:t>Auguts 1, 2026</a:t>
            </a:r>
          </a:p>
        </p:txBody>
      </p:sp>
      <p:sp>
        <p:nvSpPr>
          <p:cNvPr id="5" name="Slide Number Placeholder 4">
            <a:extLst>
              <a:ext uri="{FF2B5EF4-FFF2-40B4-BE49-F238E27FC236}">
                <a16:creationId xmlns:a16="http://schemas.microsoft.com/office/drawing/2014/main" id="{AF8CCE2B-6D7B-40CA-9804-42D759F6D914}"/>
              </a:ext>
            </a:extLst>
          </p:cNvPr>
          <p:cNvSpPr>
            <a:spLocks noGrp="1"/>
          </p:cNvSpPr>
          <p:nvPr>
            <p:ph type="sldNum" sz="quarter" idx="14"/>
          </p:nvPr>
        </p:nvSpPr>
        <p:spPr/>
        <p:txBody>
          <a:bodyPr/>
          <a:lstStyle/>
          <a:p>
            <a:fld id="{BC8D7E44-7D4F-4942-A8C9-2DF6BF8399E8}" type="slidenum">
              <a:rPr lang="en-US" smtClean="0"/>
              <a:pPr/>
              <a:t>9</a:t>
            </a:fld>
            <a:endParaRPr lang="en-US" dirty="0"/>
          </a:p>
        </p:txBody>
      </p:sp>
    </p:spTree>
    <p:extLst>
      <p:ext uri="{BB962C8B-B14F-4D97-AF65-F5344CB8AC3E}">
        <p14:creationId xmlns:p14="http://schemas.microsoft.com/office/powerpoint/2010/main" val="6959763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itchFamily="34" charset="0"/>
              <a:buChar char="•"/>
            </a:pPr>
            <a:r>
              <a:rPr lang="en-US" sz="2800" dirty="0"/>
              <a:t>A solution to the first two of these problems (untestable definitions and overlapping concerns) is to use </a:t>
            </a:r>
            <a:r>
              <a:rPr lang="en-US" sz="2800" i="1" dirty="0"/>
              <a:t>quality attribute scenarios</a:t>
            </a:r>
            <a:r>
              <a:rPr lang="en-US" sz="2800" dirty="0"/>
              <a:t> as a means of characterizing quality attributes.</a:t>
            </a:r>
          </a:p>
          <a:p>
            <a:pPr>
              <a:buFont typeface="Arial" pitchFamily="34" charset="0"/>
              <a:buChar char="•"/>
            </a:pPr>
            <a:r>
              <a:rPr lang="en-US" sz="2800" dirty="0"/>
              <a:t>A solution to the third problem is to provide a discussion of each attribute—concentrating on its underlying concerns—to illustrate the concepts that are fundamental to that attribute community.</a:t>
            </a:r>
          </a:p>
          <a:p>
            <a:pPr>
              <a:buFont typeface="Arial" pitchFamily="34" charset="0"/>
              <a:buChar char="•"/>
            </a:pPr>
            <a:endParaRPr lang="en-US" sz="2800"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lstStyle/>
          <a:p>
            <a:r>
              <a:rPr lang="en-US" dirty="0"/>
              <a:t>Quality Attribute Considerations</a:t>
            </a:r>
          </a:p>
        </p:txBody>
      </p:sp>
      <p:sp>
        <p:nvSpPr>
          <p:cNvPr id="2" name="Date Placeholder 1">
            <a:extLst>
              <a:ext uri="{FF2B5EF4-FFF2-40B4-BE49-F238E27FC236}">
                <a16:creationId xmlns:a16="http://schemas.microsoft.com/office/drawing/2014/main" id="{FD2AFE82-0213-4348-8105-77FC16445CAD}"/>
              </a:ext>
            </a:extLst>
          </p:cNvPr>
          <p:cNvSpPr>
            <a:spLocks noGrp="1"/>
          </p:cNvSpPr>
          <p:nvPr>
            <p:ph type="dt" sz="half" idx="12"/>
          </p:nvPr>
        </p:nvSpPr>
        <p:spPr/>
        <p:txBody>
          <a:bodyPr/>
          <a:lstStyle/>
          <a:p>
            <a:r>
              <a:rPr lang="en-US"/>
              <a:t>Auguts 1, 2026</a:t>
            </a:r>
          </a:p>
        </p:txBody>
      </p:sp>
      <p:sp>
        <p:nvSpPr>
          <p:cNvPr id="5" name="Slide Number Placeholder 4">
            <a:extLst>
              <a:ext uri="{FF2B5EF4-FFF2-40B4-BE49-F238E27FC236}">
                <a16:creationId xmlns:a16="http://schemas.microsoft.com/office/drawing/2014/main" id="{9F0CDF3F-3441-4F62-8069-E80BE69B1449}"/>
              </a:ext>
            </a:extLst>
          </p:cNvPr>
          <p:cNvSpPr>
            <a:spLocks noGrp="1"/>
          </p:cNvSpPr>
          <p:nvPr>
            <p:ph type="sldNum" sz="quarter" idx="14"/>
          </p:nvPr>
        </p:nvSpPr>
        <p:spPr/>
        <p:txBody>
          <a:bodyPr/>
          <a:lstStyle/>
          <a:p>
            <a:fld id="{BC8D7E44-7D4F-4942-A8C9-2DF6BF8399E8}" type="slidenum">
              <a:rPr lang="en-US" smtClean="0"/>
              <a:pPr/>
              <a:t>10</a:t>
            </a:fld>
            <a:endParaRPr lang="en-US" dirty="0"/>
          </a:p>
        </p:txBody>
      </p:sp>
    </p:spTree>
    <p:extLst>
      <p:ext uri="{BB962C8B-B14F-4D97-AF65-F5344CB8AC3E}">
        <p14:creationId xmlns:p14="http://schemas.microsoft.com/office/powerpoint/2010/main" val="36877428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itchFamily="34" charset="0"/>
              <a:buChar char="•"/>
            </a:pPr>
            <a:r>
              <a:rPr lang="en-US" sz="2800" dirty="0"/>
              <a:t>We use a common form to specify all quality attribute requirements as scenarios.</a:t>
            </a:r>
          </a:p>
          <a:p>
            <a:pPr>
              <a:buFont typeface="Arial" pitchFamily="34" charset="0"/>
              <a:buChar char="•"/>
            </a:pPr>
            <a:r>
              <a:rPr lang="en-US" sz="2800" dirty="0"/>
              <a:t>Our representation of quality attribute scenarios has these parts:</a:t>
            </a:r>
          </a:p>
          <a:p>
            <a:pPr marL="914400" lvl="1" indent="-457200">
              <a:buFont typeface="+mj-lt"/>
              <a:buAutoNum type="arabicPeriod"/>
            </a:pPr>
            <a:r>
              <a:rPr lang="en-US" sz="2400" b="1" dirty="0"/>
              <a:t>Stimulus</a:t>
            </a:r>
            <a:endParaRPr lang="en-US" sz="2400" dirty="0"/>
          </a:p>
          <a:p>
            <a:pPr marL="914400" lvl="1" indent="-457200">
              <a:buFont typeface="+mj-lt"/>
              <a:buAutoNum type="arabicPeriod"/>
            </a:pPr>
            <a:r>
              <a:rPr lang="en-US" sz="2400" b="1" dirty="0"/>
              <a:t>Stimulus source</a:t>
            </a:r>
            <a:endParaRPr lang="en-US" sz="2400" dirty="0"/>
          </a:p>
          <a:p>
            <a:pPr marL="914400" lvl="1" indent="-457200">
              <a:buFont typeface="+mj-lt"/>
              <a:buAutoNum type="arabicPeriod"/>
            </a:pPr>
            <a:r>
              <a:rPr lang="en-US" sz="2400" b="1" dirty="0"/>
              <a:t>Response</a:t>
            </a:r>
            <a:endParaRPr lang="en-US" sz="2400" dirty="0"/>
          </a:p>
          <a:p>
            <a:pPr marL="914400" lvl="1" indent="-457200">
              <a:buFont typeface="+mj-lt"/>
              <a:buAutoNum type="arabicPeriod"/>
            </a:pPr>
            <a:r>
              <a:rPr lang="en-US" sz="2400" b="1" dirty="0"/>
              <a:t>Response measure</a:t>
            </a:r>
            <a:endParaRPr lang="en-US" sz="2400" dirty="0"/>
          </a:p>
          <a:p>
            <a:pPr marL="914400" lvl="1" indent="-457200">
              <a:buFont typeface="+mj-lt"/>
              <a:buAutoNum type="arabicPeriod"/>
            </a:pPr>
            <a:r>
              <a:rPr lang="en-US" sz="2400" b="1" dirty="0"/>
              <a:t>Environment</a:t>
            </a:r>
            <a:endParaRPr lang="en-US" sz="2400" dirty="0"/>
          </a:p>
          <a:p>
            <a:pPr marL="914400" lvl="1" indent="-457200">
              <a:buFont typeface="+mj-lt"/>
              <a:buAutoNum type="arabicPeriod"/>
            </a:pPr>
            <a:r>
              <a:rPr lang="en-US" sz="2400" b="1" dirty="0"/>
              <a:t>Artifact</a:t>
            </a:r>
            <a:endParaRPr lang="en-US" sz="2400" dirty="0"/>
          </a:p>
          <a:p>
            <a:pPr lvl="1"/>
            <a:endParaRPr lang="en-US" sz="2400" dirty="0"/>
          </a:p>
          <a:p>
            <a:endParaRPr lang="en-US" sz="2800"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normAutofit fontScale="97500"/>
          </a:bodyPr>
          <a:lstStyle/>
          <a:p>
            <a:r>
              <a:rPr lang="en-US" dirty="0"/>
              <a:t>Specifying Quality Attribute Requirements</a:t>
            </a:r>
          </a:p>
        </p:txBody>
      </p:sp>
      <p:sp>
        <p:nvSpPr>
          <p:cNvPr id="2" name="Date Placeholder 1">
            <a:extLst>
              <a:ext uri="{FF2B5EF4-FFF2-40B4-BE49-F238E27FC236}">
                <a16:creationId xmlns:a16="http://schemas.microsoft.com/office/drawing/2014/main" id="{EE8D0C55-7783-4076-ACEB-FEC356B1D534}"/>
              </a:ext>
            </a:extLst>
          </p:cNvPr>
          <p:cNvSpPr>
            <a:spLocks noGrp="1"/>
          </p:cNvSpPr>
          <p:nvPr>
            <p:ph type="dt" sz="half" idx="12"/>
          </p:nvPr>
        </p:nvSpPr>
        <p:spPr/>
        <p:txBody>
          <a:bodyPr/>
          <a:lstStyle/>
          <a:p>
            <a:r>
              <a:rPr lang="en-US"/>
              <a:t>Auguts 1, 2026</a:t>
            </a:r>
          </a:p>
        </p:txBody>
      </p:sp>
      <p:sp>
        <p:nvSpPr>
          <p:cNvPr id="5" name="Slide Number Placeholder 4">
            <a:extLst>
              <a:ext uri="{FF2B5EF4-FFF2-40B4-BE49-F238E27FC236}">
                <a16:creationId xmlns:a16="http://schemas.microsoft.com/office/drawing/2014/main" id="{CDC9C0F4-A6EC-4E96-BA4E-A2769E32D589}"/>
              </a:ext>
            </a:extLst>
          </p:cNvPr>
          <p:cNvSpPr>
            <a:spLocks noGrp="1"/>
          </p:cNvSpPr>
          <p:nvPr>
            <p:ph type="sldNum" sz="quarter" idx="14"/>
          </p:nvPr>
        </p:nvSpPr>
        <p:spPr/>
        <p:txBody>
          <a:bodyPr/>
          <a:lstStyle/>
          <a:p>
            <a:fld id="{BC8D7E44-7D4F-4942-A8C9-2DF6BF8399E8}" type="slidenum">
              <a:rPr lang="en-US" smtClean="0"/>
              <a:pPr/>
              <a:t>11</a:t>
            </a:fld>
            <a:endParaRPr lang="en-US" dirty="0"/>
          </a:p>
        </p:txBody>
      </p:sp>
    </p:spTree>
    <p:extLst>
      <p:ext uri="{BB962C8B-B14F-4D97-AF65-F5344CB8AC3E}">
        <p14:creationId xmlns:p14="http://schemas.microsoft.com/office/powerpoint/2010/main" val="10607413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10000"/>
          </a:bodyPr>
          <a:lstStyle/>
          <a:p>
            <a:pPr marL="514350" lvl="0" indent="-514350">
              <a:buFont typeface="+mj-lt"/>
              <a:buAutoNum type="arabicPeriod"/>
            </a:pPr>
            <a:r>
              <a:rPr lang="en-US" b="1" dirty="0"/>
              <a:t>Source of stimulus</a:t>
            </a:r>
            <a:r>
              <a:rPr lang="en-US" dirty="0"/>
              <a:t>. This is some entity (a human, a computer system, or any other actuator) that generated the stimulus.</a:t>
            </a:r>
          </a:p>
          <a:p>
            <a:pPr marL="514350" lvl="0" indent="-514350">
              <a:buFont typeface="+mj-lt"/>
              <a:buAutoNum type="arabicPeriod"/>
            </a:pPr>
            <a:r>
              <a:rPr lang="en-US" b="1" dirty="0"/>
              <a:t>Stimulus</a:t>
            </a:r>
            <a:r>
              <a:rPr lang="en-US" dirty="0"/>
              <a:t>. The stimulus is a condition that requires a response when it arrives at a system.</a:t>
            </a:r>
          </a:p>
          <a:p>
            <a:pPr marL="514350" lvl="0" indent="-514350">
              <a:buFont typeface="+mj-lt"/>
              <a:buAutoNum type="arabicPeriod"/>
            </a:pPr>
            <a:r>
              <a:rPr lang="en-US" b="1" dirty="0"/>
              <a:t>Environment</a:t>
            </a:r>
            <a:r>
              <a:rPr lang="en-US" dirty="0"/>
              <a:t>. The stimulus occurs under certain conditions. The system may be in an overload condition or in normal operation, or some other relevant state.  For many systems, “normal” operation can refer to one of a number of modes. </a:t>
            </a:r>
          </a:p>
          <a:p>
            <a:pPr marL="514350" lvl="0" indent="-514350">
              <a:buFont typeface="+mj-lt"/>
              <a:buAutoNum type="arabicPeriod"/>
            </a:pPr>
            <a:r>
              <a:rPr lang="en-US" b="1" dirty="0"/>
              <a:t>Artifact</a:t>
            </a:r>
            <a:r>
              <a:rPr lang="en-US" dirty="0"/>
              <a:t>. Some artifact is stimulated. This may be a collection of systems, the whole system, or some piece or pieces of it.</a:t>
            </a:r>
          </a:p>
          <a:p>
            <a:pPr marL="514350" lvl="0" indent="-514350">
              <a:buFont typeface="+mj-lt"/>
              <a:buAutoNum type="arabicPeriod"/>
            </a:pPr>
            <a:r>
              <a:rPr lang="en-US" b="1" dirty="0"/>
              <a:t>Response</a:t>
            </a:r>
            <a:r>
              <a:rPr lang="en-US" dirty="0"/>
              <a:t>. The response is the activity undertaken as the result of the arrival of the stimulus. </a:t>
            </a:r>
          </a:p>
          <a:p>
            <a:pPr marL="514350" lvl="0" indent="-514350">
              <a:buFont typeface="+mj-lt"/>
              <a:buAutoNum type="arabicPeriod"/>
            </a:pPr>
            <a:r>
              <a:rPr lang="en-US" b="1" dirty="0"/>
              <a:t>Response measure</a:t>
            </a:r>
            <a:r>
              <a:rPr lang="en-US" dirty="0"/>
              <a:t>. When the response occurs, it should be measurable in some fashion so that the requirement can be tested. </a:t>
            </a:r>
          </a:p>
          <a:p>
            <a:endParaRPr lang="en-US" dirty="0"/>
          </a:p>
          <a:p>
            <a:endParaRPr lang="en-US" sz="2800"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normAutofit fontScale="97500"/>
          </a:bodyPr>
          <a:lstStyle/>
          <a:p>
            <a:r>
              <a:rPr lang="en-US" dirty="0"/>
              <a:t>Specifying Quality Attribute Requirements</a:t>
            </a:r>
          </a:p>
        </p:txBody>
      </p:sp>
      <p:sp>
        <p:nvSpPr>
          <p:cNvPr id="2" name="Date Placeholder 1">
            <a:extLst>
              <a:ext uri="{FF2B5EF4-FFF2-40B4-BE49-F238E27FC236}">
                <a16:creationId xmlns:a16="http://schemas.microsoft.com/office/drawing/2014/main" id="{734FF082-A82D-421C-9D60-2F8C53336A4A}"/>
              </a:ext>
            </a:extLst>
          </p:cNvPr>
          <p:cNvSpPr>
            <a:spLocks noGrp="1"/>
          </p:cNvSpPr>
          <p:nvPr>
            <p:ph type="dt" sz="half" idx="12"/>
          </p:nvPr>
        </p:nvSpPr>
        <p:spPr/>
        <p:txBody>
          <a:bodyPr/>
          <a:lstStyle/>
          <a:p>
            <a:r>
              <a:rPr lang="en-US"/>
              <a:t>Auguts 1, 2026</a:t>
            </a:r>
          </a:p>
        </p:txBody>
      </p:sp>
      <p:sp>
        <p:nvSpPr>
          <p:cNvPr id="5" name="Slide Number Placeholder 4">
            <a:extLst>
              <a:ext uri="{FF2B5EF4-FFF2-40B4-BE49-F238E27FC236}">
                <a16:creationId xmlns:a16="http://schemas.microsoft.com/office/drawing/2014/main" id="{A24D4046-2DE0-4BE9-BF51-0D1539A245E6}"/>
              </a:ext>
            </a:extLst>
          </p:cNvPr>
          <p:cNvSpPr>
            <a:spLocks noGrp="1"/>
          </p:cNvSpPr>
          <p:nvPr>
            <p:ph type="sldNum" sz="quarter" idx="14"/>
          </p:nvPr>
        </p:nvSpPr>
        <p:spPr/>
        <p:txBody>
          <a:bodyPr/>
          <a:lstStyle/>
          <a:p>
            <a:fld id="{BC8D7E44-7D4F-4942-A8C9-2DF6BF8399E8}" type="slidenum">
              <a:rPr lang="en-US" smtClean="0"/>
              <a:pPr/>
              <a:t>12</a:t>
            </a:fld>
            <a:endParaRPr lang="en-US" dirty="0"/>
          </a:p>
        </p:txBody>
      </p:sp>
    </p:spTree>
    <p:extLst>
      <p:ext uri="{BB962C8B-B14F-4D97-AF65-F5344CB8AC3E}">
        <p14:creationId xmlns:p14="http://schemas.microsoft.com/office/powerpoint/2010/main" val="12055371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itchFamily="34" charset="0"/>
              <a:buChar char="•"/>
            </a:pPr>
            <a:r>
              <a:rPr lang="en-US" dirty="0"/>
              <a:t>We distinguish </a:t>
            </a:r>
            <a:r>
              <a:rPr lang="en-US" i="1" dirty="0"/>
              <a:t>general</a:t>
            </a:r>
            <a:r>
              <a:rPr lang="en-US" dirty="0"/>
              <a:t> quality attribute scenarios ( “general scenarios”)—those that are system independent and can, potentially, pertain to any system—from </a:t>
            </a:r>
            <a:r>
              <a:rPr lang="en-US" i="1" dirty="0"/>
              <a:t>concrete</a:t>
            </a:r>
            <a:r>
              <a:rPr lang="en-US" dirty="0"/>
              <a:t> quality attribute scenarios (concrete scenarios)—those that are specific to the particular system under consideration. </a:t>
            </a:r>
          </a:p>
          <a:p>
            <a:endParaRPr lang="en-US" dirty="0"/>
          </a:p>
          <a:p>
            <a:endParaRPr lang="en-US" sz="2800"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normAutofit fontScale="97500"/>
          </a:bodyPr>
          <a:lstStyle/>
          <a:p>
            <a:r>
              <a:rPr lang="en-US" dirty="0"/>
              <a:t>Specifying Quality Attribute Requirements</a:t>
            </a:r>
          </a:p>
        </p:txBody>
      </p:sp>
      <p:sp>
        <p:nvSpPr>
          <p:cNvPr id="2" name="Date Placeholder 1">
            <a:extLst>
              <a:ext uri="{FF2B5EF4-FFF2-40B4-BE49-F238E27FC236}">
                <a16:creationId xmlns:a16="http://schemas.microsoft.com/office/drawing/2014/main" id="{69E43480-4B35-4956-964A-2D9AAC683D7F}"/>
              </a:ext>
            </a:extLst>
          </p:cNvPr>
          <p:cNvSpPr>
            <a:spLocks noGrp="1"/>
          </p:cNvSpPr>
          <p:nvPr>
            <p:ph type="dt" sz="half" idx="12"/>
          </p:nvPr>
        </p:nvSpPr>
        <p:spPr/>
        <p:txBody>
          <a:bodyPr/>
          <a:lstStyle/>
          <a:p>
            <a:r>
              <a:rPr lang="en-US"/>
              <a:t>Auguts 1, 2026</a:t>
            </a:r>
          </a:p>
        </p:txBody>
      </p:sp>
      <p:sp>
        <p:nvSpPr>
          <p:cNvPr id="5" name="Slide Number Placeholder 4">
            <a:extLst>
              <a:ext uri="{FF2B5EF4-FFF2-40B4-BE49-F238E27FC236}">
                <a16:creationId xmlns:a16="http://schemas.microsoft.com/office/drawing/2014/main" id="{D57287CC-EB6A-4C4D-B191-5FEAE1E36D03}"/>
              </a:ext>
            </a:extLst>
          </p:cNvPr>
          <p:cNvSpPr>
            <a:spLocks noGrp="1"/>
          </p:cNvSpPr>
          <p:nvPr>
            <p:ph type="sldNum" sz="quarter" idx="14"/>
          </p:nvPr>
        </p:nvSpPr>
        <p:spPr/>
        <p:txBody>
          <a:bodyPr/>
          <a:lstStyle/>
          <a:p>
            <a:fld id="{BC8D7E44-7D4F-4942-A8C9-2DF6BF8399E8}" type="slidenum">
              <a:rPr lang="en-US" smtClean="0"/>
              <a:pPr/>
              <a:t>13</a:t>
            </a:fld>
            <a:endParaRPr lang="en-US" dirty="0"/>
          </a:p>
        </p:txBody>
      </p:sp>
    </p:spTree>
    <p:extLst>
      <p:ext uri="{BB962C8B-B14F-4D97-AF65-F5344CB8AC3E}">
        <p14:creationId xmlns:p14="http://schemas.microsoft.com/office/powerpoint/2010/main" val="19427347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Example general scenario for availability:</a:t>
            </a:r>
          </a:p>
          <a:p>
            <a:endParaRPr lang="en-US" dirty="0"/>
          </a:p>
          <a:p>
            <a:endParaRPr lang="en-US" sz="2800"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pic>
        <p:nvPicPr>
          <p:cNvPr id="5" name="Picture 4"/>
          <p:cNvPicPr/>
          <p:nvPr/>
        </p:nvPicPr>
        <p:blipFill>
          <a:blip r:embed="rId2" cstate="print"/>
          <a:stretch>
            <a:fillRect/>
          </a:stretch>
        </p:blipFill>
        <p:spPr>
          <a:xfrm>
            <a:off x="539552" y="2420888"/>
            <a:ext cx="8208912" cy="3059023"/>
          </a:xfrm>
          <a:prstGeom prst="rect">
            <a:avLst/>
          </a:prstGeom>
        </p:spPr>
      </p:pic>
      <p:sp>
        <p:nvSpPr>
          <p:cNvPr id="8" name="Title 1"/>
          <p:cNvSpPr>
            <a:spLocks noGrp="1"/>
          </p:cNvSpPr>
          <p:nvPr>
            <p:ph sz="quarter" idx="10"/>
          </p:nvPr>
        </p:nvSpPr>
        <p:spPr/>
        <p:txBody>
          <a:bodyPr>
            <a:normAutofit fontScale="97500"/>
          </a:bodyPr>
          <a:lstStyle/>
          <a:p>
            <a:r>
              <a:rPr lang="en-US" dirty="0"/>
              <a:t>Specifying Quality Attribute Requirements</a:t>
            </a:r>
          </a:p>
        </p:txBody>
      </p:sp>
      <p:sp>
        <p:nvSpPr>
          <p:cNvPr id="2" name="Date Placeholder 1">
            <a:extLst>
              <a:ext uri="{FF2B5EF4-FFF2-40B4-BE49-F238E27FC236}">
                <a16:creationId xmlns:a16="http://schemas.microsoft.com/office/drawing/2014/main" id="{51E87541-620B-4772-AF87-9298A5921C84}"/>
              </a:ext>
            </a:extLst>
          </p:cNvPr>
          <p:cNvSpPr>
            <a:spLocks noGrp="1"/>
          </p:cNvSpPr>
          <p:nvPr>
            <p:ph type="dt" sz="half" idx="12"/>
          </p:nvPr>
        </p:nvSpPr>
        <p:spPr/>
        <p:txBody>
          <a:bodyPr/>
          <a:lstStyle/>
          <a:p>
            <a:r>
              <a:rPr lang="en-US"/>
              <a:t>Auguts 1, 2026</a:t>
            </a:r>
          </a:p>
        </p:txBody>
      </p:sp>
      <p:sp>
        <p:nvSpPr>
          <p:cNvPr id="6" name="Slide Number Placeholder 5">
            <a:extLst>
              <a:ext uri="{FF2B5EF4-FFF2-40B4-BE49-F238E27FC236}">
                <a16:creationId xmlns:a16="http://schemas.microsoft.com/office/drawing/2014/main" id="{2A736B80-68EC-40C3-BA62-AEAA3B177FF1}"/>
              </a:ext>
            </a:extLst>
          </p:cNvPr>
          <p:cNvSpPr>
            <a:spLocks noGrp="1"/>
          </p:cNvSpPr>
          <p:nvPr>
            <p:ph type="sldNum" sz="quarter" idx="14"/>
          </p:nvPr>
        </p:nvSpPr>
        <p:spPr/>
        <p:txBody>
          <a:bodyPr/>
          <a:lstStyle/>
          <a:p>
            <a:fld id="{BC8D7E44-7D4F-4942-A8C9-2DF6BF8399E8}" type="slidenum">
              <a:rPr lang="en-US" smtClean="0"/>
              <a:pPr/>
              <a:t>14</a:t>
            </a:fld>
            <a:endParaRPr lang="en-US" dirty="0"/>
          </a:p>
        </p:txBody>
      </p:sp>
    </p:spTree>
    <p:extLst>
      <p:ext uri="{BB962C8B-B14F-4D97-AF65-F5344CB8AC3E}">
        <p14:creationId xmlns:p14="http://schemas.microsoft.com/office/powerpoint/2010/main" val="38996592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itchFamily="34" charset="0"/>
              <a:buChar char="•"/>
            </a:pPr>
            <a:r>
              <a:rPr lang="en-US" dirty="0"/>
              <a:t>There are a collection of primitive design techniques that an architect can use to achieve a quality attribute response. </a:t>
            </a:r>
          </a:p>
          <a:p>
            <a:pPr>
              <a:buFont typeface="Arial" pitchFamily="34" charset="0"/>
              <a:buChar char="•"/>
            </a:pPr>
            <a:r>
              <a:rPr lang="en-US" dirty="0"/>
              <a:t>We call these architectural design primitive </a:t>
            </a:r>
            <a:r>
              <a:rPr lang="en-US" i="1" dirty="0"/>
              <a:t>tactics</a:t>
            </a:r>
            <a:r>
              <a:rPr lang="en-US" dirty="0"/>
              <a:t>.</a:t>
            </a:r>
          </a:p>
          <a:p>
            <a:pPr>
              <a:buFont typeface="Arial" pitchFamily="34" charset="0"/>
              <a:buChar char="•"/>
            </a:pPr>
            <a:r>
              <a:rPr lang="en-US" dirty="0"/>
              <a:t>Tactics, like design patterns, are techniques that architects have been using for years. We do not </a:t>
            </a:r>
            <a:r>
              <a:rPr lang="en-US" i="1" dirty="0"/>
              <a:t>invent</a:t>
            </a:r>
            <a:r>
              <a:rPr lang="en-US" dirty="0"/>
              <a:t> tactics; we simply capture what architects do in practice. </a:t>
            </a:r>
          </a:p>
          <a:p>
            <a:endParaRPr lang="en-US" dirty="0"/>
          </a:p>
          <a:p>
            <a:endParaRPr lang="en-US" dirty="0"/>
          </a:p>
          <a:p>
            <a:endParaRPr lang="en-US" sz="2800"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normAutofit fontScale="97500"/>
          </a:bodyPr>
          <a:lstStyle/>
          <a:p>
            <a:r>
              <a:rPr lang="en-US" dirty="0"/>
              <a:t>Achieving Quality Attributes Through Tactics</a:t>
            </a:r>
          </a:p>
        </p:txBody>
      </p:sp>
      <p:sp>
        <p:nvSpPr>
          <p:cNvPr id="2" name="Date Placeholder 1">
            <a:extLst>
              <a:ext uri="{FF2B5EF4-FFF2-40B4-BE49-F238E27FC236}">
                <a16:creationId xmlns:a16="http://schemas.microsoft.com/office/drawing/2014/main" id="{00F768E2-C82D-4B96-BA24-FAC48E62031C}"/>
              </a:ext>
            </a:extLst>
          </p:cNvPr>
          <p:cNvSpPr>
            <a:spLocks noGrp="1"/>
          </p:cNvSpPr>
          <p:nvPr>
            <p:ph type="dt" sz="half" idx="12"/>
          </p:nvPr>
        </p:nvSpPr>
        <p:spPr/>
        <p:txBody>
          <a:bodyPr/>
          <a:lstStyle/>
          <a:p>
            <a:r>
              <a:rPr lang="en-US"/>
              <a:t>Auguts 1, 2026</a:t>
            </a:r>
          </a:p>
        </p:txBody>
      </p:sp>
      <p:sp>
        <p:nvSpPr>
          <p:cNvPr id="5" name="Slide Number Placeholder 4">
            <a:extLst>
              <a:ext uri="{FF2B5EF4-FFF2-40B4-BE49-F238E27FC236}">
                <a16:creationId xmlns:a16="http://schemas.microsoft.com/office/drawing/2014/main" id="{E3AD9D63-8967-46EE-B0B0-31FFA1932C09}"/>
              </a:ext>
            </a:extLst>
          </p:cNvPr>
          <p:cNvSpPr>
            <a:spLocks noGrp="1"/>
          </p:cNvSpPr>
          <p:nvPr>
            <p:ph type="sldNum" sz="quarter" idx="14"/>
          </p:nvPr>
        </p:nvSpPr>
        <p:spPr/>
        <p:txBody>
          <a:bodyPr/>
          <a:lstStyle/>
          <a:p>
            <a:fld id="{BC8D7E44-7D4F-4942-A8C9-2DF6BF8399E8}" type="slidenum">
              <a:rPr lang="en-US" smtClean="0"/>
              <a:pPr/>
              <a:t>15</a:t>
            </a:fld>
            <a:endParaRPr lang="en-US" dirty="0"/>
          </a:p>
        </p:txBody>
      </p:sp>
    </p:spTree>
    <p:extLst>
      <p:ext uri="{BB962C8B-B14F-4D97-AF65-F5344CB8AC3E}">
        <p14:creationId xmlns:p14="http://schemas.microsoft.com/office/powerpoint/2010/main" val="18380522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Why do we do this?  There are three reasons: </a:t>
            </a:r>
          </a:p>
          <a:p>
            <a:pPr marL="971550" lvl="1" indent="-514350">
              <a:buFont typeface="+mj-lt"/>
              <a:buAutoNum type="arabicPeriod"/>
            </a:pPr>
            <a:r>
              <a:rPr lang="en-US" dirty="0"/>
              <a:t>Design patterns are complex; they are a bundle of design decisions. But patterns are often difficult to apply as is; architects need to modify and adapt them. By understanding tactics, an architect can assess the options for augmenting an existing pattern to achieve a quality attribute goal. </a:t>
            </a:r>
          </a:p>
          <a:p>
            <a:pPr marL="971550" lvl="1" indent="-514350">
              <a:buFont typeface="+mj-lt"/>
              <a:buAutoNum type="arabicPeriod"/>
            </a:pPr>
            <a:r>
              <a:rPr lang="en-US" dirty="0"/>
              <a:t>If no pattern exists to realize the architect’s design goal, tactics allow the architect to construct a design fragment from “first principles”. </a:t>
            </a:r>
          </a:p>
          <a:p>
            <a:pPr marL="971550" lvl="1" indent="-514350">
              <a:buFont typeface="+mj-lt"/>
              <a:buAutoNum type="arabicPeriod"/>
            </a:pPr>
            <a:r>
              <a:rPr lang="en-US" dirty="0"/>
              <a:t>By cataloguing tactics, we make design more systematic. You frequently will have a choice of multiple tactics to improve a particular quality attribute. The choice of which tactic to use depends on factors such as tradeoffs among other quality attributes and the cost to implement. </a:t>
            </a:r>
          </a:p>
          <a:p>
            <a:endParaRPr lang="en-US" sz="2800"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normAutofit fontScale="97500"/>
          </a:bodyPr>
          <a:lstStyle/>
          <a:p>
            <a:r>
              <a:rPr lang="en-US" dirty="0"/>
              <a:t>Achieving Quality Attributes Through Tactics</a:t>
            </a:r>
          </a:p>
        </p:txBody>
      </p:sp>
      <p:sp>
        <p:nvSpPr>
          <p:cNvPr id="2" name="Date Placeholder 1">
            <a:extLst>
              <a:ext uri="{FF2B5EF4-FFF2-40B4-BE49-F238E27FC236}">
                <a16:creationId xmlns:a16="http://schemas.microsoft.com/office/drawing/2014/main" id="{6C904E8C-B803-44D0-A2BA-6B1167361134}"/>
              </a:ext>
            </a:extLst>
          </p:cNvPr>
          <p:cNvSpPr>
            <a:spLocks noGrp="1"/>
          </p:cNvSpPr>
          <p:nvPr>
            <p:ph type="dt" sz="half" idx="12"/>
          </p:nvPr>
        </p:nvSpPr>
        <p:spPr/>
        <p:txBody>
          <a:bodyPr/>
          <a:lstStyle/>
          <a:p>
            <a:r>
              <a:rPr lang="en-US"/>
              <a:t>Auguts 1, 2026</a:t>
            </a:r>
          </a:p>
        </p:txBody>
      </p:sp>
      <p:sp>
        <p:nvSpPr>
          <p:cNvPr id="5" name="Slide Number Placeholder 4">
            <a:extLst>
              <a:ext uri="{FF2B5EF4-FFF2-40B4-BE49-F238E27FC236}">
                <a16:creationId xmlns:a16="http://schemas.microsoft.com/office/drawing/2014/main" id="{4FB5E618-7CE0-427F-BD2D-09E8B7FB35FB}"/>
              </a:ext>
            </a:extLst>
          </p:cNvPr>
          <p:cNvSpPr>
            <a:spLocks noGrp="1"/>
          </p:cNvSpPr>
          <p:nvPr>
            <p:ph type="sldNum" sz="quarter" idx="14"/>
          </p:nvPr>
        </p:nvSpPr>
        <p:spPr/>
        <p:txBody>
          <a:bodyPr/>
          <a:lstStyle/>
          <a:p>
            <a:fld id="{BC8D7E44-7D4F-4942-A8C9-2DF6BF8399E8}" type="slidenum">
              <a:rPr lang="en-US" smtClean="0"/>
              <a:pPr/>
              <a:t>16</a:t>
            </a:fld>
            <a:endParaRPr lang="en-US" dirty="0"/>
          </a:p>
        </p:txBody>
      </p:sp>
    </p:spTree>
    <p:extLst>
      <p:ext uri="{BB962C8B-B14F-4D97-AF65-F5344CB8AC3E}">
        <p14:creationId xmlns:p14="http://schemas.microsoft.com/office/powerpoint/2010/main" val="33913904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itchFamily="34" charset="0"/>
              <a:buChar char="•"/>
            </a:pPr>
            <a:r>
              <a:rPr lang="en-US" dirty="0"/>
              <a:t>Architecture design is a systematic approach to making design decisions.</a:t>
            </a:r>
          </a:p>
          <a:p>
            <a:pPr>
              <a:buFont typeface="Arial" pitchFamily="34" charset="0"/>
              <a:buChar char="•"/>
            </a:pPr>
            <a:r>
              <a:rPr lang="en-US" sz="2800" dirty="0"/>
              <a:t>We categorize the design decisions that an architect needs to make as follows:</a:t>
            </a:r>
          </a:p>
          <a:p>
            <a:pPr marL="914400" lvl="1" indent="-514350">
              <a:buFont typeface="+mj-lt"/>
              <a:buAutoNum type="arabicPeriod"/>
            </a:pPr>
            <a:r>
              <a:rPr lang="en-US" dirty="0"/>
              <a:t>Allocation of responsibilities</a:t>
            </a:r>
          </a:p>
          <a:p>
            <a:pPr marL="914400" lvl="1" indent="-514350">
              <a:buFont typeface="+mj-lt"/>
              <a:buAutoNum type="arabicPeriod"/>
            </a:pPr>
            <a:r>
              <a:rPr lang="en-US" dirty="0"/>
              <a:t>Coordination model</a:t>
            </a:r>
          </a:p>
          <a:p>
            <a:pPr marL="914400" lvl="1" indent="-514350">
              <a:buFont typeface="+mj-lt"/>
              <a:buAutoNum type="arabicPeriod"/>
            </a:pPr>
            <a:r>
              <a:rPr lang="en-US" dirty="0"/>
              <a:t>Data model</a:t>
            </a:r>
          </a:p>
          <a:p>
            <a:pPr marL="914400" lvl="1" indent="-514350">
              <a:buFont typeface="+mj-lt"/>
              <a:buAutoNum type="arabicPeriod"/>
            </a:pPr>
            <a:r>
              <a:rPr lang="en-US" dirty="0"/>
              <a:t>Management of resources</a:t>
            </a:r>
          </a:p>
          <a:p>
            <a:pPr marL="914400" lvl="1" indent="-514350">
              <a:buFont typeface="+mj-lt"/>
              <a:buAutoNum type="arabicPeriod"/>
            </a:pPr>
            <a:r>
              <a:rPr lang="en-US" dirty="0"/>
              <a:t>Mapping among architectural elements</a:t>
            </a:r>
          </a:p>
          <a:p>
            <a:pPr marL="914400" lvl="1" indent="-514350">
              <a:buFont typeface="+mj-lt"/>
              <a:buAutoNum type="arabicPeriod"/>
            </a:pPr>
            <a:r>
              <a:rPr lang="en-US" dirty="0"/>
              <a:t>Binding time decisions</a:t>
            </a:r>
          </a:p>
          <a:p>
            <a:pPr marL="914400" lvl="1" indent="-514350">
              <a:buFont typeface="+mj-lt"/>
              <a:buAutoNum type="arabicPeriod"/>
            </a:pPr>
            <a:r>
              <a:rPr lang="en-US" dirty="0"/>
              <a:t>Choice of technology</a:t>
            </a:r>
          </a:p>
          <a:p>
            <a:pPr lvl="1"/>
            <a:endParaRPr lang="en-US" sz="2400"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normAutofit fontScale="97500"/>
          </a:bodyPr>
          <a:lstStyle/>
          <a:p>
            <a:r>
              <a:rPr lang="en-US" dirty="0"/>
              <a:t>Guiding Quality Design Decisions</a:t>
            </a:r>
          </a:p>
        </p:txBody>
      </p:sp>
      <p:sp>
        <p:nvSpPr>
          <p:cNvPr id="2" name="Date Placeholder 1">
            <a:extLst>
              <a:ext uri="{FF2B5EF4-FFF2-40B4-BE49-F238E27FC236}">
                <a16:creationId xmlns:a16="http://schemas.microsoft.com/office/drawing/2014/main" id="{9DD2F31B-6066-4005-92F6-DC9772EBD816}"/>
              </a:ext>
            </a:extLst>
          </p:cNvPr>
          <p:cNvSpPr>
            <a:spLocks noGrp="1"/>
          </p:cNvSpPr>
          <p:nvPr>
            <p:ph type="dt" sz="half" idx="12"/>
          </p:nvPr>
        </p:nvSpPr>
        <p:spPr/>
        <p:txBody>
          <a:bodyPr/>
          <a:lstStyle/>
          <a:p>
            <a:r>
              <a:rPr lang="en-US"/>
              <a:t>Auguts 1, 2026</a:t>
            </a:r>
          </a:p>
        </p:txBody>
      </p:sp>
      <p:sp>
        <p:nvSpPr>
          <p:cNvPr id="5" name="Slide Number Placeholder 4">
            <a:extLst>
              <a:ext uri="{FF2B5EF4-FFF2-40B4-BE49-F238E27FC236}">
                <a16:creationId xmlns:a16="http://schemas.microsoft.com/office/drawing/2014/main" id="{70BE9D6A-4F5C-485F-9E1E-12E572FF3474}"/>
              </a:ext>
            </a:extLst>
          </p:cNvPr>
          <p:cNvSpPr>
            <a:spLocks noGrp="1"/>
          </p:cNvSpPr>
          <p:nvPr>
            <p:ph type="sldNum" sz="quarter" idx="14"/>
          </p:nvPr>
        </p:nvSpPr>
        <p:spPr/>
        <p:txBody>
          <a:bodyPr/>
          <a:lstStyle/>
          <a:p>
            <a:fld id="{BC8D7E44-7D4F-4942-A8C9-2DF6BF8399E8}" type="slidenum">
              <a:rPr lang="en-US" smtClean="0"/>
              <a:pPr/>
              <a:t>17</a:t>
            </a:fld>
            <a:endParaRPr lang="en-US" dirty="0"/>
          </a:p>
        </p:txBody>
      </p:sp>
    </p:spTree>
    <p:extLst>
      <p:ext uri="{BB962C8B-B14F-4D97-AF65-F5344CB8AC3E}">
        <p14:creationId xmlns:p14="http://schemas.microsoft.com/office/powerpoint/2010/main" val="35590988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Decisions involving allocation of responsibilities include:</a:t>
            </a:r>
          </a:p>
          <a:p>
            <a:pPr lvl="1"/>
            <a:r>
              <a:rPr lang="en-US" dirty="0"/>
              <a:t>identifying the important responsibilities including basic system functions, architectural infrastructure, and satisfaction of quality attributes. </a:t>
            </a:r>
          </a:p>
          <a:p>
            <a:pPr lvl="1"/>
            <a:r>
              <a:rPr lang="en-US" dirty="0"/>
              <a:t>determining how these responsibilities are allocated to non-runtime and runtime elements (namely, modules, components, and connectors). </a:t>
            </a:r>
          </a:p>
          <a:p>
            <a:endParaRPr lang="en-US" dirty="0"/>
          </a:p>
        </p:txBody>
      </p:sp>
      <p:sp>
        <p:nvSpPr>
          <p:cNvPr id="4" name="Footer Placeholder 3"/>
          <p:cNvSpPr>
            <a:spLocks noGrp="1"/>
          </p:cNvSpPr>
          <p:nvPr>
            <p:ph type="ftr" sz="quarter" idx="13"/>
          </p:nvPr>
        </p:nvSpPr>
        <p:spPr/>
        <p:txBody>
          <a:bodyPr/>
          <a:lstStyle/>
          <a:p>
            <a:r>
              <a:rPr lang="en-AU" dirty="0"/>
              <a:t>SEZG651/SSZG653 Software Architectures</a:t>
            </a:r>
          </a:p>
        </p:txBody>
      </p:sp>
      <p:sp>
        <p:nvSpPr>
          <p:cNvPr id="7" name="Title 1"/>
          <p:cNvSpPr>
            <a:spLocks noGrp="1"/>
          </p:cNvSpPr>
          <p:nvPr>
            <p:ph sz="quarter" idx="10"/>
          </p:nvPr>
        </p:nvSpPr>
        <p:spPr/>
        <p:txBody>
          <a:bodyPr/>
          <a:lstStyle/>
          <a:p>
            <a:r>
              <a:rPr lang="en-US" dirty="0"/>
              <a:t>Allocation of Responsibilities</a:t>
            </a:r>
          </a:p>
        </p:txBody>
      </p:sp>
      <p:sp>
        <p:nvSpPr>
          <p:cNvPr id="2" name="Date Placeholder 1">
            <a:extLst>
              <a:ext uri="{FF2B5EF4-FFF2-40B4-BE49-F238E27FC236}">
                <a16:creationId xmlns:a16="http://schemas.microsoft.com/office/drawing/2014/main" id="{DAA6A6E9-C1A2-400E-B645-F436A6287C0F}"/>
              </a:ext>
            </a:extLst>
          </p:cNvPr>
          <p:cNvSpPr>
            <a:spLocks noGrp="1"/>
          </p:cNvSpPr>
          <p:nvPr>
            <p:ph type="dt" sz="half" idx="12"/>
          </p:nvPr>
        </p:nvSpPr>
        <p:spPr/>
        <p:txBody>
          <a:bodyPr/>
          <a:lstStyle/>
          <a:p>
            <a:r>
              <a:rPr lang="en-US"/>
              <a:t>Auguts 1, 2026</a:t>
            </a:r>
          </a:p>
        </p:txBody>
      </p:sp>
      <p:sp>
        <p:nvSpPr>
          <p:cNvPr id="5" name="Slide Number Placeholder 4">
            <a:extLst>
              <a:ext uri="{FF2B5EF4-FFF2-40B4-BE49-F238E27FC236}">
                <a16:creationId xmlns:a16="http://schemas.microsoft.com/office/drawing/2014/main" id="{213E4E24-05B9-4859-875A-7647DA464144}"/>
              </a:ext>
            </a:extLst>
          </p:cNvPr>
          <p:cNvSpPr>
            <a:spLocks noGrp="1"/>
          </p:cNvSpPr>
          <p:nvPr>
            <p:ph type="sldNum" sz="quarter" idx="14"/>
          </p:nvPr>
        </p:nvSpPr>
        <p:spPr/>
        <p:txBody>
          <a:bodyPr/>
          <a:lstStyle/>
          <a:p>
            <a:fld id="{BC8D7E44-7D4F-4942-A8C9-2DF6BF8399E8}" type="slidenum">
              <a:rPr lang="en-US" smtClean="0"/>
              <a:pPr/>
              <a:t>18</a:t>
            </a:fld>
            <a:endParaRPr lang="en-US" dirty="0"/>
          </a:p>
        </p:txBody>
      </p:sp>
    </p:spTree>
    <p:extLst>
      <p:ext uri="{BB962C8B-B14F-4D97-AF65-F5344CB8AC3E}">
        <p14:creationId xmlns:p14="http://schemas.microsoft.com/office/powerpoint/2010/main" val="13859790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Decisions about the coordination model include:</a:t>
            </a:r>
          </a:p>
          <a:p>
            <a:pPr lvl="1"/>
            <a:r>
              <a:rPr lang="en-US" dirty="0"/>
              <a:t>identify the elements of the system that must coordinate, or are prohibited from coordinating</a:t>
            </a:r>
          </a:p>
          <a:p>
            <a:pPr lvl="1"/>
            <a:r>
              <a:rPr lang="en-US" dirty="0"/>
              <a:t>determining the properties of the coordination, such as timeliness, currency, completeness, correctness, and consistency</a:t>
            </a:r>
          </a:p>
          <a:p>
            <a:pPr lvl="1"/>
            <a:r>
              <a:rPr lang="en-US" dirty="0"/>
              <a:t>choosing the communication mechanisms that realize those properties.  Important properties of the communication mechanisms include </a:t>
            </a:r>
            <a:r>
              <a:rPr lang="en-US" dirty="0" err="1"/>
              <a:t>stateful</a:t>
            </a:r>
            <a:r>
              <a:rPr lang="en-US" dirty="0"/>
              <a:t> vs. stateless, synchronous vs. asynchronous, guaranteed vs. non-guaranteed delivery, and performance-related properties such as throughput and latency</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lstStyle/>
          <a:p>
            <a:r>
              <a:rPr lang="en-US" dirty="0"/>
              <a:t>Coordination Model</a:t>
            </a:r>
          </a:p>
        </p:txBody>
      </p:sp>
      <p:sp>
        <p:nvSpPr>
          <p:cNvPr id="2" name="Date Placeholder 1">
            <a:extLst>
              <a:ext uri="{FF2B5EF4-FFF2-40B4-BE49-F238E27FC236}">
                <a16:creationId xmlns:a16="http://schemas.microsoft.com/office/drawing/2014/main" id="{29ED402F-63BF-4394-96CB-DBA3DA66D578}"/>
              </a:ext>
            </a:extLst>
          </p:cNvPr>
          <p:cNvSpPr>
            <a:spLocks noGrp="1"/>
          </p:cNvSpPr>
          <p:nvPr>
            <p:ph type="dt" sz="half" idx="12"/>
          </p:nvPr>
        </p:nvSpPr>
        <p:spPr/>
        <p:txBody>
          <a:bodyPr/>
          <a:lstStyle/>
          <a:p>
            <a:r>
              <a:rPr lang="en-US"/>
              <a:t>Auguts 1, 2026</a:t>
            </a:r>
          </a:p>
        </p:txBody>
      </p:sp>
      <p:sp>
        <p:nvSpPr>
          <p:cNvPr id="5" name="Slide Number Placeholder 4">
            <a:extLst>
              <a:ext uri="{FF2B5EF4-FFF2-40B4-BE49-F238E27FC236}">
                <a16:creationId xmlns:a16="http://schemas.microsoft.com/office/drawing/2014/main" id="{8B37F2BA-010C-4F51-A479-B579F165694F}"/>
              </a:ext>
            </a:extLst>
          </p:cNvPr>
          <p:cNvSpPr>
            <a:spLocks noGrp="1"/>
          </p:cNvSpPr>
          <p:nvPr>
            <p:ph type="sldNum" sz="quarter" idx="14"/>
          </p:nvPr>
        </p:nvSpPr>
        <p:spPr/>
        <p:txBody>
          <a:bodyPr/>
          <a:lstStyle/>
          <a:p>
            <a:fld id="{BC8D7E44-7D4F-4942-A8C9-2DF6BF8399E8}" type="slidenum">
              <a:rPr lang="en-US" smtClean="0"/>
              <a:pPr/>
              <a:t>19</a:t>
            </a:fld>
            <a:endParaRPr lang="en-US" dirty="0"/>
          </a:p>
        </p:txBody>
      </p:sp>
    </p:spTree>
    <p:extLst>
      <p:ext uri="{BB962C8B-B14F-4D97-AF65-F5344CB8AC3E}">
        <p14:creationId xmlns:p14="http://schemas.microsoft.com/office/powerpoint/2010/main" val="8783349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Decisions about the data model include:</a:t>
            </a:r>
          </a:p>
          <a:p>
            <a:pPr lvl="1"/>
            <a:r>
              <a:rPr lang="en-US" dirty="0"/>
              <a:t>choosing the major data abstractions, their operations, and their properties. This includes determining how the data items are created, initialized, accessed, persisted, manipulated, translated, and destroyed.</a:t>
            </a:r>
          </a:p>
          <a:p>
            <a:pPr lvl="1"/>
            <a:r>
              <a:rPr lang="en-US" dirty="0"/>
              <a:t>metadata needed for consistent interpretation of the data</a:t>
            </a:r>
          </a:p>
          <a:p>
            <a:pPr lvl="1"/>
            <a:r>
              <a:rPr lang="en-US" dirty="0"/>
              <a:t>organization of the data. This includes determining whether the data is going to be kept in a relational data base, a collection of objects or both </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lstStyle/>
          <a:p>
            <a:r>
              <a:rPr lang="en-US" dirty="0"/>
              <a:t>Data Model</a:t>
            </a:r>
          </a:p>
        </p:txBody>
      </p:sp>
      <p:sp>
        <p:nvSpPr>
          <p:cNvPr id="2" name="Date Placeholder 1">
            <a:extLst>
              <a:ext uri="{FF2B5EF4-FFF2-40B4-BE49-F238E27FC236}">
                <a16:creationId xmlns:a16="http://schemas.microsoft.com/office/drawing/2014/main" id="{4F769474-A08B-4B57-A714-9BE4966BA599}"/>
              </a:ext>
            </a:extLst>
          </p:cNvPr>
          <p:cNvSpPr>
            <a:spLocks noGrp="1"/>
          </p:cNvSpPr>
          <p:nvPr>
            <p:ph type="dt" sz="half" idx="12"/>
          </p:nvPr>
        </p:nvSpPr>
        <p:spPr/>
        <p:txBody>
          <a:bodyPr/>
          <a:lstStyle/>
          <a:p>
            <a:r>
              <a:rPr lang="en-US"/>
              <a:t>Auguts 1, 2026</a:t>
            </a:r>
          </a:p>
        </p:txBody>
      </p:sp>
      <p:sp>
        <p:nvSpPr>
          <p:cNvPr id="5" name="Slide Number Placeholder 4">
            <a:extLst>
              <a:ext uri="{FF2B5EF4-FFF2-40B4-BE49-F238E27FC236}">
                <a16:creationId xmlns:a16="http://schemas.microsoft.com/office/drawing/2014/main" id="{7E5694B8-AD15-478C-864A-48597ECC21B8}"/>
              </a:ext>
            </a:extLst>
          </p:cNvPr>
          <p:cNvSpPr>
            <a:spLocks noGrp="1"/>
          </p:cNvSpPr>
          <p:nvPr>
            <p:ph type="sldNum" sz="quarter" idx="14"/>
          </p:nvPr>
        </p:nvSpPr>
        <p:spPr/>
        <p:txBody>
          <a:bodyPr/>
          <a:lstStyle/>
          <a:p>
            <a:fld id="{BC8D7E44-7D4F-4942-A8C9-2DF6BF8399E8}" type="slidenum">
              <a:rPr lang="en-US" smtClean="0"/>
              <a:pPr/>
              <a:t>20</a:t>
            </a:fld>
            <a:endParaRPr lang="en-US" dirty="0"/>
          </a:p>
        </p:txBody>
      </p:sp>
    </p:spTree>
    <p:extLst>
      <p:ext uri="{BB962C8B-B14F-4D97-AF65-F5344CB8AC3E}">
        <p14:creationId xmlns:p14="http://schemas.microsoft.com/office/powerpoint/2010/main" val="20636024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Decisions for management of resources include:</a:t>
            </a:r>
          </a:p>
          <a:p>
            <a:pPr lvl="1"/>
            <a:r>
              <a:rPr lang="en-US" dirty="0"/>
              <a:t>identifying the resources that must be managed and determining the limits for each</a:t>
            </a:r>
          </a:p>
          <a:p>
            <a:pPr lvl="1"/>
            <a:r>
              <a:rPr lang="en-US" dirty="0"/>
              <a:t>determining which system element(s) manage each resource </a:t>
            </a:r>
          </a:p>
          <a:p>
            <a:pPr lvl="1"/>
            <a:r>
              <a:rPr lang="en-US" dirty="0"/>
              <a:t>determining how resources are shared and the arbitration strategies employed when there is contention</a:t>
            </a:r>
          </a:p>
          <a:p>
            <a:pPr lvl="1"/>
            <a:r>
              <a:rPr lang="en-US" dirty="0"/>
              <a:t>determining the impact of saturation on different resources. </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lstStyle/>
          <a:p>
            <a:r>
              <a:rPr lang="en-US" dirty="0"/>
              <a:t>Management of Resources</a:t>
            </a:r>
          </a:p>
        </p:txBody>
      </p:sp>
      <p:sp>
        <p:nvSpPr>
          <p:cNvPr id="2" name="Date Placeholder 1">
            <a:extLst>
              <a:ext uri="{FF2B5EF4-FFF2-40B4-BE49-F238E27FC236}">
                <a16:creationId xmlns:a16="http://schemas.microsoft.com/office/drawing/2014/main" id="{9C4BF52B-2252-4E62-A006-93A6290E6CE8}"/>
              </a:ext>
            </a:extLst>
          </p:cNvPr>
          <p:cNvSpPr>
            <a:spLocks noGrp="1"/>
          </p:cNvSpPr>
          <p:nvPr>
            <p:ph type="dt" sz="half" idx="12"/>
          </p:nvPr>
        </p:nvSpPr>
        <p:spPr/>
        <p:txBody>
          <a:bodyPr/>
          <a:lstStyle/>
          <a:p>
            <a:r>
              <a:rPr lang="en-US"/>
              <a:t>Auguts 1, 2026</a:t>
            </a:r>
          </a:p>
        </p:txBody>
      </p:sp>
      <p:sp>
        <p:nvSpPr>
          <p:cNvPr id="5" name="Slide Number Placeholder 4">
            <a:extLst>
              <a:ext uri="{FF2B5EF4-FFF2-40B4-BE49-F238E27FC236}">
                <a16:creationId xmlns:a16="http://schemas.microsoft.com/office/drawing/2014/main" id="{C6717DF7-FF34-4BC3-9A9E-904E9EB8FE89}"/>
              </a:ext>
            </a:extLst>
          </p:cNvPr>
          <p:cNvSpPr>
            <a:spLocks noGrp="1"/>
          </p:cNvSpPr>
          <p:nvPr>
            <p:ph type="sldNum" sz="quarter" idx="14"/>
          </p:nvPr>
        </p:nvSpPr>
        <p:spPr/>
        <p:txBody>
          <a:bodyPr/>
          <a:lstStyle/>
          <a:p>
            <a:fld id="{BC8D7E44-7D4F-4942-A8C9-2DF6BF8399E8}" type="slidenum">
              <a:rPr lang="en-US" smtClean="0"/>
              <a:pPr/>
              <a:t>21</a:t>
            </a:fld>
            <a:endParaRPr lang="en-US" dirty="0"/>
          </a:p>
        </p:txBody>
      </p:sp>
    </p:spTree>
    <p:extLst>
      <p:ext uri="{BB962C8B-B14F-4D97-AF65-F5344CB8AC3E}">
        <p14:creationId xmlns:p14="http://schemas.microsoft.com/office/powerpoint/2010/main" val="36615281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Useful mappings include:</a:t>
            </a:r>
          </a:p>
          <a:p>
            <a:pPr lvl="1"/>
            <a:r>
              <a:rPr lang="en-US" dirty="0"/>
              <a:t>the mapping of modules and runtime elements to each other—that is, the runtime elements that are created from each module; the modules that contain the code for each runtime element</a:t>
            </a:r>
          </a:p>
          <a:p>
            <a:pPr lvl="1"/>
            <a:r>
              <a:rPr lang="en-US" dirty="0"/>
              <a:t>the assignment of runtime elements to processors</a:t>
            </a:r>
          </a:p>
          <a:p>
            <a:pPr lvl="1"/>
            <a:r>
              <a:rPr lang="en-US" dirty="0"/>
              <a:t>the assignment of items in the data model to data stores</a:t>
            </a:r>
          </a:p>
          <a:p>
            <a:pPr lvl="1"/>
            <a:r>
              <a:rPr lang="en-US" dirty="0"/>
              <a:t>the mapping of modules and runtime elements to units of delivery </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normAutofit fontScale="97500"/>
          </a:bodyPr>
          <a:lstStyle/>
          <a:p>
            <a:r>
              <a:rPr lang="en-US" dirty="0"/>
              <a:t>Mapping Among Architectural Elements</a:t>
            </a:r>
          </a:p>
        </p:txBody>
      </p:sp>
      <p:sp>
        <p:nvSpPr>
          <p:cNvPr id="2" name="Date Placeholder 1">
            <a:extLst>
              <a:ext uri="{FF2B5EF4-FFF2-40B4-BE49-F238E27FC236}">
                <a16:creationId xmlns:a16="http://schemas.microsoft.com/office/drawing/2014/main" id="{D756316F-9223-4BB3-ADF4-058A4819C8CC}"/>
              </a:ext>
            </a:extLst>
          </p:cNvPr>
          <p:cNvSpPr>
            <a:spLocks noGrp="1"/>
          </p:cNvSpPr>
          <p:nvPr>
            <p:ph type="dt" sz="half" idx="12"/>
          </p:nvPr>
        </p:nvSpPr>
        <p:spPr/>
        <p:txBody>
          <a:bodyPr/>
          <a:lstStyle/>
          <a:p>
            <a:r>
              <a:rPr lang="en-US"/>
              <a:t>Auguts 1, 2026</a:t>
            </a:r>
          </a:p>
        </p:txBody>
      </p:sp>
      <p:sp>
        <p:nvSpPr>
          <p:cNvPr id="5" name="Slide Number Placeholder 4">
            <a:extLst>
              <a:ext uri="{FF2B5EF4-FFF2-40B4-BE49-F238E27FC236}">
                <a16:creationId xmlns:a16="http://schemas.microsoft.com/office/drawing/2014/main" id="{FFC8D57F-043E-4EBD-A945-2E1880D0F029}"/>
              </a:ext>
            </a:extLst>
          </p:cNvPr>
          <p:cNvSpPr>
            <a:spLocks noGrp="1"/>
          </p:cNvSpPr>
          <p:nvPr>
            <p:ph type="sldNum" sz="quarter" idx="14"/>
          </p:nvPr>
        </p:nvSpPr>
        <p:spPr/>
        <p:txBody>
          <a:bodyPr/>
          <a:lstStyle/>
          <a:p>
            <a:fld id="{BC8D7E44-7D4F-4942-A8C9-2DF6BF8399E8}" type="slidenum">
              <a:rPr lang="en-US" smtClean="0"/>
              <a:pPr/>
              <a:t>22</a:t>
            </a:fld>
            <a:endParaRPr lang="en-US" dirty="0"/>
          </a:p>
        </p:txBody>
      </p:sp>
    </p:spTree>
    <p:extLst>
      <p:ext uri="{BB962C8B-B14F-4D97-AF65-F5344CB8AC3E}">
        <p14:creationId xmlns:p14="http://schemas.microsoft.com/office/powerpoint/2010/main" val="25790405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itchFamily="34" charset="0"/>
              <a:buChar char="•"/>
            </a:pPr>
            <a:r>
              <a:rPr lang="en-US" dirty="0"/>
              <a:t>The decisions in the other categories have an associated binding time decision. Examples of such binding time decisions include:</a:t>
            </a:r>
          </a:p>
          <a:p>
            <a:pPr lvl="1"/>
            <a:r>
              <a:rPr lang="en-US" dirty="0"/>
              <a:t>For allocation of responsibilities, you can have build-time selection of modules via a parameterized build script. </a:t>
            </a:r>
          </a:p>
          <a:p>
            <a:pPr lvl="1"/>
            <a:r>
              <a:rPr lang="en-US" dirty="0"/>
              <a:t>For choice of coordination model, you can design run-time negotiation of protocols.</a:t>
            </a:r>
          </a:p>
          <a:p>
            <a:pPr lvl="1"/>
            <a:r>
              <a:rPr lang="en-US" dirty="0"/>
              <a:t>For resource management you can design a system to accept new peripheral devices plugged in at run-time.</a:t>
            </a:r>
          </a:p>
          <a:p>
            <a:pPr lvl="1"/>
            <a:r>
              <a:rPr lang="en-US" dirty="0"/>
              <a:t>For choice of technology, you can build an app-store for a smart phone that automatically downloads the appropriate version of the app.</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normAutofit/>
          </a:bodyPr>
          <a:lstStyle/>
          <a:p>
            <a:r>
              <a:rPr lang="en-US" dirty="0"/>
              <a:t>Binding Time</a:t>
            </a:r>
          </a:p>
        </p:txBody>
      </p:sp>
      <p:sp>
        <p:nvSpPr>
          <p:cNvPr id="2" name="Date Placeholder 1">
            <a:extLst>
              <a:ext uri="{FF2B5EF4-FFF2-40B4-BE49-F238E27FC236}">
                <a16:creationId xmlns:a16="http://schemas.microsoft.com/office/drawing/2014/main" id="{023EA0EB-9ACC-40D6-AC07-62BB85A3D970}"/>
              </a:ext>
            </a:extLst>
          </p:cNvPr>
          <p:cNvSpPr>
            <a:spLocks noGrp="1"/>
          </p:cNvSpPr>
          <p:nvPr>
            <p:ph type="dt" sz="half" idx="12"/>
          </p:nvPr>
        </p:nvSpPr>
        <p:spPr/>
        <p:txBody>
          <a:bodyPr/>
          <a:lstStyle/>
          <a:p>
            <a:r>
              <a:rPr lang="en-US"/>
              <a:t>Auguts 1, 2026</a:t>
            </a:r>
          </a:p>
        </p:txBody>
      </p:sp>
      <p:sp>
        <p:nvSpPr>
          <p:cNvPr id="5" name="Slide Number Placeholder 4">
            <a:extLst>
              <a:ext uri="{FF2B5EF4-FFF2-40B4-BE49-F238E27FC236}">
                <a16:creationId xmlns:a16="http://schemas.microsoft.com/office/drawing/2014/main" id="{70966C93-95AA-4DAE-8BD0-EA761C4446E8}"/>
              </a:ext>
            </a:extLst>
          </p:cNvPr>
          <p:cNvSpPr>
            <a:spLocks noGrp="1"/>
          </p:cNvSpPr>
          <p:nvPr>
            <p:ph type="sldNum" sz="quarter" idx="14"/>
          </p:nvPr>
        </p:nvSpPr>
        <p:spPr/>
        <p:txBody>
          <a:bodyPr/>
          <a:lstStyle/>
          <a:p>
            <a:fld id="{BC8D7E44-7D4F-4942-A8C9-2DF6BF8399E8}" type="slidenum">
              <a:rPr lang="en-US" smtClean="0"/>
              <a:pPr/>
              <a:t>23</a:t>
            </a:fld>
            <a:endParaRPr lang="en-US" dirty="0"/>
          </a:p>
        </p:txBody>
      </p:sp>
    </p:spTree>
    <p:extLst>
      <p:ext uri="{BB962C8B-B14F-4D97-AF65-F5344CB8AC3E}">
        <p14:creationId xmlns:p14="http://schemas.microsoft.com/office/powerpoint/2010/main" val="987595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Choice of technology decisions involve:</a:t>
            </a:r>
          </a:p>
          <a:p>
            <a:pPr lvl="1"/>
            <a:r>
              <a:rPr lang="en-US" dirty="0"/>
              <a:t>deciding which technologies are available to realize the decisions made in the other categories</a:t>
            </a:r>
          </a:p>
          <a:p>
            <a:pPr lvl="1"/>
            <a:r>
              <a:rPr lang="en-US" dirty="0"/>
              <a:t>determining whether the tools to support this technology (IDEs, simulators, testing tools, etc.) are adequate</a:t>
            </a:r>
          </a:p>
          <a:p>
            <a:pPr lvl="1"/>
            <a:r>
              <a:rPr lang="en-US" dirty="0"/>
              <a:t>determining the extent of internal familiarity and external support for the technology (such as courses, tutorials, examples, availability of contractors)</a:t>
            </a:r>
          </a:p>
          <a:p>
            <a:pPr lvl="1"/>
            <a:r>
              <a:rPr lang="en-US" dirty="0"/>
              <a:t>determining the side effects of choosing a technology such as a required coordination model or constrained resource management opportunities</a:t>
            </a:r>
          </a:p>
          <a:p>
            <a:pPr lvl="1"/>
            <a:r>
              <a:rPr lang="en-US" dirty="0"/>
              <a:t>determining whether a new technology is compatible with the existing technology stack </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normAutofit/>
          </a:bodyPr>
          <a:lstStyle/>
          <a:p>
            <a:r>
              <a:rPr lang="en-US" dirty="0"/>
              <a:t>Choice of Technology</a:t>
            </a:r>
          </a:p>
        </p:txBody>
      </p:sp>
      <p:sp>
        <p:nvSpPr>
          <p:cNvPr id="2" name="Date Placeholder 1">
            <a:extLst>
              <a:ext uri="{FF2B5EF4-FFF2-40B4-BE49-F238E27FC236}">
                <a16:creationId xmlns:a16="http://schemas.microsoft.com/office/drawing/2014/main" id="{96B7ABEC-13FB-4169-81F2-B3E8D4B1E807}"/>
              </a:ext>
            </a:extLst>
          </p:cNvPr>
          <p:cNvSpPr>
            <a:spLocks noGrp="1"/>
          </p:cNvSpPr>
          <p:nvPr>
            <p:ph type="dt" sz="half" idx="12"/>
          </p:nvPr>
        </p:nvSpPr>
        <p:spPr/>
        <p:txBody>
          <a:bodyPr/>
          <a:lstStyle/>
          <a:p>
            <a:r>
              <a:rPr lang="en-US"/>
              <a:t>Auguts 1, 2026</a:t>
            </a:r>
          </a:p>
        </p:txBody>
      </p:sp>
      <p:sp>
        <p:nvSpPr>
          <p:cNvPr id="5" name="Slide Number Placeholder 4">
            <a:extLst>
              <a:ext uri="{FF2B5EF4-FFF2-40B4-BE49-F238E27FC236}">
                <a16:creationId xmlns:a16="http://schemas.microsoft.com/office/drawing/2014/main" id="{4B3ADE7A-76D0-45F8-AB9B-7514B275E85A}"/>
              </a:ext>
            </a:extLst>
          </p:cNvPr>
          <p:cNvSpPr>
            <a:spLocks noGrp="1"/>
          </p:cNvSpPr>
          <p:nvPr>
            <p:ph type="sldNum" sz="quarter" idx="14"/>
          </p:nvPr>
        </p:nvSpPr>
        <p:spPr/>
        <p:txBody>
          <a:bodyPr/>
          <a:lstStyle/>
          <a:p>
            <a:fld id="{BC8D7E44-7D4F-4942-A8C9-2DF6BF8399E8}" type="slidenum">
              <a:rPr lang="en-US" smtClean="0"/>
              <a:pPr/>
              <a:t>24</a:t>
            </a:fld>
            <a:endParaRPr lang="en-US" dirty="0"/>
          </a:p>
        </p:txBody>
      </p:sp>
    </p:spTree>
    <p:extLst>
      <p:ext uri="{BB962C8B-B14F-4D97-AF65-F5344CB8AC3E}">
        <p14:creationId xmlns:p14="http://schemas.microsoft.com/office/powerpoint/2010/main" val="22610304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Requirements for a system come in three categories.</a:t>
            </a:r>
          </a:p>
          <a:p>
            <a:pPr marL="971550" lvl="1" indent="-514350">
              <a:buFont typeface="+mj-lt"/>
              <a:buAutoNum type="arabicPeriod"/>
            </a:pPr>
            <a:r>
              <a:rPr lang="en-US" dirty="0"/>
              <a:t>Functional. These requirements are satisfied by including an appropriate set of responsibilities within the design.</a:t>
            </a:r>
          </a:p>
          <a:p>
            <a:pPr marL="971550" lvl="1" indent="-514350">
              <a:buFont typeface="+mj-lt"/>
              <a:buAutoNum type="arabicPeriod"/>
            </a:pPr>
            <a:r>
              <a:rPr lang="en-US" dirty="0"/>
              <a:t>Quality attribute. These requirements are satisfied by the structures and behaviors of the architecture.</a:t>
            </a:r>
          </a:p>
          <a:p>
            <a:pPr marL="971550" lvl="1" indent="-514350">
              <a:buFont typeface="+mj-lt"/>
              <a:buAutoNum type="arabicPeriod"/>
            </a:pPr>
            <a:r>
              <a:rPr lang="en-US" dirty="0"/>
              <a:t>Constraints. A constraint is a design decision that’s already been made.</a:t>
            </a:r>
          </a:p>
          <a:p>
            <a:r>
              <a:rPr lang="en-US" dirty="0"/>
              <a:t>To express a quality attribute requirement we use a quality attribute scenario.  The parts of the scenario are:</a:t>
            </a:r>
          </a:p>
          <a:p>
            <a:pPr marL="971550" lvl="1" indent="-514350">
              <a:buFont typeface="+mj-lt"/>
              <a:buAutoNum type="arabicPeriod"/>
            </a:pPr>
            <a:r>
              <a:rPr lang="en-US" dirty="0"/>
              <a:t>Source of stimulus. </a:t>
            </a:r>
          </a:p>
          <a:p>
            <a:pPr marL="971550" lvl="1" indent="-514350">
              <a:buFont typeface="+mj-lt"/>
              <a:buAutoNum type="arabicPeriod"/>
            </a:pPr>
            <a:r>
              <a:rPr lang="en-US" dirty="0"/>
              <a:t>Stimulus</a:t>
            </a:r>
          </a:p>
          <a:p>
            <a:pPr marL="971550" lvl="1" indent="-514350">
              <a:buFont typeface="+mj-lt"/>
              <a:buAutoNum type="arabicPeriod"/>
            </a:pPr>
            <a:r>
              <a:rPr lang="en-US" dirty="0"/>
              <a:t>Environment. </a:t>
            </a:r>
          </a:p>
          <a:p>
            <a:pPr marL="971550" lvl="1" indent="-514350">
              <a:buFont typeface="+mj-lt"/>
              <a:buAutoNum type="arabicPeriod"/>
            </a:pPr>
            <a:r>
              <a:rPr lang="en-US" dirty="0"/>
              <a:t>Artifact. </a:t>
            </a:r>
          </a:p>
          <a:p>
            <a:pPr marL="971550" lvl="1" indent="-514350">
              <a:buFont typeface="+mj-lt"/>
              <a:buAutoNum type="arabicPeriod"/>
            </a:pPr>
            <a:r>
              <a:rPr lang="en-US" dirty="0"/>
              <a:t>Response. </a:t>
            </a:r>
          </a:p>
          <a:p>
            <a:pPr marL="971550" lvl="1" indent="-514350">
              <a:buFont typeface="+mj-lt"/>
              <a:buAutoNum type="arabicPeriod"/>
            </a:pPr>
            <a:r>
              <a:rPr lang="en-US" dirty="0"/>
              <a:t>Response measure.  </a:t>
            </a:r>
          </a:p>
          <a:p>
            <a:endParaRPr lang="en-US"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lstStyle/>
          <a:p>
            <a:r>
              <a:rPr lang="en-US" dirty="0"/>
              <a:t>Summary</a:t>
            </a:r>
          </a:p>
        </p:txBody>
      </p:sp>
      <p:sp>
        <p:nvSpPr>
          <p:cNvPr id="2" name="Date Placeholder 1">
            <a:extLst>
              <a:ext uri="{FF2B5EF4-FFF2-40B4-BE49-F238E27FC236}">
                <a16:creationId xmlns:a16="http://schemas.microsoft.com/office/drawing/2014/main" id="{75D7200E-0F98-4DB0-BE4B-AE63D9B786BB}"/>
              </a:ext>
            </a:extLst>
          </p:cNvPr>
          <p:cNvSpPr>
            <a:spLocks noGrp="1"/>
          </p:cNvSpPr>
          <p:nvPr>
            <p:ph type="dt" sz="half" idx="12"/>
          </p:nvPr>
        </p:nvSpPr>
        <p:spPr/>
        <p:txBody>
          <a:bodyPr/>
          <a:lstStyle/>
          <a:p>
            <a:r>
              <a:rPr lang="en-US"/>
              <a:t>Auguts 1, 2026</a:t>
            </a:r>
          </a:p>
        </p:txBody>
      </p:sp>
      <p:sp>
        <p:nvSpPr>
          <p:cNvPr id="5" name="Slide Number Placeholder 4">
            <a:extLst>
              <a:ext uri="{FF2B5EF4-FFF2-40B4-BE49-F238E27FC236}">
                <a16:creationId xmlns:a16="http://schemas.microsoft.com/office/drawing/2014/main" id="{9906EEAD-398B-4188-8C4C-EC317B4E9D7C}"/>
              </a:ext>
            </a:extLst>
          </p:cNvPr>
          <p:cNvSpPr>
            <a:spLocks noGrp="1"/>
          </p:cNvSpPr>
          <p:nvPr>
            <p:ph type="sldNum" sz="quarter" idx="14"/>
          </p:nvPr>
        </p:nvSpPr>
        <p:spPr/>
        <p:txBody>
          <a:bodyPr/>
          <a:lstStyle/>
          <a:p>
            <a:fld id="{BC8D7E44-7D4F-4942-A8C9-2DF6BF8399E8}" type="slidenum">
              <a:rPr lang="en-US" smtClean="0"/>
              <a:pPr/>
              <a:t>25</a:t>
            </a:fld>
            <a:endParaRPr lang="en-US" dirty="0"/>
          </a:p>
        </p:txBody>
      </p:sp>
    </p:spTree>
    <p:extLst>
      <p:ext uri="{BB962C8B-B14F-4D97-AF65-F5344CB8AC3E}">
        <p14:creationId xmlns:p14="http://schemas.microsoft.com/office/powerpoint/2010/main" val="14209074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pPr>
              <a:buFont typeface="Arial" pitchFamily="34" charset="0"/>
              <a:buChar char="•"/>
            </a:pPr>
            <a:r>
              <a:rPr lang="en-US" dirty="0"/>
              <a:t>An architectural tactic is a design decision that affects a quality attribute response. The focus of a tactic is on a single quality attribute response.  </a:t>
            </a:r>
          </a:p>
          <a:p>
            <a:pPr>
              <a:buFont typeface="Arial" pitchFamily="34" charset="0"/>
              <a:buChar char="•"/>
            </a:pPr>
            <a:r>
              <a:rPr lang="en-US" dirty="0"/>
              <a:t>Architectural patterns can be seen as “packages” of tactics.</a:t>
            </a:r>
          </a:p>
          <a:p>
            <a:pPr>
              <a:buFont typeface="Arial" pitchFamily="34" charset="0"/>
              <a:buChar char="•"/>
            </a:pPr>
            <a:r>
              <a:rPr lang="en-US" dirty="0"/>
              <a:t>The seven categories of architectural design decisions are:</a:t>
            </a:r>
          </a:p>
          <a:p>
            <a:pPr marL="971550" lvl="1" indent="-514350">
              <a:buFont typeface="+mj-lt"/>
              <a:buAutoNum type="arabicPeriod"/>
            </a:pPr>
            <a:r>
              <a:rPr lang="en-US" dirty="0"/>
              <a:t>Allocation of responsibilities</a:t>
            </a:r>
          </a:p>
          <a:p>
            <a:pPr marL="971550" lvl="1" indent="-514350">
              <a:buFont typeface="+mj-lt"/>
              <a:buAutoNum type="arabicPeriod"/>
            </a:pPr>
            <a:r>
              <a:rPr lang="en-US" dirty="0"/>
              <a:t>Coordination model</a:t>
            </a:r>
          </a:p>
          <a:p>
            <a:pPr marL="971550" lvl="1" indent="-514350">
              <a:buFont typeface="+mj-lt"/>
              <a:buAutoNum type="arabicPeriod"/>
            </a:pPr>
            <a:r>
              <a:rPr lang="en-US" dirty="0"/>
              <a:t>Data model</a:t>
            </a:r>
          </a:p>
          <a:p>
            <a:pPr marL="971550" lvl="1" indent="-514350">
              <a:buFont typeface="+mj-lt"/>
              <a:buAutoNum type="arabicPeriod"/>
            </a:pPr>
            <a:r>
              <a:rPr lang="en-US" dirty="0"/>
              <a:t>Management of resources</a:t>
            </a:r>
          </a:p>
          <a:p>
            <a:pPr marL="971550" lvl="1" indent="-514350">
              <a:buFont typeface="+mj-lt"/>
              <a:buAutoNum type="arabicPeriod"/>
            </a:pPr>
            <a:r>
              <a:rPr lang="en-US" dirty="0"/>
              <a:t>Mapping among architectural elements</a:t>
            </a:r>
          </a:p>
          <a:p>
            <a:pPr marL="971550" lvl="1" indent="-514350">
              <a:buFont typeface="+mj-lt"/>
              <a:buAutoNum type="arabicPeriod"/>
            </a:pPr>
            <a:r>
              <a:rPr lang="en-US" dirty="0"/>
              <a:t>Binding time decisions</a:t>
            </a:r>
          </a:p>
          <a:p>
            <a:pPr marL="971550" lvl="1" indent="-514350">
              <a:buFont typeface="+mj-lt"/>
              <a:buAutoNum type="arabicPeriod"/>
            </a:pPr>
            <a:r>
              <a:rPr lang="en-US" dirty="0"/>
              <a:t>Choice of technology</a:t>
            </a:r>
          </a:p>
          <a:p>
            <a:pPr marL="514350" indent="-514350">
              <a:buFont typeface="+mj-lt"/>
              <a:buAutoNum type="arabicPeriod"/>
            </a:pPr>
            <a:endParaRPr lang="en-US"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6" name="Title 1"/>
          <p:cNvSpPr>
            <a:spLocks noGrp="1"/>
          </p:cNvSpPr>
          <p:nvPr>
            <p:ph sz="quarter" idx="10"/>
          </p:nvPr>
        </p:nvSpPr>
        <p:spPr/>
        <p:txBody>
          <a:bodyPr/>
          <a:lstStyle/>
          <a:p>
            <a:r>
              <a:rPr lang="en-US" dirty="0"/>
              <a:t>Summary</a:t>
            </a:r>
          </a:p>
        </p:txBody>
      </p:sp>
      <p:sp>
        <p:nvSpPr>
          <p:cNvPr id="2" name="Date Placeholder 1">
            <a:extLst>
              <a:ext uri="{FF2B5EF4-FFF2-40B4-BE49-F238E27FC236}">
                <a16:creationId xmlns:a16="http://schemas.microsoft.com/office/drawing/2014/main" id="{F04FC7AD-B890-4FFB-A4C5-2C1175566290}"/>
              </a:ext>
            </a:extLst>
          </p:cNvPr>
          <p:cNvSpPr>
            <a:spLocks noGrp="1"/>
          </p:cNvSpPr>
          <p:nvPr>
            <p:ph type="dt" sz="half" idx="12"/>
          </p:nvPr>
        </p:nvSpPr>
        <p:spPr/>
        <p:txBody>
          <a:bodyPr/>
          <a:lstStyle/>
          <a:p>
            <a:r>
              <a:rPr lang="en-US"/>
              <a:t>Auguts 1, 2026</a:t>
            </a:r>
          </a:p>
        </p:txBody>
      </p:sp>
      <p:sp>
        <p:nvSpPr>
          <p:cNvPr id="5" name="Slide Number Placeholder 4">
            <a:extLst>
              <a:ext uri="{FF2B5EF4-FFF2-40B4-BE49-F238E27FC236}">
                <a16:creationId xmlns:a16="http://schemas.microsoft.com/office/drawing/2014/main" id="{7EE78159-6A6E-49A9-B2D6-1496CAAA6F3C}"/>
              </a:ext>
            </a:extLst>
          </p:cNvPr>
          <p:cNvSpPr>
            <a:spLocks noGrp="1"/>
          </p:cNvSpPr>
          <p:nvPr>
            <p:ph type="sldNum" sz="quarter" idx="14"/>
          </p:nvPr>
        </p:nvSpPr>
        <p:spPr/>
        <p:txBody>
          <a:bodyPr/>
          <a:lstStyle/>
          <a:p>
            <a:fld id="{BC8D7E44-7D4F-4942-A8C9-2DF6BF8399E8}" type="slidenum">
              <a:rPr lang="en-US" smtClean="0"/>
              <a:pPr/>
              <a:t>26</a:t>
            </a:fld>
            <a:endParaRPr lang="en-US" dirty="0"/>
          </a:p>
        </p:txBody>
      </p:sp>
    </p:spTree>
    <p:extLst>
      <p:ext uri="{BB962C8B-B14F-4D97-AF65-F5344CB8AC3E}">
        <p14:creationId xmlns:p14="http://schemas.microsoft.com/office/powerpoint/2010/main" val="33397551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Availability</a:t>
            </a:r>
            <a:br>
              <a:rPr lang="en-US" dirty="0"/>
            </a:br>
            <a:r>
              <a:rPr lang="en-AU"/>
              <a:t>Module 2 – L2</a:t>
            </a:r>
            <a:endParaRPr lang="en-US" dirty="0"/>
          </a:p>
        </p:txBody>
      </p:sp>
      <p:sp>
        <p:nvSpPr>
          <p:cNvPr id="6" name="Content Placeholder 5"/>
          <p:cNvSpPr>
            <a:spLocks noGrp="1"/>
          </p:cNvSpPr>
          <p:nvPr>
            <p:ph sz="quarter" idx="13"/>
          </p:nvPr>
        </p:nvSpPr>
        <p:spPr/>
        <p:txBody>
          <a:bodyPr/>
          <a:lstStyle/>
          <a:p>
            <a:r>
              <a:rPr lang="en-US" sz="1800" dirty="0"/>
              <a:t>Harvinder S Jabbal </a:t>
            </a:r>
          </a:p>
          <a:p>
            <a:r>
              <a:rPr lang="en-US" dirty="0"/>
              <a:t>CSIS, Work Integrated Learning Programs</a:t>
            </a:r>
          </a:p>
        </p:txBody>
      </p:sp>
      <p:sp>
        <p:nvSpPr>
          <p:cNvPr id="2" name="Slide Number Placeholder 1">
            <a:extLst>
              <a:ext uri="{FF2B5EF4-FFF2-40B4-BE49-F238E27FC236}">
                <a16:creationId xmlns:a16="http://schemas.microsoft.com/office/drawing/2014/main" id="{7F90C164-BD80-4958-B5AD-15C0024F6F1D}"/>
              </a:ext>
            </a:extLst>
          </p:cNvPr>
          <p:cNvSpPr>
            <a:spLocks noGrp="1"/>
          </p:cNvSpPr>
          <p:nvPr>
            <p:ph type="sldNum" sz="quarter" idx="16"/>
          </p:nvPr>
        </p:nvSpPr>
        <p:spPr/>
        <p:txBody>
          <a:bodyPr/>
          <a:lstStyle/>
          <a:p>
            <a:fld id="{BC8D7E44-7D4F-4942-A8C9-2DF6BF8399E8}" type="slidenum">
              <a:rPr lang="en-US" smtClean="0"/>
              <a:pPr/>
              <a:t>27</a:t>
            </a:fld>
            <a:endParaRPr lang="en-US" dirty="0"/>
          </a:p>
        </p:txBody>
      </p:sp>
      <p:sp>
        <p:nvSpPr>
          <p:cNvPr id="3" name="Footer Placeholder 2">
            <a:extLst>
              <a:ext uri="{FF2B5EF4-FFF2-40B4-BE49-F238E27FC236}">
                <a16:creationId xmlns:a16="http://schemas.microsoft.com/office/drawing/2014/main" id="{2618058F-E2B6-466F-9CC1-565AF74727FA}"/>
              </a:ext>
            </a:extLst>
          </p:cNvPr>
          <p:cNvSpPr>
            <a:spLocks noGrp="1"/>
          </p:cNvSpPr>
          <p:nvPr>
            <p:ph type="ftr" sz="quarter" idx="15"/>
          </p:nvPr>
        </p:nvSpPr>
        <p:spPr/>
        <p:txBody>
          <a:bodyPr/>
          <a:lstStyle/>
          <a:p>
            <a:r>
              <a:rPr lang="en-US"/>
              <a:t>SEZG651/SSZG653 Software Architectures</a:t>
            </a:r>
            <a:endParaRPr lang="en-US" dirty="0"/>
          </a:p>
        </p:txBody>
      </p:sp>
      <p:sp>
        <p:nvSpPr>
          <p:cNvPr id="4" name="Date Placeholder 3">
            <a:extLst>
              <a:ext uri="{FF2B5EF4-FFF2-40B4-BE49-F238E27FC236}">
                <a16:creationId xmlns:a16="http://schemas.microsoft.com/office/drawing/2014/main" id="{791BFCCC-1B52-43EB-9B30-A96190E558FD}"/>
              </a:ext>
            </a:extLst>
          </p:cNvPr>
          <p:cNvSpPr>
            <a:spLocks noGrp="1"/>
          </p:cNvSpPr>
          <p:nvPr>
            <p:ph type="dt" sz="half" idx="14"/>
          </p:nvPr>
        </p:nvSpPr>
        <p:spPr/>
        <p:txBody>
          <a:bodyPr/>
          <a:lstStyle/>
          <a:p>
            <a:r>
              <a:rPr lang="en-US"/>
              <a:t>Auguts 1, 2026</a:t>
            </a:r>
          </a:p>
        </p:txBody>
      </p:sp>
    </p:spTree>
    <p:extLst>
      <p:ext uri="{BB962C8B-B14F-4D97-AF65-F5344CB8AC3E}">
        <p14:creationId xmlns:p14="http://schemas.microsoft.com/office/powerpoint/2010/main" val="22630603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z="3200" b="0" i="0" u="none" strike="noStrike" kern="1200" baseline="0" dirty="0">
                <a:solidFill>
                  <a:schemeClr val="tx1"/>
                </a:solidFill>
                <a:latin typeface="+mn-lt"/>
                <a:ea typeface="+mn-ea"/>
                <a:cs typeface="+mn-cs"/>
              </a:rPr>
              <a:t>What is Availability?</a:t>
            </a:r>
          </a:p>
          <a:p>
            <a:r>
              <a:rPr lang="en-US" sz="3200" b="0" i="0" u="none" strike="noStrike" kern="1200" baseline="0" dirty="0">
                <a:solidFill>
                  <a:schemeClr val="tx1"/>
                </a:solidFill>
                <a:latin typeface="+mn-lt"/>
                <a:ea typeface="+mn-ea"/>
                <a:cs typeface="+mn-cs"/>
              </a:rPr>
              <a:t>Availability General Scenario</a:t>
            </a:r>
          </a:p>
          <a:p>
            <a:r>
              <a:rPr lang="en-US" sz="3200" b="0" i="0" u="none" strike="noStrike" kern="1200" baseline="0" dirty="0">
                <a:solidFill>
                  <a:schemeClr val="tx1"/>
                </a:solidFill>
                <a:latin typeface="+mn-lt"/>
                <a:ea typeface="+mn-ea"/>
                <a:cs typeface="+mn-cs"/>
              </a:rPr>
              <a:t>Tactics for Availability</a:t>
            </a:r>
          </a:p>
          <a:p>
            <a:r>
              <a:rPr lang="en-US" dirty="0"/>
              <a:t>A Design Checklist for Availability</a:t>
            </a:r>
            <a:endParaRPr lang="en-US" sz="3200" b="0" i="0" u="none" strike="noStrike" kern="1200" baseline="0" dirty="0">
              <a:solidFill>
                <a:schemeClr val="tx1"/>
              </a:solidFill>
              <a:latin typeface="+mn-lt"/>
              <a:ea typeface="+mn-ea"/>
              <a:cs typeface="+mn-cs"/>
            </a:endParaRPr>
          </a:p>
          <a:p>
            <a:r>
              <a:rPr lang="en-US" sz="3200" b="0" i="0" u="none" strike="noStrike" kern="1200" baseline="0" dirty="0">
                <a:solidFill>
                  <a:schemeClr val="tx1"/>
                </a:solidFill>
                <a:latin typeface="+mn-lt"/>
                <a:ea typeface="+mn-ea"/>
                <a:cs typeface="+mn-cs"/>
              </a:rPr>
              <a:t>Summary </a:t>
            </a:r>
          </a:p>
        </p:txBody>
      </p:sp>
      <p:sp>
        <p:nvSpPr>
          <p:cNvPr id="5" name="Content Placeholder 4">
            <a:extLst>
              <a:ext uri="{FF2B5EF4-FFF2-40B4-BE49-F238E27FC236}">
                <a16:creationId xmlns:a16="http://schemas.microsoft.com/office/drawing/2014/main" id="{23837819-8CE6-4B44-8955-354D29BD0401}"/>
              </a:ext>
            </a:extLst>
          </p:cNvPr>
          <p:cNvSpPr>
            <a:spLocks noGrp="1"/>
          </p:cNvSpPr>
          <p:nvPr>
            <p:ph sz="quarter" idx="10"/>
          </p:nvPr>
        </p:nvSpPr>
        <p:spPr/>
        <p:txBody>
          <a:bodyPr/>
          <a:lstStyle/>
          <a:p>
            <a:r>
              <a:rPr lang="en-AU" dirty="0"/>
              <a:t>Outline</a:t>
            </a:r>
            <a:endParaRPr lang="en-IN"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2" name="Date Placeholder 1">
            <a:extLst>
              <a:ext uri="{FF2B5EF4-FFF2-40B4-BE49-F238E27FC236}">
                <a16:creationId xmlns:a16="http://schemas.microsoft.com/office/drawing/2014/main" id="{409723C9-0E59-487D-8120-50164DC70052}"/>
              </a:ext>
            </a:extLst>
          </p:cNvPr>
          <p:cNvSpPr>
            <a:spLocks noGrp="1"/>
          </p:cNvSpPr>
          <p:nvPr>
            <p:ph type="dt" sz="half" idx="12"/>
          </p:nvPr>
        </p:nvSpPr>
        <p:spPr/>
        <p:txBody>
          <a:bodyPr/>
          <a:lstStyle/>
          <a:p>
            <a:r>
              <a:rPr lang="en-US"/>
              <a:t>Auguts 1, 2026</a:t>
            </a:r>
          </a:p>
        </p:txBody>
      </p:sp>
      <p:sp>
        <p:nvSpPr>
          <p:cNvPr id="7" name="Slide Number Placeholder 6">
            <a:extLst>
              <a:ext uri="{FF2B5EF4-FFF2-40B4-BE49-F238E27FC236}">
                <a16:creationId xmlns:a16="http://schemas.microsoft.com/office/drawing/2014/main" id="{A51AF8F1-5739-4D3D-BECE-368429C95507}"/>
              </a:ext>
            </a:extLst>
          </p:cNvPr>
          <p:cNvSpPr>
            <a:spLocks noGrp="1"/>
          </p:cNvSpPr>
          <p:nvPr>
            <p:ph type="sldNum" sz="quarter" idx="14"/>
          </p:nvPr>
        </p:nvSpPr>
        <p:spPr/>
        <p:txBody>
          <a:bodyPr/>
          <a:lstStyle/>
          <a:p>
            <a:fld id="{BC8D7E44-7D4F-4942-A8C9-2DF6BF8399E8}" type="slidenum">
              <a:rPr lang="en-US" smtClean="0"/>
              <a:pPr/>
              <a:t>28</a:t>
            </a:fld>
            <a:endParaRPr lang="en-US" dirty="0"/>
          </a:p>
        </p:txBody>
      </p:sp>
    </p:spTree>
    <p:extLst>
      <p:ext uri="{BB962C8B-B14F-4D97-AF65-F5344CB8AC3E}">
        <p14:creationId xmlns:p14="http://schemas.microsoft.com/office/powerpoint/2010/main" val="9668614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2B5B899-CF70-4BBB-AE4C-DA5A083B6D4B}"/>
              </a:ext>
            </a:extLst>
          </p:cNvPr>
          <p:cNvSpPr>
            <a:spLocks noGrp="1"/>
          </p:cNvSpPr>
          <p:nvPr>
            <p:ph idx="1"/>
          </p:nvPr>
        </p:nvSpPr>
        <p:spPr/>
        <p:txBody>
          <a:bodyPr/>
          <a:lstStyle/>
          <a:p>
            <a:r>
              <a:rPr lang="en-IN" dirty="0"/>
              <a:t>These Slides are based on</a:t>
            </a:r>
          </a:p>
          <a:p>
            <a:endParaRPr lang="en-IN" dirty="0"/>
          </a:p>
          <a:p>
            <a:pPr>
              <a:buFont typeface="Arial" panose="020B0604020202020204" pitchFamily="34" charset="0"/>
              <a:buChar char="•"/>
            </a:pPr>
            <a:r>
              <a:rPr lang="en-IN" dirty="0"/>
              <a:t>Software Architecture in Practice by</a:t>
            </a:r>
          </a:p>
          <a:p>
            <a:pPr lvl="1">
              <a:buFont typeface="Arial" panose="020B0604020202020204" pitchFamily="34" charset="0"/>
              <a:buChar char="•"/>
            </a:pPr>
            <a:r>
              <a:rPr lang="en-IN" dirty="0"/>
              <a:t>Len Bass, Paul Clement and Rick </a:t>
            </a:r>
            <a:r>
              <a:rPr lang="en-IN" dirty="0" err="1"/>
              <a:t>Kazman</a:t>
            </a:r>
            <a:endParaRPr lang="en-IN" dirty="0"/>
          </a:p>
          <a:p>
            <a:pPr lvl="1">
              <a:buFont typeface="Arial" panose="020B0604020202020204" pitchFamily="34" charset="0"/>
              <a:buChar char="•"/>
            </a:pPr>
            <a:r>
              <a:rPr lang="en-IN" dirty="0"/>
              <a:t>Pearson © 2013</a:t>
            </a:r>
          </a:p>
        </p:txBody>
      </p:sp>
      <p:sp>
        <p:nvSpPr>
          <p:cNvPr id="3" name="Content Placeholder 2">
            <a:extLst>
              <a:ext uri="{FF2B5EF4-FFF2-40B4-BE49-F238E27FC236}">
                <a16:creationId xmlns:a16="http://schemas.microsoft.com/office/drawing/2014/main" id="{0C22A11F-9BDD-40EA-9108-79A98E7C22C1}"/>
              </a:ext>
            </a:extLst>
          </p:cNvPr>
          <p:cNvSpPr>
            <a:spLocks noGrp="1"/>
          </p:cNvSpPr>
          <p:nvPr>
            <p:ph sz="quarter" idx="10"/>
          </p:nvPr>
        </p:nvSpPr>
        <p:spPr/>
        <p:txBody>
          <a:bodyPr/>
          <a:lstStyle/>
          <a:p>
            <a:r>
              <a:rPr lang="en-IN" dirty="0"/>
              <a:t>Credits</a:t>
            </a:r>
          </a:p>
        </p:txBody>
      </p:sp>
      <p:sp>
        <p:nvSpPr>
          <p:cNvPr id="5" name="Date Placeholder 4">
            <a:extLst>
              <a:ext uri="{FF2B5EF4-FFF2-40B4-BE49-F238E27FC236}">
                <a16:creationId xmlns:a16="http://schemas.microsoft.com/office/drawing/2014/main" id="{298DE30B-B871-430C-81AD-5250AE771657}"/>
              </a:ext>
            </a:extLst>
          </p:cNvPr>
          <p:cNvSpPr>
            <a:spLocks noGrp="1"/>
          </p:cNvSpPr>
          <p:nvPr>
            <p:ph type="dt" sz="half" idx="12"/>
          </p:nvPr>
        </p:nvSpPr>
        <p:spPr/>
        <p:txBody>
          <a:bodyPr/>
          <a:lstStyle/>
          <a:p>
            <a:r>
              <a:rPr lang="en-US"/>
              <a:t>Auguts 1, 2026</a:t>
            </a:r>
          </a:p>
        </p:txBody>
      </p:sp>
      <p:sp>
        <p:nvSpPr>
          <p:cNvPr id="6" name="Footer Placeholder 5">
            <a:extLst>
              <a:ext uri="{FF2B5EF4-FFF2-40B4-BE49-F238E27FC236}">
                <a16:creationId xmlns:a16="http://schemas.microsoft.com/office/drawing/2014/main" id="{38C4A635-2A3B-40FD-84B2-C6B1E4D0D048}"/>
              </a:ext>
            </a:extLst>
          </p:cNvPr>
          <p:cNvSpPr>
            <a:spLocks noGrp="1"/>
          </p:cNvSpPr>
          <p:nvPr>
            <p:ph type="ftr" sz="quarter" idx="13"/>
          </p:nvPr>
        </p:nvSpPr>
        <p:spPr/>
        <p:txBody>
          <a:bodyPr/>
          <a:lstStyle/>
          <a:p>
            <a:r>
              <a:rPr lang="en-US"/>
              <a:t>SEZG651/SSZG653 Software Architectures</a:t>
            </a:r>
          </a:p>
        </p:txBody>
      </p:sp>
      <p:sp>
        <p:nvSpPr>
          <p:cNvPr id="7" name="Slide Number Placeholder 6">
            <a:extLst>
              <a:ext uri="{FF2B5EF4-FFF2-40B4-BE49-F238E27FC236}">
                <a16:creationId xmlns:a16="http://schemas.microsoft.com/office/drawing/2014/main" id="{B733C520-AD81-45FC-BF10-1F5FD9ADD202}"/>
              </a:ext>
            </a:extLst>
          </p:cNvPr>
          <p:cNvSpPr>
            <a:spLocks noGrp="1"/>
          </p:cNvSpPr>
          <p:nvPr>
            <p:ph type="sldNum" sz="quarter" idx="14"/>
          </p:nvPr>
        </p:nvSpPr>
        <p:spPr/>
        <p:txBody>
          <a:bodyPr/>
          <a:lstStyle/>
          <a:p>
            <a:fld id="{BC8D7E44-7D4F-4942-A8C9-2DF6BF8399E8}" type="slidenum">
              <a:rPr lang="en-US" smtClean="0"/>
              <a:pPr/>
              <a:t>29</a:t>
            </a:fld>
            <a:endParaRPr lang="en-US" dirty="0"/>
          </a:p>
        </p:txBody>
      </p:sp>
    </p:spTree>
    <p:extLst>
      <p:ext uri="{BB962C8B-B14F-4D97-AF65-F5344CB8AC3E}">
        <p14:creationId xmlns:p14="http://schemas.microsoft.com/office/powerpoint/2010/main" val="1937809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anose="020B0604020202020204" pitchFamily="34" charset="0"/>
              <a:buChar char="•"/>
            </a:pPr>
            <a:r>
              <a:rPr lang="en-US" dirty="0"/>
              <a:t>Availability refers to a property of software that it is there and ready to carry out its task when you need it to be. </a:t>
            </a:r>
          </a:p>
          <a:p>
            <a:pPr>
              <a:buFont typeface="Arial" panose="020B0604020202020204" pitchFamily="34" charset="0"/>
              <a:buChar char="•"/>
            </a:pPr>
            <a:r>
              <a:rPr lang="en-US" dirty="0"/>
              <a:t>This is a broad perspective and encompasses what is normally called reliability.</a:t>
            </a:r>
          </a:p>
          <a:p>
            <a:pPr>
              <a:buFont typeface="Arial" panose="020B0604020202020204" pitchFamily="34" charset="0"/>
              <a:buChar char="•"/>
            </a:pPr>
            <a:r>
              <a:rPr lang="en-US" dirty="0"/>
              <a:t>Availability builds on reliability by adding the notion of recovery (repair).</a:t>
            </a:r>
          </a:p>
          <a:p>
            <a:pPr>
              <a:buFont typeface="Arial" panose="020B0604020202020204" pitchFamily="34" charset="0"/>
              <a:buChar char="•"/>
            </a:pPr>
            <a:r>
              <a:rPr lang="en-US" dirty="0"/>
              <a:t>Fundamentally, availability is about minimizing service outage time by mitigating faults. </a:t>
            </a:r>
          </a:p>
        </p:txBody>
      </p:sp>
      <p:sp>
        <p:nvSpPr>
          <p:cNvPr id="5" name="Content Placeholder 4">
            <a:extLst>
              <a:ext uri="{FF2B5EF4-FFF2-40B4-BE49-F238E27FC236}">
                <a16:creationId xmlns:a16="http://schemas.microsoft.com/office/drawing/2014/main" id="{1418EB9B-10CA-4632-89F9-CC1F4ADEC15C}"/>
              </a:ext>
            </a:extLst>
          </p:cNvPr>
          <p:cNvSpPr>
            <a:spLocks noGrp="1"/>
          </p:cNvSpPr>
          <p:nvPr>
            <p:ph sz="quarter" idx="10"/>
          </p:nvPr>
        </p:nvSpPr>
        <p:spPr/>
        <p:txBody>
          <a:bodyPr/>
          <a:lstStyle/>
          <a:p>
            <a:r>
              <a:rPr lang="en-US" dirty="0"/>
              <a:t>What is Availability?</a:t>
            </a:r>
            <a:endParaRPr lang="en-IN"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2" name="Date Placeholder 1">
            <a:extLst>
              <a:ext uri="{FF2B5EF4-FFF2-40B4-BE49-F238E27FC236}">
                <a16:creationId xmlns:a16="http://schemas.microsoft.com/office/drawing/2014/main" id="{EEBEE254-5770-4DD8-8041-779868B5690E}"/>
              </a:ext>
            </a:extLst>
          </p:cNvPr>
          <p:cNvSpPr>
            <a:spLocks noGrp="1"/>
          </p:cNvSpPr>
          <p:nvPr>
            <p:ph type="dt" sz="half" idx="12"/>
          </p:nvPr>
        </p:nvSpPr>
        <p:spPr/>
        <p:txBody>
          <a:bodyPr/>
          <a:lstStyle/>
          <a:p>
            <a:r>
              <a:rPr lang="en-US"/>
              <a:t>Auguts 1, 2026</a:t>
            </a:r>
          </a:p>
        </p:txBody>
      </p:sp>
      <p:sp>
        <p:nvSpPr>
          <p:cNvPr id="7" name="Slide Number Placeholder 6">
            <a:extLst>
              <a:ext uri="{FF2B5EF4-FFF2-40B4-BE49-F238E27FC236}">
                <a16:creationId xmlns:a16="http://schemas.microsoft.com/office/drawing/2014/main" id="{E6E0F845-7333-4A57-81E0-7B1F5DF04E93}"/>
              </a:ext>
            </a:extLst>
          </p:cNvPr>
          <p:cNvSpPr>
            <a:spLocks noGrp="1"/>
          </p:cNvSpPr>
          <p:nvPr>
            <p:ph type="sldNum" sz="quarter" idx="14"/>
          </p:nvPr>
        </p:nvSpPr>
        <p:spPr/>
        <p:txBody>
          <a:bodyPr/>
          <a:lstStyle/>
          <a:p>
            <a:fld id="{BC8D7E44-7D4F-4942-A8C9-2DF6BF8399E8}" type="slidenum">
              <a:rPr lang="en-US" smtClean="0"/>
              <a:pPr/>
              <a:t>30</a:t>
            </a:fld>
            <a:endParaRPr lang="en-US" dirty="0"/>
          </a:p>
        </p:txBody>
      </p:sp>
    </p:spTree>
    <p:extLst>
      <p:ext uri="{BB962C8B-B14F-4D97-AF65-F5344CB8AC3E}">
        <p14:creationId xmlns:p14="http://schemas.microsoft.com/office/powerpoint/2010/main" val="228135825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Content Placeholder 8">
            <a:extLst>
              <a:ext uri="{FF2B5EF4-FFF2-40B4-BE49-F238E27FC236}">
                <a16:creationId xmlns:a16="http://schemas.microsoft.com/office/drawing/2014/main" id="{83FF2AD0-1BD9-4899-A84C-DC08D21C2811}"/>
              </a:ext>
            </a:extLst>
          </p:cNvPr>
          <p:cNvGraphicFramePr>
            <a:graphicFrameLocks noGrp="1"/>
          </p:cNvGraphicFramePr>
          <p:nvPr>
            <p:ph idx="1"/>
          </p:nvPr>
        </p:nvGraphicFramePr>
        <p:xfrm>
          <a:off x="0" y="1325880"/>
          <a:ext cx="9144000" cy="5019040"/>
        </p:xfrm>
        <a:graphic>
          <a:graphicData uri="http://schemas.openxmlformats.org/drawingml/2006/table">
            <a:tbl>
              <a:tblPr firstRow="1" bandRow="1">
                <a:tableStyleId>{5C22544A-7EE6-4342-B048-85BDC9FD1C3A}</a:tableStyleId>
              </a:tblPr>
              <a:tblGrid>
                <a:gridCol w="1270000">
                  <a:extLst>
                    <a:ext uri="{9D8B030D-6E8A-4147-A177-3AD203B41FA5}">
                      <a16:colId xmlns:a16="http://schemas.microsoft.com/office/drawing/2014/main" val="3258893421"/>
                    </a:ext>
                  </a:extLst>
                </a:gridCol>
                <a:gridCol w="7874000">
                  <a:extLst>
                    <a:ext uri="{9D8B030D-6E8A-4147-A177-3AD203B41FA5}">
                      <a16:colId xmlns:a16="http://schemas.microsoft.com/office/drawing/2014/main" val="3528359439"/>
                    </a:ext>
                  </a:extLst>
                </a:gridCol>
              </a:tblGrid>
              <a:tr h="370840">
                <a:tc>
                  <a:txBody>
                    <a:bodyPr/>
                    <a:lstStyle/>
                    <a:p>
                      <a:pPr marL="0" marR="0">
                        <a:lnSpc>
                          <a:spcPts val="1450"/>
                        </a:lnSpc>
                        <a:spcBef>
                          <a:spcPts val="400"/>
                        </a:spcBef>
                        <a:spcAft>
                          <a:spcPts val="400"/>
                        </a:spcAft>
                      </a:pPr>
                      <a:r>
                        <a:rPr lang="en-US" sz="1400" b="1" dirty="0">
                          <a:effectLst/>
                        </a:rPr>
                        <a:t>Portion of </a:t>
                      </a:r>
                      <a:br>
                        <a:rPr lang="en-US" sz="1400" b="1" dirty="0">
                          <a:effectLst/>
                        </a:rPr>
                      </a:br>
                      <a:r>
                        <a:rPr lang="en-US" sz="1400" b="1" dirty="0">
                          <a:effectLst/>
                        </a:rPr>
                        <a:t>Scenario</a:t>
                      </a:r>
                      <a:endParaRPr lang="en-US" sz="1400" b="1" dirty="0">
                        <a:effectLst/>
                        <a:latin typeface="Times"/>
                        <a:ea typeface="Times New Roman"/>
                        <a:cs typeface="Times New Roman"/>
                      </a:endParaRPr>
                    </a:p>
                  </a:txBody>
                  <a:tcPr marL="58684" marR="58684" marT="0" marB="0"/>
                </a:tc>
                <a:tc>
                  <a:txBody>
                    <a:bodyPr/>
                    <a:lstStyle/>
                    <a:p>
                      <a:pPr marL="0" marR="0">
                        <a:lnSpc>
                          <a:spcPts val="1450"/>
                        </a:lnSpc>
                        <a:spcBef>
                          <a:spcPts val="400"/>
                        </a:spcBef>
                        <a:spcAft>
                          <a:spcPts val="400"/>
                        </a:spcAft>
                      </a:pPr>
                      <a:r>
                        <a:rPr lang="en-US" sz="1400" b="1" dirty="0">
                          <a:effectLst/>
                        </a:rPr>
                        <a:t>Possible Values	</a:t>
                      </a:r>
                      <a:endParaRPr lang="en-US" sz="1400" b="1" dirty="0">
                        <a:effectLst/>
                        <a:latin typeface="Times"/>
                        <a:ea typeface="Times New Roman"/>
                        <a:cs typeface="Times New Roman"/>
                      </a:endParaRPr>
                    </a:p>
                  </a:txBody>
                  <a:tcPr marL="58684" marR="58684" marT="0" marB="0"/>
                </a:tc>
                <a:extLst>
                  <a:ext uri="{0D108BD9-81ED-4DB2-BD59-A6C34878D82A}">
                    <a16:rowId xmlns:a16="http://schemas.microsoft.com/office/drawing/2014/main" val="1746020847"/>
                  </a:ext>
                </a:extLst>
              </a:tr>
              <a:tr h="198120">
                <a:tc>
                  <a:txBody>
                    <a:bodyPr/>
                    <a:lstStyle/>
                    <a:p>
                      <a:pPr marL="0" marR="0">
                        <a:lnSpc>
                          <a:spcPts val="1450"/>
                        </a:lnSpc>
                        <a:spcBef>
                          <a:spcPts val="400"/>
                        </a:spcBef>
                        <a:spcAft>
                          <a:spcPts val="400"/>
                        </a:spcAft>
                      </a:pPr>
                      <a:r>
                        <a:rPr lang="en-US" sz="1400">
                          <a:effectLst/>
                        </a:rPr>
                        <a:t>Source</a:t>
                      </a:r>
                      <a:endParaRPr lang="en-US" sz="1400">
                        <a:effectLst/>
                        <a:latin typeface="Times"/>
                        <a:ea typeface="Times New Roman"/>
                        <a:cs typeface="Times New Roman"/>
                      </a:endParaRPr>
                    </a:p>
                  </a:txBody>
                  <a:tcPr marL="58684" marR="58684" marT="0" marB="0"/>
                </a:tc>
                <a:tc>
                  <a:txBody>
                    <a:bodyPr/>
                    <a:lstStyle/>
                    <a:p>
                      <a:pPr marL="0" marR="0">
                        <a:lnSpc>
                          <a:spcPts val="1450"/>
                        </a:lnSpc>
                        <a:spcBef>
                          <a:spcPts val="400"/>
                        </a:spcBef>
                        <a:spcAft>
                          <a:spcPts val="400"/>
                        </a:spcAft>
                      </a:pPr>
                      <a:r>
                        <a:rPr lang="en-US" sz="1400">
                          <a:effectLst/>
                        </a:rPr>
                        <a:t>Internal/external: people, hardware, software, physical infrastructure, physical environment</a:t>
                      </a:r>
                      <a:endParaRPr lang="en-US" sz="1400">
                        <a:effectLst/>
                        <a:latin typeface="Times"/>
                        <a:ea typeface="Times New Roman"/>
                        <a:cs typeface="Times New Roman"/>
                      </a:endParaRPr>
                    </a:p>
                  </a:txBody>
                  <a:tcPr marL="58684" marR="58684" marT="0" marB="0"/>
                </a:tc>
                <a:extLst>
                  <a:ext uri="{0D108BD9-81ED-4DB2-BD59-A6C34878D82A}">
                    <a16:rowId xmlns:a16="http://schemas.microsoft.com/office/drawing/2014/main" val="2466691906"/>
                  </a:ext>
                </a:extLst>
              </a:tr>
              <a:tr h="208280">
                <a:tc>
                  <a:txBody>
                    <a:bodyPr/>
                    <a:lstStyle/>
                    <a:p>
                      <a:pPr marL="0" marR="0">
                        <a:lnSpc>
                          <a:spcPts val="1450"/>
                        </a:lnSpc>
                        <a:spcBef>
                          <a:spcPts val="400"/>
                        </a:spcBef>
                        <a:spcAft>
                          <a:spcPts val="400"/>
                        </a:spcAft>
                      </a:pPr>
                      <a:r>
                        <a:rPr lang="en-US" sz="1400">
                          <a:effectLst/>
                        </a:rPr>
                        <a:t>Stimulus</a:t>
                      </a:r>
                      <a:endParaRPr lang="en-US" sz="1400">
                        <a:effectLst/>
                        <a:latin typeface="Times"/>
                        <a:ea typeface="Times New Roman"/>
                        <a:cs typeface="Times New Roman"/>
                      </a:endParaRPr>
                    </a:p>
                  </a:txBody>
                  <a:tcPr marL="58684" marR="58684" marT="0" marB="0"/>
                </a:tc>
                <a:tc>
                  <a:txBody>
                    <a:bodyPr/>
                    <a:lstStyle/>
                    <a:p>
                      <a:pPr marL="0" marR="0">
                        <a:lnSpc>
                          <a:spcPts val="1450"/>
                        </a:lnSpc>
                        <a:spcBef>
                          <a:spcPts val="400"/>
                        </a:spcBef>
                        <a:spcAft>
                          <a:spcPts val="400"/>
                        </a:spcAft>
                      </a:pPr>
                      <a:r>
                        <a:rPr lang="en-US" sz="1400">
                          <a:effectLst/>
                        </a:rPr>
                        <a:t>Fault: omission, crash, incorrect timing, incorrect response</a:t>
                      </a:r>
                      <a:endParaRPr lang="en-US" sz="1400">
                        <a:effectLst/>
                        <a:latin typeface="Times"/>
                        <a:ea typeface="Times New Roman"/>
                        <a:cs typeface="Times New Roman"/>
                      </a:endParaRPr>
                    </a:p>
                  </a:txBody>
                  <a:tcPr marL="58684" marR="58684" marT="0" marB="0"/>
                </a:tc>
                <a:extLst>
                  <a:ext uri="{0D108BD9-81ED-4DB2-BD59-A6C34878D82A}">
                    <a16:rowId xmlns:a16="http://schemas.microsoft.com/office/drawing/2014/main" val="578833550"/>
                  </a:ext>
                </a:extLst>
              </a:tr>
              <a:tr h="218440">
                <a:tc>
                  <a:txBody>
                    <a:bodyPr/>
                    <a:lstStyle/>
                    <a:p>
                      <a:pPr marL="0" marR="0">
                        <a:lnSpc>
                          <a:spcPts val="1450"/>
                        </a:lnSpc>
                        <a:spcBef>
                          <a:spcPts val="400"/>
                        </a:spcBef>
                        <a:spcAft>
                          <a:spcPts val="400"/>
                        </a:spcAft>
                      </a:pPr>
                      <a:r>
                        <a:rPr lang="en-US" sz="1400">
                          <a:effectLst/>
                        </a:rPr>
                        <a:t>Artifact</a:t>
                      </a:r>
                      <a:endParaRPr lang="en-US" sz="1400">
                        <a:effectLst/>
                        <a:latin typeface="Times"/>
                        <a:ea typeface="Times New Roman"/>
                        <a:cs typeface="Times New Roman"/>
                      </a:endParaRPr>
                    </a:p>
                  </a:txBody>
                  <a:tcPr marL="58684" marR="58684" marT="0" marB="0"/>
                </a:tc>
                <a:tc>
                  <a:txBody>
                    <a:bodyPr/>
                    <a:lstStyle/>
                    <a:p>
                      <a:pPr marL="0" marR="0">
                        <a:lnSpc>
                          <a:spcPts val="1450"/>
                        </a:lnSpc>
                        <a:spcBef>
                          <a:spcPts val="400"/>
                        </a:spcBef>
                        <a:spcAft>
                          <a:spcPts val="400"/>
                        </a:spcAft>
                      </a:pPr>
                      <a:r>
                        <a:rPr lang="en-US" sz="1400">
                          <a:effectLst/>
                        </a:rPr>
                        <a:t>System’s processors, communication channels, persistent storage, processes</a:t>
                      </a:r>
                      <a:endParaRPr lang="en-US" sz="1400">
                        <a:effectLst/>
                        <a:latin typeface="Times"/>
                        <a:ea typeface="Times New Roman"/>
                        <a:cs typeface="Times New Roman"/>
                      </a:endParaRPr>
                    </a:p>
                  </a:txBody>
                  <a:tcPr marL="58684" marR="58684" marT="0" marB="0"/>
                </a:tc>
                <a:extLst>
                  <a:ext uri="{0D108BD9-81ED-4DB2-BD59-A6C34878D82A}">
                    <a16:rowId xmlns:a16="http://schemas.microsoft.com/office/drawing/2014/main" val="883782971"/>
                  </a:ext>
                </a:extLst>
              </a:tr>
              <a:tr h="304800">
                <a:tc>
                  <a:txBody>
                    <a:bodyPr/>
                    <a:lstStyle/>
                    <a:p>
                      <a:pPr marL="0" marR="0">
                        <a:lnSpc>
                          <a:spcPts val="1450"/>
                        </a:lnSpc>
                        <a:spcBef>
                          <a:spcPts val="400"/>
                        </a:spcBef>
                        <a:spcAft>
                          <a:spcPts val="400"/>
                        </a:spcAft>
                      </a:pPr>
                      <a:r>
                        <a:rPr lang="en-US" sz="1400">
                          <a:effectLst/>
                        </a:rPr>
                        <a:t>Environment</a:t>
                      </a:r>
                      <a:endParaRPr lang="en-US" sz="1400">
                        <a:effectLst/>
                        <a:latin typeface="Times"/>
                        <a:ea typeface="Times New Roman"/>
                        <a:cs typeface="Times New Roman"/>
                      </a:endParaRPr>
                    </a:p>
                  </a:txBody>
                  <a:tcPr marL="58684" marR="58684" marT="0" marB="0"/>
                </a:tc>
                <a:tc>
                  <a:txBody>
                    <a:bodyPr/>
                    <a:lstStyle/>
                    <a:p>
                      <a:pPr marL="0" marR="0">
                        <a:lnSpc>
                          <a:spcPts val="1450"/>
                        </a:lnSpc>
                        <a:spcBef>
                          <a:spcPts val="400"/>
                        </a:spcBef>
                        <a:spcAft>
                          <a:spcPts val="400"/>
                        </a:spcAft>
                      </a:pPr>
                      <a:r>
                        <a:rPr lang="en-US" sz="1400" dirty="0">
                          <a:effectLst/>
                        </a:rPr>
                        <a:t>Normal operation, startup, shutdown, repair mode, degraded operation, overloaded operation</a:t>
                      </a:r>
                      <a:endParaRPr lang="en-US" sz="1400" dirty="0">
                        <a:effectLst/>
                        <a:latin typeface="Times"/>
                        <a:ea typeface="Times New Roman"/>
                        <a:cs typeface="Times New Roman"/>
                      </a:endParaRPr>
                    </a:p>
                  </a:txBody>
                  <a:tcPr marL="58684" marR="58684" marT="0" marB="0"/>
                </a:tc>
                <a:extLst>
                  <a:ext uri="{0D108BD9-81ED-4DB2-BD59-A6C34878D82A}">
                    <a16:rowId xmlns:a16="http://schemas.microsoft.com/office/drawing/2014/main" val="4119282461"/>
                  </a:ext>
                </a:extLst>
              </a:tr>
              <a:tr h="370840">
                <a:tc>
                  <a:txBody>
                    <a:bodyPr/>
                    <a:lstStyle/>
                    <a:p>
                      <a:pPr marL="0" marR="0">
                        <a:lnSpc>
                          <a:spcPts val="1450"/>
                        </a:lnSpc>
                        <a:spcBef>
                          <a:spcPts val="400"/>
                        </a:spcBef>
                        <a:spcAft>
                          <a:spcPts val="400"/>
                        </a:spcAft>
                      </a:pPr>
                      <a:r>
                        <a:rPr lang="en-US" sz="1400">
                          <a:effectLst/>
                        </a:rPr>
                        <a:t>Response</a:t>
                      </a:r>
                      <a:endParaRPr lang="en-US" sz="1400">
                        <a:effectLst/>
                        <a:latin typeface="Times"/>
                        <a:ea typeface="Times New Roman"/>
                        <a:cs typeface="Times New Roman"/>
                      </a:endParaRPr>
                    </a:p>
                  </a:txBody>
                  <a:tcPr marL="58684" marR="58684" marT="0" marB="0"/>
                </a:tc>
                <a:tc>
                  <a:txBody>
                    <a:bodyPr/>
                    <a:lstStyle/>
                    <a:p>
                      <a:pPr marL="0" marR="0" indent="0">
                        <a:lnSpc>
                          <a:spcPts val="1450"/>
                        </a:lnSpc>
                        <a:spcBef>
                          <a:spcPts val="100"/>
                        </a:spcBef>
                        <a:spcAft>
                          <a:spcPts val="300"/>
                        </a:spcAft>
                        <a:tabLst>
                          <a:tab pos="228600" algn="l"/>
                          <a:tab pos="274320" algn="l"/>
                          <a:tab pos="274320" algn="l"/>
                        </a:tabLst>
                      </a:pPr>
                      <a:r>
                        <a:rPr lang="en-US" sz="1400" kern="1100" dirty="0">
                          <a:effectLst/>
                        </a:rPr>
                        <a:t>Prevent the fault from becoming a failure</a:t>
                      </a:r>
                    </a:p>
                    <a:p>
                      <a:pPr marL="0" marR="0" indent="0">
                        <a:lnSpc>
                          <a:spcPts val="1450"/>
                        </a:lnSpc>
                        <a:spcBef>
                          <a:spcPts val="100"/>
                        </a:spcBef>
                        <a:spcAft>
                          <a:spcPts val="300"/>
                        </a:spcAft>
                        <a:tabLst>
                          <a:tab pos="228600" algn="l"/>
                          <a:tab pos="274320" algn="l"/>
                          <a:tab pos="274320" algn="l"/>
                        </a:tabLst>
                      </a:pPr>
                      <a:r>
                        <a:rPr lang="en-US" sz="1400" kern="1100" dirty="0">
                          <a:effectLst/>
                        </a:rPr>
                        <a:t>Detect the fault:</a:t>
                      </a:r>
                    </a:p>
                    <a:p>
                      <a:pPr marL="342900" marR="0" lvl="0" indent="-342900">
                        <a:lnSpc>
                          <a:spcPts val="1450"/>
                        </a:lnSpc>
                        <a:spcBef>
                          <a:spcPts val="100"/>
                        </a:spcBef>
                        <a:spcAft>
                          <a:spcPts val="300"/>
                        </a:spcAft>
                        <a:buSzPts val="800"/>
                        <a:buFont typeface="Symbol"/>
                        <a:buChar char=""/>
                        <a:tabLst>
                          <a:tab pos="228600" algn="l"/>
                          <a:tab pos="274320" algn="l"/>
                        </a:tabLst>
                      </a:pPr>
                      <a:r>
                        <a:rPr lang="en-US" sz="1400" kern="1100" dirty="0">
                          <a:effectLst/>
                        </a:rPr>
                        <a:t> log the fault</a:t>
                      </a:r>
                    </a:p>
                    <a:p>
                      <a:pPr marL="342900" marR="0" lvl="0" indent="-342900">
                        <a:lnSpc>
                          <a:spcPts val="1450"/>
                        </a:lnSpc>
                        <a:spcBef>
                          <a:spcPts val="100"/>
                        </a:spcBef>
                        <a:spcAft>
                          <a:spcPts val="300"/>
                        </a:spcAft>
                        <a:buSzPts val="800"/>
                        <a:buFont typeface="Symbol"/>
                        <a:buChar char=""/>
                        <a:tabLst>
                          <a:tab pos="228600" algn="l"/>
                          <a:tab pos="274320" algn="l"/>
                        </a:tabLst>
                      </a:pPr>
                      <a:r>
                        <a:rPr lang="en-US" sz="1400" kern="1100" dirty="0">
                          <a:effectLst/>
                        </a:rPr>
                        <a:t> notify appropriate entities (people or systems)</a:t>
                      </a:r>
                    </a:p>
                    <a:p>
                      <a:pPr marL="0" marR="0" indent="0">
                        <a:lnSpc>
                          <a:spcPts val="1450"/>
                        </a:lnSpc>
                        <a:spcBef>
                          <a:spcPts val="100"/>
                        </a:spcBef>
                        <a:spcAft>
                          <a:spcPts val="300"/>
                        </a:spcAft>
                        <a:tabLst>
                          <a:tab pos="228600" algn="l"/>
                          <a:tab pos="274320" algn="l"/>
                          <a:tab pos="274320" algn="l"/>
                        </a:tabLst>
                      </a:pPr>
                      <a:r>
                        <a:rPr lang="en-US" sz="1400" kern="1100" dirty="0">
                          <a:effectLst/>
                        </a:rPr>
                        <a:t>Recover from the fault</a:t>
                      </a:r>
                    </a:p>
                    <a:p>
                      <a:pPr marL="342900" marR="0" lvl="0" indent="-342900">
                        <a:lnSpc>
                          <a:spcPts val="1450"/>
                        </a:lnSpc>
                        <a:spcBef>
                          <a:spcPts val="100"/>
                        </a:spcBef>
                        <a:spcAft>
                          <a:spcPts val="300"/>
                        </a:spcAft>
                        <a:buSzPts val="800"/>
                        <a:buFont typeface="Symbol"/>
                        <a:buChar char=""/>
                        <a:tabLst>
                          <a:tab pos="228600" algn="l"/>
                          <a:tab pos="274320" algn="l"/>
                        </a:tabLst>
                      </a:pPr>
                      <a:r>
                        <a:rPr lang="en-US" sz="1400" kern="1100" dirty="0">
                          <a:effectLst/>
                        </a:rPr>
                        <a:t> disable source of events causing the fault</a:t>
                      </a:r>
                    </a:p>
                    <a:p>
                      <a:pPr marL="342900" marR="0" lvl="0" indent="-342900">
                        <a:lnSpc>
                          <a:spcPts val="1450"/>
                        </a:lnSpc>
                        <a:spcBef>
                          <a:spcPts val="100"/>
                        </a:spcBef>
                        <a:spcAft>
                          <a:spcPts val="300"/>
                        </a:spcAft>
                        <a:buSzPts val="800"/>
                        <a:buFont typeface="Symbol"/>
                        <a:buChar char=""/>
                        <a:tabLst>
                          <a:tab pos="228600" algn="l"/>
                          <a:tab pos="274320" algn="l"/>
                        </a:tabLst>
                      </a:pPr>
                      <a:r>
                        <a:rPr lang="en-US" sz="1400" kern="1100" dirty="0">
                          <a:effectLst/>
                        </a:rPr>
                        <a:t> be temporarily unavailable while repair is being effected</a:t>
                      </a:r>
                    </a:p>
                    <a:p>
                      <a:pPr marL="342900" marR="0" lvl="0" indent="-342900">
                        <a:lnSpc>
                          <a:spcPts val="1450"/>
                        </a:lnSpc>
                        <a:spcBef>
                          <a:spcPts val="100"/>
                        </a:spcBef>
                        <a:spcAft>
                          <a:spcPts val="300"/>
                        </a:spcAft>
                        <a:buSzPts val="800"/>
                        <a:buFont typeface="Symbol"/>
                        <a:buChar char=""/>
                        <a:tabLst>
                          <a:tab pos="228600" algn="l"/>
                          <a:tab pos="274320" algn="l"/>
                        </a:tabLst>
                      </a:pPr>
                      <a:r>
                        <a:rPr lang="en-US" sz="1400" kern="1100" dirty="0">
                          <a:effectLst/>
                        </a:rPr>
                        <a:t> fix or mask the fault/failure or contain the damage it causes</a:t>
                      </a:r>
                    </a:p>
                    <a:p>
                      <a:pPr marL="342900" marR="0" lvl="0" indent="-342900">
                        <a:lnSpc>
                          <a:spcPts val="1450"/>
                        </a:lnSpc>
                        <a:spcBef>
                          <a:spcPts val="100"/>
                        </a:spcBef>
                        <a:spcAft>
                          <a:spcPts val="300"/>
                        </a:spcAft>
                        <a:buSzPts val="800"/>
                        <a:buFont typeface="Symbol"/>
                        <a:buChar char=""/>
                        <a:tabLst>
                          <a:tab pos="228600" algn="l"/>
                          <a:tab pos="274320" algn="l"/>
                        </a:tabLst>
                      </a:pPr>
                      <a:r>
                        <a:rPr lang="en-US" sz="1400" kern="1100" dirty="0">
                          <a:effectLst/>
                        </a:rPr>
                        <a:t> operate in a degraded mode while repair is being effected</a:t>
                      </a:r>
                      <a:endParaRPr lang="en-US" sz="1400" kern="1100" dirty="0">
                        <a:effectLst/>
                        <a:latin typeface="Times New Roman"/>
                        <a:ea typeface="Times New Roman"/>
                      </a:endParaRPr>
                    </a:p>
                  </a:txBody>
                  <a:tcPr marL="58684" marR="58684" marT="0" marB="0"/>
                </a:tc>
                <a:extLst>
                  <a:ext uri="{0D108BD9-81ED-4DB2-BD59-A6C34878D82A}">
                    <a16:rowId xmlns:a16="http://schemas.microsoft.com/office/drawing/2014/main" val="893075530"/>
                  </a:ext>
                </a:extLst>
              </a:tr>
              <a:tr h="370840">
                <a:tc>
                  <a:txBody>
                    <a:bodyPr/>
                    <a:lstStyle/>
                    <a:p>
                      <a:pPr marL="0" marR="0">
                        <a:lnSpc>
                          <a:spcPts val="1450"/>
                        </a:lnSpc>
                        <a:spcBef>
                          <a:spcPts val="400"/>
                        </a:spcBef>
                        <a:spcAft>
                          <a:spcPts val="400"/>
                        </a:spcAft>
                      </a:pPr>
                      <a:r>
                        <a:rPr lang="en-US" sz="1400">
                          <a:effectLst/>
                        </a:rPr>
                        <a:t>Response </a:t>
                      </a:r>
                      <a:br>
                        <a:rPr lang="en-US" sz="1400">
                          <a:effectLst/>
                        </a:rPr>
                      </a:br>
                      <a:r>
                        <a:rPr lang="en-US" sz="1400">
                          <a:effectLst/>
                        </a:rPr>
                        <a:t>Measure</a:t>
                      </a:r>
                      <a:endParaRPr lang="en-US" sz="1400">
                        <a:effectLst/>
                        <a:latin typeface="Times"/>
                        <a:ea typeface="Times New Roman"/>
                        <a:cs typeface="Times New Roman"/>
                      </a:endParaRPr>
                    </a:p>
                  </a:txBody>
                  <a:tcPr marL="58684" marR="58684" marT="0" marB="0"/>
                </a:tc>
                <a:tc>
                  <a:txBody>
                    <a:bodyPr/>
                    <a:lstStyle/>
                    <a:p>
                      <a:pPr marL="0" marR="0">
                        <a:lnSpc>
                          <a:spcPts val="1450"/>
                        </a:lnSpc>
                        <a:spcBef>
                          <a:spcPts val="400"/>
                        </a:spcBef>
                        <a:spcAft>
                          <a:spcPts val="0"/>
                        </a:spcAft>
                      </a:pPr>
                      <a:r>
                        <a:rPr lang="en-US" sz="1400" dirty="0">
                          <a:effectLst/>
                        </a:rPr>
                        <a:t>Time or time interval when the system must be available</a:t>
                      </a:r>
                    </a:p>
                    <a:p>
                      <a:pPr marL="0" marR="0">
                        <a:lnSpc>
                          <a:spcPts val="1450"/>
                        </a:lnSpc>
                        <a:spcBef>
                          <a:spcPts val="400"/>
                        </a:spcBef>
                        <a:spcAft>
                          <a:spcPts val="0"/>
                        </a:spcAft>
                      </a:pPr>
                      <a:r>
                        <a:rPr lang="en-US" sz="1400" dirty="0">
                          <a:effectLst/>
                        </a:rPr>
                        <a:t>Availability percentage (e.g. 99.999%)</a:t>
                      </a:r>
                    </a:p>
                    <a:p>
                      <a:pPr marL="0" marR="0">
                        <a:lnSpc>
                          <a:spcPts val="1450"/>
                        </a:lnSpc>
                        <a:spcBef>
                          <a:spcPts val="400"/>
                        </a:spcBef>
                        <a:spcAft>
                          <a:spcPts val="0"/>
                        </a:spcAft>
                      </a:pPr>
                      <a:r>
                        <a:rPr lang="en-US" sz="1400" dirty="0">
                          <a:effectLst/>
                        </a:rPr>
                        <a:t>Time to detect the fault</a:t>
                      </a:r>
                    </a:p>
                    <a:p>
                      <a:pPr marL="0" marR="0">
                        <a:lnSpc>
                          <a:spcPts val="1450"/>
                        </a:lnSpc>
                        <a:spcBef>
                          <a:spcPts val="400"/>
                        </a:spcBef>
                        <a:spcAft>
                          <a:spcPts val="0"/>
                        </a:spcAft>
                      </a:pPr>
                      <a:r>
                        <a:rPr lang="en-US" sz="1400" dirty="0">
                          <a:effectLst/>
                        </a:rPr>
                        <a:t>Time to repair the fault</a:t>
                      </a:r>
                    </a:p>
                    <a:p>
                      <a:pPr marL="0" marR="0">
                        <a:lnSpc>
                          <a:spcPts val="1450"/>
                        </a:lnSpc>
                        <a:spcBef>
                          <a:spcPts val="400"/>
                        </a:spcBef>
                        <a:spcAft>
                          <a:spcPts val="0"/>
                        </a:spcAft>
                      </a:pPr>
                      <a:r>
                        <a:rPr lang="en-US" sz="1400" dirty="0">
                          <a:effectLst/>
                        </a:rPr>
                        <a:t>Time or time interval in which system can be in degraded mode</a:t>
                      </a:r>
                    </a:p>
                    <a:p>
                      <a:pPr marL="0" marR="0">
                        <a:lnSpc>
                          <a:spcPts val="1450"/>
                        </a:lnSpc>
                        <a:spcBef>
                          <a:spcPts val="400"/>
                        </a:spcBef>
                        <a:spcAft>
                          <a:spcPts val="400"/>
                        </a:spcAft>
                      </a:pPr>
                      <a:r>
                        <a:rPr lang="en-US" sz="1400" dirty="0">
                          <a:effectLst/>
                        </a:rPr>
                        <a:t>Proportion (e.g., 99%) or rate (e.g., up to 100 per second) of a certain class of faults that the system prevents, or handles without failing</a:t>
                      </a:r>
                      <a:endParaRPr lang="en-US" sz="1400" dirty="0">
                        <a:effectLst/>
                        <a:latin typeface="Times"/>
                        <a:ea typeface="Times New Roman"/>
                        <a:cs typeface="Times New Roman"/>
                      </a:endParaRPr>
                    </a:p>
                  </a:txBody>
                  <a:tcPr marL="58684" marR="58684" marT="0" marB="0"/>
                </a:tc>
                <a:extLst>
                  <a:ext uri="{0D108BD9-81ED-4DB2-BD59-A6C34878D82A}">
                    <a16:rowId xmlns:a16="http://schemas.microsoft.com/office/drawing/2014/main" val="2236785438"/>
                  </a:ext>
                </a:extLst>
              </a:tr>
            </a:tbl>
          </a:graphicData>
        </a:graphic>
      </p:graphicFrame>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8" name="Title 1">
            <a:extLst>
              <a:ext uri="{FF2B5EF4-FFF2-40B4-BE49-F238E27FC236}">
                <a16:creationId xmlns:a16="http://schemas.microsoft.com/office/drawing/2014/main" id="{5CCFCC8C-1DDC-42EE-82E5-98F7FC0289CB}"/>
              </a:ext>
            </a:extLst>
          </p:cNvPr>
          <p:cNvSpPr>
            <a:spLocks noGrp="1"/>
          </p:cNvSpPr>
          <p:nvPr>
            <p:ph sz="quarter" idx="10"/>
          </p:nvPr>
        </p:nvSpPr>
        <p:spPr/>
        <p:txBody>
          <a:bodyPr/>
          <a:lstStyle/>
          <a:p>
            <a:r>
              <a:rPr lang="en-US" dirty="0"/>
              <a:t>Availability General Scenario</a:t>
            </a:r>
          </a:p>
        </p:txBody>
      </p:sp>
      <p:sp>
        <p:nvSpPr>
          <p:cNvPr id="2" name="Date Placeholder 1">
            <a:extLst>
              <a:ext uri="{FF2B5EF4-FFF2-40B4-BE49-F238E27FC236}">
                <a16:creationId xmlns:a16="http://schemas.microsoft.com/office/drawing/2014/main" id="{80D7CE66-9C91-4CEC-9239-260C220F62D9}"/>
              </a:ext>
            </a:extLst>
          </p:cNvPr>
          <p:cNvSpPr>
            <a:spLocks noGrp="1"/>
          </p:cNvSpPr>
          <p:nvPr>
            <p:ph type="dt" sz="half" idx="12"/>
          </p:nvPr>
        </p:nvSpPr>
        <p:spPr/>
        <p:txBody>
          <a:bodyPr/>
          <a:lstStyle/>
          <a:p>
            <a:r>
              <a:rPr lang="en-US"/>
              <a:t>Auguts 1, 2026</a:t>
            </a:r>
          </a:p>
        </p:txBody>
      </p:sp>
      <p:sp>
        <p:nvSpPr>
          <p:cNvPr id="3" name="Slide Number Placeholder 2">
            <a:extLst>
              <a:ext uri="{FF2B5EF4-FFF2-40B4-BE49-F238E27FC236}">
                <a16:creationId xmlns:a16="http://schemas.microsoft.com/office/drawing/2014/main" id="{AD4851A6-BF8A-44F3-9A98-73FBCA962192}"/>
              </a:ext>
            </a:extLst>
          </p:cNvPr>
          <p:cNvSpPr>
            <a:spLocks noGrp="1"/>
          </p:cNvSpPr>
          <p:nvPr>
            <p:ph type="sldNum" sz="quarter" idx="14"/>
          </p:nvPr>
        </p:nvSpPr>
        <p:spPr/>
        <p:txBody>
          <a:bodyPr/>
          <a:lstStyle/>
          <a:p>
            <a:fld id="{BC8D7E44-7D4F-4942-A8C9-2DF6BF8399E8}" type="slidenum">
              <a:rPr lang="en-US" smtClean="0"/>
              <a:pPr/>
              <a:t>31</a:t>
            </a:fld>
            <a:endParaRPr lang="en-US" dirty="0"/>
          </a:p>
        </p:txBody>
      </p:sp>
    </p:spTree>
    <p:extLst>
      <p:ext uri="{BB962C8B-B14F-4D97-AF65-F5344CB8AC3E}">
        <p14:creationId xmlns:p14="http://schemas.microsoft.com/office/powerpoint/2010/main" val="38002294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The heartbeat monitor determines that the server is nonresponsive during normal operations. The system informs the operator and continues to operate with no downtime. </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a:extLst>
              <a:ext uri="{FF2B5EF4-FFF2-40B4-BE49-F238E27FC236}">
                <a16:creationId xmlns:a16="http://schemas.microsoft.com/office/drawing/2014/main" id="{25580FB0-5666-4650-933C-D958BC64A99C}"/>
              </a:ext>
            </a:extLst>
          </p:cNvPr>
          <p:cNvSpPr>
            <a:spLocks noGrp="1"/>
          </p:cNvSpPr>
          <p:nvPr>
            <p:ph sz="quarter" idx="10"/>
          </p:nvPr>
        </p:nvSpPr>
        <p:spPr/>
        <p:txBody>
          <a:bodyPr>
            <a:normAutofit fontScale="97500"/>
          </a:bodyPr>
          <a:lstStyle/>
          <a:p>
            <a:r>
              <a:rPr lang="en-US" dirty="0"/>
              <a:t>Sample Concrete Availability Scenario</a:t>
            </a:r>
          </a:p>
        </p:txBody>
      </p:sp>
      <p:sp>
        <p:nvSpPr>
          <p:cNvPr id="2" name="Date Placeholder 1">
            <a:extLst>
              <a:ext uri="{FF2B5EF4-FFF2-40B4-BE49-F238E27FC236}">
                <a16:creationId xmlns:a16="http://schemas.microsoft.com/office/drawing/2014/main" id="{8524DCE1-BBD1-451E-9A8D-D23E57C402D3}"/>
              </a:ext>
            </a:extLst>
          </p:cNvPr>
          <p:cNvSpPr>
            <a:spLocks noGrp="1"/>
          </p:cNvSpPr>
          <p:nvPr>
            <p:ph type="dt" sz="half" idx="12"/>
          </p:nvPr>
        </p:nvSpPr>
        <p:spPr/>
        <p:txBody>
          <a:bodyPr/>
          <a:lstStyle/>
          <a:p>
            <a:r>
              <a:rPr lang="en-US"/>
              <a:t>Auguts 1, 2026</a:t>
            </a:r>
          </a:p>
        </p:txBody>
      </p:sp>
      <p:sp>
        <p:nvSpPr>
          <p:cNvPr id="5" name="Slide Number Placeholder 4">
            <a:extLst>
              <a:ext uri="{FF2B5EF4-FFF2-40B4-BE49-F238E27FC236}">
                <a16:creationId xmlns:a16="http://schemas.microsoft.com/office/drawing/2014/main" id="{1A8BE52C-64A4-463E-9B79-C93B5AB5071B}"/>
              </a:ext>
            </a:extLst>
          </p:cNvPr>
          <p:cNvSpPr>
            <a:spLocks noGrp="1"/>
          </p:cNvSpPr>
          <p:nvPr>
            <p:ph type="sldNum" sz="quarter" idx="14"/>
          </p:nvPr>
        </p:nvSpPr>
        <p:spPr/>
        <p:txBody>
          <a:bodyPr/>
          <a:lstStyle/>
          <a:p>
            <a:fld id="{BC8D7E44-7D4F-4942-A8C9-2DF6BF8399E8}" type="slidenum">
              <a:rPr lang="en-US" smtClean="0"/>
              <a:pPr/>
              <a:t>32</a:t>
            </a:fld>
            <a:endParaRPr lang="en-US" dirty="0"/>
          </a:p>
        </p:txBody>
      </p:sp>
    </p:spTree>
    <p:extLst>
      <p:ext uri="{BB962C8B-B14F-4D97-AF65-F5344CB8AC3E}">
        <p14:creationId xmlns:p14="http://schemas.microsoft.com/office/powerpoint/2010/main" val="147038454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anose="020B0604020202020204" pitchFamily="34" charset="0"/>
              <a:buChar char="•"/>
            </a:pPr>
            <a:r>
              <a:rPr lang="en-US" dirty="0"/>
              <a:t>A failure occurs when the system no longer delivers a service consistent with its specification</a:t>
            </a:r>
          </a:p>
          <a:p>
            <a:pPr lvl="1"/>
            <a:r>
              <a:rPr lang="en-US" dirty="0"/>
              <a:t>this failure is observable by the system’s actors. </a:t>
            </a:r>
          </a:p>
          <a:p>
            <a:pPr>
              <a:buFont typeface="Arial" panose="020B0604020202020204" pitchFamily="34" charset="0"/>
              <a:buChar char="•"/>
            </a:pPr>
            <a:r>
              <a:rPr lang="en-US" dirty="0"/>
              <a:t>A fault (or combination of faults) has the potential to cause a failure. </a:t>
            </a:r>
          </a:p>
          <a:p>
            <a:pPr>
              <a:buFont typeface="Arial" panose="020B0604020202020204" pitchFamily="34" charset="0"/>
              <a:buChar char="•"/>
            </a:pPr>
            <a:r>
              <a:rPr lang="en-US" dirty="0"/>
              <a:t>Availability tactics enable a system to endure faults so that services remain compliant with their specifications. </a:t>
            </a:r>
          </a:p>
          <a:p>
            <a:pPr>
              <a:buFont typeface="Arial" panose="020B0604020202020204" pitchFamily="34" charset="0"/>
              <a:buChar char="•"/>
            </a:pPr>
            <a:r>
              <a:rPr lang="en-US" dirty="0"/>
              <a:t>The tactics keep faults from becoming failures or at least bound the effects of the fault and make repair possible. </a:t>
            </a:r>
          </a:p>
          <a:p>
            <a:pPr>
              <a:buFont typeface="Arial" panose="020B0604020202020204" pitchFamily="34" charset="0"/>
              <a:buChar char="•"/>
            </a:pPr>
            <a:endParaRPr lang="en-US"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8" name="Title 1">
            <a:extLst>
              <a:ext uri="{FF2B5EF4-FFF2-40B4-BE49-F238E27FC236}">
                <a16:creationId xmlns:a16="http://schemas.microsoft.com/office/drawing/2014/main" id="{8A273A7C-8C60-4978-BD5B-39F6CCB97041}"/>
              </a:ext>
            </a:extLst>
          </p:cNvPr>
          <p:cNvSpPr>
            <a:spLocks noGrp="1"/>
          </p:cNvSpPr>
          <p:nvPr>
            <p:ph sz="quarter" idx="10"/>
          </p:nvPr>
        </p:nvSpPr>
        <p:spPr/>
        <p:txBody>
          <a:bodyPr/>
          <a:lstStyle/>
          <a:p>
            <a:r>
              <a:rPr lang="en-US" dirty="0"/>
              <a:t>Goal of Availability Tactics</a:t>
            </a:r>
          </a:p>
        </p:txBody>
      </p:sp>
      <p:sp>
        <p:nvSpPr>
          <p:cNvPr id="2" name="Date Placeholder 1">
            <a:extLst>
              <a:ext uri="{FF2B5EF4-FFF2-40B4-BE49-F238E27FC236}">
                <a16:creationId xmlns:a16="http://schemas.microsoft.com/office/drawing/2014/main" id="{6517CB8A-B787-4AEF-8FC2-93556B6A0B1F}"/>
              </a:ext>
            </a:extLst>
          </p:cNvPr>
          <p:cNvSpPr>
            <a:spLocks noGrp="1"/>
          </p:cNvSpPr>
          <p:nvPr>
            <p:ph type="dt" sz="half" idx="12"/>
          </p:nvPr>
        </p:nvSpPr>
        <p:spPr/>
        <p:txBody>
          <a:bodyPr/>
          <a:lstStyle/>
          <a:p>
            <a:r>
              <a:rPr lang="en-US"/>
              <a:t>Auguts 1, 2026</a:t>
            </a:r>
          </a:p>
        </p:txBody>
      </p:sp>
      <p:sp>
        <p:nvSpPr>
          <p:cNvPr id="5" name="Slide Number Placeholder 4">
            <a:extLst>
              <a:ext uri="{FF2B5EF4-FFF2-40B4-BE49-F238E27FC236}">
                <a16:creationId xmlns:a16="http://schemas.microsoft.com/office/drawing/2014/main" id="{6409BAA1-F0BF-4CB3-97AF-F570A6CA4FDB}"/>
              </a:ext>
            </a:extLst>
          </p:cNvPr>
          <p:cNvSpPr>
            <a:spLocks noGrp="1"/>
          </p:cNvSpPr>
          <p:nvPr>
            <p:ph type="sldNum" sz="quarter" idx="14"/>
          </p:nvPr>
        </p:nvSpPr>
        <p:spPr/>
        <p:txBody>
          <a:bodyPr/>
          <a:lstStyle/>
          <a:p>
            <a:fld id="{BC8D7E44-7D4F-4942-A8C9-2DF6BF8399E8}" type="slidenum">
              <a:rPr lang="en-US" smtClean="0"/>
              <a:pPr/>
              <a:t>33</a:t>
            </a:fld>
            <a:endParaRPr lang="en-US" dirty="0"/>
          </a:p>
        </p:txBody>
      </p:sp>
    </p:spTree>
    <p:extLst>
      <p:ext uri="{BB962C8B-B14F-4D97-AF65-F5344CB8AC3E}">
        <p14:creationId xmlns:p14="http://schemas.microsoft.com/office/powerpoint/2010/main" val="37783585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1A93594-4DC6-4E84-842C-2B4FF7C89B26}"/>
              </a:ext>
            </a:extLst>
          </p:cNvPr>
          <p:cNvSpPr>
            <a:spLocks noGrp="1"/>
          </p:cNvSpPr>
          <p:nvPr>
            <p:ph idx="1"/>
          </p:nvPr>
        </p:nvSpPr>
        <p:spPr/>
        <p:txBody>
          <a:bodyPr/>
          <a:lstStyle/>
          <a:p>
            <a:endParaRPr lang="en-IN"/>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pic>
        <p:nvPicPr>
          <p:cNvPr id="6" name="Picture 5"/>
          <p:cNvPicPr>
            <a:picLocks noChangeAspect="1"/>
          </p:cNvPicPr>
          <p:nvPr/>
        </p:nvPicPr>
        <p:blipFill rotWithShape="1">
          <a:blip r:embed="rId2" cstate="print"/>
          <a:srcRect l="21697" t="39182" r="22295" b="38011"/>
          <a:stretch/>
        </p:blipFill>
        <p:spPr>
          <a:xfrm>
            <a:off x="1691680" y="2060848"/>
            <a:ext cx="5677698" cy="2880320"/>
          </a:xfrm>
          <a:prstGeom prst="rect">
            <a:avLst/>
          </a:prstGeom>
        </p:spPr>
      </p:pic>
      <p:sp>
        <p:nvSpPr>
          <p:cNvPr id="8" name="Title 1">
            <a:extLst>
              <a:ext uri="{FF2B5EF4-FFF2-40B4-BE49-F238E27FC236}">
                <a16:creationId xmlns:a16="http://schemas.microsoft.com/office/drawing/2014/main" id="{70F212A6-3C4A-4539-B705-1C1799AA21BD}"/>
              </a:ext>
            </a:extLst>
          </p:cNvPr>
          <p:cNvSpPr>
            <a:spLocks noGrp="1"/>
          </p:cNvSpPr>
          <p:nvPr>
            <p:ph sz="quarter" idx="10"/>
          </p:nvPr>
        </p:nvSpPr>
        <p:spPr/>
        <p:txBody>
          <a:bodyPr/>
          <a:lstStyle/>
          <a:p>
            <a:r>
              <a:rPr lang="en-US" dirty="0"/>
              <a:t>Goal of Availability Tactics</a:t>
            </a:r>
          </a:p>
        </p:txBody>
      </p:sp>
      <p:sp>
        <p:nvSpPr>
          <p:cNvPr id="2" name="Date Placeholder 1">
            <a:extLst>
              <a:ext uri="{FF2B5EF4-FFF2-40B4-BE49-F238E27FC236}">
                <a16:creationId xmlns:a16="http://schemas.microsoft.com/office/drawing/2014/main" id="{1937E3A0-95C4-4895-809D-2CEAB2F5D21B}"/>
              </a:ext>
            </a:extLst>
          </p:cNvPr>
          <p:cNvSpPr>
            <a:spLocks noGrp="1"/>
          </p:cNvSpPr>
          <p:nvPr>
            <p:ph type="dt" sz="half" idx="12"/>
          </p:nvPr>
        </p:nvSpPr>
        <p:spPr/>
        <p:txBody>
          <a:bodyPr/>
          <a:lstStyle/>
          <a:p>
            <a:r>
              <a:rPr lang="en-US"/>
              <a:t>Auguts 1, 2026</a:t>
            </a:r>
          </a:p>
        </p:txBody>
      </p:sp>
      <p:sp>
        <p:nvSpPr>
          <p:cNvPr id="5" name="Slide Number Placeholder 4">
            <a:extLst>
              <a:ext uri="{FF2B5EF4-FFF2-40B4-BE49-F238E27FC236}">
                <a16:creationId xmlns:a16="http://schemas.microsoft.com/office/drawing/2014/main" id="{C255109A-BA7E-407F-BF87-C767EEFE984E}"/>
              </a:ext>
            </a:extLst>
          </p:cNvPr>
          <p:cNvSpPr>
            <a:spLocks noGrp="1"/>
          </p:cNvSpPr>
          <p:nvPr>
            <p:ph type="sldNum" sz="quarter" idx="14"/>
          </p:nvPr>
        </p:nvSpPr>
        <p:spPr/>
        <p:txBody>
          <a:bodyPr/>
          <a:lstStyle/>
          <a:p>
            <a:fld id="{BC8D7E44-7D4F-4942-A8C9-2DF6BF8399E8}" type="slidenum">
              <a:rPr lang="en-US" smtClean="0"/>
              <a:pPr/>
              <a:t>34</a:t>
            </a:fld>
            <a:endParaRPr lang="en-US" dirty="0"/>
          </a:p>
        </p:txBody>
      </p:sp>
    </p:spTree>
    <p:extLst>
      <p:ext uri="{BB962C8B-B14F-4D97-AF65-F5344CB8AC3E}">
        <p14:creationId xmlns:p14="http://schemas.microsoft.com/office/powerpoint/2010/main" val="204298823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8" name="Title 1">
            <a:extLst>
              <a:ext uri="{FF2B5EF4-FFF2-40B4-BE49-F238E27FC236}">
                <a16:creationId xmlns:a16="http://schemas.microsoft.com/office/drawing/2014/main" id="{83A03C63-7381-4B1E-83B1-E2A587C86990}"/>
              </a:ext>
            </a:extLst>
          </p:cNvPr>
          <p:cNvSpPr>
            <a:spLocks noGrp="1"/>
          </p:cNvSpPr>
          <p:nvPr>
            <p:ph sz="quarter" idx="10"/>
          </p:nvPr>
        </p:nvSpPr>
        <p:spPr/>
        <p:txBody>
          <a:bodyPr>
            <a:normAutofit/>
          </a:bodyPr>
          <a:lstStyle/>
          <a:p>
            <a:r>
              <a:rPr lang="en-US" dirty="0"/>
              <a:t>Availability Tactics</a:t>
            </a:r>
          </a:p>
        </p:txBody>
      </p:sp>
      <p:pic>
        <p:nvPicPr>
          <p:cNvPr id="9" name="Content Placeholder 8">
            <a:extLst>
              <a:ext uri="{FF2B5EF4-FFF2-40B4-BE49-F238E27FC236}">
                <a16:creationId xmlns:a16="http://schemas.microsoft.com/office/drawing/2014/main" id="{23EB8310-FEEF-43F4-9783-28F0ADEFC53E}"/>
              </a:ext>
            </a:extLst>
          </p:cNvPr>
          <p:cNvPicPr>
            <a:picLocks noGrp="1" noChangeAspect="1"/>
          </p:cNvPicPr>
          <p:nvPr>
            <p:ph idx="1"/>
          </p:nvPr>
        </p:nvPicPr>
        <p:blipFill>
          <a:blip r:embed="rId2" cstate="print"/>
          <a:stretch>
            <a:fillRect/>
          </a:stretch>
        </p:blipFill>
        <p:spPr>
          <a:xfrm>
            <a:off x="1371600" y="1493838"/>
            <a:ext cx="6324600" cy="5973762"/>
          </a:xfrm>
          <a:prstGeom prst="rect">
            <a:avLst/>
          </a:prstGeom>
        </p:spPr>
      </p:pic>
      <p:sp>
        <p:nvSpPr>
          <p:cNvPr id="2" name="Date Placeholder 1">
            <a:extLst>
              <a:ext uri="{FF2B5EF4-FFF2-40B4-BE49-F238E27FC236}">
                <a16:creationId xmlns:a16="http://schemas.microsoft.com/office/drawing/2014/main" id="{F02FCF78-30E6-44B7-829A-9AC7C24A737E}"/>
              </a:ext>
            </a:extLst>
          </p:cNvPr>
          <p:cNvSpPr>
            <a:spLocks noGrp="1"/>
          </p:cNvSpPr>
          <p:nvPr>
            <p:ph type="dt" sz="half" idx="12"/>
          </p:nvPr>
        </p:nvSpPr>
        <p:spPr/>
        <p:txBody>
          <a:bodyPr/>
          <a:lstStyle/>
          <a:p>
            <a:r>
              <a:rPr lang="en-US"/>
              <a:t>Auguts 1, 2026</a:t>
            </a:r>
          </a:p>
        </p:txBody>
      </p:sp>
      <p:sp>
        <p:nvSpPr>
          <p:cNvPr id="3" name="Slide Number Placeholder 2">
            <a:extLst>
              <a:ext uri="{FF2B5EF4-FFF2-40B4-BE49-F238E27FC236}">
                <a16:creationId xmlns:a16="http://schemas.microsoft.com/office/drawing/2014/main" id="{C04988D7-322A-4E3F-A88F-05F537F0535D}"/>
              </a:ext>
            </a:extLst>
          </p:cNvPr>
          <p:cNvSpPr>
            <a:spLocks noGrp="1"/>
          </p:cNvSpPr>
          <p:nvPr>
            <p:ph type="sldNum" sz="quarter" idx="14"/>
          </p:nvPr>
        </p:nvSpPr>
        <p:spPr/>
        <p:txBody>
          <a:bodyPr/>
          <a:lstStyle/>
          <a:p>
            <a:fld id="{BC8D7E44-7D4F-4942-A8C9-2DF6BF8399E8}" type="slidenum">
              <a:rPr lang="en-US" smtClean="0"/>
              <a:pPr/>
              <a:t>35</a:t>
            </a:fld>
            <a:endParaRPr lang="en-US" dirty="0"/>
          </a:p>
        </p:txBody>
      </p:sp>
    </p:spTree>
    <p:extLst>
      <p:ext uri="{BB962C8B-B14F-4D97-AF65-F5344CB8AC3E}">
        <p14:creationId xmlns:p14="http://schemas.microsoft.com/office/powerpoint/2010/main" val="426692803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anose="020B0604020202020204" pitchFamily="34" charset="0"/>
              <a:buChar char="•"/>
            </a:pPr>
            <a:r>
              <a:rPr lang="en-US" dirty="0"/>
              <a:t>Ping/echo: asynchronous request/response message pair exchanged between nodes, used to determine reachability and the round-trip delay through the associated network path. </a:t>
            </a:r>
          </a:p>
          <a:p>
            <a:pPr>
              <a:buFont typeface="Arial" panose="020B0604020202020204" pitchFamily="34" charset="0"/>
              <a:buChar char="•"/>
            </a:pPr>
            <a:r>
              <a:rPr lang="en-US" dirty="0"/>
              <a:t>Monitor: a component used to monitor the state of health of other parts of the system. A system monitor can detect failure or congestion in the network or other shared resources, such as from a denial-of-service attack. </a:t>
            </a:r>
          </a:p>
          <a:p>
            <a:pPr>
              <a:buFont typeface="Arial" panose="020B0604020202020204" pitchFamily="34" charset="0"/>
              <a:buChar char="•"/>
            </a:pPr>
            <a:r>
              <a:rPr lang="en-US" dirty="0"/>
              <a:t>Heartbeat: a periodic message exchange between a system monitor and a process being monitored.</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a:extLst>
              <a:ext uri="{FF2B5EF4-FFF2-40B4-BE49-F238E27FC236}">
                <a16:creationId xmlns:a16="http://schemas.microsoft.com/office/drawing/2014/main" id="{912EB86B-400B-4451-ABEF-BF694322EB78}"/>
              </a:ext>
            </a:extLst>
          </p:cNvPr>
          <p:cNvSpPr>
            <a:spLocks noGrp="1"/>
          </p:cNvSpPr>
          <p:nvPr>
            <p:ph sz="quarter" idx="10"/>
          </p:nvPr>
        </p:nvSpPr>
        <p:spPr/>
        <p:txBody>
          <a:bodyPr>
            <a:normAutofit/>
          </a:bodyPr>
          <a:lstStyle/>
          <a:p>
            <a:r>
              <a:rPr lang="en-US" dirty="0"/>
              <a:t>Detect Faults</a:t>
            </a:r>
          </a:p>
        </p:txBody>
      </p:sp>
      <p:sp>
        <p:nvSpPr>
          <p:cNvPr id="2" name="Date Placeholder 1">
            <a:extLst>
              <a:ext uri="{FF2B5EF4-FFF2-40B4-BE49-F238E27FC236}">
                <a16:creationId xmlns:a16="http://schemas.microsoft.com/office/drawing/2014/main" id="{2B5FEC2C-240F-4326-BFDE-8B9E48056135}"/>
              </a:ext>
            </a:extLst>
          </p:cNvPr>
          <p:cNvSpPr>
            <a:spLocks noGrp="1"/>
          </p:cNvSpPr>
          <p:nvPr>
            <p:ph type="dt" sz="half" idx="12"/>
          </p:nvPr>
        </p:nvSpPr>
        <p:spPr/>
        <p:txBody>
          <a:bodyPr/>
          <a:lstStyle/>
          <a:p>
            <a:r>
              <a:rPr lang="en-US"/>
              <a:t>Auguts 1, 2026</a:t>
            </a:r>
          </a:p>
        </p:txBody>
      </p:sp>
      <p:sp>
        <p:nvSpPr>
          <p:cNvPr id="5" name="Slide Number Placeholder 4">
            <a:extLst>
              <a:ext uri="{FF2B5EF4-FFF2-40B4-BE49-F238E27FC236}">
                <a16:creationId xmlns:a16="http://schemas.microsoft.com/office/drawing/2014/main" id="{EBEA2126-A32A-4187-80A8-74CBA36D4362}"/>
              </a:ext>
            </a:extLst>
          </p:cNvPr>
          <p:cNvSpPr>
            <a:spLocks noGrp="1"/>
          </p:cNvSpPr>
          <p:nvPr>
            <p:ph type="sldNum" sz="quarter" idx="14"/>
          </p:nvPr>
        </p:nvSpPr>
        <p:spPr/>
        <p:txBody>
          <a:bodyPr/>
          <a:lstStyle/>
          <a:p>
            <a:fld id="{BC8D7E44-7D4F-4942-A8C9-2DF6BF8399E8}" type="slidenum">
              <a:rPr lang="en-US" smtClean="0"/>
              <a:pPr/>
              <a:t>36</a:t>
            </a:fld>
            <a:endParaRPr lang="en-US" dirty="0"/>
          </a:p>
        </p:txBody>
      </p:sp>
    </p:spTree>
    <p:extLst>
      <p:ext uri="{BB962C8B-B14F-4D97-AF65-F5344CB8AC3E}">
        <p14:creationId xmlns:p14="http://schemas.microsoft.com/office/powerpoint/2010/main" val="171142916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anose="020B0604020202020204" pitchFamily="34" charset="0"/>
              <a:buChar char="•"/>
            </a:pPr>
            <a:r>
              <a:rPr lang="en-US" dirty="0"/>
              <a:t>Timestamp: used to detect incorrect sequences of events, primarily in distributed message-passing systems. </a:t>
            </a:r>
          </a:p>
          <a:p>
            <a:pPr>
              <a:buFont typeface="Arial" panose="020B0604020202020204" pitchFamily="34" charset="0"/>
              <a:buChar char="•"/>
            </a:pPr>
            <a:r>
              <a:rPr lang="en-US" dirty="0"/>
              <a:t>Sanity Checking: checks the validity or reasonableness of a component’s operations or outputs; typically based on a knowledge of the internal design, the state of the system, or the nature of the information under scrutiny. </a:t>
            </a:r>
          </a:p>
          <a:p>
            <a:pPr>
              <a:buFont typeface="Arial" panose="020B0604020202020204" pitchFamily="34" charset="0"/>
              <a:buChar char="•"/>
            </a:pPr>
            <a:r>
              <a:rPr lang="en-US" dirty="0"/>
              <a:t>Condition Monitoring: checking conditions in a process or device, or validating assumptions made during the design.</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a:extLst>
              <a:ext uri="{FF2B5EF4-FFF2-40B4-BE49-F238E27FC236}">
                <a16:creationId xmlns:a16="http://schemas.microsoft.com/office/drawing/2014/main" id="{5660129A-E076-45EE-A3B3-0D5C919DD6D3}"/>
              </a:ext>
            </a:extLst>
          </p:cNvPr>
          <p:cNvSpPr>
            <a:spLocks noGrp="1"/>
          </p:cNvSpPr>
          <p:nvPr>
            <p:ph sz="quarter" idx="10"/>
          </p:nvPr>
        </p:nvSpPr>
        <p:spPr/>
        <p:txBody>
          <a:bodyPr>
            <a:normAutofit/>
          </a:bodyPr>
          <a:lstStyle/>
          <a:p>
            <a:r>
              <a:rPr lang="en-US" dirty="0"/>
              <a:t>Detect Faults</a:t>
            </a:r>
          </a:p>
        </p:txBody>
      </p:sp>
      <p:sp>
        <p:nvSpPr>
          <p:cNvPr id="2" name="Date Placeholder 1">
            <a:extLst>
              <a:ext uri="{FF2B5EF4-FFF2-40B4-BE49-F238E27FC236}">
                <a16:creationId xmlns:a16="http://schemas.microsoft.com/office/drawing/2014/main" id="{E47E9AC8-3B30-4205-9B88-6525B7CC5224}"/>
              </a:ext>
            </a:extLst>
          </p:cNvPr>
          <p:cNvSpPr>
            <a:spLocks noGrp="1"/>
          </p:cNvSpPr>
          <p:nvPr>
            <p:ph type="dt" sz="half" idx="12"/>
          </p:nvPr>
        </p:nvSpPr>
        <p:spPr/>
        <p:txBody>
          <a:bodyPr/>
          <a:lstStyle/>
          <a:p>
            <a:r>
              <a:rPr lang="en-US"/>
              <a:t>Auguts 1, 2026</a:t>
            </a:r>
          </a:p>
        </p:txBody>
      </p:sp>
      <p:sp>
        <p:nvSpPr>
          <p:cNvPr id="5" name="Slide Number Placeholder 4">
            <a:extLst>
              <a:ext uri="{FF2B5EF4-FFF2-40B4-BE49-F238E27FC236}">
                <a16:creationId xmlns:a16="http://schemas.microsoft.com/office/drawing/2014/main" id="{57E1C34E-9ED9-444B-8B1D-2CAC87EC4F16}"/>
              </a:ext>
            </a:extLst>
          </p:cNvPr>
          <p:cNvSpPr>
            <a:spLocks noGrp="1"/>
          </p:cNvSpPr>
          <p:nvPr>
            <p:ph type="sldNum" sz="quarter" idx="14"/>
          </p:nvPr>
        </p:nvSpPr>
        <p:spPr/>
        <p:txBody>
          <a:bodyPr/>
          <a:lstStyle/>
          <a:p>
            <a:fld id="{BC8D7E44-7D4F-4942-A8C9-2DF6BF8399E8}" type="slidenum">
              <a:rPr lang="en-US" smtClean="0"/>
              <a:pPr/>
              <a:t>37</a:t>
            </a:fld>
            <a:endParaRPr lang="en-US" dirty="0"/>
          </a:p>
        </p:txBody>
      </p:sp>
    </p:spTree>
    <p:extLst>
      <p:ext uri="{BB962C8B-B14F-4D97-AF65-F5344CB8AC3E}">
        <p14:creationId xmlns:p14="http://schemas.microsoft.com/office/powerpoint/2010/main" val="260188902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anose="020B0604020202020204" pitchFamily="34" charset="0"/>
              <a:buChar char="•"/>
            </a:pPr>
            <a:r>
              <a:rPr lang="en-US" dirty="0"/>
              <a:t>Voting: to check that replicated components are producing the same results. Comes in various flavors: replication, functional redundancy, analytic redundancy.</a:t>
            </a:r>
          </a:p>
          <a:p>
            <a:pPr>
              <a:buFont typeface="Arial" panose="020B0604020202020204" pitchFamily="34" charset="0"/>
              <a:buChar char="•"/>
            </a:pPr>
            <a:r>
              <a:rPr lang="en-US" dirty="0"/>
              <a:t>Exception Detection: detection of a system condition that alters the normal flow of execution, e.g. system exception, parameter fence, parameter typing, timeout.</a:t>
            </a:r>
          </a:p>
          <a:p>
            <a:pPr>
              <a:buFont typeface="Arial" panose="020B0604020202020204" pitchFamily="34" charset="0"/>
              <a:buChar char="•"/>
            </a:pPr>
            <a:r>
              <a:rPr lang="en-US" dirty="0"/>
              <a:t>Self-test: procedure for a component to test itself for correct operation.</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a:extLst>
              <a:ext uri="{FF2B5EF4-FFF2-40B4-BE49-F238E27FC236}">
                <a16:creationId xmlns:a16="http://schemas.microsoft.com/office/drawing/2014/main" id="{7174BD2E-9779-4BE9-B4F0-2A29CBE8C9B0}"/>
              </a:ext>
            </a:extLst>
          </p:cNvPr>
          <p:cNvSpPr>
            <a:spLocks noGrp="1"/>
          </p:cNvSpPr>
          <p:nvPr>
            <p:ph sz="quarter" idx="10"/>
          </p:nvPr>
        </p:nvSpPr>
        <p:spPr/>
        <p:txBody>
          <a:bodyPr>
            <a:normAutofit/>
          </a:bodyPr>
          <a:lstStyle/>
          <a:p>
            <a:r>
              <a:rPr lang="en-US" dirty="0"/>
              <a:t>Detect Faults</a:t>
            </a:r>
          </a:p>
        </p:txBody>
      </p:sp>
      <p:sp>
        <p:nvSpPr>
          <p:cNvPr id="2" name="Date Placeholder 1">
            <a:extLst>
              <a:ext uri="{FF2B5EF4-FFF2-40B4-BE49-F238E27FC236}">
                <a16:creationId xmlns:a16="http://schemas.microsoft.com/office/drawing/2014/main" id="{73E800D2-9125-41CC-991A-AFE827F9C26C}"/>
              </a:ext>
            </a:extLst>
          </p:cNvPr>
          <p:cNvSpPr>
            <a:spLocks noGrp="1"/>
          </p:cNvSpPr>
          <p:nvPr>
            <p:ph type="dt" sz="half" idx="12"/>
          </p:nvPr>
        </p:nvSpPr>
        <p:spPr/>
        <p:txBody>
          <a:bodyPr/>
          <a:lstStyle/>
          <a:p>
            <a:r>
              <a:rPr lang="en-US"/>
              <a:t>Auguts 1, 2026</a:t>
            </a:r>
          </a:p>
        </p:txBody>
      </p:sp>
      <p:sp>
        <p:nvSpPr>
          <p:cNvPr id="5" name="Slide Number Placeholder 4">
            <a:extLst>
              <a:ext uri="{FF2B5EF4-FFF2-40B4-BE49-F238E27FC236}">
                <a16:creationId xmlns:a16="http://schemas.microsoft.com/office/drawing/2014/main" id="{7983F77F-939C-4AC8-9E8C-2001DF2263F8}"/>
              </a:ext>
            </a:extLst>
          </p:cNvPr>
          <p:cNvSpPr>
            <a:spLocks noGrp="1"/>
          </p:cNvSpPr>
          <p:nvPr>
            <p:ph type="sldNum" sz="quarter" idx="14"/>
          </p:nvPr>
        </p:nvSpPr>
        <p:spPr/>
        <p:txBody>
          <a:bodyPr/>
          <a:lstStyle/>
          <a:p>
            <a:fld id="{BC8D7E44-7D4F-4942-A8C9-2DF6BF8399E8}" type="slidenum">
              <a:rPr lang="en-US" smtClean="0"/>
              <a:pPr/>
              <a:t>38</a:t>
            </a:fld>
            <a:endParaRPr lang="en-US" dirty="0"/>
          </a:p>
        </p:txBody>
      </p:sp>
    </p:spTree>
    <p:extLst>
      <p:ext uri="{BB962C8B-B14F-4D97-AF65-F5344CB8AC3E}">
        <p14:creationId xmlns:p14="http://schemas.microsoft.com/office/powerpoint/2010/main" val="37523923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10000"/>
          </a:bodyPr>
          <a:lstStyle/>
          <a:p>
            <a:pPr>
              <a:buFont typeface="Arial" panose="020B0604020202020204" pitchFamily="34" charset="0"/>
              <a:buChar char="•"/>
            </a:pPr>
            <a:r>
              <a:rPr lang="en-US" dirty="0"/>
              <a:t>Active Redundancy (hot spare): all nodes in a </a:t>
            </a:r>
            <a:r>
              <a:rPr lang="en-US" i="1" dirty="0"/>
              <a:t>protection group </a:t>
            </a:r>
            <a:r>
              <a:rPr lang="en-US" dirty="0"/>
              <a:t>receive and process identical inputs in parallel, allowing redundant spare(s) to maintain synchronous state with the active node(s). 	</a:t>
            </a:r>
          </a:p>
          <a:p>
            <a:pPr lvl="1"/>
            <a:r>
              <a:rPr lang="en-US" dirty="0"/>
              <a:t>A protection group is a group of nodes where one or more nodes are “active,” with the remainder serving as redundant spares.</a:t>
            </a:r>
          </a:p>
          <a:p>
            <a:pPr>
              <a:buFont typeface="Arial" panose="020B0604020202020204" pitchFamily="34" charset="0"/>
              <a:buChar char="•"/>
            </a:pPr>
            <a:r>
              <a:rPr lang="en-US" dirty="0"/>
              <a:t>Passive Redundancy (warm spare): only the active members of the protection group process input traffic; one of their duties is to provide the redundant spare(s) with periodic state updates. </a:t>
            </a:r>
          </a:p>
          <a:p>
            <a:pPr>
              <a:buFont typeface="Arial" panose="020B0604020202020204" pitchFamily="34" charset="0"/>
              <a:buChar char="•"/>
            </a:pPr>
            <a:r>
              <a:rPr lang="en-US" dirty="0"/>
              <a:t>Spare (cold spare): redundant spares of a protection group remain out of service until a fail-over occurs, at which point a power-on-reset procedure is initiated on the redundant spare prior to its being placed in service. </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a:extLst>
              <a:ext uri="{FF2B5EF4-FFF2-40B4-BE49-F238E27FC236}">
                <a16:creationId xmlns:a16="http://schemas.microsoft.com/office/drawing/2014/main" id="{298F25A7-BCDE-45ED-85FE-917C86C01B2D}"/>
              </a:ext>
            </a:extLst>
          </p:cNvPr>
          <p:cNvSpPr>
            <a:spLocks noGrp="1"/>
          </p:cNvSpPr>
          <p:nvPr>
            <p:ph sz="quarter" idx="10"/>
          </p:nvPr>
        </p:nvSpPr>
        <p:spPr/>
        <p:txBody>
          <a:bodyPr>
            <a:normAutofit fontScale="97500"/>
          </a:bodyPr>
          <a:lstStyle/>
          <a:p>
            <a:r>
              <a:rPr lang="en-US" dirty="0"/>
              <a:t>Recover from Faults </a:t>
            </a:r>
            <a:br>
              <a:rPr lang="en-US" dirty="0"/>
            </a:br>
            <a:r>
              <a:rPr lang="en-US" dirty="0"/>
              <a:t>(Preparation &amp; Repair)</a:t>
            </a:r>
          </a:p>
        </p:txBody>
      </p:sp>
      <p:sp>
        <p:nvSpPr>
          <p:cNvPr id="2" name="Date Placeholder 1">
            <a:extLst>
              <a:ext uri="{FF2B5EF4-FFF2-40B4-BE49-F238E27FC236}">
                <a16:creationId xmlns:a16="http://schemas.microsoft.com/office/drawing/2014/main" id="{B9BB0EC1-AAB2-473A-830C-D6B8CE65AA54}"/>
              </a:ext>
            </a:extLst>
          </p:cNvPr>
          <p:cNvSpPr>
            <a:spLocks noGrp="1"/>
          </p:cNvSpPr>
          <p:nvPr>
            <p:ph type="dt" sz="half" idx="12"/>
          </p:nvPr>
        </p:nvSpPr>
        <p:spPr/>
        <p:txBody>
          <a:bodyPr/>
          <a:lstStyle/>
          <a:p>
            <a:r>
              <a:rPr lang="en-US"/>
              <a:t>Auguts 1, 2026</a:t>
            </a:r>
          </a:p>
        </p:txBody>
      </p:sp>
      <p:sp>
        <p:nvSpPr>
          <p:cNvPr id="5" name="Slide Number Placeholder 4">
            <a:extLst>
              <a:ext uri="{FF2B5EF4-FFF2-40B4-BE49-F238E27FC236}">
                <a16:creationId xmlns:a16="http://schemas.microsoft.com/office/drawing/2014/main" id="{41E06725-7B78-4917-A4E8-20BDFAB0D554}"/>
              </a:ext>
            </a:extLst>
          </p:cNvPr>
          <p:cNvSpPr>
            <a:spLocks noGrp="1"/>
          </p:cNvSpPr>
          <p:nvPr>
            <p:ph type="sldNum" sz="quarter" idx="14"/>
          </p:nvPr>
        </p:nvSpPr>
        <p:spPr/>
        <p:txBody>
          <a:bodyPr/>
          <a:lstStyle/>
          <a:p>
            <a:fld id="{BC8D7E44-7D4F-4942-A8C9-2DF6BF8399E8}" type="slidenum">
              <a:rPr lang="en-US" smtClean="0"/>
              <a:pPr/>
              <a:t>39</a:t>
            </a:fld>
            <a:endParaRPr lang="en-US" dirty="0"/>
          </a:p>
        </p:txBody>
      </p:sp>
    </p:spTree>
    <p:extLst>
      <p:ext uri="{BB962C8B-B14F-4D97-AF65-F5344CB8AC3E}">
        <p14:creationId xmlns:p14="http://schemas.microsoft.com/office/powerpoint/2010/main" val="198726318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nSpc>
                <a:spcPct val="90000"/>
              </a:lnSpc>
              <a:buFont typeface="Arial" panose="020B0604020202020204" pitchFamily="34" charset="0"/>
              <a:buChar char="•"/>
            </a:pPr>
            <a:r>
              <a:rPr lang="en-US" sz="2800" dirty="0"/>
              <a:t>Exception Handling: dealing with the exception by reporting it or handling it, potentially masking the fault by correcting the cause of the exception and retrying.</a:t>
            </a:r>
          </a:p>
          <a:p>
            <a:pPr>
              <a:lnSpc>
                <a:spcPct val="90000"/>
              </a:lnSpc>
              <a:buFont typeface="Arial" panose="020B0604020202020204" pitchFamily="34" charset="0"/>
              <a:buChar char="•"/>
            </a:pPr>
            <a:r>
              <a:rPr lang="en-US" sz="2800" dirty="0"/>
              <a:t>Rollback: revert to a previous known good state, referred to as the “rollback line”.</a:t>
            </a:r>
          </a:p>
          <a:p>
            <a:pPr>
              <a:lnSpc>
                <a:spcPct val="90000"/>
              </a:lnSpc>
              <a:buFont typeface="Arial" panose="020B0604020202020204" pitchFamily="34" charset="0"/>
              <a:buChar char="•"/>
            </a:pPr>
            <a:r>
              <a:rPr lang="en-US" sz="2800" dirty="0"/>
              <a:t>Software Upgrade: in-service upgrades to executable code images in a non-service-affecting manner.</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a:extLst>
              <a:ext uri="{FF2B5EF4-FFF2-40B4-BE49-F238E27FC236}">
                <a16:creationId xmlns:a16="http://schemas.microsoft.com/office/drawing/2014/main" id="{C58E9777-99F4-4316-8054-CDC2FB6A7390}"/>
              </a:ext>
            </a:extLst>
          </p:cNvPr>
          <p:cNvSpPr>
            <a:spLocks noGrp="1"/>
          </p:cNvSpPr>
          <p:nvPr>
            <p:ph sz="quarter" idx="10"/>
          </p:nvPr>
        </p:nvSpPr>
        <p:spPr/>
        <p:txBody>
          <a:bodyPr>
            <a:normAutofit fontScale="97500"/>
          </a:bodyPr>
          <a:lstStyle/>
          <a:p>
            <a:r>
              <a:rPr lang="en-US" dirty="0"/>
              <a:t>Recover from Faults </a:t>
            </a:r>
            <a:br>
              <a:rPr lang="en-US" dirty="0"/>
            </a:br>
            <a:r>
              <a:rPr lang="en-US" dirty="0"/>
              <a:t>(Preparation &amp; Repair)</a:t>
            </a:r>
          </a:p>
        </p:txBody>
      </p:sp>
      <p:sp>
        <p:nvSpPr>
          <p:cNvPr id="2" name="Date Placeholder 1">
            <a:extLst>
              <a:ext uri="{FF2B5EF4-FFF2-40B4-BE49-F238E27FC236}">
                <a16:creationId xmlns:a16="http://schemas.microsoft.com/office/drawing/2014/main" id="{36D1C895-919C-496A-9C60-A0EB8D6DC75A}"/>
              </a:ext>
            </a:extLst>
          </p:cNvPr>
          <p:cNvSpPr>
            <a:spLocks noGrp="1"/>
          </p:cNvSpPr>
          <p:nvPr>
            <p:ph type="dt" sz="half" idx="12"/>
          </p:nvPr>
        </p:nvSpPr>
        <p:spPr/>
        <p:txBody>
          <a:bodyPr/>
          <a:lstStyle/>
          <a:p>
            <a:r>
              <a:rPr lang="en-US"/>
              <a:t>Auguts 1, 2026</a:t>
            </a:r>
          </a:p>
        </p:txBody>
      </p:sp>
      <p:sp>
        <p:nvSpPr>
          <p:cNvPr id="5" name="Slide Number Placeholder 4">
            <a:extLst>
              <a:ext uri="{FF2B5EF4-FFF2-40B4-BE49-F238E27FC236}">
                <a16:creationId xmlns:a16="http://schemas.microsoft.com/office/drawing/2014/main" id="{85E8EFC2-7591-4777-BC56-8B8FBF369AC6}"/>
              </a:ext>
            </a:extLst>
          </p:cNvPr>
          <p:cNvSpPr>
            <a:spLocks noGrp="1"/>
          </p:cNvSpPr>
          <p:nvPr>
            <p:ph type="sldNum" sz="quarter" idx="14"/>
          </p:nvPr>
        </p:nvSpPr>
        <p:spPr/>
        <p:txBody>
          <a:bodyPr/>
          <a:lstStyle/>
          <a:p>
            <a:fld id="{BC8D7E44-7D4F-4942-A8C9-2DF6BF8399E8}" type="slidenum">
              <a:rPr lang="en-US" smtClean="0"/>
              <a:pPr/>
              <a:t>40</a:t>
            </a:fld>
            <a:endParaRPr lang="en-US" dirty="0"/>
          </a:p>
        </p:txBody>
      </p:sp>
    </p:spTree>
    <p:extLst>
      <p:ext uri="{BB962C8B-B14F-4D97-AF65-F5344CB8AC3E}">
        <p14:creationId xmlns:p14="http://schemas.microsoft.com/office/powerpoint/2010/main" val="279588578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anose="020B0604020202020204" pitchFamily="34" charset="0"/>
              <a:buChar char="•"/>
            </a:pPr>
            <a:r>
              <a:rPr lang="en-US" dirty="0"/>
              <a:t>Retry: where a failure is transient retrying the operation may lead to success.</a:t>
            </a:r>
          </a:p>
          <a:p>
            <a:pPr>
              <a:buFont typeface="Arial" panose="020B0604020202020204" pitchFamily="34" charset="0"/>
              <a:buChar char="•"/>
            </a:pPr>
            <a:r>
              <a:rPr lang="en-US" dirty="0"/>
              <a:t>Ignore Faulty Behavior: ignoring messages sent from a source when it is determined that those messages are spurious.</a:t>
            </a:r>
          </a:p>
          <a:p>
            <a:pPr>
              <a:buFont typeface="Arial" panose="020B0604020202020204" pitchFamily="34" charset="0"/>
              <a:buChar char="•"/>
            </a:pPr>
            <a:r>
              <a:rPr lang="en-US" dirty="0"/>
              <a:t>Degradation: maintains the most critical system functions in the presence of component failures, dropping less critical functions.</a:t>
            </a:r>
          </a:p>
          <a:p>
            <a:pPr>
              <a:buFont typeface="Arial" panose="020B0604020202020204" pitchFamily="34" charset="0"/>
              <a:buChar char="•"/>
            </a:pPr>
            <a:r>
              <a:rPr lang="en-US" dirty="0"/>
              <a:t>Reconfiguration: reassigning responsibilities to the resources left functioning, while maintaining as much functionality as possible.</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a:extLst>
              <a:ext uri="{FF2B5EF4-FFF2-40B4-BE49-F238E27FC236}">
                <a16:creationId xmlns:a16="http://schemas.microsoft.com/office/drawing/2014/main" id="{CB411F9C-91D0-4A48-AF4F-548DCFE8C6CE}"/>
              </a:ext>
            </a:extLst>
          </p:cNvPr>
          <p:cNvSpPr>
            <a:spLocks noGrp="1"/>
          </p:cNvSpPr>
          <p:nvPr>
            <p:ph sz="quarter" idx="10"/>
          </p:nvPr>
        </p:nvSpPr>
        <p:spPr/>
        <p:txBody>
          <a:bodyPr>
            <a:normAutofit fontScale="97500"/>
          </a:bodyPr>
          <a:lstStyle/>
          <a:p>
            <a:r>
              <a:rPr lang="en-US" dirty="0"/>
              <a:t>Recover from Faults </a:t>
            </a:r>
            <a:br>
              <a:rPr lang="en-US" dirty="0"/>
            </a:br>
            <a:r>
              <a:rPr lang="en-US" dirty="0"/>
              <a:t>(Preparation &amp; Repair)</a:t>
            </a:r>
          </a:p>
        </p:txBody>
      </p:sp>
      <p:sp>
        <p:nvSpPr>
          <p:cNvPr id="2" name="Date Placeholder 1">
            <a:extLst>
              <a:ext uri="{FF2B5EF4-FFF2-40B4-BE49-F238E27FC236}">
                <a16:creationId xmlns:a16="http://schemas.microsoft.com/office/drawing/2014/main" id="{FF0B7FB4-D0FA-463E-AF9E-3B4F2724A8BD}"/>
              </a:ext>
            </a:extLst>
          </p:cNvPr>
          <p:cNvSpPr>
            <a:spLocks noGrp="1"/>
          </p:cNvSpPr>
          <p:nvPr>
            <p:ph type="dt" sz="half" idx="12"/>
          </p:nvPr>
        </p:nvSpPr>
        <p:spPr/>
        <p:txBody>
          <a:bodyPr/>
          <a:lstStyle/>
          <a:p>
            <a:r>
              <a:rPr lang="en-US"/>
              <a:t>Auguts 1, 2026</a:t>
            </a:r>
          </a:p>
        </p:txBody>
      </p:sp>
      <p:sp>
        <p:nvSpPr>
          <p:cNvPr id="5" name="Slide Number Placeholder 4">
            <a:extLst>
              <a:ext uri="{FF2B5EF4-FFF2-40B4-BE49-F238E27FC236}">
                <a16:creationId xmlns:a16="http://schemas.microsoft.com/office/drawing/2014/main" id="{2F4390A6-28FD-46AE-AD06-05D798F30ED2}"/>
              </a:ext>
            </a:extLst>
          </p:cNvPr>
          <p:cNvSpPr>
            <a:spLocks noGrp="1"/>
          </p:cNvSpPr>
          <p:nvPr>
            <p:ph type="sldNum" sz="quarter" idx="14"/>
          </p:nvPr>
        </p:nvSpPr>
        <p:spPr/>
        <p:txBody>
          <a:bodyPr/>
          <a:lstStyle/>
          <a:p>
            <a:fld id="{BC8D7E44-7D4F-4942-A8C9-2DF6BF8399E8}" type="slidenum">
              <a:rPr lang="en-US" smtClean="0"/>
              <a:pPr/>
              <a:t>41</a:t>
            </a:fld>
            <a:endParaRPr lang="en-US" dirty="0"/>
          </a:p>
        </p:txBody>
      </p:sp>
    </p:spTree>
    <p:extLst>
      <p:ext uri="{BB962C8B-B14F-4D97-AF65-F5344CB8AC3E}">
        <p14:creationId xmlns:p14="http://schemas.microsoft.com/office/powerpoint/2010/main" val="307878012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pPr>
              <a:buFont typeface="Arial" panose="020B0604020202020204" pitchFamily="34" charset="0"/>
              <a:buChar char="•"/>
            </a:pPr>
            <a:r>
              <a:rPr lang="en-US" sz="2200" dirty="0"/>
              <a:t>Shadow: operating a previously failed or in-service upgraded component in a “shadow mode” for a predefined time prior to reverting the component back to an active role.</a:t>
            </a:r>
          </a:p>
          <a:p>
            <a:pPr>
              <a:buFont typeface="Arial" panose="020B0604020202020204" pitchFamily="34" charset="0"/>
              <a:buChar char="•"/>
            </a:pPr>
            <a:r>
              <a:rPr lang="en-US" sz="2200" dirty="0"/>
              <a:t>State Resynchronization: partner to active redundancy and passive redundancy where state information is sent from active to standby components.</a:t>
            </a:r>
          </a:p>
          <a:p>
            <a:pPr>
              <a:buFont typeface="Arial" panose="020B0604020202020204" pitchFamily="34" charset="0"/>
              <a:buChar char="•"/>
            </a:pPr>
            <a:r>
              <a:rPr lang="en-US" sz="2200" dirty="0"/>
              <a:t>Escalating Restart: recover from faults by varying the granularity of the component(s) restarted and minimizing the level of service affected.</a:t>
            </a:r>
          </a:p>
          <a:p>
            <a:pPr>
              <a:buFont typeface="Arial" panose="020B0604020202020204" pitchFamily="34" charset="0"/>
              <a:buChar char="•"/>
            </a:pPr>
            <a:r>
              <a:rPr lang="en-US" sz="2200" dirty="0"/>
              <a:t>Non-stop Forwarding: functionality is split into supervisory and data. If a supervisor fails, a router continues forwarding packets along known routes while protocol information is recovered and validated. </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a:extLst>
              <a:ext uri="{FF2B5EF4-FFF2-40B4-BE49-F238E27FC236}">
                <a16:creationId xmlns:a16="http://schemas.microsoft.com/office/drawing/2014/main" id="{79DA0E70-2DC0-44BB-8FBA-BE6A3CB94776}"/>
              </a:ext>
            </a:extLst>
          </p:cNvPr>
          <p:cNvSpPr>
            <a:spLocks noGrp="1"/>
          </p:cNvSpPr>
          <p:nvPr>
            <p:ph sz="quarter" idx="10"/>
          </p:nvPr>
        </p:nvSpPr>
        <p:spPr/>
        <p:txBody>
          <a:bodyPr>
            <a:normAutofit fontScale="97500"/>
          </a:bodyPr>
          <a:lstStyle/>
          <a:p>
            <a:r>
              <a:rPr lang="en-US" dirty="0"/>
              <a:t>Recover from Faults </a:t>
            </a:r>
            <a:br>
              <a:rPr lang="en-US" dirty="0"/>
            </a:br>
            <a:r>
              <a:rPr lang="en-US" dirty="0"/>
              <a:t>(Reintroduction)</a:t>
            </a:r>
          </a:p>
        </p:txBody>
      </p:sp>
      <p:sp>
        <p:nvSpPr>
          <p:cNvPr id="2" name="Date Placeholder 1">
            <a:extLst>
              <a:ext uri="{FF2B5EF4-FFF2-40B4-BE49-F238E27FC236}">
                <a16:creationId xmlns:a16="http://schemas.microsoft.com/office/drawing/2014/main" id="{69EAB684-81F0-4CD7-B7D9-7B917173CA89}"/>
              </a:ext>
            </a:extLst>
          </p:cNvPr>
          <p:cNvSpPr>
            <a:spLocks noGrp="1"/>
          </p:cNvSpPr>
          <p:nvPr>
            <p:ph type="dt" sz="half" idx="12"/>
          </p:nvPr>
        </p:nvSpPr>
        <p:spPr/>
        <p:txBody>
          <a:bodyPr/>
          <a:lstStyle/>
          <a:p>
            <a:r>
              <a:rPr lang="en-US"/>
              <a:t>Auguts 1, 2026</a:t>
            </a:r>
          </a:p>
        </p:txBody>
      </p:sp>
      <p:sp>
        <p:nvSpPr>
          <p:cNvPr id="5" name="Slide Number Placeholder 4">
            <a:extLst>
              <a:ext uri="{FF2B5EF4-FFF2-40B4-BE49-F238E27FC236}">
                <a16:creationId xmlns:a16="http://schemas.microsoft.com/office/drawing/2014/main" id="{A674DCFE-9A5F-46AF-83A4-125F334BE9A0}"/>
              </a:ext>
            </a:extLst>
          </p:cNvPr>
          <p:cNvSpPr>
            <a:spLocks noGrp="1"/>
          </p:cNvSpPr>
          <p:nvPr>
            <p:ph type="sldNum" sz="quarter" idx="14"/>
          </p:nvPr>
        </p:nvSpPr>
        <p:spPr/>
        <p:txBody>
          <a:bodyPr/>
          <a:lstStyle/>
          <a:p>
            <a:fld id="{BC8D7E44-7D4F-4942-A8C9-2DF6BF8399E8}" type="slidenum">
              <a:rPr lang="en-US" smtClean="0"/>
              <a:pPr/>
              <a:t>42</a:t>
            </a:fld>
            <a:endParaRPr lang="en-US" dirty="0"/>
          </a:p>
        </p:txBody>
      </p:sp>
    </p:spTree>
    <p:extLst>
      <p:ext uri="{BB962C8B-B14F-4D97-AF65-F5344CB8AC3E}">
        <p14:creationId xmlns:p14="http://schemas.microsoft.com/office/powerpoint/2010/main" val="212026705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anose="020B0604020202020204" pitchFamily="34" charset="0"/>
              <a:buChar char="•"/>
            </a:pPr>
            <a:r>
              <a:rPr lang="en-US" dirty="0"/>
              <a:t>Removal From Service: temporarily placing a system component in an out-of-service state for the purpose of mitigating potential system failures </a:t>
            </a:r>
          </a:p>
          <a:p>
            <a:pPr>
              <a:buFont typeface="Arial" panose="020B0604020202020204" pitchFamily="34" charset="0"/>
              <a:buChar char="•"/>
            </a:pPr>
            <a:r>
              <a:rPr lang="en-US" dirty="0"/>
              <a:t>Transactions: bundling state updates so that asynchronous messages exchanged between distributed components are </a:t>
            </a:r>
            <a:r>
              <a:rPr lang="en-US" i="1" dirty="0"/>
              <a:t>atomic</a:t>
            </a:r>
            <a:r>
              <a:rPr lang="en-US" dirty="0"/>
              <a:t>, </a:t>
            </a:r>
            <a:r>
              <a:rPr lang="en-US" i="1" dirty="0"/>
              <a:t>consistent</a:t>
            </a:r>
            <a:r>
              <a:rPr lang="en-US" dirty="0"/>
              <a:t>, </a:t>
            </a:r>
            <a:r>
              <a:rPr lang="en-US" i="1" dirty="0"/>
              <a:t>isolated</a:t>
            </a:r>
            <a:r>
              <a:rPr lang="en-US" dirty="0"/>
              <a:t>, and </a:t>
            </a:r>
            <a:r>
              <a:rPr lang="en-US" i="1" dirty="0"/>
              <a:t>durable</a:t>
            </a:r>
            <a:r>
              <a:rPr lang="en-US" dirty="0"/>
              <a:t>. </a:t>
            </a:r>
          </a:p>
          <a:p>
            <a:pPr>
              <a:buFont typeface="Arial" panose="020B0604020202020204" pitchFamily="34" charset="0"/>
              <a:buChar char="•"/>
            </a:pPr>
            <a:r>
              <a:rPr lang="en-US" dirty="0"/>
              <a:t>Predictive Model: monitor the state of health of a process to ensure that the system is operating within nominal parameters; take corrective action when conditions are detected that are predictive of likely future faults. </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a:extLst>
              <a:ext uri="{FF2B5EF4-FFF2-40B4-BE49-F238E27FC236}">
                <a16:creationId xmlns:a16="http://schemas.microsoft.com/office/drawing/2014/main" id="{83BAE320-1CE0-4E61-9B15-DB4C5398F015}"/>
              </a:ext>
            </a:extLst>
          </p:cNvPr>
          <p:cNvSpPr>
            <a:spLocks noGrp="1"/>
          </p:cNvSpPr>
          <p:nvPr>
            <p:ph sz="quarter" idx="10"/>
          </p:nvPr>
        </p:nvSpPr>
        <p:spPr/>
        <p:txBody>
          <a:bodyPr>
            <a:normAutofit/>
          </a:bodyPr>
          <a:lstStyle/>
          <a:p>
            <a:r>
              <a:rPr lang="en-US" dirty="0"/>
              <a:t>Prevent Faults</a:t>
            </a:r>
          </a:p>
        </p:txBody>
      </p:sp>
      <p:sp>
        <p:nvSpPr>
          <p:cNvPr id="2" name="Date Placeholder 1">
            <a:extLst>
              <a:ext uri="{FF2B5EF4-FFF2-40B4-BE49-F238E27FC236}">
                <a16:creationId xmlns:a16="http://schemas.microsoft.com/office/drawing/2014/main" id="{90CD54C7-FF36-4904-9713-3CDC95C5A1C0}"/>
              </a:ext>
            </a:extLst>
          </p:cNvPr>
          <p:cNvSpPr>
            <a:spLocks noGrp="1"/>
          </p:cNvSpPr>
          <p:nvPr>
            <p:ph type="dt" sz="half" idx="12"/>
          </p:nvPr>
        </p:nvSpPr>
        <p:spPr/>
        <p:txBody>
          <a:bodyPr/>
          <a:lstStyle/>
          <a:p>
            <a:r>
              <a:rPr lang="en-US"/>
              <a:t>Auguts 1, 2026</a:t>
            </a:r>
          </a:p>
        </p:txBody>
      </p:sp>
      <p:sp>
        <p:nvSpPr>
          <p:cNvPr id="5" name="Slide Number Placeholder 4">
            <a:extLst>
              <a:ext uri="{FF2B5EF4-FFF2-40B4-BE49-F238E27FC236}">
                <a16:creationId xmlns:a16="http://schemas.microsoft.com/office/drawing/2014/main" id="{1A43126C-FC9F-4E13-9781-5392C8E42A87}"/>
              </a:ext>
            </a:extLst>
          </p:cNvPr>
          <p:cNvSpPr>
            <a:spLocks noGrp="1"/>
          </p:cNvSpPr>
          <p:nvPr>
            <p:ph type="sldNum" sz="quarter" idx="14"/>
          </p:nvPr>
        </p:nvSpPr>
        <p:spPr/>
        <p:txBody>
          <a:bodyPr/>
          <a:lstStyle/>
          <a:p>
            <a:fld id="{BC8D7E44-7D4F-4942-A8C9-2DF6BF8399E8}" type="slidenum">
              <a:rPr lang="en-US" smtClean="0"/>
              <a:pPr/>
              <a:t>43</a:t>
            </a:fld>
            <a:endParaRPr lang="en-US" dirty="0"/>
          </a:p>
        </p:txBody>
      </p:sp>
    </p:spTree>
    <p:extLst>
      <p:ext uri="{BB962C8B-B14F-4D97-AF65-F5344CB8AC3E}">
        <p14:creationId xmlns:p14="http://schemas.microsoft.com/office/powerpoint/2010/main" val="15312185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Font typeface="Arial" panose="020B0604020202020204" pitchFamily="34" charset="0"/>
              <a:buChar char="•"/>
            </a:pPr>
            <a:r>
              <a:rPr lang="en-US" dirty="0"/>
              <a:t>Exception Prevention: preventing system exceptions from occurring by masking a fault, or preventing it via smart pointers, abstract data types, wrappers.</a:t>
            </a:r>
          </a:p>
          <a:p>
            <a:pPr>
              <a:buFont typeface="Arial" panose="020B0604020202020204" pitchFamily="34" charset="0"/>
              <a:buChar char="•"/>
            </a:pPr>
            <a:r>
              <a:rPr lang="en-US" dirty="0"/>
              <a:t>Increase Competence Set: designing a component to handle more cases—faults—as part of its normal operation.</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a:extLst>
              <a:ext uri="{FF2B5EF4-FFF2-40B4-BE49-F238E27FC236}">
                <a16:creationId xmlns:a16="http://schemas.microsoft.com/office/drawing/2014/main" id="{4DEA7453-9714-4956-ADB5-C12C6BC4CDDB}"/>
              </a:ext>
            </a:extLst>
          </p:cNvPr>
          <p:cNvSpPr>
            <a:spLocks noGrp="1"/>
          </p:cNvSpPr>
          <p:nvPr>
            <p:ph sz="quarter" idx="10"/>
          </p:nvPr>
        </p:nvSpPr>
        <p:spPr/>
        <p:txBody>
          <a:bodyPr>
            <a:normAutofit/>
          </a:bodyPr>
          <a:lstStyle/>
          <a:p>
            <a:r>
              <a:rPr lang="en-US" dirty="0"/>
              <a:t>Prevent Faults</a:t>
            </a:r>
          </a:p>
        </p:txBody>
      </p:sp>
      <p:sp>
        <p:nvSpPr>
          <p:cNvPr id="2" name="Date Placeholder 1">
            <a:extLst>
              <a:ext uri="{FF2B5EF4-FFF2-40B4-BE49-F238E27FC236}">
                <a16:creationId xmlns:a16="http://schemas.microsoft.com/office/drawing/2014/main" id="{0DDC2F0A-0220-4653-A5E7-078D89C3D88A}"/>
              </a:ext>
            </a:extLst>
          </p:cNvPr>
          <p:cNvSpPr>
            <a:spLocks noGrp="1"/>
          </p:cNvSpPr>
          <p:nvPr>
            <p:ph type="dt" sz="half" idx="12"/>
          </p:nvPr>
        </p:nvSpPr>
        <p:spPr/>
        <p:txBody>
          <a:bodyPr/>
          <a:lstStyle/>
          <a:p>
            <a:r>
              <a:rPr lang="en-US"/>
              <a:t>Auguts 1, 2026</a:t>
            </a:r>
          </a:p>
        </p:txBody>
      </p:sp>
      <p:sp>
        <p:nvSpPr>
          <p:cNvPr id="5" name="Slide Number Placeholder 4">
            <a:extLst>
              <a:ext uri="{FF2B5EF4-FFF2-40B4-BE49-F238E27FC236}">
                <a16:creationId xmlns:a16="http://schemas.microsoft.com/office/drawing/2014/main" id="{C6576FFD-AF69-4C1D-83FC-5643F733F05B}"/>
              </a:ext>
            </a:extLst>
          </p:cNvPr>
          <p:cNvSpPr>
            <a:spLocks noGrp="1"/>
          </p:cNvSpPr>
          <p:nvPr>
            <p:ph type="sldNum" sz="quarter" idx="14"/>
          </p:nvPr>
        </p:nvSpPr>
        <p:spPr/>
        <p:txBody>
          <a:bodyPr/>
          <a:lstStyle/>
          <a:p>
            <a:fld id="{BC8D7E44-7D4F-4942-A8C9-2DF6BF8399E8}" type="slidenum">
              <a:rPr lang="en-US" smtClean="0"/>
              <a:pPr/>
              <a:t>44</a:t>
            </a:fld>
            <a:endParaRPr lang="en-US" dirty="0"/>
          </a:p>
        </p:txBody>
      </p:sp>
    </p:spTree>
    <p:extLst>
      <p:ext uri="{BB962C8B-B14F-4D97-AF65-F5344CB8AC3E}">
        <p14:creationId xmlns:p14="http://schemas.microsoft.com/office/powerpoint/2010/main" val="66849028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FE1D3EB6-D5DA-406B-81B2-6B0FF296632B}"/>
              </a:ext>
            </a:extLst>
          </p:cNvPr>
          <p:cNvGrpSpPr/>
          <p:nvPr/>
        </p:nvGrpSpPr>
        <p:grpSpPr>
          <a:xfrm>
            <a:off x="152400" y="1493837"/>
            <a:ext cx="8686800" cy="4525963"/>
            <a:chOff x="152400" y="1493837"/>
            <a:chExt cx="8686800" cy="4525963"/>
          </a:xfrm>
        </p:grpSpPr>
        <p:sp>
          <p:nvSpPr>
            <p:cNvPr id="10" name="Rectangle: Rounded Corners 9">
              <a:extLst>
                <a:ext uri="{FF2B5EF4-FFF2-40B4-BE49-F238E27FC236}">
                  <a16:creationId xmlns:a16="http://schemas.microsoft.com/office/drawing/2014/main" id="{3D834315-4624-4513-A0DC-7AA903A17C8B}"/>
                </a:ext>
              </a:extLst>
            </p:cNvPr>
            <p:cNvSpPr/>
            <p:nvPr/>
          </p:nvSpPr>
          <p:spPr>
            <a:xfrm>
              <a:off x="152400" y="1493837"/>
              <a:ext cx="8686800" cy="334963"/>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accent1"/>
                </a:solidFill>
              </a:endParaRPr>
            </a:p>
          </p:txBody>
        </p:sp>
        <p:sp>
          <p:nvSpPr>
            <p:cNvPr id="9" name="Rectangle 8">
              <a:extLst>
                <a:ext uri="{FF2B5EF4-FFF2-40B4-BE49-F238E27FC236}">
                  <a16:creationId xmlns:a16="http://schemas.microsoft.com/office/drawing/2014/main" id="{80947C68-C5F8-4986-B47E-3D0363A510C7}"/>
                </a:ext>
              </a:extLst>
            </p:cNvPr>
            <p:cNvSpPr/>
            <p:nvPr/>
          </p:nvSpPr>
          <p:spPr>
            <a:xfrm>
              <a:off x="152400" y="1828800"/>
              <a:ext cx="8686800" cy="419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5" name="Content Placeholder 4">
            <a:extLst>
              <a:ext uri="{FF2B5EF4-FFF2-40B4-BE49-F238E27FC236}">
                <a16:creationId xmlns:a16="http://schemas.microsoft.com/office/drawing/2014/main" id="{D9DDF76E-3A99-497A-9C83-279B6E35EE79}"/>
              </a:ext>
            </a:extLst>
          </p:cNvPr>
          <p:cNvSpPr>
            <a:spLocks noGrp="1"/>
          </p:cNvSpPr>
          <p:nvPr>
            <p:ph idx="1"/>
          </p:nvPr>
        </p:nvSpPr>
        <p:spPr/>
        <p:txBody>
          <a:bodyPr>
            <a:normAutofit/>
          </a:bodyPr>
          <a:lstStyle/>
          <a:p>
            <a:pPr marL="0" indent="0" fontAlgn="t"/>
            <a:r>
              <a:rPr lang="en-US" dirty="0"/>
              <a:t>Allocation of Responsibilities</a:t>
            </a:r>
            <a:endParaRPr lang="en-IN" dirty="0"/>
          </a:p>
          <a:p>
            <a:pPr fontAlgn="t">
              <a:buFont typeface="Arial" panose="020B0604020202020204" pitchFamily="34" charset="0"/>
              <a:buChar char="•"/>
            </a:pPr>
            <a:r>
              <a:rPr lang="en-US" dirty="0"/>
              <a:t>Determine the system responsibilities that need to be highly available.  Ensure that additional responsibilities have been allocated to detect an omission, crash, incorrect timing, or incorrect response. </a:t>
            </a:r>
            <a:endParaRPr lang="en-IN" dirty="0"/>
          </a:p>
          <a:p>
            <a:pPr fontAlgn="t">
              <a:buFont typeface="Arial" panose="020B0604020202020204" pitchFamily="34" charset="0"/>
              <a:buChar char="•"/>
            </a:pPr>
            <a:r>
              <a:rPr lang="en-US" dirty="0"/>
              <a:t>Ensure that there are responsibilities to:</a:t>
            </a:r>
            <a:endParaRPr lang="en-IN" dirty="0"/>
          </a:p>
          <a:p>
            <a:pPr lvl="1" fontAlgn="t">
              <a:buFont typeface="Arial" panose="020B0604020202020204" pitchFamily="34" charset="0"/>
              <a:buChar char="•"/>
            </a:pPr>
            <a:r>
              <a:rPr lang="en-US" dirty="0"/>
              <a:t>log the fault</a:t>
            </a:r>
            <a:endParaRPr lang="en-IN" dirty="0"/>
          </a:p>
          <a:p>
            <a:pPr lvl="1" fontAlgn="t">
              <a:buFont typeface="Arial" panose="020B0604020202020204" pitchFamily="34" charset="0"/>
              <a:buChar char="•"/>
            </a:pPr>
            <a:r>
              <a:rPr lang="en-US" dirty="0"/>
              <a:t>notify appropriate entities (people or systems)</a:t>
            </a:r>
            <a:endParaRPr lang="en-IN" dirty="0"/>
          </a:p>
          <a:p>
            <a:pPr lvl="1" fontAlgn="t">
              <a:buFont typeface="Arial" panose="020B0604020202020204" pitchFamily="34" charset="0"/>
              <a:buChar char="•"/>
            </a:pPr>
            <a:r>
              <a:rPr lang="en-US" dirty="0"/>
              <a:t>disable source of events causing the fault</a:t>
            </a:r>
            <a:endParaRPr lang="en-IN" dirty="0"/>
          </a:p>
          <a:p>
            <a:pPr lvl="1" fontAlgn="t">
              <a:buFont typeface="Arial" panose="020B0604020202020204" pitchFamily="34" charset="0"/>
              <a:buChar char="•"/>
            </a:pPr>
            <a:r>
              <a:rPr lang="en-US" dirty="0"/>
              <a:t>be temporarily unavailable</a:t>
            </a:r>
            <a:endParaRPr lang="en-IN" dirty="0"/>
          </a:p>
          <a:p>
            <a:pPr lvl="1" fontAlgn="t">
              <a:buFont typeface="Arial" panose="020B0604020202020204" pitchFamily="34" charset="0"/>
              <a:buChar char="•"/>
            </a:pPr>
            <a:r>
              <a:rPr lang="en-US" dirty="0"/>
              <a:t>fix or mask the fault/failure</a:t>
            </a:r>
            <a:endParaRPr lang="en-IN" dirty="0"/>
          </a:p>
          <a:p>
            <a:pPr lvl="1" fontAlgn="t">
              <a:buFont typeface="Arial" panose="020B0604020202020204" pitchFamily="34" charset="0"/>
              <a:buChar char="•"/>
            </a:pPr>
            <a:r>
              <a:rPr lang="en-US" dirty="0"/>
              <a:t>operate in a degraded mode</a:t>
            </a:r>
            <a:endParaRPr lang="en-IN" dirty="0"/>
          </a:p>
          <a:p>
            <a:pPr>
              <a:buFont typeface="Arial" panose="020B0604020202020204" pitchFamily="34" charset="0"/>
              <a:buChar char="•"/>
            </a:pPr>
            <a:endParaRPr lang="en-IN"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8" name="Title 1">
            <a:extLst>
              <a:ext uri="{FF2B5EF4-FFF2-40B4-BE49-F238E27FC236}">
                <a16:creationId xmlns:a16="http://schemas.microsoft.com/office/drawing/2014/main" id="{039690C7-025F-4B31-A6F8-6D8C5A836724}"/>
              </a:ext>
            </a:extLst>
          </p:cNvPr>
          <p:cNvSpPr>
            <a:spLocks noGrp="1"/>
          </p:cNvSpPr>
          <p:nvPr>
            <p:ph sz="quarter" idx="10"/>
          </p:nvPr>
        </p:nvSpPr>
        <p:spPr/>
        <p:txBody>
          <a:bodyPr/>
          <a:lstStyle/>
          <a:p>
            <a:r>
              <a:rPr lang="en-US" dirty="0"/>
              <a:t>Design Checklist for Availability</a:t>
            </a:r>
          </a:p>
        </p:txBody>
      </p:sp>
      <p:sp>
        <p:nvSpPr>
          <p:cNvPr id="2" name="Date Placeholder 1">
            <a:extLst>
              <a:ext uri="{FF2B5EF4-FFF2-40B4-BE49-F238E27FC236}">
                <a16:creationId xmlns:a16="http://schemas.microsoft.com/office/drawing/2014/main" id="{990F1799-8B5C-4C25-86C8-E9B0E45AD653}"/>
              </a:ext>
            </a:extLst>
          </p:cNvPr>
          <p:cNvSpPr>
            <a:spLocks noGrp="1"/>
          </p:cNvSpPr>
          <p:nvPr>
            <p:ph type="dt" sz="half" idx="12"/>
          </p:nvPr>
        </p:nvSpPr>
        <p:spPr/>
        <p:txBody>
          <a:bodyPr/>
          <a:lstStyle/>
          <a:p>
            <a:r>
              <a:rPr lang="en-US"/>
              <a:t>Auguts 1, 2026</a:t>
            </a:r>
          </a:p>
        </p:txBody>
      </p:sp>
      <p:sp>
        <p:nvSpPr>
          <p:cNvPr id="3" name="Slide Number Placeholder 2">
            <a:extLst>
              <a:ext uri="{FF2B5EF4-FFF2-40B4-BE49-F238E27FC236}">
                <a16:creationId xmlns:a16="http://schemas.microsoft.com/office/drawing/2014/main" id="{7CB4EED2-63DB-44C3-972C-AAE1C5BA8D20}"/>
              </a:ext>
            </a:extLst>
          </p:cNvPr>
          <p:cNvSpPr>
            <a:spLocks noGrp="1"/>
          </p:cNvSpPr>
          <p:nvPr>
            <p:ph type="sldNum" sz="quarter" idx="14"/>
          </p:nvPr>
        </p:nvSpPr>
        <p:spPr/>
        <p:txBody>
          <a:bodyPr/>
          <a:lstStyle/>
          <a:p>
            <a:fld id="{BC8D7E44-7D4F-4942-A8C9-2DF6BF8399E8}" type="slidenum">
              <a:rPr lang="en-US" smtClean="0"/>
              <a:pPr/>
              <a:t>45</a:t>
            </a:fld>
            <a:endParaRPr lang="en-US" dirty="0"/>
          </a:p>
        </p:txBody>
      </p:sp>
    </p:spTree>
    <p:extLst>
      <p:ext uri="{BB962C8B-B14F-4D97-AF65-F5344CB8AC3E}">
        <p14:creationId xmlns:p14="http://schemas.microsoft.com/office/powerpoint/2010/main" val="354758178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1679BEEE-C0F3-49AA-B283-BB3EE5ABB120}"/>
              </a:ext>
            </a:extLst>
          </p:cNvPr>
          <p:cNvGrpSpPr/>
          <p:nvPr/>
        </p:nvGrpSpPr>
        <p:grpSpPr>
          <a:xfrm>
            <a:off x="152400" y="1493837"/>
            <a:ext cx="8686800" cy="4525963"/>
            <a:chOff x="152400" y="1493837"/>
            <a:chExt cx="8686800" cy="4525963"/>
          </a:xfrm>
        </p:grpSpPr>
        <p:sp>
          <p:nvSpPr>
            <p:cNvPr id="10" name="Rectangle: Rounded Corners 9">
              <a:extLst>
                <a:ext uri="{FF2B5EF4-FFF2-40B4-BE49-F238E27FC236}">
                  <a16:creationId xmlns:a16="http://schemas.microsoft.com/office/drawing/2014/main" id="{49FE8A9A-3581-40B5-B431-872D74CCCE61}"/>
                </a:ext>
              </a:extLst>
            </p:cNvPr>
            <p:cNvSpPr/>
            <p:nvPr/>
          </p:nvSpPr>
          <p:spPr>
            <a:xfrm>
              <a:off x="152400" y="1493837"/>
              <a:ext cx="8686800" cy="334963"/>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accent1"/>
                </a:solidFill>
              </a:endParaRPr>
            </a:p>
          </p:txBody>
        </p:sp>
        <p:sp>
          <p:nvSpPr>
            <p:cNvPr id="11" name="Rectangle 10">
              <a:extLst>
                <a:ext uri="{FF2B5EF4-FFF2-40B4-BE49-F238E27FC236}">
                  <a16:creationId xmlns:a16="http://schemas.microsoft.com/office/drawing/2014/main" id="{99FC77EE-6BF1-4427-A5F5-A608F33D7578}"/>
                </a:ext>
              </a:extLst>
            </p:cNvPr>
            <p:cNvSpPr/>
            <p:nvPr/>
          </p:nvSpPr>
          <p:spPr>
            <a:xfrm>
              <a:off x="152400" y="1828800"/>
              <a:ext cx="8686800" cy="419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5" name="Content Placeholder 4">
            <a:extLst>
              <a:ext uri="{FF2B5EF4-FFF2-40B4-BE49-F238E27FC236}">
                <a16:creationId xmlns:a16="http://schemas.microsoft.com/office/drawing/2014/main" id="{4C814F5E-ADFB-478F-AB83-C4FABD3A55CD}"/>
              </a:ext>
            </a:extLst>
          </p:cNvPr>
          <p:cNvSpPr>
            <a:spLocks noGrp="1"/>
          </p:cNvSpPr>
          <p:nvPr>
            <p:ph idx="1"/>
          </p:nvPr>
        </p:nvSpPr>
        <p:spPr>
          <a:xfrm>
            <a:off x="304800" y="1493837"/>
            <a:ext cx="8686800" cy="4983163"/>
          </a:xfrm>
        </p:spPr>
        <p:txBody>
          <a:bodyPr>
            <a:normAutofit fontScale="77500" lnSpcReduction="20000"/>
          </a:bodyPr>
          <a:lstStyle/>
          <a:p>
            <a:pPr marL="0" indent="0" fontAlgn="t"/>
            <a:r>
              <a:rPr lang="en-US" dirty="0"/>
              <a:t>Coordination Model</a:t>
            </a:r>
            <a:endParaRPr lang="en-IN" dirty="0"/>
          </a:p>
          <a:p>
            <a:pPr fontAlgn="t">
              <a:buFont typeface="Arial" panose="020B0604020202020204" pitchFamily="34" charset="0"/>
              <a:buChar char="•"/>
            </a:pPr>
            <a:r>
              <a:rPr lang="en-US" dirty="0"/>
              <a:t>Determine the system responsibilities that need to be highly available. With respect to those responsibilities </a:t>
            </a:r>
            <a:endParaRPr lang="en-IN" dirty="0"/>
          </a:p>
          <a:p>
            <a:pPr fontAlgn="t">
              <a:buFont typeface="Arial" panose="020B0604020202020204" pitchFamily="34" charset="0"/>
              <a:buChar char="•"/>
            </a:pPr>
            <a:r>
              <a:rPr lang="en-US" dirty="0"/>
              <a:t>Ensure that coordination mechanisms can detect an omission, crash, incorrect timing, or incorrect response.  Consider, e.g., whether guaranteed delivery is necessary. Will the coordination work under degraded communication?</a:t>
            </a:r>
            <a:endParaRPr lang="en-IN" dirty="0"/>
          </a:p>
          <a:p>
            <a:pPr fontAlgn="t">
              <a:buFont typeface="Arial" panose="020B0604020202020204" pitchFamily="34" charset="0"/>
              <a:buChar char="•"/>
            </a:pPr>
            <a:r>
              <a:rPr lang="en-US" dirty="0"/>
              <a:t>Ensure that coordination mechanisms enable the logging of the fault, notification of appropriate entities, disabling of the source of the events causing the fault, fixing or masking the fault, or operating in a degraded mode</a:t>
            </a:r>
            <a:endParaRPr lang="en-IN" dirty="0"/>
          </a:p>
          <a:p>
            <a:pPr fontAlgn="t">
              <a:buFont typeface="Arial" panose="020B0604020202020204" pitchFamily="34" charset="0"/>
              <a:buChar char="•"/>
            </a:pPr>
            <a:r>
              <a:rPr lang="en-US" dirty="0"/>
              <a:t>Ensure that the coordination model supports the replacement of the artifacts (processors, communications channels, persistent storage, and processes).  E.g., does replacement of a server allow the system to continue to operate? </a:t>
            </a:r>
            <a:endParaRPr lang="en-IN" dirty="0"/>
          </a:p>
          <a:p>
            <a:pPr fontAlgn="t">
              <a:buFont typeface="Arial" panose="020B0604020202020204" pitchFamily="34" charset="0"/>
              <a:buChar char="•"/>
            </a:pPr>
            <a:r>
              <a:rPr lang="en-US" dirty="0"/>
              <a:t>Determine if the coordination will work under conditions of degraded communication, at startup/shutdown, in repair mode, or under overloaded operation. E.g., how much lost information can the coordination model withstand and with what consequences?</a:t>
            </a:r>
            <a:endParaRPr lang="en-IN"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8" name="Title 1">
            <a:extLst>
              <a:ext uri="{FF2B5EF4-FFF2-40B4-BE49-F238E27FC236}">
                <a16:creationId xmlns:a16="http://schemas.microsoft.com/office/drawing/2014/main" id="{72A9E987-E918-4917-82AA-F82E1B6AF801}"/>
              </a:ext>
            </a:extLst>
          </p:cNvPr>
          <p:cNvSpPr>
            <a:spLocks noGrp="1"/>
          </p:cNvSpPr>
          <p:nvPr>
            <p:ph sz="quarter" idx="10"/>
          </p:nvPr>
        </p:nvSpPr>
        <p:spPr/>
        <p:txBody>
          <a:bodyPr/>
          <a:lstStyle/>
          <a:p>
            <a:r>
              <a:rPr lang="en-US" dirty="0"/>
              <a:t>Design Checklist for Availability</a:t>
            </a:r>
          </a:p>
        </p:txBody>
      </p:sp>
      <p:sp>
        <p:nvSpPr>
          <p:cNvPr id="2" name="Date Placeholder 1">
            <a:extLst>
              <a:ext uri="{FF2B5EF4-FFF2-40B4-BE49-F238E27FC236}">
                <a16:creationId xmlns:a16="http://schemas.microsoft.com/office/drawing/2014/main" id="{23ABEDF4-AD84-47DB-AE8A-45774D1886A1}"/>
              </a:ext>
            </a:extLst>
          </p:cNvPr>
          <p:cNvSpPr>
            <a:spLocks noGrp="1"/>
          </p:cNvSpPr>
          <p:nvPr>
            <p:ph type="dt" sz="half" idx="12"/>
          </p:nvPr>
        </p:nvSpPr>
        <p:spPr/>
        <p:txBody>
          <a:bodyPr/>
          <a:lstStyle/>
          <a:p>
            <a:r>
              <a:rPr lang="en-US"/>
              <a:t>Auguts 1, 2026</a:t>
            </a:r>
          </a:p>
        </p:txBody>
      </p:sp>
      <p:sp>
        <p:nvSpPr>
          <p:cNvPr id="3" name="Slide Number Placeholder 2">
            <a:extLst>
              <a:ext uri="{FF2B5EF4-FFF2-40B4-BE49-F238E27FC236}">
                <a16:creationId xmlns:a16="http://schemas.microsoft.com/office/drawing/2014/main" id="{68EC3064-413C-41D9-A408-8505A783AEF1}"/>
              </a:ext>
            </a:extLst>
          </p:cNvPr>
          <p:cNvSpPr>
            <a:spLocks noGrp="1"/>
          </p:cNvSpPr>
          <p:nvPr>
            <p:ph type="sldNum" sz="quarter" idx="14"/>
          </p:nvPr>
        </p:nvSpPr>
        <p:spPr/>
        <p:txBody>
          <a:bodyPr/>
          <a:lstStyle/>
          <a:p>
            <a:fld id="{BC8D7E44-7D4F-4942-A8C9-2DF6BF8399E8}" type="slidenum">
              <a:rPr lang="en-US" smtClean="0"/>
              <a:pPr/>
              <a:t>46</a:t>
            </a:fld>
            <a:endParaRPr lang="en-US" dirty="0"/>
          </a:p>
        </p:txBody>
      </p:sp>
    </p:spTree>
    <p:extLst>
      <p:ext uri="{BB962C8B-B14F-4D97-AF65-F5344CB8AC3E}">
        <p14:creationId xmlns:p14="http://schemas.microsoft.com/office/powerpoint/2010/main" val="152220121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A8334DBE-132A-4270-9A3F-B608474E3C1C}"/>
              </a:ext>
            </a:extLst>
          </p:cNvPr>
          <p:cNvGrpSpPr/>
          <p:nvPr/>
        </p:nvGrpSpPr>
        <p:grpSpPr>
          <a:xfrm>
            <a:off x="152400" y="1493837"/>
            <a:ext cx="8686800" cy="4525963"/>
            <a:chOff x="152400" y="1493837"/>
            <a:chExt cx="8686800" cy="4525963"/>
          </a:xfrm>
        </p:grpSpPr>
        <p:sp>
          <p:nvSpPr>
            <p:cNvPr id="10" name="Rectangle: Rounded Corners 9">
              <a:extLst>
                <a:ext uri="{FF2B5EF4-FFF2-40B4-BE49-F238E27FC236}">
                  <a16:creationId xmlns:a16="http://schemas.microsoft.com/office/drawing/2014/main" id="{B4464A45-1255-470F-A148-7938F46C05F4}"/>
                </a:ext>
              </a:extLst>
            </p:cNvPr>
            <p:cNvSpPr/>
            <p:nvPr/>
          </p:nvSpPr>
          <p:spPr>
            <a:xfrm>
              <a:off x="152400" y="1493837"/>
              <a:ext cx="8686800" cy="334963"/>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accent1"/>
                </a:solidFill>
              </a:endParaRPr>
            </a:p>
          </p:txBody>
        </p:sp>
        <p:sp>
          <p:nvSpPr>
            <p:cNvPr id="11" name="Rectangle 10">
              <a:extLst>
                <a:ext uri="{FF2B5EF4-FFF2-40B4-BE49-F238E27FC236}">
                  <a16:creationId xmlns:a16="http://schemas.microsoft.com/office/drawing/2014/main" id="{0EA836B7-3971-430E-B8DA-30BF840CB81F}"/>
                </a:ext>
              </a:extLst>
            </p:cNvPr>
            <p:cNvSpPr/>
            <p:nvPr/>
          </p:nvSpPr>
          <p:spPr>
            <a:xfrm>
              <a:off x="152400" y="1828800"/>
              <a:ext cx="8686800" cy="419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5" name="Content Placeholder 4">
            <a:extLst>
              <a:ext uri="{FF2B5EF4-FFF2-40B4-BE49-F238E27FC236}">
                <a16:creationId xmlns:a16="http://schemas.microsoft.com/office/drawing/2014/main" id="{D6A43F01-E320-488C-8E73-D9A93BFBEA42}"/>
              </a:ext>
            </a:extLst>
          </p:cNvPr>
          <p:cNvSpPr>
            <a:spLocks noGrp="1"/>
          </p:cNvSpPr>
          <p:nvPr>
            <p:ph idx="1"/>
          </p:nvPr>
        </p:nvSpPr>
        <p:spPr/>
        <p:txBody>
          <a:bodyPr>
            <a:normAutofit lnSpcReduction="10000"/>
          </a:bodyPr>
          <a:lstStyle/>
          <a:p>
            <a:pPr marL="0" indent="0" fontAlgn="t"/>
            <a:r>
              <a:rPr lang="en-US" dirty="0"/>
              <a:t>Data Model</a:t>
            </a:r>
            <a:endParaRPr lang="en-IN" dirty="0"/>
          </a:p>
          <a:p>
            <a:pPr fontAlgn="t">
              <a:buFont typeface="Arial" panose="020B0604020202020204" pitchFamily="34" charset="0"/>
              <a:buChar char="•"/>
            </a:pPr>
            <a:r>
              <a:rPr lang="en-US" dirty="0"/>
              <a:t>Determine which portions of the system need to be highly available. Within those portions, determine which data abstractions could cause a fault of omission, a crash, incorrect timing behavior, or an incorrect response.</a:t>
            </a:r>
            <a:endParaRPr lang="en-IN" dirty="0"/>
          </a:p>
          <a:p>
            <a:pPr fontAlgn="t">
              <a:buFont typeface="Arial" panose="020B0604020202020204" pitchFamily="34" charset="0"/>
              <a:buChar char="•"/>
            </a:pPr>
            <a:r>
              <a:rPr lang="en-US" dirty="0"/>
              <a:t>For those data abstractions, operations, and properties, ensure that they can be disabled, be temporarily unavailable, or be fixed or masked in the event of a fault.</a:t>
            </a:r>
            <a:endParaRPr lang="en-IN" dirty="0"/>
          </a:p>
          <a:p>
            <a:pPr fontAlgn="t">
              <a:buFont typeface="Arial" panose="020B0604020202020204" pitchFamily="34" charset="0"/>
              <a:buChar char="•"/>
            </a:pPr>
            <a:r>
              <a:rPr lang="en-US" dirty="0"/>
              <a:t>E.g., ensure that write requests are cached if a server is temporarily unavailable and performed when the server is returned to service.</a:t>
            </a:r>
            <a:endParaRPr lang="en-IN"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8" name="Title 1">
            <a:extLst>
              <a:ext uri="{FF2B5EF4-FFF2-40B4-BE49-F238E27FC236}">
                <a16:creationId xmlns:a16="http://schemas.microsoft.com/office/drawing/2014/main" id="{E3F2C643-87A7-42C1-81C7-1358358A6FD3}"/>
              </a:ext>
            </a:extLst>
          </p:cNvPr>
          <p:cNvSpPr>
            <a:spLocks noGrp="1"/>
          </p:cNvSpPr>
          <p:nvPr>
            <p:ph sz="quarter" idx="10"/>
          </p:nvPr>
        </p:nvSpPr>
        <p:spPr/>
        <p:txBody>
          <a:bodyPr/>
          <a:lstStyle/>
          <a:p>
            <a:r>
              <a:rPr lang="en-US" dirty="0"/>
              <a:t>Design Checklist for Availability</a:t>
            </a:r>
          </a:p>
        </p:txBody>
      </p:sp>
      <p:sp>
        <p:nvSpPr>
          <p:cNvPr id="2" name="Date Placeholder 1">
            <a:extLst>
              <a:ext uri="{FF2B5EF4-FFF2-40B4-BE49-F238E27FC236}">
                <a16:creationId xmlns:a16="http://schemas.microsoft.com/office/drawing/2014/main" id="{9FE94AE2-50C3-4F9A-8A41-05CB142BD5F2}"/>
              </a:ext>
            </a:extLst>
          </p:cNvPr>
          <p:cNvSpPr>
            <a:spLocks noGrp="1"/>
          </p:cNvSpPr>
          <p:nvPr>
            <p:ph type="dt" sz="half" idx="12"/>
          </p:nvPr>
        </p:nvSpPr>
        <p:spPr/>
        <p:txBody>
          <a:bodyPr/>
          <a:lstStyle/>
          <a:p>
            <a:r>
              <a:rPr lang="en-US"/>
              <a:t>Auguts 1, 2026</a:t>
            </a:r>
          </a:p>
        </p:txBody>
      </p:sp>
      <p:sp>
        <p:nvSpPr>
          <p:cNvPr id="3" name="Slide Number Placeholder 2">
            <a:extLst>
              <a:ext uri="{FF2B5EF4-FFF2-40B4-BE49-F238E27FC236}">
                <a16:creationId xmlns:a16="http://schemas.microsoft.com/office/drawing/2014/main" id="{63662EBA-1ECA-4A0E-AEA3-F3F2F4F31E37}"/>
              </a:ext>
            </a:extLst>
          </p:cNvPr>
          <p:cNvSpPr>
            <a:spLocks noGrp="1"/>
          </p:cNvSpPr>
          <p:nvPr>
            <p:ph type="sldNum" sz="quarter" idx="14"/>
          </p:nvPr>
        </p:nvSpPr>
        <p:spPr/>
        <p:txBody>
          <a:bodyPr/>
          <a:lstStyle/>
          <a:p>
            <a:fld id="{BC8D7E44-7D4F-4942-A8C9-2DF6BF8399E8}" type="slidenum">
              <a:rPr lang="en-US" smtClean="0"/>
              <a:pPr/>
              <a:t>47</a:t>
            </a:fld>
            <a:endParaRPr lang="en-US" dirty="0"/>
          </a:p>
        </p:txBody>
      </p:sp>
    </p:spTree>
    <p:extLst>
      <p:ext uri="{BB962C8B-B14F-4D97-AF65-F5344CB8AC3E}">
        <p14:creationId xmlns:p14="http://schemas.microsoft.com/office/powerpoint/2010/main" val="402162016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705F8FD2-DDE1-455E-8936-1C6D650D6CF6}"/>
              </a:ext>
            </a:extLst>
          </p:cNvPr>
          <p:cNvGrpSpPr/>
          <p:nvPr/>
        </p:nvGrpSpPr>
        <p:grpSpPr>
          <a:xfrm>
            <a:off x="152400" y="1493837"/>
            <a:ext cx="8686800" cy="4525963"/>
            <a:chOff x="152400" y="1493837"/>
            <a:chExt cx="8686800" cy="4525963"/>
          </a:xfrm>
        </p:grpSpPr>
        <p:sp>
          <p:nvSpPr>
            <p:cNvPr id="10" name="Rectangle: Rounded Corners 9">
              <a:extLst>
                <a:ext uri="{FF2B5EF4-FFF2-40B4-BE49-F238E27FC236}">
                  <a16:creationId xmlns:a16="http://schemas.microsoft.com/office/drawing/2014/main" id="{5DD4D973-FC4B-4307-B543-E692731D0DC7}"/>
                </a:ext>
              </a:extLst>
            </p:cNvPr>
            <p:cNvSpPr/>
            <p:nvPr/>
          </p:nvSpPr>
          <p:spPr>
            <a:xfrm>
              <a:off x="152400" y="1493837"/>
              <a:ext cx="8686800" cy="334963"/>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accent1"/>
                </a:solidFill>
              </a:endParaRPr>
            </a:p>
          </p:txBody>
        </p:sp>
        <p:sp>
          <p:nvSpPr>
            <p:cNvPr id="11" name="Rectangle 10">
              <a:extLst>
                <a:ext uri="{FF2B5EF4-FFF2-40B4-BE49-F238E27FC236}">
                  <a16:creationId xmlns:a16="http://schemas.microsoft.com/office/drawing/2014/main" id="{4F7C7738-AAE3-4373-9DA3-B88701636399}"/>
                </a:ext>
              </a:extLst>
            </p:cNvPr>
            <p:cNvSpPr/>
            <p:nvPr/>
          </p:nvSpPr>
          <p:spPr>
            <a:xfrm>
              <a:off x="152400" y="1828800"/>
              <a:ext cx="8686800" cy="419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5" name="Content Placeholder 4">
            <a:extLst>
              <a:ext uri="{FF2B5EF4-FFF2-40B4-BE49-F238E27FC236}">
                <a16:creationId xmlns:a16="http://schemas.microsoft.com/office/drawing/2014/main" id="{7D928A0A-BD24-4423-8221-EDA046AEEF6A}"/>
              </a:ext>
            </a:extLst>
          </p:cNvPr>
          <p:cNvSpPr>
            <a:spLocks noGrp="1"/>
          </p:cNvSpPr>
          <p:nvPr>
            <p:ph idx="1"/>
          </p:nvPr>
        </p:nvSpPr>
        <p:spPr>
          <a:xfrm>
            <a:off x="304800" y="1493837"/>
            <a:ext cx="8686800" cy="4525963"/>
          </a:xfrm>
        </p:spPr>
        <p:txBody>
          <a:bodyPr>
            <a:noAutofit/>
          </a:bodyPr>
          <a:lstStyle/>
          <a:p>
            <a:pPr marL="0" indent="0" fontAlgn="t"/>
            <a:r>
              <a:rPr lang="en-US" sz="1600" dirty="0"/>
              <a:t>Mapping Among Architectural Elements</a:t>
            </a:r>
            <a:endParaRPr lang="en-IN" sz="1600" dirty="0"/>
          </a:p>
          <a:p>
            <a:pPr fontAlgn="t">
              <a:buFont typeface="Arial" panose="020B0604020202020204" pitchFamily="34" charset="0"/>
              <a:buChar char="•"/>
            </a:pPr>
            <a:r>
              <a:rPr lang="en-US" sz="1600" dirty="0"/>
              <a:t>Determine which artifacts</a:t>
            </a:r>
            <a:r>
              <a:rPr lang="fr-FR" sz="1600" dirty="0"/>
              <a:t> (processors, communication channels, </a:t>
            </a:r>
            <a:r>
              <a:rPr lang="fr-FR" sz="1600" dirty="0" err="1"/>
              <a:t>storage</a:t>
            </a:r>
            <a:r>
              <a:rPr lang="fr-FR" sz="1600" dirty="0"/>
              <a:t>, </a:t>
            </a:r>
            <a:r>
              <a:rPr lang="fr-FR" sz="1600" dirty="0" err="1"/>
              <a:t>processes</a:t>
            </a:r>
            <a:r>
              <a:rPr lang="fr-FR" sz="1600" dirty="0"/>
              <a:t>) </a:t>
            </a:r>
            <a:r>
              <a:rPr lang="en-US" sz="1600" dirty="0"/>
              <a:t>may produce a fault: omission, crash, incorrect timing, or incorrect response. </a:t>
            </a:r>
            <a:endParaRPr lang="en-IN" sz="1600" dirty="0"/>
          </a:p>
          <a:p>
            <a:pPr fontAlgn="t">
              <a:buFont typeface="Arial" panose="020B0604020202020204" pitchFamily="34" charset="0"/>
              <a:buChar char="•"/>
            </a:pPr>
            <a:r>
              <a:rPr lang="en-US" sz="1600" dirty="0"/>
              <a:t>Ensure that the mapping (or re-mapping) of architectural elements is flexible enough to permit the recovery from the fault. This may involve a consideration of</a:t>
            </a:r>
            <a:endParaRPr lang="en-IN" sz="1600" dirty="0"/>
          </a:p>
          <a:p>
            <a:pPr fontAlgn="t">
              <a:buFont typeface="Arial" panose="020B0604020202020204" pitchFamily="34" charset="0"/>
              <a:buChar char="•"/>
            </a:pPr>
            <a:r>
              <a:rPr lang="en-US" sz="1600" dirty="0"/>
              <a:t>which processes on failed processors need to be re-assigned at runtime  </a:t>
            </a:r>
            <a:endParaRPr lang="en-IN" sz="1600" dirty="0"/>
          </a:p>
          <a:p>
            <a:pPr fontAlgn="t">
              <a:buFont typeface="Arial" panose="020B0604020202020204" pitchFamily="34" charset="0"/>
              <a:buChar char="•"/>
            </a:pPr>
            <a:r>
              <a:rPr lang="en-US" sz="1600" dirty="0"/>
              <a:t>which processors, data stores, or communication channels can be activated or re-assigned at runtime</a:t>
            </a:r>
            <a:endParaRPr lang="en-IN" sz="1600" dirty="0"/>
          </a:p>
          <a:p>
            <a:pPr fontAlgn="t">
              <a:buFont typeface="Arial" panose="020B0604020202020204" pitchFamily="34" charset="0"/>
              <a:buChar char="•"/>
            </a:pPr>
            <a:r>
              <a:rPr lang="en-US" sz="1600" dirty="0"/>
              <a:t>how data on failed processors or storage can be served by replacement units</a:t>
            </a:r>
            <a:endParaRPr lang="en-IN" sz="1600" dirty="0"/>
          </a:p>
          <a:p>
            <a:pPr fontAlgn="t">
              <a:buFont typeface="Arial" panose="020B0604020202020204" pitchFamily="34" charset="0"/>
              <a:buChar char="•"/>
            </a:pPr>
            <a:r>
              <a:rPr lang="en-US" sz="1600" dirty="0"/>
              <a:t>how quickly the system can be re-installed based on the units of delivery provided</a:t>
            </a:r>
            <a:endParaRPr lang="en-IN" sz="1600" dirty="0"/>
          </a:p>
          <a:p>
            <a:pPr fontAlgn="t">
              <a:buFont typeface="Arial" panose="020B0604020202020204" pitchFamily="34" charset="0"/>
              <a:buChar char="•"/>
            </a:pPr>
            <a:r>
              <a:rPr lang="en-US" sz="1600" dirty="0"/>
              <a:t>how to (re-) assign runtime elements to processors, communication channels, and data stores</a:t>
            </a:r>
            <a:endParaRPr lang="en-IN" sz="1600" dirty="0"/>
          </a:p>
          <a:p>
            <a:pPr fontAlgn="t">
              <a:buFont typeface="Arial" panose="020B0604020202020204" pitchFamily="34" charset="0"/>
              <a:buChar char="•"/>
            </a:pPr>
            <a:r>
              <a:rPr lang="en-US" sz="1600" dirty="0"/>
              <a:t>When employing tactics that depend on redundancy of functionality, the mapping from modules to redundant components is important.  E.g., it is possible to write a module that contains code appropriate for both the active and back-up components in a protection group.  </a:t>
            </a:r>
            <a:endParaRPr lang="en-IN" sz="1600" dirty="0"/>
          </a:p>
          <a:p>
            <a:pPr>
              <a:buFont typeface="Arial" panose="020B0604020202020204" pitchFamily="34" charset="0"/>
              <a:buChar char="•"/>
            </a:pPr>
            <a:endParaRPr lang="en-IN" sz="1600"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8" name="Title 1">
            <a:extLst>
              <a:ext uri="{FF2B5EF4-FFF2-40B4-BE49-F238E27FC236}">
                <a16:creationId xmlns:a16="http://schemas.microsoft.com/office/drawing/2014/main" id="{4E7AFCD3-9EFC-42C2-9973-3F85F250B631}"/>
              </a:ext>
            </a:extLst>
          </p:cNvPr>
          <p:cNvSpPr>
            <a:spLocks noGrp="1"/>
          </p:cNvSpPr>
          <p:nvPr>
            <p:ph sz="quarter" idx="10"/>
          </p:nvPr>
        </p:nvSpPr>
        <p:spPr/>
        <p:txBody>
          <a:bodyPr>
            <a:normAutofit/>
          </a:bodyPr>
          <a:lstStyle/>
          <a:p>
            <a:r>
              <a:rPr lang="en-US" sz="3200" dirty="0"/>
              <a:t>Design Checklist for Availability</a:t>
            </a:r>
          </a:p>
        </p:txBody>
      </p:sp>
      <p:sp>
        <p:nvSpPr>
          <p:cNvPr id="2" name="Date Placeholder 1">
            <a:extLst>
              <a:ext uri="{FF2B5EF4-FFF2-40B4-BE49-F238E27FC236}">
                <a16:creationId xmlns:a16="http://schemas.microsoft.com/office/drawing/2014/main" id="{FD301892-D421-489A-ABFF-3848F88B1D71}"/>
              </a:ext>
            </a:extLst>
          </p:cNvPr>
          <p:cNvSpPr>
            <a:spLocks noGrp="1"/>
          </p:cNvSpPr>
          <p:nvPr>
            <p:ph type="dt" sz="half" idx="12"/>
          </p:nvPr>
        </p:nvSpPr>
        <p:spPr/>
        <p:txBody>
          <a:bodyPr/>
          <a:lstStyle/>
          <a:p>
            <a:r>
              <a:rPr lang="en-US"/>
              <a:t>Auguts 1, 2026</a:t>
            </a:r>
          </a:p>
        </p:txBody>
      </p:sp>
      <p:sp>
        <p:nvSpPr>
          <p:cNvPr id="3" name="Slide Number Placeholder 2">
            <a:extLst>
              <a:ext uri="{FF2B5EF4-FFF2-40B4-BE49-F238E27FC236}">
                <a16:creationId xmlns:a16="http://schemas.microsoft.com/office/drawing/2014/main" id="{D4D53805-3EDA-48F5-A896-65E2FEC1E848}"/>
              </a:ext>
            </a:extLst>
          </p:cNvPr>
          <p:cNvSpPr>
            <a:spLocks noGrp="1"/>
          </p:cNvSpPr>
          <p:nvPr>
            <p:ph type="sldNum" sz="quarter" idx="14"/>
          </p:nvPr>
        </p:nvSpPr>
        <p:spPr/>
        <p:txBody>
          <a:bodyPr/>
          <a:lstStyle/>
          <a:p>
            <a:fld id="{BC8D7E44-7D4F-4942-A8C9-2DF6BF8399E8}" type="slidenum">
              <a:rPr lang="en-US" smtClean="0"/>
              <a:pPr/>
              <a:t>48</a:t>
            </a:fld>
            <a:endParaRPr lang="en-US" dirty="0"/>
          </a:p>
        </p:txBody>
      </p:sp>
    </p:spTree>
    <p:extLst>
      <p:ext uri="{BB962C8B-B14F-4D97-AF65-F5344CB8AC3E}">
        <p14:creationId xmlns:p14="http://schemas.microsoft.com/office/powerpoint/2010/main" val="351111103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D3E7482F-6148-4890-82E7-065E5BF620AC}"/>
              </a:ext>
            </a:extLst>
          </p:cNvPr>
          <p:cNvGrpSpPr/>
          <p:nvPr/>
        </p:nvGrpSpPr>
        <p:grpSpPr>
          <a:xfrm>
            <a:off x="152400" y="1493837"/>
            <a:ext cx="8686800" cy="4525963"/>
            <a:chOff x="152400" y="1493837"/>
            <a:chExt cx="8686800" cy="4525963"/>
          </a:xfrm>
        </p:grpSpPr>
        <p:sp>
          <p:nvSpPr>
            <p:cNvPr id="11" name="Rectangle: Rounded Corners 10">
              <a:extLst>
                <a:ext uri="{FF2B5EF4-FFF2-40B4-BE49-F238E27FC236}">
                  <a16:creationId xmlns:a16="http://schemas.microsoft.com/office/drawing/2014/main" id="{AAB4601D-84BB-4999-9774-FA4D792FB457}"/>
                </a:ext>
              </a:extLst>
            </p:cNvPr>
            <p:cNvSpPr/>
            <p:nvPr/>
          </p:nvSpPr>
          <p:spPr>
            <a:xfrm>
              <a:off x="152400" y="1493837"/>
              <a:ext cx="8686800" cy="334963"/>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accent1"/>
                </a:solidFill>
              </a:endParaRPr>
            </a:p>
          </p:txBody>
        </p:sp>
        <p:sp>
          <p:nvSpPr>
            <p:cNvPr id="12" name="Rectangle 11">
              <a:extLst>
                <a:ext uri="{FF2B5EF4-FFF2-40B4-BE49-F238E27FC236}">
                  <a16:creationId xmlns:a16="http://schemas.microsoft.com/office/drawing/2014/main" id="{6CEF54EB-7BCA-4D27-A8D1-D303981DD8BB}"/>
                </a:ext>
              </a:extLst>
            </p:cNvPr>
            <p:cNvSpPr/>
            <p:nvPr/>
          </p:nvSpPr>
          <p:spPr>
            <a:xfrm>
              <a:off x="152400" y="1828800"/>
              <a:ext cx="8686800" cy="419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5" name="Content Placeholder 4">
            <a:extLst>
              <a:ext uri="{FF2B5EF4-FFF2-40B4-BE49-F238E27FC236}">
                <a16:creationId xmlns:a16="http://schemas.microsoft.com/office/drawing/2014/main" id="{B71177B1-EC28-42A4-AFC4-F1C4BFA38E3D}"/>
              </a:ext>
            </a:extLst>
          </p:cNvPr>
          <p:cNvSpPr>
            <a:spLocks noGrp="1"/>
          </p:cNvSpPr>
          <p:nvPr>
            <p:ph idx="1"/>
          </p:nvPr>
        </p:nvSpPr>
        <p:spPr/>
        <p:txBody>
          <a:bodyPr>
            <a:normAutofit fontScale="85000" lnSpcReduction="20000"/>
          </a:bodyPr>
          <a:lstStyle/>
          <a:p>
            <a:pPr marL="0" indent="0" fontAlgn="t"/>
            <a:r>
              <a:rPr lang="en-US" dirty="0"/>
              <a:t>Resource Management</a:t>
            </a:r>
            <a:endParaRPr lang="en-IN" dirty="0"/>
          </a:p>
          <a:p>
            <a:pPr fontAlgn="t">
              <a:buFont typeface="Arial" panose="020B0604020202020204" pitchFamily="34" charset="0"/>
              <a:buChar char="•"/>
            </a:pPr>
            <a:r>
              <a:rPr lang="en-US" dirty="0"/>
              <a:t>Determine what critical resources are necessary to continue operating in the presence of a fault: omission, crash, incorrect timing, or incorrect response. Ensure there are sufficient remaining resources in the event of a fault to log the fault; notify appropriate entities (people or systems); disable source of events causing the fault; fix or mask the fault/failure; operate normally, in startup, shutdown, repair mode, degraded operation, and overloaded operation.</a:t>
            </a:r>
            <a:endParaRPr lang="en-IN" dirty="0"/>
          </a:p>
          <a:p>
            <a:pPr fontAlgn="t">
              <a:buFont typeface="Arial" panose="020B0604020202020204" pitchFamily="34" charset="0"/>
              <a:buChar char="•"/>
            </a:pPr>
            <a:r>
              <a:rPr lang="en-US" dirty="0"/>
              <a:t>Determine the availability time for critical resources, what critical resources must be available during specified time intervals, time intervals during which the critical resources may be in a degraded mode, and repair time for critical resources. Ensure that the critical resources are available during these time intervals.</a:t>
            </a:r>
            <a:endParaRPr lang="en-IN" dirty="0"/>
          </a:p>
          <a:p>
            <a:pPr fontAlgn="t">
              <a:buFont typeface="Arial" panose="020B0604020202020204" pitchFamily="34" charset="0"/>
              <a:buChar char="•"/>
            </a:pPr>
            <a:r>
              <a:rPr lang="en-US" dirty="0"/>
              <a:t>For example, ensure that input queues are large enough to buffer anticipated messages if a server fails so that the messages are not permanently lost.</a:t>
            </a:r>
            <a:endParaRPr lang="en-IN" dirty="0"/>
          </a:p>
          <a:p>
            <a:pPr>
              <a:buFont typeface="Arial" panose="020B0604020202020204" pitchFamily="34" charset="0"/>
              <a:buChar char="•"/>
            </a:pPr>
            <a:endParaRPr lang="en-IN"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8" name="Title 1">
            <a:extLst>
              <a:ext uri="{FF2B5EF4-FFF2-40B4-BE49-F238E27FC236}">
                <a16:creationId xmlns:a16="http://schemas.microsoft.com/office/drawing/2014/main" id="{B7E86360-1F2B-4696-AEB4-13FE7CDCF083}"/>
              </a:ext>
            </a:extLst>
          </p:cNvPr>
          <p:cNvSpPr>
            <a:spLocks noGrp="1"/>
          </p:cNvSpPr>
          <p:nvPr>
            <p:ph sz="quarter" idx="10"/>
          </p:nvPr>
        </p:nvSpPr>
        <p:spPr/>
        <p:txBody>
          <a:bodyPr>
            <a:normAutofit/>
          </a:bodyPr>
          <a:lstStyle/>
          <a:p>
            <a:r>
              <a:rPr lang="en-US" sz="3200" dirty="0"/>
              <a:t>Design Checklist for Availability</a:t>
            </a:r>
          </a:p>
        </p:txBody>
      </p:sp>
      <p:sp>
        <p:nvSpPr>
          <p:cNvPr id="2" name="Date Placeholder 1">
            <a:extLst>
              <a:ext uri="{FF2B5EF4-FFF2-40B4-BE49-F238E27FC236}">
                <a16:creationId xmlns:a16="http://schemas.microsoft.com/office/drawing/2014/main" id="{EF57A1F7-C36C-4EA8-89C8-3AAB9F053C51}"/>
              </a:ext>
            </a:extLst>
          </p:cNvPr>
          <p:cNvSpPr>
            <a:spLocks noGrp="1"/>
          </p:cNvSpPr>
          <p:nvPr>
            <p:ph type="dt" sz="half" idx="12"/>
          </p:nvPr>
        </p:nvSpPr>
        <p:spPr/>
        <p:txBody>
          <a:bodyPr/>
          <a:lstStyle/>
          <a:p>
            <a:r>
              <a:rPr lang="en-US"/>
              <a:t>Auguts 1, 2026</a:t>
            </a:r>
          </a:p>
        </p:txBody>
      </p:sp>
      <p:sp>
        <p:nvSpPr>
          <p:cNvPr id="3" name="Slide Number Placeholder 2">
            <a:extLst>
              <a:ext uri="{FF2B5EF4-FFF2-40B4-BE49-F238E27FC236}">
                <a16:creationId xmlns:a16="http://schemas.microsoft.com/office/drawing/2014/main" id="{027B4034-0482-420C-B50B-020C870854FA}"/>
              </a:ext>
            </a:extLst>
          </p:cNvPr>
          <p:cNvSpPr>
            <a:spLocks noGrp="1"/>
          </p:cNvSpPr>
          <p:nvPr>
            <p:ph type="sldNum" sz="quarter" idx="14"/>
          </p:nvPr>
        </p:nvSpPr>
        <p:spPr/>
        <p:txBody>
          <a:bodyPr/>
          <a:lstStyle/>
          <a:p>
            <a:fld id="{BC8D7E44-7D4F-4942-A8C9-2DF6BF8399E8}" type="slidenum">
              <a:rPr lang="en-US" smtClean="0"/>
              <a:pPr/>
              <a:t>49</a:t>
            </a:fld>
            <a:endParaRPr lang="en-US" dirty="0"/>
          </a:p>
        </p:txBody>
      </p:sp>
    </p:spTree>
    <p:extLst>
      <p:ext uri="{BB962C8B-B14F-4D97-AF65-F5344CB8AC3E}">
        <p14:creationId xmlns:p14="http://schemas.microsoft.com/office/powerpoint/2010/main" val="89907605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678D2E34-ECBE-4779-AA3F-411CEE98B7F0}"/>
              </a:ext>
            </a:extLst>
          </p:cNvPr>
          <p:cNvGrpSpPr/>
          <p:nvPr/>
        </p:nvGrpSpPr>
        <p:grpSpPr>
          <a:xfrm>
            <a:off x="152400" y="1493837"/>
            <a:ext cx="8686800" cy="4525963"/>
            <a:chOff x="152400" y="1493837"/>
            <a:chExt cx="8686800" cy="4525963"/>
          </a:xfrm>
        </p:grpSpPr>
        <p:sp>
          <p:nvSpPr>
            <p:cNvPr id="10" name="Rectangle: Rounded Corners 9">
              <a:extLst>
                <a:ext uri="{FF2B5EF4-FFF2-40B4-BE49-F238E27FC236}">
                  <a16:creationId xmlns:a16="http://schemas.microsoft.com/office/drawing/2014/main" id="{9C7491FB-21EF-45DD-A296-BCFF9FD6E762}"/>
                </a:ext>
              </a:extLst>
            </p:cNvPr>
            <p:cNvSpPr/>
            <p:nvPr/>
          </p:nvSpPr>
          <p:spPr>
            <a:xfrm>
              <a:off x="152400" y="1493837"/>
              <a:ext cx="8686800" cy="334963"/>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accent1"/>
                </a:solidFill>
              </a:endParaRPr>
            </a:p>
          </p:txBody>
        </p:sp>
        <p:sp>
          <p:nvSpPr>
            <p:cNvPr id="11" name="Rectangle 10">
              <a:extLst>
                <a:ext uri="{FF2B5EF4-FFF2-40B4-BE49-F238E27FC236}">
                  <a16:creationId xmlns:a16="http://schemas.microsoft.com/office/drawing/2014/main" id="{24E6E5C9-F19F-49EF-9922-AB7336E407B3}"/>
                </a:ext>
              </a:extLst>
            </p:cNvPr>
            <p:cNvSpPr/>
            <p:nvPr/>
          </p:nvSpPr>
          <p:spPr>
            <a:xfrm>
              <a:off x="152400" y="1828800"/>
              <a:ext cx="8686800" cy="419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5" name="Content Placeholder 4">
            <a:extLst>
              <a:ext uri="{FF2B5EF4-FFF2-40B4-BE49-F238E27FC236}">
                <a16:creationId xmlns:a16="http://schemas.microsoft.com/office/drawing/2014/main" id="{E20B7226-2125-4409-8B3D-36F328286F86}"/>
              </a:ext>
            </a:extLst>
          </p:cNvPr>
          <p:cNvSpPr>
            <a:spLocks noGrp="1"/>
          </p:cNvSpPr>
          <p:nvPr>
            <p:ph idx="1"/>
          </p:nvPr>
        </p:nvSpPr>
        <p:spPr/>
        <p:txBody>
          <a:bodyPr>
            <a:normAutofit fontScale="85000" lnSpcReduction="20000"/>
          </a:bodyPr>
          <a:lstStyle/>
          <a:p>
            <a:pPr marL="0" indent="0" fontAlgn="t"/>
            <a:r>
              <a:rPr lang="en-US" dirty="0"/>
              <a:t>Binding Time</a:t>
            </a:r>
            <a:endParaRPr lang="en-IN" dirty="0"/>
          </a:p>
          <a:p>
            <a:pPr fontAlgn="t">
              <a:buFont typeface="Arial" panose="020B0604020202020204" pitchFamily="34" charset="0"/>
              <a:buChar char="•"/>
            </a:pPr>
            <a:r>
              <a:rPr lang="en-US" dirty="0"/>
              <a:t>Determine how and when architectural elements are bound.  If late binding is used to alternate between components that can themselves be sources of faults (e.g. processes, processors, communication channels), ensure the chosen availability strategy is sufficient to cover faults introduced by all sources. E.g.</a:t>
            </a:r>
            <a:endParaRPr lang="en-IN" dirty="0"/>
          </a:p>
          <a:p>
            <a:pPr fontAlgn="t">
              <a:buFont typeface="Arial" panose="020B0604020202020204" pitchFamily="34" charset="0"/>
              <a:buChar char="•"/>
            </a:pPr>
            <a:r>
              <a:rPr lang="en-US" dirty="0"/>
              <a:t>If late binding is used to switch between processors that will be the subject of faults, will the fault detection and recovery mechanisms work for all possible bindings?</a:t>
            </a:r>
            <a:endParaRPr lang="en-IN" dirty="0"/>
          </a:p>
          <a:p>
            <a:pPr fontAlgn="t">
              <a:buFont typeface="Arial" panose="020B0604020202020204" pitchFamily="34" charset="0"/>
              <a:buChar char="•"/>
            </a:pPr>
            <a:r>
              <a:rPr lang="en-US" dirty="0"/>
              <a:t>If late binding is used to change the definition or tolerance of what constitutes a fault (e.g., how long a process can go without responding before a fault is assumed), is the recovery strategy chosen sufficient to handle all cases?  For example, if a fault is flagged after 0.1 </a:t>
            </a:r>
            <a:r>
              <a:rPr lang="en-US" dirty="0" err="1"/>
              <a:t>ms</a:t>
            </a:r>
            <a:r>
              <a:rPr lang="en-US" dirty="0"/>
              <a:t>, but the recovery mechanism takes 1.5 seconds to work, that might be an unacceptable mismatch.</a:t>
            </a:r>
            <a:endParaRPr lang="en-IN" dirty="0"/>
          </a:p>
          <a:p>
            <a:pPr fontAlgn="t">
              <a:buFont typeface="Arial" panose="020B0604020202020204" pitchFamily="34" charset="0"/>
              <a:buChar char="•"/>
            </a:pPr>
            <a:r>
              <a:rPr lang="en-US" dirty="0"/>
              <a:t>What are the availability characteristics of the late binding mechanism itself?  Can it fail?</a:t>
            </a:r>
            <a:endParaRPr lang="en-IN" dirty="0"/>
          </a:p>
          <a:p>
            <a:pPr>
              <a:buFont typeface="Arial" panose="020B0604020202020204" pitchFamily="34" charset="0"/>
              <a:buChar char="•"/>
            </a:pPr>
            <a:endParaRPr lang="en-IN"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8" name="Title 1">
            <a:extLst>
              <a:ext uri="{FF2B5EF4-FFF2-40B4-BE49-F238E27FC236}">
                <a16:creationId xmlns:a16="http://schemas.microsoft.com/office/drawing/2014/main" id="{7F65D9DF-70D4-4436-9547-2ECCE9C237EF}"/>
              </a:ext>
            </a:extLst>
          </p:cNvPr>
          <p:cNvSpPr>
            <a:spLocks noGrp="1"/>
          </p:cNvSpPr>
          <p:nvPr>
            <p:ph sz="quarter" idx="10"/>
          </p:nvPr>
        </p:nvSpPr>
        <p:spPr/>
        <p:txBody>
          <a:bodyPr>
            <a:normAutofit/>
          </a:bodyPr>
          <a:lstStyle/>
          <a:p>
            <a:r>
              <a:rPr lang="en-US" sz="3200" dirty="0"/>
              <a:t>Design Checklist for Availability</a:t>
            </a:r>
          </a:p>
        </p:txBody>
      </p:sp>
      <p:sp>
        <p:nvSpPr>
          <p:cNvPr id="2" name="Date Placeholder 1">
            <a:extLst>
              <a:ext uri="{FF2B5EF4-FFF2-40B4-BE49-F238E27FC236}">
                <a16:creationId xmlns:a16="http://schemas.microsoft.com/office/drawing/2014/main" id="{3BF3FD70-66E8-43F3-A47C-BE00EAB81543}"/>
              </a:ext>
            </a:extLst>
          </p:cNvPr>
          <p:cNvSpPr>
            <a:spLocks noGrp="1"/>
          </p:cNvSpPr>
          <p:nvPr>
            <p:ph type="dt" sz="half" idx="12"/>
          </p:nvPr>
        </p:nvSpPr>
        <p:spPr/>
        <p:txBody>
          <a:bodyPr/>
          <a:lstStyle/>
          <a:p>
            <a:r>
              <a:rPr lang="en-US"/>
              <a:t>Auguts 1, 2026</a:t>
            </a:r>
          </a:p>
        </p:txBody>
      </p:sp>
      <p:sp>
        <p:nvSpPr>
          <p:cNvPr id="3" name="Slide Number Placeholder 2">
            <a:extLst>
              <a:ext uri="{FF2B5EF4-FFF2-40B4-BE49-F238E27FC236}">
                <a16:creationId xmlns:a16="http://schemas.microsoft.com/office/drawing/2014/main" id="{53679CCF-B36A-4509-BE98-CD77AE859AFC}"/>
              </a:ext>
            </a:extLst>
          </p:cNvPr>
          <p:cNvSpPr>
            <a:spLocks noGrp="1"/>
          </p:cNvSpPr>
          <p:nvPr>
            <p:ph type="sldNum" sz="quarter" idx="14"/>
          </p:nvPr>
        </p:nvSpPr>
        <p:spPr/>
        <p:txBody>
          <a:bodyPr/>
          <a:lstStyle/>
          <a:p>
            <a:fld id="{BC8D7E44-7D4F-4942-A8C9-2DF6BF8399E8}" type="slidenum">
              <a:rPr lang="en-US" smtClean="0"/>
              <a:pPr/>
              <a:t>50</a:t>
            </a:fld>
            <a:endParaRPr lang="en-US" dirty="0"/>
          </a:p>
        </p:txBody>
      </p:sp>
    </p:spTree>
    <p:extLst>
      <p:ext uri="{BB962C8B-B14F-4D97-AF65-F5344CB8AC3E}">
        <p14:creationId xmlns:p14="http://schemas.microsoft.com/office/powerpoint/2010/main" val="136138094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4EEA52CF-9E42-4AB3-8581-E184E38DEA64}"/>
              </a:ext>
            </a:extLst>
          </p:cNvPr>
          <p:cNvGrpSpPr/>
          <p:nvPr/>
        </p:nvGrpSpPr>
        <p:grpSpPr>
          <a:xfrm>
            <a:off x="152400" y="1493837"/>
            <a:ext cx="8686800" cy="4525963"/>
            <a:chOff x="152400" y="1493837"/>
            <a:chExt cx="8686800" cy="4525963"/>
          </a:xfrm>
        </p:grpSpPr>
        <p:sp>
          <p:nvSpPr>
            <p:cNvPr id="11" name="Rectangle: Rounded Corners 10">
              <a:extLst>
                <a:ext uri="{FF2B5EF4-FFF2-40B4-BE49-F238E27FC236}">
                  <a16:creationId xmlns:a16="http://schemas.microsoft.com/office/drawing/2014/main" id="{E1F3052C-833E-42C5-99A1-AF878E0282AF}"/>
                </a:ext>
              </a:extLst>
            </p:cNvPr>
            <p:cNvSpPr/>
            <p:nvPr/>
          </p:nvSpPr>
          <p:spPr>
            <a:xfrm>
              <a:off x="152400" y="1493837"/>
              <a:ext cx="8686800" cy="334963"/>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accent1"/>
                </a:solidFill>
              </a:endParaRPr>
            </a:p>
          </p:txBody>
        </p:sp>
        <p:sp>
          <p:nvSpPr>
            <p:cNvPr id="12" name="Rectangle 11">
              <a:extLst>
                <a:ext uri="{FF2B5EF4-FFF2-40B4-BE49-F238E27FC236}">
                  <a16:creationId xmlns:a16="http://schemas.microsoft.com/office/drawing/2014/main" id="{0EAA0082-CFED-4AC8-AC2E-C690F17D49D6}"/>
                </a:ext>
              </a:extLst>
            </p:cNvPr>
            <p:cNvSpPr/>
            <p:nvPr/>
          </p:nvSpPr>
          <p:spPr>
            <a:xfrm>
              <a:off x="152400" y="1828800"/>
              <a:ext cx="8686800" cy="419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5" name="Content Placeholder 4">
            <a:extLst>
              <a:ext uri="{FF2B5EF4-FFF2-40B4-BE49-F238E27FC236}">
                <a16:creationId xmlns:a16="http://schemas.microsoft.com/office/drawing/2014/main" id="{791BD5A4-BBAA-4291-83C4-DEB885FA57A3}"/>
              </a:ext>
            </a:extLst>
          </p:cNvPr>
          <p:cNvSpPr>
            <a:spLocks noGrp="1"/>
          </p:cNvSpPr>
          <p:nvPr>
            <p:ph idx="1"/>
          </p:nvPr>
        </p:nvSpPr>
        <p:spPr/>
        <p:txBody>
          <a:bodyPr/>
          <a:lstStyle/>
          <a:p>
            <a:pPr marL="0" indent="0" fontAlgn="t"/>
            <a:r>
              <a:rPr lang="en-US" dirty="0"/>
              <a:t>Choice of Technology</a:t>
            </a:r>
            <a:endParaRPr lang="en-IN" dirty="0"/>
          </a:p>
          <a:p>
            <a:pPr fontAlgn="t">
              <a:buFont typeface="Arial" panose="020B0604020202020204" pitchFamily="34" charset="0"/>
              <a:buChar char="•"/>
            </a:pPr>
            <a:r>
              <a:rPr lang="en-US" dirty="0"/>
              <a:t>Determine the available technologies that can (help) detect faults, recover from faults, re-introduce failed components. </a:t>
            </a:r>
            <a:endParaRPr lang="en-IN" dirty="0"/>
          </a:p>
          <a:p>
            <a:pPr fontAlgn="t">
              <a:buFont typeface="Arial" panose="020B0604020202020204" pitchFamily="34" charset="0"/>
              <a:buChar char="•"/>
            </a:pPr>
            <a:r>
              <a:rPr lang="en-US" dirty="0"/>
              <a:t>Determine what technologies are available that help the response to a fault (e.g., event loggers). </a:t>
            </a:r>
            <a:endParaRPr lang="en-IN" dirty="0"/>
          </a:p>
          <a:p>
            <a:pPr fontAlgn="t">
              <a:buFont typeface="Arial" panose="020B0604020202020204" pitchFamily="34" charset="0"/>
              <a:buChar char="•"/>
            </a:pPr>
            <a:r>
              <a:rPr lang="en-US" dirty="0"/>
              <a:t>Determine the availability characteristics of chosen technologies themselves:  What faults can they recover from?  What faults might they introduce into the system? </a:t>
            </a:r>
            <a:endParaRPr lang="en-IN"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9" name="Title 1">
            <a:extLst>
              <a:ext uri="{FF2B5EF4-FFF2-40B4-BE49-F238E27FC236}">
                <a16:creationId xmlns:a16="http://schemas.microsoft.com/office/drawing/2014/main" id="{5D60DBF7-A0C6-4B09-A213-9A0E20E55989}"/>
              </a:ext>
            </a:extLst>
          </p:cNvPr>
          <p:cNvSpPr>
            <a:spLocks noGrp="1"/>
          </p:cNvSpPr>
          <p:nvPr>
            <p:ph sz="quarter" idx="10"/>
          </p:nvPr>
        </p:nvSpPr>
        <p:spPr/>
        <p:txBody>
          <a:bodyPr>
            <a:normAutofit/>
          </a:bodyPr>
          <a:lstStyle/>
          <a:p>
            <a:r>
              <a:rPr lang="en-US" sz="3200" dirty="0"/>
              <a:t>Design Checklist for Availability</a:t>
            </a:r>
          </a:p>
        </p:txBody>
      </p:sp>
      <p:sp>
        <p:nvSpPr>
          <p:cNvPr id="2" name="Date Placeholder 1">
            <a:extLst>
              <a:ext uri="{FF2B5EF4-FFF2-40B4-BE49-F238E27FC236}">
                <a16:creationId xmlns:a16="http://schemas.microsoft.com/office/drawing/2014/main" id="{5CFAE5B0-14FA-48A8-B585-2365D2F72DCF}"/>
              </a:ext>
            </a:extLst>
          </p:cNvPr>
          <p:cNvSpPr>
            <a:spLocks noGrp="1"/>
          </p:cNvSpPr>
          <p:nvPr>
            <p:ph type="dt" sz="half" idx="12"/>
          </p:nvPr>
        </p:nvSpPr>
        <p:spPr/>
        <p:txBody>
          <a:bodyPr/>
          <a:lstStyle/>
          <a:p>
            <a:r>
              <a:rPr lang="en-US"/>
              <a:t>Auguts 1, 2026</a:t>
            </a:r>
          </a:p>
        </p:txBody>
      </p:sp>
      <p:sp>
        <p:nvSpPr>
          <p:cNvPr id="3" name="Slide Number Placeholder 2">
            <a:extLst>
              <a:ext uri="{FF2B5EF4-FFF2-40B4-BE49-F238E27FC236}">
                <a16:creationId xmlns:a16="http://schemas.microsoft.com/office/drawing/2014/main" id="{C94ACB7D-CC64-44B8-9FFD-CE123AE619CC}"/>
              </a:ext>
            </a:extLst>
          </p:cNvPr>
          <p:cNvSpPr>
            <a:spLocks noGrp="1"/>
          </p:cNvSpPr>
          <p:nvPr>
            <p:ph type="sldNum" sz="quarter" idx="14"/>
          </p:nvPr>
        </p:nvSpPr>
        <p:spPr/>
        <p:txBody>
          <a:bodyPr/>
          <a:lstStyle/>
          <a:p>
            <a:fld id="{BC8D7E44-7D4F-4942-A8C9-2DF6BF8399E8}" type="slidenum">
              <a:rPr lang="en-US" smtClean="0"/>
              <a:pPr/>
              <a:t>51</a:t>
            </a:fld>
            <a:endParaRPr lang="en-US" dirty="0"/>
          </a:p>
        </p:txBody>
      </p:sp>
    </p:spTree>
    <p:extLst>
      <p:ext uri="{BB962C8B-B14F-4D97-AF65-F5344CB8AC3E}">
        <p14:creationId xmlns:p14="http://schemas.microsoft.com/office/powerpoint/2010/main" val="244266162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anose="020B0604020202020204" pitchFamily="34" charset="0"/>
              <a:buChar char="•"/>
            </a:pPr>
            <a:r>
              <a:rPr lang="en-US" dirty="0"/>
              <a:t>Availability refers to the ability of the system to be available for use when a fault occurs. </a:t>
            </a:r>
          </a:p>
          <a:p>
            <a:pPr>
              <a:buFont typeface="Arial" panose="020B0604020202020204" pitchFamily="34" charset="0"/>
              <a:buChar char="•"/>
            </a:pPr>
            <a:r>
              <a:rPr lang="en-US" dirty="0"/>
              <a:t>The fault must be recognized (or prevented) and then the system must respond. </a:t>
            </a:r>
          </a:p>
          <a:p>
            <a:pPr>
              <a:buFont typeface="Arial" panose="020B0604020202020204" pitchFamily="34" charset="0"/>
              <a:buChar char="•"/>
            </a:pPr>
            <a:r>
              <a:rPr lang="en-US" dirty="0"/>
              <a:t>The response will depend on the criticality of the application and the type of fault</a:t>
            </a:r>
          </a:p>
          <a:p>
            <a:pPr lvl="1"/>
            <a:r>
              <a:rPr lang="en-US" dirty="0"/>
              <a:t>can range from “ignore it” to “keep on going as if it didn’t occur.” </a:t>
            </a:r>
          </a:p>
          <a:p>
            <a:pPr>
              <a:buFont typeface="Arial" panose="020B0604020202020204" pitchFamily="34" charset="0"/>
              <a:buChar char="•"/>
            </a:pPr>
            <a:endParaRPr lang="en-US"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a:extLst>
              <a:ext uri="{FF2B5EF4-FFF2-40B4-BE49-F238E27FC236}">
                <a16:creationId xmlns:a16="http://schemas.microsoft.com/office/drawing/2014/main" id="{33A2BB41-2C77-44D8-85FC-5A270F8925F2}"/>
              </a:ext>
            </a:extLst>
          </p:cNvPr>
          <p:cNvSpPr>
            <a:spLocks noGrp="1"/>
          </p:cNvSpPr>
          <p:nvPr>
            <p:ph sz="quarter" idx="10"/>
          </p:nvPr>
        </p:nvSpPr>
        <p:spPr/>
        <p:txBody>
          <a:bodyPr/>
          <a:lstStyle/>
          <a:p>
            <a:r>
              <a:rPr lang="en-US" dirty="0"/>
              <a:t>Summary</a:t>
            </a:r>
          </a:p>
        </p:txBody>
      </p:sp>
      <p:sp>
        <p:nvSpPr>
          <p:cNvPr id="2" name="Date Placeholder 1">
            <a:extLst>
              <a:ext uri="{FF2B5EF4-FFF2-40B4-BE49-F238E27FC236}">
                <a16:creationId xmlns:a16="http://schemas.microsoft.com/office/drawing/2014/main" id="{31896D4F-50C5-4007-A4C8-E6AE9BB1E027}"/>
              </a:ext>
            </a:extLst>
          </p:cNvPr>
          <p:cNvSpPr>
            <a:spLocks noGrp="1"/>
          </p:cNvSpPr>
          <p:nvPr>
            <p:ph type="dt" sz="half" idx="12"/>
          </p:nvPr>
        </p:nvSpPr>
        <p:spPr/>
        <p:txBody>
          <a:bodyPr/>
          <a:lstStyle/>
          <a:p>
            <a:r>
              <a:rPr lang="en-US"/>
              <a:t>Auguts 1, 2026</a:t>
            </a:r>
          </a:p>
        </p:txBody>
      </p:sp>
      <p:sp>
        <p:nvSpPr>
          <p:cNvPr id="5" name="Slide Number Placeholder 4">
            <a:extLst>
              <a:ext uri="{FF2B5EF4-FFF2-40B4-BE49-F238E27FC236}">
                <a16:creationId xmlns:a16="http://schemas.microsoft.com/office/drawing/2014/main" id="{EAFD40D9-9BF2-4615-954A-CFEBFF23B4EF}"/>
              </a:ext>
            </a:extLst>
          </p:cNvPr>
          <p:cNvSpPr>
            <a:spLocks noGrp="1"/>
          </p:cNvSpPr>
          <p:nvPr>
            <p:ph type="sldNum" sz="quarter" idx="14"/>
          </p:nvPr>
        </p:nvSpPr>
        <p:spPr/>
        <p:txBody>
          <a:bodyPr/>
          <a:lstStyle/>
          <a:p>
            <a:fld id="{BC8D7E44-7D4F-4942-A8C9-2DF6BF8399E8}" type="slidenum">
              <a:rPr lang="en-US" smtClean="0"/>
              <a:pPr/>
              <a:t>52</a:t>
            </a:fld>
            <a:endParaRPr lang="en-US" dirty="0"/>
          </a:p>
        </p:txBody>
      </p:sp>
    </p:spTree>
    <p:extLst>
      <p:ext uri="{BB962C8B-B14F-4D97-AF65-F5344CB8AC3E}">
        <p14:creationId xmlns:p14="http://schemas.microsoft.com/office/powerpoint/2010/main" val="172265493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anose="020B0604020202020204" pitchFamily="34" charset="0"/>
              <a:buChar char="•"/>
            </a:pPr>
            <a:r>
              <a:rPr lang="en-US" dirty="0"/>
              <a:t>Tactics for availability are categorized into detect faults, recover from faults and prevent faults. </a:t>
            </a:r>
          </a:p>
          <a:p>
            <a:pPr>
              <a:buFont typeface="Arial" panose="020B0604020202020204" pitchFamily="34" charset="0"/>
              <a:buChar char="•"/>
            </a:pPr>
            <a:r>
              <a:rPr lang="en-US" dirty="0"/>
              <a:t>Detection tactics depend on detecting signs of life from various components. </a:t>
            </a:r>
          </a:p>
          <a:p>
            <a:pPr>
              <a:buFont typeface="Arial" panose="020B0604020202020204" pitchFamily="34" charset="0"/>
              <a:buChar char="•"/>
            </a:pPr>
            <a:r>
              <a:rPr lang="en-US" dirty="0"/>
              <a:t>Recovery tactics are retrying an operation or maintaining redundant data or computations. </a:t>
            </a:r>
          </a:p>
          <a:p>
            <a:pPr>
              <a:buFont typeface="Arial" panose="020B0604020202020204" pitchFamily="34" charset="0"/>
              <a:buChar char="•"/>
            </a:pPr>
            <a:r>
              <a:rPr lang="en-US" dirty="0"/>
              <a:t>Prevention tactics depend on removing elements from service or limiting the scope of faults. </a:t>
            </a:r>
          </a:p>
          <a:p>
            <a:pPr>
              <a:buFont typeface="Arial" panose="020B0604020202020204" pitchFamily="34" charset="0"/>
              <a:buChar char="•"/>
            </a:pPr>
            <a:r>
              <a:rPr lang="en-US" dirty="0"/>
              <a:t>All availability tactics involve the coordination model.</a:t>
            </a:r>
          </a:p>
          <a:p>
            <a:pPr>
              <a:buFont typeface="Arial" panose="020B0604020202020204" pitchFamily="34" charset="0"/>
              <a:buChar char="•"/>
            </a:pPr>
            <a:endParaRPr lang="en-US"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a:extLst>
              <a:ext uri="{FF2B5EF4-FFF2-40B4-BE49-F238E27FC236}">
                <a16:creationId xmlns:a16="http://schemas.microsoft.com/office/drawing/2014/main" id="{A0322DD4-FED6-4823-81FD-E5471EACF9CE}"/>
              </a:ext>
            </a:extLst>
          </p:cNvPr>
          <p:cNvSpPr>
            <a:spLocks noGrp="1"/>
          </p:cNvSpPr>
          <p:nvPr>
            <p:ph sz="quarter" idx="10"/>
          </p:nvPr>
        </p:nvSpPr>
        <p:spPr/>
        <p:txBody>
          <a:bodyPr/>
          <a:lstStyle/>
          <a:p>
            <a:r>
              <a:rPr lang="en-US" dirty="0"/>
              <a:t>Summary</a:t>
            </a:r>
          </a:p>
        </p:txBody>
      </p:sp>
      <p:sp>
        <p:nvSpPr>
          <p:cNvPr id="2" name="Date Placeholder 1">
            <a:extLst>
              <a:ext uri="{FF2B5EF4-FFF2-40B4-BE49-F238E27FC236}">
                <a16:creationId xmlns:a16="http://schemas.microsoft.com/office/drawing/2014/main" id="{DAB6E76A-9C15-4FF9-BE8C-6746B85B9275}"/>
              </a:ext>
            </a:extLst>
          </p:cNvPr>
          <p:cNvSpPr>
            <a:spLocks noGrp="1"/>
          </p:cNvSpPr>
          <p:nvPr>
            <p:ph type="dt" sz="half" idx="12"/>
          </p:nvPr>
        </p:nvSpPr>
        <p:spPr/>
        <p:txBody>
          <a:bodyPr/>
          <a:lstStyle/>
          <a:p>
            <a:r>
              <a:rPr lang="en-US"/>
              <a:t>Auguts 1, 2026</a:t>
            </a:r>
          </a:p>
        </p:txBody>
      </p:sp>
      <p:sp>
        <p:nvSpPr>
          <p:cNvPr id="5" name="Slide Number Placeholder 4">
            <a:extLst>
              <a:ext uri="{FF2B5EF4-FFF2-40B4-BE49-F238E27FC236}">
                <a16:creationId xmlns:a16="http://schemas.microsoft.com/office/drawing/2014/main" id="{708759A3-FF98-4785-AD5E-549367D4D293}"/>
              </a:ext>
            </a:extLst>
          </p:cNvPr>
          <p:cNvSpPr>
            <a:spLocks noGrp="1"/>
          </p:cNvSpPr>
          <p:nvPr>
            <p:ph type="sldNum" sz="quarter" idx="14"/>
          </p:nvPr>
        </p:nvSpPr>
        <p:spPr/>
        <p:txBody>
          <a:bodyPr/>
          <a:lstStyle/>
          <a:p>
            <a:fld id="{BC8D7E44-7D4F-4942-A8C9-2DF6BF8399E8}" type="slidenum">
              <a:rPr lang="en-US" smtClean="0"/>
              <a:pPr/>
              <a:t>53</a:t>
            </a:fld>
            <a:endParaRPr lang="en-US" dirty="0"/>
          </a:p>
        </p:txBody>
      </p:sp>
    </p:spTree>
    <p:extLst>
      <p:ext uri="{BB962C8B-B14F-4D97-AF65-F5344CB8AC3E}">
        <p14:creationId xmlns:p14="http://schemas.microsoft.com/office/powerpoint/2010/main" val="206114522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 </a:t>
            </a:r>
            <a:br>
              <a:rPr lang="en-US" dirty="0"/>
            </a:br>
            <a:r>
              <a:rPr lang="en-AU" dirty="0"/>
              <a:t>Performance</a:t>
            </a:r>
            <a:br>
              <a:rPr lang="en-AU" dirty="0"/>
            </a:br>
            <a:r>
              <a:rPr lang="en-AU" dirty="0"/>
              <a:t>Module 2 – L3</a:t>
            </a:r>
            <a:endParaRPr lang="en-US" dirty="0"/>
          </a:p>
        </p:txBody>
      </p:sp>
      <p:sp>
        <p:nvSpPr>
          <p:cNvPr id="6" name="Content Placeholder 5"/>
          <p:cNvSpPr>
            <a:spLocks noGrp="1"/>
          </p:cNvSpPr>
          <p:nvPr>
            <p:ph sz="quarter" idx="13"/>
          </p:nvPr>
        </p:nvSpPr>
        <p:spPr/>
        <p:txBody>
          <a:bodyPr/>
          <a:lstStyle/>
          <a:p>
            <a:r>
              <a:rPr lang="en-US" sz="1800" dirty="0"/>
              <a:t>Harvinder S Jabbal </a:t>
            </a:r>
          </a:p>
          <a:p>
            <a:r>
              <a:rPr lang="en-US" dirty="0"/>
              <a:t>CSIS, Work Integrated Learning Programs</a:t>
            </a:r>
          </a:p>
        </p:txBody>
      </p:sp>
      <p:sp>
        <p:nvSpPr>
          <p:cNvPr id="2" name="Slide Number Placeholder 1">
            <a:extLst>
              <a:ext uri="{FF2B5EF4-FFF2-40B4-BE49-F238E27FC236}">
                <a16:creationId xmlns:a16="http://schemas.microsoft.com/office/drawing/2014/main" id="{7F90C164-BD80-4958-B5AD-15C0024F6F1D}"/>
              </a:ext>
            </a:extLst>
          </p:cNvPr>
          <p:cNvSpPr>
            <a:spLocks noGrp="1"/>
          </p:cNvSpPr>
          <p:nvPr>
            <p:ph type="sldNum" sz="quarter" idx="16"/>
          </p:nvPr>
        </p:nvSpPr>
        <p:spPr/>
        <p:txBody>
          <a:bodyPr/>
          <a:lstStyle/>
          <a:p>
            <a:fld id="{BC8D7E44-7D4F-4942-A8C9-2DF6BF8399E8}" type="slidenum">
              <a:rPr lang="en-US" smtClean="0"/>
              <a:pPr/>
              <a:t>54</a:t>
            </a:fld>
            <a:endParaRPr lang="en-US" dirty="0"/>
          </a:p>
        </p:txBody>
      </p:sp>
      <p:sp>
        <p:nvSpPr>
          <p:cNvPr id="3" name="Footer Placeholder 2">
            <a:extLst>
              <a:ext uri="{FF2B5EF4-FFF2-40B4-BE49-F238E27FC236}">
                <a16:creationId xmlns:a16="http://schemas.microsoft.com/office/drawing/2014/main" id="{2618058F-E2B6-466F-9CC1-565AF74727FA}"/>
              </a:ext>
            </a:extLst>
          </p:cNvPr>
          <p:cNvSpPr>
            <a:spLocks noGrp="1"/>
          </p:cNvSpPr>
          <p:nvPr>
            <p:ph type="ftr" sz="quarter" idx="15"/>
          </p:nvPr>
        </p:nvSpPr>
        <p:spPr/>
        <p:txBody>
          <a:bodyPr/>
          <a:lstStyle/>
          <a:p>
            <a:r>
              <a:rPr lang="en-US"/>
              <a:t>SEZG651/SSZG653 Software Architectures</a:t>
            </a:r>
            <a:endParaRPr lang="en-US" dirty="0"/>
          </a:p>
        </p:txBody>
      </p:sp>
      <p:sp>
        <p:nvSpPr>
          <p:cNvPr id="4" name="Date Placeholder 3">
            <a:extLst>
              <a:ext uri="{FF2B5EF4-FFF2-40B4-BE49-F238E27FC236}">
                <a16:creationId xmlns:a16="http://schemas.microsoft.com/office/drawing/2014/main" id="{791BFCCC-1B52-43EB-9B30-A96190E558FD}"/>
              </a:ext>
            </a:extLst>
          </p:cNvPr>
          <p:cNvSpPr>
            <a:spLocks noGrp="1"/>
          </p:cNvSpPr>
          <p:nvPr>
            <p:ph type="dt" sz="half" idx="14"/>
          </p:nvPr>
        </p:nvSpPr>
        <p:spPr/>
        <p:txBody>
          <a:bodyPr/>
          <a:lstStyle/>
          <a:p>
            <a:r>
              <a:rPr lang="en-US"/>
              <a:t>Auguts 1, 2026</a:t>
            </a:r>
          </a:p>
        </p:txBody>
      </p:sp>
    </p:spTree>
    <p:extLst>
      <p:ext uri="{BB962C8B-B14F-4D97-AF65-F5344CB8AC3E}">
        <p14:creationId xmlns:p14="http://schemas.microsoft.com/office/powerpoint/2010/main" val="360865507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z="3200" b="0" i="0" u="none" strike="noStrike" kern="1200" baseline="0" dirty="0">
                <a:solidFill>
                  <a:schemeClr val="tx1"/>
                </a:solidFill>
                <a:latin typeface="+mn-lt"/>
                <a:ea typeface="+mn-ea"/>
                <a:cs typeface="+mn-cs"/>
              </a:rPr>
              <a:t>What is Performance?</a:t>
            </a:r>
          </a:p>
          <a:p>
            <a:r>
              <a:rPr lang="en-US" dirty="0"/>
              <a:t>Performance General </a:t>
            </a:r>
            <a:r>
              <a:rPr lang="en-US" sz="3200" b="0" i="0" u="none" strike="noStrike" kern="1200" baseline="0" dirty="0">
                <a:solidFill>
                  <a:schemeClr val="tx1"/>
                </a:solidFill>
                <a:latin typeface="+mn-lt"/>
                <a:ea typeface="+mn-ea"/>
                <a:cs typeface="+mn-cs"/>
              </a:rPr>
              <a:t>Scenario</a:t>
            </a:r>
          </a:p>
          <a:p>
            <a:r>
              <a:rPr lang="en-US" sz="3200" b="0" i="0" u="none" strike="noStrike" kern="1200" baseline="0" dirty="0">
                <a:solidFill>
                  <a:schemeClr val="tx1"/>
                </a:solidFill>
                <a:latin typeface="+mn-lt"/>
                <a:ea typeface="+mn-ea"/>
                <a:cs typeface="+mn-cs"/>
              </a:rPr>
              <a:t>Tactics for </a:t>
            </a:r>
            <a:r>
              <a:rPr lang="en-US" dirty="0"/>
              <a:t>Performance</a:t>
            </a:r>
            <a:endParaRPr lang="en-US" sz="3200" b="0" i="0" u="none" strike="noStrike" kern="1200" baseline="0" dirty="0">
              <a:solidFill>
                <a:schemeClr val="tx1"/>
              </a:solidFill>
              <a:latin typeface="+mn-lt"/>
              <a:ea typeface="+mn-ea"/>
              <a:cs typeface="+mn-cs"/>
            </a:endParaRPr>
          </a:p>
          <a:p>
            <a:r>
              <a:rPr lang="en-US" dirty="0"/>
              <a:t>A Design Checklist for Performance</a:t>
            </a:r>
            <a:endParaRPr lang="en-US" sz="3200" b="0" i="0" u="none" strike="noStrike" kern="1200" baseline="0" dirty="0">
              <a:solidFill>
                <a:schemeClr val="tx1"/>
              </a:solidFill>
              <a:latin typeface="+mn-lt"/>
              <a:ea typeface="+mn-ea"/>
              <a:cs typeface="+mn-cs"/>
            </a:endParaRPr>
          </a:p>
          <a:p>
            <a:r>
              <a:rPr lang="en-US" sz="3200" b="0" i="0" u="none" strike="noStrike" kern="1200" baseline="0" dirty="0">
                <a:solidFill>
                  <a:schemeClr val="tx1"/>
                </a:solidFill>
                <a:latin typeface="+mn-lt"/>
                <a:ea typeface="+mn-ea"/>
                <a:cs typeface="+mn-cs"/>
              </a:rPr>
              <a:t>Summary </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a:extLst>
              <a:ext uri="{FF2B5EF4-FFF2-40B4-BE49-F238E27FC236}">
                <a16:creationId xmlns:a16="http://schemas.microsoft.com/office/drawing/2014/main" id="{96A58AAB-FBEC-43BA-8366-4D5AB480BF0F}"/>
              </a:ext>
            </a:extLst>
          </p:cNvPr>
          <p:cNvSpPr>
            <a:spLocks noGrp="1"/>
          </p:cNvSpPr>
          <p:nvPr>
            <p:ph sz="quarter" idx="10"/>
          </p:nvPr>
        </p:nvSpPr>
        <p:spPr/>
        <p:txBody>
          <a:bodyPr/>
          <a:lstStyle/>
          <a:p>
            <a:r>
              <a:rPr lang="en-AU" dirty="0"/>
              <a:t>Chapter Outline</a:t>
            </a:r>
          </a:p>
        </p:txBody>
      </p:sp>
      <p:sp>
        <p:nvSpPr>
          <p:cNvPr id="2" name="Date Placeholder 1">
            <a:extLst>
              <a:ext uri="{FF2B5EF4-FFF2-40B4-BE49-F238E27FC236}">
                <a16:creationId xmlns:a16="http://schemas.microsoft.com/office/drawing/2014/main" id="{3D6910D3-FDFE-4DA2-827A-D94C833441DC}"/>
              </a:ext>
            </a:extLst>
          </p:cNvPr>
          <p:cNvSpPr>
            <a:spLocks noGrp="1"/>
          </p:cNvSpPr>
          <p:nvPr>
            <p:ph type="dt" sz="half" idx="12"/>
          </p:nvPr>
        </p:nvSpPr>
        <p:spPr/>
        <p:txBody>
          <a:bodyPr/>
          <a:lstStyle/>
          <a:p>
            <a:r>
              <a:rPr lang="en-US"/>
              <a:t>Auguts 1, 2026</a:t>
            </a:r>
          </a:p>
        </p:txBody>
      </p:sp>
      <p:sp>
        <p:nvSpPr>
          <p:cNvPr id="5" name="Slide Number Placeholder 4">
            <a:extLst>
              <a:ext uri="{FF2B5EF4-FFF2-40B4-BE49-F238E27FC236}">
                <a16:creationId xmlns:a16="http://schemas.microsoft.com/office/drawing/2014/main" id="{9EFE6E9B-8DBE-44F6-8CD3-11718FA044C2}"/>
              </a:ext>
            </a:extLst>
          </p:cNvPr>
          <p:cNvSpPr>
            <a:spLocks noGrp="1"/>
          </p:cNvSpPr>
          <p:nvPr>
            <p:ph type="sldNum" sz="quarter" idx="14"/>
          </p:nvPr>
        </p:nvSpPr>
        <p:spPr/>
        <p:txBody>
          <a:bodyPr/>
          <a:lstStyle/>
          <a:p>
            <a:fld id="{BC8D7E44-7D4F-4942-A8C9-2DF6BF8399E8}" type="slidenum">
              <a:rPr lang="en-US" smtClean="0"/>
              <a:pPr/>
              <a:t>55</a:t>
            </a:fld>
            <a:endParaRPr lang="en-US" dirty="0"/>
          </a:p>
        </p:txBody>
      </p:sp>
    </p:spTree>
    <p:extLst>
      <p:ext uri="{BB962C8B-B14F-4D97-AF65-F5344CB8AC3E}">
        <p14:creationId xmlns:p14="http://schemas.microsoft.com/office/powerpoint/2010/main" val="359626021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anose="020B0604020202020204" pitchFamily="34" charset="0"/>
              <a:buChar char="•"/>
            </a:pPr>
            <a:r>
              <a:rPr lang="en-US" dirty="0"/>
              <a:t>Performance is about time and the software system’s ability to meet timing requirements.  </a:t>
            </a:r>
          </a:p>
          <a:p>
            <a:pPr>
              <a:buFont typeface="Arial" panose="020B0604020202020204" pitchFamily="34" charset="0"/>
              <a:buChar char="•"/>
            </a:pPr>
            <a:r>
              <a:rPr lang="en-US" dirty="0"/>
              <a:t>When events occur – interrupts, messages, requests from users or other systems, or clock events marking the passage of time – the system, or some element of the system, must respond to them in time.   </a:t>
            </a:r>
          </a:p>
          <a:p>
            <a:pPr>
              <a:buFont typeface="Arial" panose="020B0604020202020204" pitchFamily="34" charset="0"/>
              <a:buChar char="•"/>
            </a:pPr>
            <a:r>
              <a:rPr lang="en-US" dirty="0"/>
              <a:t>Characterizing the events that can occur (and when they can occur) and the system or element’s time-based response to those events is the essence is discussing performance.</a:t>
            </a:r>
          </a:p>
          <a:p>
            <a:pPr>
              <a:buFont typeface="Arial" panose="020B0604020202020204" pitchFamily="34" charset="0"/>
              <a:buChar char="•"/>
            </a:pPr>
            <a:endParaRPr lang="en-US" dirty="0"/>
          </a:p>
          <a:p>
            <a:pPr>
              <a:buFont typeface="Arial" panose="020B0604020202020204" pitchFamily="34" charset="0"/>
              <a:buChar char="•"/>
            </a:pPr>
            <a:endParaRPr lang="en-US"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a:extLst>
              <a:ext uri="{FF2B5EF4-FFF2-40B4-BE49-F238E27FC236}">
                <a16:creationId xmlns:a16="http://schemas.microsoft.com/office/drawing/2014/main" id="{336CBBE7-D05C-464A-A061-4A6A7FA8456A}"/>
              </a:ext>
            </a:extLst>
          </p:cNvPr>
          <p:cNvSpPr>
            <a:spLocks noGrp="1"/>
          </p:cNvSpPr>
          <p:nvPr>
            <p:ph sz="quarter" idx="10"/>
          </p:nvPr>
        </p:nvSpPr>
        <p:spPr/>
        <p:txBody>
          <a:bodyPr/>
          <a:lstStyle/>
          <a:p>
            <a:r>
              <a:rPr lang="en-US" dirty="0"/>
              <a:t>What is Performance?</a:t>
            </a:r>
          </a:p>
        </p:txBody>
      </p:sp>
      <p:sp>
        <p:nvSpPr>
          <p:cNvPr id="2" name="Date Placeholder 1">
            <a:extLst>
              <a:ext uri="{FF2B5EF4-FFF2-40B4-BE49-F238E27FC236}">
                <a16:creationId xmlns:a16="http://schemas.microsoft.com/office/drawing/2014/main" id="{1C34B4AB-8A2C-428E-B846-E753E64D0F2B}"/>
              </a:ext>
            </a:extLst>
          </p:cNvPr>
          <p:cNvSpPr>
            <a:spLocks noGrp="1"/>
          </p:cNvSpPr>
          <p:nvPr>
            <p:ph type="dt" sz="half" idx="12"/>
          </p:nvPr>
        </p:nvSpPr>
        <p:spPr/>
        <p:txBody>
          <a:bodyPr/>
          <a:lstStyle/>
          <a:p>
            <a:r>
              <a:rPr lang="en-US"/>
              <a:t>Auguts 1, 2026</a:t>
            </a:r>
          </a:p>
        </p:txBody>
      </p:sp>
      <p:sp>
        <p:nvSpPr>
          <p:cNvPr id="5" name="Slide Number Placeholder 4">
            <a:extLst>
              <a:ext uri="{FF2B5EF4-FFF2-40B4-BE49-F238E27FC236}">
                <a16:creationId xmlns:a16="http://schemas.microsoft.com/office/drawing/2014/main" id="{E8D15113-D1DC-4FF0-890C-4583ADBD4B81}"/>
              </a:ext>
            </a:extLst>
          </p:cNvPr>
          <p:cNvSpPr>
            <a:spLocks noGrp="1"/>
          </p:cNvSpPr>
          <p:nvPr>
            <p:ph type="sldNum" sz="quarter" idx="14"/>
          </p:nvPr>
        </p:nvSpPr>
        <p:spPr/>
        <p:txBody>
          <a:bodyPr/>
          <a:lstStyle/>
          <a:p>
            <a:fld id="{BC8D7E44-7D4F-4942-A8C9-2DF6BF8399E8}" type="slidenum">
              <a:rPr lang="en-US" smtClean="0"/>
              <a:pPr/>
              <a:t>56</a:t>
            </a:fld>
            <a:endParaRPr lang="en-US" dirty="0"/>
          </a:p>
        </p:txBody>
      </p:sp>
    </p:spTree>
    <p:extLst>
      <p:ext uri="{BB962C8B-B14F-4D97-AF65-F5344CB8AC3E}">
        <p14:creationId xmlns:p14="http://schemas.microsoft.com/office/powerpoint/2010/main" val="282902106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5E7102B-F836-40D6-9408-A5A133419F4F}"/>
              </a:ext>
            </a:extLst>
          </p:cNvPr>
          <p:cNvSpPr>
            <a:spLocks noGrp="1"/>
          </p:cNvSpPr>
          <p:nvPr>
            <p:ph idx="1"/>
          </p:nvPr>
        </p:nvSpPr>
        <p:spPr/>
        <p:txBody>
          <a:bodyPr/>
          <a:lstStyle/>
          <a:p>
            <a:endParaRPr lang="en-IN"/>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graphicFrame>
        <p:nvGraphicFramePr>
          <p:cNvPr id="5" name="Table 4"/>
          <p:cNvGraphicFramePr>
            <a:graphicFrameLocks noGrp="1"/>
          </p:cNvGraphicFramePr>
          <p:nvPr/>
        </p:nvGraphicFramePr>
        <p:xfrm>
          <a:off x="755576" y="2348879"/>
          <a:ext cx="7704856" cy="3220516"/>
        </p:xfrm>
        <a:graphic>
          <a:graphicData uri="http://schemas.openxmlformats.org/drawingml/2006/table">
            <a:tbl>
              <a:tblPr>
                <a:tableStyleId>{5C22544A-7EE6-4342-B048-85BDC9FD1C3A}</a:tableStyleId>
              </a:tblPr>
              <a:tblGrid>
                <a:gridCol w="1584176">
                  <a:extLst>
                    <a:ext uri="{9D8B030D-6E8A-4147-A177-3AD203B41FA5}">
                      <a16:colId xmlns:a16="http://schemas.microsoft.com/office/drawing/2014/main" val="20000"/>
                    </a:ext>
                  </a:extLst>
                </a:gridCol>
                <a:gridCol w="6120680">
                  <a:extLst>
                    <a:ext uri="{9D8B030D-6E8A-4147-A177-3AD203B41FA5}">
                      <a16:colId xmlns:a16="http://schemas.microsoft.com/office/drawing/2014/main" val="20001"/>
                    </a:ext>
                  </a:extLst>
                </a:gridCol>
              </a:tblGrid>
              <a:tr h="585216">
                <a:tc>
                  <a:txBody>
                    <a:bodyPr/>
                    <a:lstStyle/>
                    <a:p>
                      <a:pPr marL="0" marR="0">
                        <a:lnSpc>
                          <a:spcPct val="80000"/>
                        </a:lnSpc>
                        <a:spcBef>
                          <a:spcPts val="400"/>
                        </a:spcBef>
                        <a:spcAft>
                          <a:spcPts val="400"/>
                        </a:spcAft>
                      </a:pPr>
                      <a:r>
                        <a:rPr lang="en-US" sz="2000" b="1" dirty="0">
                          <a:effectLst/>
                        </a:rPr>
                        <a:t>Portion of Scenario</a:t>
                      </a:r>
                      <a:endParaRPr lang="en-US" sz="2000" b="1" dirty="0">
                        <a:effectLst/>
                        <a:latin typeface="Times"/>
                        <a:ea typeface="Times New Roman"/>
                        <a:cs typeface="Times New Roman"/>
                      </a:endParaRPr>
                    </a:p>
                  </a:txBody>
                  <a:tcPr marL="68580" marR="68580" marT="0" marB="0"/>
                </a:tc>
                <a:tc>
                  <a:txBody>
                    <a:bodyPr/>
                    <a:lstStyle/>
                    <a:p>
                      <a:pPr marL="0" marR="0">
                        <a:lnSpc>
                          <a:spcPct val="80000"/>
                        </a:lnSpc>
                        <a:spcBef>
                          <a:spcPts val="400"/>
                        </a:spcBef>
                        <a:spcAft>
                          <a:spcPts val="400"/>
                        </a:spcAft>
                      </a:pPr>
                      <a:r>
                        <a:rPr lang="en-US" sz="2000" b="1" dirty="0">
                          <a:effectLst/>
                        </a:rPr>
                        <a:t>Possible Values</a:t>
                      </a:r>
                      <a:endParaRPr lang="en-US" sz="2000" b="1" dirty="0">
                        <a:effectLst/>
                        <a:latin typeface="Times"/>
                        <a:ea typeface="Times New Roman"/>
                        <a:cs typeface="Times New Roman"/>
                      </a:endParaRPr>
                    </a:p>
                  </a:txBody>
                  <a:tcPr marL="68580" marR="68580" marT="0" marB="0" anchor="ctr"/>
                </a:tc>
                <a:extLst>
                  <a:ext uri="{0D108BD9-81ED-4DB2-BD59-A6C34878D82A}">
                    <a16:rowId xmlns:a16="http://schemas.microsoft.com/office/drawing/2014/main" val="10000"/>
                  </a:ext>
                </a:extLst>
              </a:tr>
              <a:tr h="292608">
                <a:tc>
                  <a:txBody>
                    <a:bodyPr/>
                    <a:lstStyle/>
                    <a:p>
                      <a:pPr marL="0" marR="0">
                        <a:lnSpc>
                          <a:spcPct val="110000"/>
                        </a:lnSpc>
                        <a:spcBef>
                          <a:spcPts val="400"/>
                        </a:spcBef>
                        <a:spcAft>
                          <a:spcPts val="400"/>
                        </a:spcAft>
                      </a:pPr>
                      <a:r>
                        <a:rPr lang="en-US" sz="2000" dirty="0">
                          <a:effectLst/>
                        </a:rPr>
                        <a:t>Source</a:t>
                      </a:r>
                      <a:endParaRPr lang="en-US" sz="2000" dirty="0">
                        <a:effectLst/>
                        <a:latin typeface="Times"/>
                        <a:ea typeface="Times New Roman"/>
                        <a:cs typeface="Times New Roman"/>
                      </a:endParaRPr>
                    </a:p>
                  </a:txBody>
                  <a:tcPr marL="68580" marR="68580" marT="0" marB="0"/>
                </a:tc>
                <a:tc>
                  <a:txBody>
                    <a:bodyPr/>
                    <a:lstStyle/>
                    <a:p>
                      <a:pPr marL="0" marR="0">
                        <a:lnSpc>
                          <a:spcPct val="100000"/>
                        </a:lnSpc>
                        <a:spcBef>
                          <a:spcPts val="400"/>
                        </a:spcBef>
                        <a:spcAft>
                          <a:spcPts val="400"/>
                        </a:spcAft>
                      </a:pPr>
                      <a:r>
                        <a:rPr lang="en-US" sz="2000" dirty="0">
                          <a:effectLst/>
                        </a:rPr>
                        <a:t>Internal or external to the system </a:t>
                      </a:r>
                      <a:endParaRPr lang="en-US" sz="2000" dirty="0">
                        <a:effectLst/>
                        <a:latin typeface="Times"/>
                        <a:ea typeface="Times New Roman"/>
                        <a:cs typeface="Times New Roman"/>
                      </a:endParaRPr>
                    </a:p>
                  </a:txBody>
                  <a:tcPr marL="68580" marR="68580" marT="0" marB="0"/>
                </a:tc>
                <a:extLst>
                  <a:ext uri="{0D108BD9-81ED-4DB2-BD59-A6C34878D82A}">
                    <a16:rowId xmlns:a16="http://schemas.microsoft.com/office/drawing/2014/main" val="10001"/>
                  </a:ext>
                </a:extLst>
              </a:tr>
              <a:tr h="292608">
                <a:tc>
                  <a:txBody>
                    <a:bodyPr/>
                    <a:lstStyle/>
                    <a:p>
                      <a:pPr marL="0" marR="0">
                        <a:lnSpc>
                          <a:spcPct val="110000"/>
                        </a:lnSpc>
                        <a:spcBef>
                          <a:spcPts val="400"/>
                        </a:spcBef>
                        <a:spcAft>
                          <a:spcPts val="400"/>
                        </a:spcAft>
                      </a:pPr>
                      <a:r>
                        <a:rPr lang="en-US" sz="2000" dirty="0">
                          <a:effectLst/>
                        </a:rPr>
                        <a:t>Stimulus</a:t>
                      </a:r>
                      <a:endParaRPr lang="en-US" sz="2000" dirty="0">
                        <a:effectLst/>
                        <a:latin typeface="Times"/>
                        <a:ea typeface="Times New Roman"/>
                        <a:cs typeface="Times New Roman"/>
                      </a:endParaRPr>
                    </a:p>
                  </a:txBody>
                  <a:tcPr marL="68580" marR="68580" marT="0" marB="0"/>
                </a:tc>
                <a:tc>
                  <a:txBody>
                    <a:bodyPr/>
                    <a:lstStyle/>
                    <a:p>
                      <a:pPr marL="0" marR="0">
                        <a:lnSpc>
                          <a:spcPct val="100000"/>
                        </a:lnSpc>
                        <a:spcBef>
                          <a:spcPts val="400"/>
                        </a:spcBef>
                        <a:spcAft>
                          <a:spcPts val="400"/>
                        </a:spcAft>
                      </a:pPr>
                      <a:r>
                        <a:rPr lang="en-US" sz="2000" dirty="0">
                          <a:effectLst/>
                        </a:rPr>
                        <a:t>Arrival of a periodic, sporadic, or stochastic event</a:t>
                      </a:r>
                      <a:endParaRPr lang="en-US" sz="2000" dirty="0">
                        <a:effectLst/>
                        <a:latin typeface="Times"/>
                        <a:ea typeface="Times New Roman"/>
                        <a:cs typeface="Times New Roman"/>
                      </a:endParaRPr>
                    </a:p>
                  </a:txBody>
                  <a:tcPr marL="68580" marR="68580" marT="0" marB="0"/>
                </a:tc>
                <a:extLst>
                  <a:ext uri="{0D108BD9-81ED-4DB2-BD59-A6C34878D82A}">
                    <a16:rowId xmlns:a16="http://schemas.microsoft.com/office/drawing/2014/main" val="10002"/>
                  </a:ext>
                </a:extLst>
              </a:tr>
              <a:tr h="292608">
                <a:tc>
                  <a:txBody>
                    <a:bodyPr/>
                    <a:lstStyle/>
                    <a:p>
                      <a:pPr marL="0" marR="0">
                        <a:lnSpc>
                          <a:spcPct val="110000"/>
                        </a:lnSpc>
                        <a:spcBef>
                          <a:spcPts val="400"/>
                        </a:spcBef>
                        <a:spcAft>
                          <a:spcPts val="400"/>
                        </a:spcAft>
                      </a:pPr>
                      <a:r>
                        <a:rPr lang="en-US" sz="2000" dirty="0">
                          <a:effectLst/>
                        </a:rPr>
                        <a:t>Artifact</a:t>
                      </a:r>
                      <a:endParaRPr lang="en-US" sz="2000" dirty="0">
                        <a:effectLst/>
                        <a:latin typeface="Times"/>
                        <a:ea typeface="Times New Roman"/>
                        <a:cs typeface="Times New Roman"/>
                      </a:endParaRPr>
                    </a:p>
                  </a:txBody>
                  <a:tcPr marL="68580" marR="68580" marT="0" marB="0"/>
                </a:tc>
                <a:tc>
                  <a:txBody>
                    <a:bodyPr/>
                    <a:lstStyle/>
                    <a:p>
                      <a:pPr marL="0" marR="0">
                        <a:lnSpc>
                          <a:spcPct val="100000"/>
                        </a:lnSpc>
                        <a:spcBef>
                          <a:spcPts val="400"/>
                        </a:spcBef>
                        <a:spcAft>
                          <a:spcPts val="400"/>
                        </a:spcAft>
                      </a:pPr>
                      <a:r>
                        <a:rPr lang="en-US" sz="2000" dirty="0">
                          <a:effectLst/>
                        </a:rPr>
                        <a:t>System or one or more components in the system.</a:t>
                      </a:r>
                      <a:endParaRPr lang="en-US" sz="2000" dirty="0">
                        <a:effectLst/>
                        <a:latin typeface="Times"/>
                        <a:ea typeface="Times New Roman"/>
                        <a:cs typeface="Times New Roman"/>
                      </a:endParaRPr>
                    </a:p>
                  </a:txBody>
                  <a:tcPr marL="68580" marR="68580" marT="0" marB="0"/>
                </a:tc>
                <a:extLst>
                  <a:ext uri="{0D108BD9-81ED-4DB2-BD59-A6C34878D82A}">
                    <a16:rowId xmlns:a16="http://schemas.microsoft.com/office/drawing/2014/main" val="10003"/>
                  </a:ext>
                </a:extLst>
              </a:tr>
              <a:tr h="585216">
                <a:tc>
                  <a:txBody>
                    <a:bodyPr/>
                    <a:lstStyle/>
                    <a:p>
                      <a:pPr marL="0" marR="0">
                        <a:lnSpc>
                          <a:spcPct val="110000"/>
                        </a:lnSpc>
                        <a:spcBef>
                          <a:spcPts val="400"/>
                        </a:spcBef>
                        <a:spcAft>
                          <a:spcPts val="400"/>
                        </a:spcAft>
                      </a:pPr>
                      <a:r>
                        <a:rPr lang="en-US" sz="2000" dirty="0">
                          <a:effectLst/>
                        </a:rPr>
                        <a:t>Environment</a:t>
                      </a:r>
                      <a:endParaRPr lang="en-US" sz="2000" dirty="0">
                        <a:effectLst/>
                        <a:latin typeface="Times"/>
                        <a:ea typeface="Times New Roman"/>
                        <a:cs typeface="Times New Roman"/>
                      </a:endParaRPr>
                    </a:p>
                  </a:txBody>
                  <a:tcPr marL="68580" marR="68580" marT="0" marB="0"/>
                </a:tc>
                <a:tc>
                  <a:txBody>
                    <a:bodyPr/>
                    <a:lstStyle/>
                    <a:p>
                      <a:pPr marL="0" marR="0">
                        <a:lnSpc>
                          <a:spcPct val="100000"/>
                        </a:lnSpc>
                        <a:spcBef>
                          <a:spcPts val="400"/>
                        </a:spcBef>
                        <a:spcAft>
                          <a:spcPts val="400"/>
                        </a:spcAft>
                      </a:pPr>
                      <a:r>
                        <a:rPr lang="en-US" sz="2000" dirty="0">
                          <a:effectLst/>
                        </a:rPr>
                        <a:t>Operational mode:  normal, emergency, peak load, overload.</a:t>
                      </a:r>
                      <a:endParaRPr lang="en-US" sz="2000" dirty="0">
                        <a:effectLst/>
                        <a:latin typeface="Times"/>
                        <a:ea typeface="Times New Roman"/>
                        <a:cs typeface="Times New Roman"/>
                      </a:endParaRPr>
                    </a:p>
                  </a:txBody>
                  <a:tcPr marL="68580" marR="68580" marT="0" marB="0"/>
                </a:tc>
                <a:extLst>
                  <a:ext uri="{0D108BD9-81ED-4DB2-BD59-A6C34878D82A}">
                    <a16:rowId xmlns:a16="http://schemas.microsoft.com/office/drawing/2014/main" val="10004"/>
                  </a:ext>
                </a:extLst>
              </a:tr>
              <a:tr h="391633">
                <a:tc>
                  <a:txBody>
                    <a:bodyPr/>
                    <a:lstStyle/>
                    <a:p>
                      <a:pPr marL="0" marR="0">
                        <a:lnSpc>
                          <a:spcPct val="110000"/>
                        </a:lnSpc>
                        <a:spcBef>
                          <a:spcPts val="400"/>
                        </a:spcBef>
                        <a:spcAft>
                          <a:spcPts val="400"/>
                        </a:spcAft>
                      </a:pPr>
                      <a:r>
                        <a:rPr lang="en-US" sz="2000" dirty="0">
                          <a:effectLst/>
                        </a:rPr>
                        <a:t>Response</a:t>
                      </a:r>
                      <a:endParaRPr lang="en-US" sz="2000" dirty="0">
                        <a:effectLst/>
                        <a:latin typeface="Times"/>
                        <a:ea typeface="Times New Roman"/>
                        <a:cs typeface="Times New Roman"/>
                      </a:endParaRPr>
                    </a:p>
                  </a:txBody>
                  <a:tcPr marL="68580" marR="68580" marT="0" marB="0"/>
                </a:tc>
                <a:tc>
                  <a:txBody>
                    <a:bodyPr/>
                    <a:lstStyle/>
                    <a:p>
                      <a:pPr marL="0" marR="0">
                        <a:lnSpc>
                          <a:spcPct val="100000"/>
                        </a:lnSpc>
                        <a:spcBef>
                          <a:spcPts val="400"/>
                        </a:spcBef>
                        <a:spcAft>
                          <a:spcPts val="400"/>
                        </a:spcAft>
                      </a:pPr>
                      <a:r>
                        <a:rPr lang="en-US" sz="2000" dirty="0">
                          <a:effectLst/>
                        </a:rPr>
                        <a:t>Process events, change level of service</a:t>
                      </a:r>
                      <a:endParaRPr lang="en-US" sz="2000" dirty="0">
                        <a:effectLst/>
                        <a:latin typeface="Times"/>
                        <a:ea typeface="Times New Roman"/>
                        <a:cs typeface="Times New Roman"/>
                      </a:endParaRPr>
                    </a:p>
                  </a:txBody>
                  <a:tcPr marL="68580" marR="68580" marT="0" marB="0"/>
                </a:tc>
                <a:extLst>
                  <a:ext uri="{0D108BD9-81ED-4DB2-BD59-A6C34878D82A}">
                    <a16:rowId xmlns:a16="http://schemas.microsoft.com/office/drawing/2014/main" val="10005"/>
                  </a:ext>
                </a:extLst>
              </a:tr>
              <a:tr h="683472">
                <a:tc>
                  <a:txBody>
                    <a:bodyPr/>
                    <a:lstStyle/>
                    <a:p>
                      <a:pPr marL="0" marR="0">
                        <a:lnSpc>
                          <a:spcPct val="80000"/>
                        </a:lnSpc>
                        <a:spcBef>
                          <a:spcPts val="400"/>
                        </a:spcBef>
                        <a:spcAft>
                          <a:spcPts val="400"/>
                        </a:spcAft>
                      </a:pPr>
                      <a:r>
                        <a:rPr lang="en-US" sz="2000">
                          <a:effectLst/>
                        </a:rPr>
                        <a:t>Response Measure</a:t>
                      </a:r>
                      <a:endParaRPr lang="en-US" sz="2000">
                        <a:effectLst/>
                        <a:latin typeface="Times"/>
                        <a:ea typeface="Times New Roman"/>
                        <a:cs typeface="Times New Roman"/>
                      </a:endParaRPr>
                    </a:p>
                  </a:txBody>
                  <a:tcPr marL="68580" marR="68580" marT="0" marB="0"/>
                </a:tc>
                <a:tc>
                  <a:txBody>
                    <a:bodyPr/>
                    <a:lstStyle/>
                    <a:p>
                      <a:pPr marL="0" marR="0">
                        <a:lnSpc>
                          <a:spcPct val="100000"/>
                        </a:lnSpc>
                        <a:spcBef>
                          <a:spcPts val="400"/>
                        </a:spcBef>
                        <a:spcAft>
                          <a:spcPts val="400"/>
                        </a:spcAft>
                      </a:pPr>
                      <a:r>
                        <a:rPr lang="en-US" sz="2000" dirty="0">
                          <a:effectLst/>
                        </a:rPr>
                        <a:t>Latency, deadline, throughput, jitter, miss rate</a:t>
                      </a:r>
                      <a:endParaRPr lang="en-US" sz="2000" dirty="0">
                        <a:effectLst/>
                        <a:latin typeface="Times"/>
                        <a:ea typeface="Times New Roman"/>
                        <a:cs typeface="Times New Roman"/>
                      </a:endParaRPr>
                    </a:p>
                  </a:txBody>
                  <a:tcPr marL="68580" marR="68580" marT="0" marB="0" anchor="ctr"/>
                </a:tc>
                <a:extLst>
                  <a:ext uri="{0D108BD9-81ED-4DB2-BD59-A6C34878D82A}">
                    <a16:rowId xmlns:a16="http://schemas.microsoft.com/office/drawing/2014/main" val="10006"/>
                  </a:ext>
                </a:extLst>
              </a:tr>
            </a:tbl>
          </a:graphicData>
        </a:graphic>
      </p:graphicFrame>
      <p:sp>
        <p:nvSpPr>
          <p:cNvPr id="8" name="Title 1">
            <a:extLst>
              <a:ext uri="{FF2B5EF4-FFF2-40B4-BE49-F238E27FC236}">
                <a16:creationId xmlns:a16="http://schemas.microsoft.com/office/drawing/2014/main" id="{99406B11-7100-4D98-B0F1-127668289002}"/>
              </a:ext>
            </a:extLst>
          </p:cNvPr>
          <p:cNvSpPr>
            <a:spLocks noGrp="1"/>
          </p:cNvSpPr>
          <p:nvPr>
            <p:ph sz="quarter" idx="10"/>
          </p:nvPr>
        </p:nvSpPr>
        <p:spPr/>
        <p:txBody>
          <a:bodyPr/>
          <a:lstStyle/>
          <a:p>
            <a:r>
              <a:rPr lang="en-US" dirty="0"/>
              <a:t>Performance General Scenario</a:t>
            </a:r>
          </a:p>
        </p:txBody>
      </p:sp>
      <p:sp>
        <p:nvSpPr>
          <p:cNvPr id="2" name="Date Placeholder 1">
            <a:extLst>
              <a:ext uri="{FF2B5EF4-FFF2-40B4-BE49-F238E27FC236}">
                <a16:creationId xmlns:a16="http://schemas.microsoft.com/office/drawing/2014/main" id="{0D39C765-9226-4328-8035-7A5139779D53}"/>
              </a:ext>
            </a:extLst>
          </p:cNvPr>
          <p:cNvSpPr>
            <a:spLocks noGrp="1"/>
          </p:cNvSpPr>
          <p:nvPr>
            <p:ph type="dt" sz="half" idx="12"/>
          </p:nvPr>
        </p:nvSpPr>
        <p:spPr/>
        <p:txBody>
          <a:bodyPr/>
          <a:lstStyle/>
          <a:p>
            <a:r>
              <a:rPr lang="en-US"/>
              <a:t>Auguts 1, 2026</a:t>
            </a:r>
          </a:p>
        </p:txBody>
      </p:sp>
      <p:sp>
        <p:nvSpPr>
          <p:cNvPr id="6" name="Slide Number Placeholder 5">
            <a:extLst>
              <a:ext uri="{FF2B5EF4-FFF2-40B4-BE49-F238E27FC236}">
                <a16:creationId xmlns:a16="http://schemas.microsoft.com/office/drawing/2014/main" id="{B6CBE8C4-21CD-46C0-A86C-3563A9FF3D87}"/>
              </a:ext>
            </a:extLst>
          </p:cNvPr>
          <p:cNvSpPr>
            <a:spLocks noGrp="1"/>
          </p:cNvSpPr>
          <p:nvPr>
            <p:ph type="sldNum" sz="quarter" idx="14"/>
          </p:nvPr>
        </p:nvSpPr>
        <p:spPr/>
        <p:txBody>
          <a:bodyPr/>
          <a:lstStyle/>
          <a:p>
            <a:fld id="{BC8D7E44-7D4F-4942-A8C9-2DF6BF8399E8}" type="slidenum">
              <a:rPr lang="en-US" smtClean="0"/>
              <a:pPr/>
              <a:t>57</a:t>
            </a:fld>
            <a:endParaRPr lang="en-US" dirty="0"/>
          </a:p>
        </p:txBody>
      </p:sp>
    </p:spTree>
    <p:extLst>
      <p:ext uri="{BB962C8B-B14F-4D97-AF65-F5344CB8AC3E}">
        <p14:creationId xmlns:p14="http://schemas.microsoft.com/office/powerpoint/2010/main" val="159729204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	Users initiate transactions under normal operations. The system processes the transactions with an average latency of two seconds.</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2" name="Title 1"/>
          <p:cNvSpPr>
            <a:spLocks noGrp="1"/>
          </p:cNvSpPr>
          <p:nvPr>
            <p:ph type="title" idx="4294967295"/>
          </p:nvPr>
        </p:nvSpPr>
        <p:spPr>
          <a:xfrm>
            <a:off x="152400" y="300002"/>
            <a:ext cx="7715250" cy="777875"/>
          </a:xfrm>
        </p:spPr>
        <p:txBody>
          <a:bodyPr>
            <a:normAutofit fontScale="90000"/>
          </a:bodyPr>
          <a:lstStyle/>
          <a:p>
            <a:r>
              <a:rPr lang="en-US" dirty="0"/>
              <a:t>Sample Concrete Performance Scenario</a:t>
            </a:r>
          </a:p>
        </p:txBody>
      </p:sp>
      <p:sp>
        <p:nvSpPr>
          <p:cNvPr id="5" name="Date Placeholder 4">
            <a:extLst>
              <a:ext uri="{FF2B5EF4-FFF2-40B4-BE49-F238E27FC236}">
                <a16:creationId xmlns:a16="http://schemas.microsoft.com/office/drawing/2014/main" id="{BF350CAA-4106-439E-925E-C5570C26F043}"/>
              </a:ext>
            </a:extLst>
          </p:cNvPr>
          <p:cNvSpPr>
            <a:spLocks noGrp="1"/>
          </p:cNvSpPr>
          <p:nvPr>
            <p:ph type="dt" sz="half" idx="12"/>
          </p:nvPr>
        </p:nvSpPr>
        <p:spPr/>
        <p:txBody>
          <a:bodyPr/>
          <a:lstStyle/>
          <a:p>
            <a:r>
              <a:rPr lang="en-US"/>
              <a:t>Auguts 1, 2026</a:t>
            </a:r>
          </a:p>
        </p:txBody>
      </p:sp>
      <p:sp>
        <p:nvSpPr>
          <p:cNvPr id="7" name="Slide Number Placeholder 6">
            <a:extLst>
              <a:ext uri="{FF2B5EF4-FFF2-40B4-BE49-F238E27FC236}">
                <a16:creationId xmlns:a16="http://schemas.microsoft.com/office/drawing/2014/main" id="{7A8F7212-F741-4E7A-B251-9C96AA7488FE}"/>
              </a:ext>
            </a:extLst>
          </p:cNvPr>
          <p:cNvSpPr>
            <a:spLocks noGrp="1"/>
          </p:cNvSpPr>
          <p:nvPr>
            <p:ph type="sldNum" sz="quarter" idx="14"/>
          </p:nvPr>
        </p:nvSpPr>
        <p:spPr/>
        <p:txBody>
          <a:bodyPr/>
          <a:lstStyle/>
          <a:p>
            <a:fld id="{BC8D7E44-7D4F-4942-A8C9-2DF6BF8399E8}" type="slidenum">
              <a:rPr lang="en-US" smtClean="0"/>
              <a:pPr/>
              <a:t>58</a:t>
            </a:fld>
            <a:endParaRPr lang="en-US" dirty="0"/>
          </a:p>
        </p:txBody>
      </p:sp>
    </p:spTree>
    <p:extLst>
      <p:ext uri="{BB962C8B-B14F-4D97-AF65-F5344CB8AC3E}">
        <p14:creationId xmlns:p14="http://schemas.microsoft.com/office/powerpoint/2010/main" val="344799419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	Tactics to control Performance have as their goal to generate a response to an event arriving at the system within some time-based constraint.</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a:extLst>
              <a:ext uri="{FF2B5EF4-FFF2-40B4-BE49-F238E27FC236}">
                <a16:creationId xmlns:a16="http://schemas.microsoft.com/office/drawing/2014/main" id="{4CC46762-5F0A-4D49-A20B-933AE9E9017D}"/>
              </a:ext>
            </a:extLst>
          </p:cNvPr>
          <p:cNvSpPr>
            <a:spLocks noGrp="1"/>
          </p:cNvSpPr>
          <p:nvPr>
            <p:ph sz="quarter" idx="10"/>
          </p:nvPr>
        </p:nvSpPr>
        <p:spPr/>
        <p:txBody>
          <a:bodyPr/>
          <a:lstStyle/>
          <a:p>
            <a:r>
              <a:rPr lang="en-US" dirty="0"/>
              <a:t>Goal of Performance Tactics</a:t>
            </a:r>
          </a:p>
        </p:txBody>
      </p:sp>
      <p:sp>
        <p:nvSpPr>
          <p:cNvPr id="2" name="Date Placeholder 1">
            <a:extLst>
              <a:ext uri="{FF2B5EF4-FFF2-40B4-BE49-F238E27FC236}">
                <a16:creationId xmlns:a16="http://schemas.microsoft.com/office/drawing/2014/main" id="{9D65877A-2751-45B7-9CE5-5FD314453F60}"/>
              </a:ext>
            </a:extLst>
          </p:cNvPr>
          <p:cNvSpPr>
            <a:spLocks noGrp="1"/>
          </p:cNvSpPr>
          <p:nvPr>
            <p:ph type="dt" sz="half" idx="12"/>
          </p:nvPr>
        </p:nvSpPr>
        <p:spPr/>
        <p:txBody>
          <a:bodyPr/>
          <a:lstStyle/>
          <a:p>
            <a:r>
              <a:rPr lang="en-US"/>
              <a:t>Auguts 1, 2026</a:t>
            </a:r>
          </a:p>
        </p:txBody>
      </p:sp>
      <p:sp>
        <p:nvSpPr>
          <p:cNvPr id="5" name="Slide Number Placeholder 4">
            <a:extLst>
              <a:ext uri="{FF2B5EF4-FFF2-40B4-BE49-F238E27FC236}">
                <a16:creationId xmlns:a16="http://schemas.microsoft.com/office/drawing/2014/main" id="{B6689985-8A72-4FC1-A170-489A6C090B8D}"/>
              </a:ext>
            </a:extLst>
          </p:cNvPr>
          <p:cNvSpPr>
            <a:spLocks noGrp="1"/>
          </p:cNvSpPr>
          <p:nvPr>
            <p:ph type="sldNum" sz="quarter" idx="14"/>
          </p:nvPr>
        </p:nvSpPr>
        <p:spPr/>
        <p:txBody>
          <a:bodyPr/>
          <a:lstStyle/>
          <a:p>
            <a:fld id="{BC8D7E44-7D4F-4942-A8C9-2DF6BF8399E8}" type="slidenum">
              <a:rPr lang="en-US" smtClean="0"/>
              <a:pPr/>
              <a:t>59</a:t>
            </a:fld>
            <a:endParaRPr lang="en-US" dirty="0"/>
          </a:p>
        </p:txBody>
      </p:sp>
    </p:spTree>
    <p:extLst>
      <p:ext uri="{BB962C8B-B14F-4D97-AF65-F5344CB8AC3E}">
        <p14:creationId xmlns:p14="http://schemas.microsoft.com/office/powerpoint/2010/main" val="189655848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8" name="Title 1">
            <a:extLst>
              <a:ext uri="{FF2B5EF4-FFF2-40B4-BE49-F238E27FC236}">
                <a16:creationId xmlns:a16="http://schemas.microsoft.com/office/drawing/2014/main" id="{757DC893-75CB-4297-A5D8-B52561BAEE35}"/>
              </a:ext>
            </a:extLst>
          </p:cNvPr>
          <p:cNvSpPr>
            <a:spLocks noGrp="1"/>
          </p:cNvSpPr>
          <p:nvPr>
            <p:ph sz="quarter" idx="10"/>
          </p:nvPr>
        </p:nvSpPr>
        <p:spPr/>
        <p:txBody>
          <a:bodyPr/>
          <a:lstStyle/>
          <a:p>
            <a:r>
              <a:rPr lang="en-US" dirty="0"/>
              <a:t>Goal of Performance Tactics</a:t>
            </a:r>
          </a:p>
        </p:txBody>
      </p:sp>
      <p:pic>
        <p:nvPicPr>
          <p:cNvPr id="9" name="Content Placeholder 8">
            <a:extLst>
              <a:ext uri="{FF2B5EF4-FFF2-40B4-BE49-F238E27FC236}">
                <a16:creationId xmlns:a16="http://schemas.microsoft.com/office/drawing/2014/main" id="{65A63A7A-6428-4FA9-994E-78EA20083848}"/>
              </a:ext>
            </a:extLst>
          </p:cNvPr>
          <p:cNvPicPr>
            <a:picLocks noGrp="1"/>
          </p:cNvPicPr>
          <p:nvPr>
            <p:ph idx="1"/>
          </p:nvPr>
        </p:nvPicPr>
        <p:blipFill>
          <a:blip r:embed="rId2" cstate="print"/>
          <a:srcRect/>
          <a:stretch>
            <a:fillRect/>
          </a:stretch>
        </p:blipFill>
        <p:spPr bwMode="auto">
          <a:xfrm>
            <a:off x="304800" y="1752600"/>
            <a:ext cx="8229600" cy="3962400"/>
          </a:xfrm>
          <a:prstGeom prst="rect">
            <a:avLst/>
          </a:prstGeom>
          <a:noFill/>
          <a:ln w="9525">
            <a:noFill/>
            <a:miter lim="800000"/>
            <a:headEnd/>
            <a:tailEnd/>
          </a:ln>
        </p:spPr>
      </p:pic>
      <p:sp>
        <p:nvSpPr>
          <p:cNvPr id="2" name="Date Placeholder 1">
            <a:extLst>
              <a:ext uri="{FF2B5EF4-FFF2-40B4-BE49-F238E27FC236}">
                <a16:creationId xmlns:a16="http://schemas.microsoft.com/office/drawing/2014/main" id="{FCEFC793-E81A-4730-AF63-896CE4A31173}"/>
              </a:ext>
            </a:extLst>
          </p:cNvPr>
          <p:cNvSpPr>
            <a:spLocks noGrp="1"/>
          </p:cNvSpPr>
          <p:nvPr>
            <p:ph type="dt" sz="half" idx="12"/>
          </p:nvPr>
        </p:nvSpPr>
        <p:spPr/>
        <p:txBody>
          <a:bodyPr/>
          <a:lstStyle/>
          <a:p>
            <a:r>
              <a:rPr lang="en-US"/>
              <a:t>Auguts 1, 2026</a:t>
            </a:r>
          </a:p>
        </p:txBody>
      </p:sp>
      <p:sp>
        <p:nvSpPr>
          <p:cNvPr id="3" name="Slide Number Placeholder 2">
            <a:extLst>
              <a:ext uri="{FF2B5EF4-FFF2-40B4-BE49-F238E27FC236}">
                <a16:creationId xmlns:a16="http://schemas.microsoft.com/office/drawing/2014/main" id="{5F03491D-A9A5-458C-B284-3D888ACFA4D9}"/>
              </a:ext>
            </a:extLst>
          </p:cNvPr>
          <p:cNvSpPr>
            <a:spLocks noGrp="1"/>
          </p:cNvSpPr>
          <p:nvPr>
            <p:ph type="sldNum" sz="quarter" idx="14"/>
          </p:nvPr>
        </p:nvSpPr>
        <p:spPr/>
        <p:txBody>
          <a:bodyPr/>
          <a:lstStyle/>
          <a:p>
            <a:fld id="{BC8D7E44-7D4F-4942-A8C9-2DF6BF8399E8}" type="slidenum">
              <a:rPr lang="en-US" smtClean="0"/>
              <a:pPr/>
              <a:t>60</a:t>
            </a:fld>
            <a:endParaRPr lang="en-US" dirty="0"/>
          </a:p>
        </p:txBody>
      </p:sp>
    </p:spTree>
    <p:extLst>
      <p:ext uri="{BB962C8B-B14F-4D97-AF65-F5344CB8AC3E}">
        <p14:creationId xmlns:p14="http://schemas.microsoft.com/office/powerpoint/2010/main" val="321583921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3" name="Rectangle 2"/>
          <p:cNvSpPr>
            <a:spLocks noChangeArrowheads="1"/>
          </p:cNvSpPr>
          <p:nvPr/>
        </p:nvSpPr>
        <p:spPr bwMode="auto">
          <a:xfrm>
            <a:off x="0" y="0"/>
            <a:ext cx="9144000" cy="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9" name="Date Placeholder 8">
            <a:extLst>
              <a:ext uri="{FF2B5EF4-FFF2-40B4-BE49-F238E27FC236}">
                <a16:creationId xmlns:a16="http://schemas.microsoft.com/office/drawing/2014/main" id="{77660C5C-6479-47A2-A11E-464B8F14D524}"/>
              </a:ext>
            </a:extLst>
          </p:cNvPr>
          <p:cNvSpPr>
            <a:spLocks noGrp="1"/>
          </p:cNvSpPr>
          <p:nvPr>
            <p:ph type="dt" sz="half" idx="12"/>
          </p:nvPr>
        </p:nvSpPr>
        <p:spPr/>
        <p:txBody>
          <a:bodyPr/>
          <a:lstStyle/>
          <a:p>
            <a:r>
              <a:rPr lang="en-US"/>
              <a:t>Auguts 1, 2026</a:t>
            </a:r>
          </a:p>
        </p:txBody>
      </p:sp>
      <p:sp>
        <p:nvSpPr>
          <p:cNvPr id="10" name="Slide Number Placeholder 9">
            <a:extLst>
              <a:ext uri="{FF2B5EF4-FFF2-40B4-BE49-F238E27FC236}">
                <a16:creationId xmlns:a16="http://schemas.microsoft.com/office/drawing/2014/main" id="{A10377CD-40F5-4F42-B169-2633225E7986}"/>
              </a:ext>
            </a:extLst>
          </p:cNvPr>
          <p:cNvSpPr>
            <a:spLocks noGrp="1"/>
          </p:cNvSpPr>
          <p:nvPr>
            <p:ph type="sldNum" sz="quarter" idx="14"/>
          </p:nvPr>
        </p:nvSpPr>
        <p:spPr/>
        <p:txBody>
          <a:bodyPr/>
          <a:lstStyle/>
          <a:p>
            <a:fld id="{BC8D7E44-7D4F-4942-A8C9-2DF6BF8399E8}" type="slidenum">
              <a:rPr lang="en-US" smtClean="0"/>
              <a:pPr/>
              <a:t>61</a:t>
            </a:fld>
            <a:endParaRPr lang="en-US" dirty="0"/>
          </a:p>
        </p:txBody>
      </p:sp>
      <p:pic>
        <p:nvPicPr>
          <p:cNvPr id="11" name="Content Placeholder 10">
            <a:extLst>
              <a:ext uri="{FF2B5EF4-FFF2-40B4-BE49-F238E27FC236}">
                <a16:creationId xmlns:a16="http://schemas.microsoft.com/office/drawing/2014/main" id="{6D265566-B75B-8B37-3A46-B7EFFABD0EAD}"/>
              </a:ext>
            </a:extLst>
          </p:cNvPr>
          <p:cNvPicPr>
            <a:picLocks noGrp="1"/>
          </p:cNvPicPr>
          <p:nvPr>
            <p:ph idx="1"/>
          </p:nvPr>
        </p:nvPicPr>
        <p:blipFill>
          <a:blip r:embed="rId2" cstate="print"/>
          <a:srcRect/>
          <a:stretch>
            <a:fillRect/>
          </a:stretch>
        </p:blipFill>
        <p:spPr bwMode="auto">
          <a:xfrm>
            <a:off x="657225" y="1556544"/>
            <a:ext cx="7524750" cy="4400550"/>
          </a:xfrm>
          <a:prstGeom prst="rect">
            <a:avLst/>
          </a:prstGeom>
          <a:noFill/>
          <a:ln w="9525">
            <a:noFill/>
            <a:miter lim="800000"/>
            <a:headEnd/>
            <a:tailEnd/>
          </a:ln>
        </p:spPr>
      </p:pic>
      <p:sp>
        <p:nvSpPr>
          <p:cNvPr id="12" name="Title 1">
            <a:extLst>
              <a:ext uri="{FF2B5EF4-FFF2-40B4-BE49-F238E27FC236}">
                <a16:creationId xmlns:a16="http://schemas.microsoft.com/office/drawing/2014/main" id="{FBD0444B-D257-A736-8887-64671E1925DF}"/>
              </a:ext>
            </a:extLst>
          </p:cNvPr>
          <p:cNvSpPr>
            <a:spLocks noGrp="1"/>
          </p:cNvSpPr>
          <p:nvPr>
            <p:ph sz="quarter" idx="10"/>
          </p:nvPr>
        </p:nvSpPr>
        <p:spPr>
          <a:xfrm>
            <a:off x="304800" y="152400"/>
            <a:ext cx="6324600" cy="1143000"/>
          </a:xfrm>
        </p:spPr>
        <p:txBody>
          <a:bodyPr>
            <a:normAutofit/>
          </a:bodyPr>
          <a:lstStyle/>
          <a:p>
            <a:r>
              <a:rPr lang="en-US" dirty="0"/>
              <a:t>Performance Tactics</a:t>
            </a:r>
          </a:p>
        </p:txBody>
      </p:sp>
    </p:spTree>
    <p:extLst>
      <p:ext uri="{BB962C8B-B14F-4D97-AF65-F5344CB8AC3E}">
        <p14:creationId xmlns:p14="http://schemas.microsoft.com/office/powerpoint/2010/main" val="66191943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lvl="0">
              <a:buFont typeface="Arial" panose="020B0604020202020204" pitchFamily="34" charset="0"/>
              <a:buChar char="•"/>
            </a:pPr>
            <a:r>
              <a:rPr lang="en-US" dirty="0"/>
              <a:t>Manage Sampling Rate: If it is possible to reduce the sampling frequency at which a stream of data is captured, then demand can be reduced, typically with some loss of fidelity. </a:t>
            </a:r>
          </a:p>
          <a:p>
            <a:pPr lvl="0">
              <a:buFont typeface="Arial" panose="020B0604020202020204" pitchFamily="34" charset="0"/>
              <a:buChar char="•"/>
            </a:pPr>
            <a:r>
              <a:rPr lang="en-US" dirty="0"/>
              <a:t>Limit Event Response: process events only up to a set maximum rate, thereby ensuring more predictable processing when the events are actually processed.</a:t>
            </a:r>
          </a:p>
          <a:p>
            <a:pPr lvl="0">
              <a:buFont typeface="Arial" panose="020B0604020202020204" pitchFamily="34" charset="0"/>
              <a:buChar char="•"/>
            </a:pPr>
            <a:r>
              <a:rPr lang="en-US" dirty="0"/>
              <a:t>Prioritize Events: If not all events are equally important, you can impose a priority scheme that ranks events according to how important it is to service them. </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Date Placeholder 6">
            <a:extLst>
              <a:ext uri="{FF2B5EF4-FFF2-40B4-BE49-F238E27FC236}">
                <a16:creationId xmlns:a16="http://schemas.microsoft.com/office/drawing/2014/main" id="{8D3B840C-3749-42AF-A7BA-9187D7CFB76C}"/>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FD20A5C0-5484-40E3-BBAF-1ABD5B57E916}"/>
              </a:ext>
            </a:extLst>
          </p:cNvPr>
          <p:cNvSpPr>
            <a:spLocks noGrp="1"/>
          </p:cNvSpPr>
          <p:nvPr>
            <p:ph type="sldNum" sz="quarter" idx="14"/>
          </p:nvPr>
        </p:nvSpPr>
        <p:spPr/>
        <p:txBody>
          <a:bodyPr/>
          <a:lstStyle/>
          <a:p>
            <a:fld id="{BC8D7E44-7D4F-4942-A8C9-2DF6BF8399E8}" type="slidenum">
              <a:rPr lang="en-US" smtClean="0"/>
              <a:pPr/>
              <a:t>62</a:t>
            </a:fld>
            <a:endParaRPr lang="en-US" dirty="0"/>
          </a:p>
        </p:txBody>
      </p:sp>
      <p:sp>
        <p:nvSpPr>
          <p:cNvPr id="9" name="Title 1">
            <a:extLst>
              <a:ext uri="{FF2B5EF4-FFF2-40B4-BE49-F238E27FC236}">
                <a16:creationId xmlns:a16="http://schemas.microsoft.com/office/drawing/2014/main" id="{BA8A18CD-2EA0-91FE-7E48-D12DD275EC1B}"/>
              </a:ext>
            </a:extLst>
          </p:cNvPr>
          <p:cNvSpPr>
            <a:spLocks noGrp="1"/>
          </p:cNvSpPr>
          <p:nvPr>
            <p:ph sz="quarter" idx="10"/>
          </p:nvPr>
        </p:nvSpPr>
        <p:spPr>
          <a:xfrm>
            <a:off x="304800" y="152400"/>
            <a:ext cx="6324600" cy="1143000"/>
          </a:xfrm>
        </p:spPr>
        <p:txBody>
          <a:bodyPr>
            <a:normAutofit/>
          </a:bodyPr>
          <a:lstStyle/>
          <a:p>
            <a:r>
              <a:rPr lang="en-US" dirty="0"/>
              <a:t>Control Resource Demand</a:t>
            </a:r>
          </a:p>
        </p:txBody>
      </p:sp>
    </p:spTree>
    <p:extLst>
      <p:ext uri="{BB962C8B-B14F-4D97-AF65-F5344CB8AC3E}">
        <p14:creationId xmlns:p14="http://schemas.microsoft.com/office/powerpoint/2010/main" val="236497911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lvl="0">
              <a:buFont typeface="Arial" panose="020B0604020202020204" pitchFamily="34" charset="0"/>
              <a:buChar char="•"/>
            </a:pPr>
            <a:r>
              <a:rPr lang="en-US" dirty="0"/>
              <a:t>Reduce Overhead: The use of intermediaries (important for modifiability) increases the resources consumed in processing an event stream; removing them improves latency. </a:t>
            </a:r>
          </a:p>
          <a:p>
            <a:pPr lvl="0">
              <a:buFont typeface="Arial" panose="020B0604020202020204" pitchFamily="34" charset="0"/>
              <a:buChar char="•"/>
            </a:pPr>
            <a:r>
              <a:rPr lang="en-US" dirty="0"/>
              <a:t>Bound Execution Times: Place a limit on how much execution time is used to respond to an event. </a:t>
            </a:r>
          </a:p>
          <a:p>
            <a:pPr lvl="0">
              <a:buFont typeface="Arial" panose="020B0604020202020204" pitchFamily="34" charset="0"/>
              <a:buChar char="•"/>
            </a:pPr>
            <a:r>
              <a:rPr lang="en-US" dirty="0"/>
              <a:t>Increase Resource Efficiency: Improving the algorithms used in critical areas will decrease latency. </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Date Placeholder 6">
            <a:extLst>
              <a:ext uri="{FF2B5EF4-FFF2-40B4-BE49-F238E27FC236}">
                <a16:creationId xmlns:a16="http://schemas.microsoft.com/office/drawing/2014/main" id="{84753343-C366-4274-B590-4ED337A53B41}"/>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526E5512-58C3-4530-8972-F7D391AA116C}"/>
              </a:ext>
            </a:extLst>
          </p:cNvPr>
          <p:cNvSpPr>
            <a:spLocks noGrp="1"/>
          </p:cNvSpPr>
          <p:nvPr>
            <p:ph type="sldNum" sz="quarter" idx="14"/>
          </p:nvPr>
        </p:nvSpPr>
        <p:spPr/>
        <p:txBody>
          <a:bodyPr/>
          <a:lstStyle/>
          <a:p>
            <a:fld id="{BC8D7E44-7D4F-4942-A8C9-2DF6BF8399E8}" type="slidenum">
              <a:rPr lang="en-US" smtClean="0"/>
              <a:pPr/>
              <a:t>63</a:t>
            </a:fld>
            <a:endParaRPr lang="en-US" dirty="0"/>
          </a:p>
        </p:txBody>
      </p:sp>
      <p:sp>
        <p:nvSpPr>
          <p:cNvPr id="9" name="Title 1">
            <a:extLst>
              <a:ext uri="{FF2B5EF4-FFF2-40B4-BE49-F238E27FC236}">
                <a16:creationId xmlns:a16="http://schemas.microsoft.com/office/drawing/2014/main" id="{B994A7ED-8CDD-CD13-4009-2D354E9A849A}"/>
              </a:ext>
            </a:extLst>
          </p:cNvPr>
          <p:cNvSpPr>
            <a:spLocks noGrp="1"/>
          </p:cNvSpPr>
          <p:nvPr>
            <p:ph sz="quarter" idx="10"/>
          </p:nvPr>
        </p:nvSpPr>
        <p:spPr>
          <a:xfrm>
            <a:off x="304800" y="152400"/>
            <a:ext cx="6324600" cy="1143000"/>
          </a:xfrm>
        </p:spPr>
        <p:txBody>
          <a:bodyPr>
            <a:normAutofit/>
          </a:bodyPr>
          <a:lstStyle/>
          <a:p>
            <a:r>
              <a:rPr lang="en-US" dirty="0"/>
              <a:t>Control Resource Demand</a:t>
            </a:r>
          </a:p>
        </p:txBody>
      </p:sp>
    </p:spTree>
    <p:extLst>
      <p:ext uri="{BB962C8B-B14F-4D97-AF65-F5344CB8AC3E}">
        <p14:creationId xmlns:p14="http://schemas.microsoft.com/office/powerpoint/2010/main" val="408015552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anose="020B0604020202020204" pitchFamily="34" charset="0"/>
              <a:buChar char="•"/>
            </a:pPr>
            <a:r>
              <a:rPr lang="en-US" dirty="0"/>
              <a:t>Increase Resources: Faster processors, additional processors, additional memory, and faster networks all have the potential for reducing latency. </a:t>
            </a:r>
          </a:p>
          <a:p>
            <a:pPr>
              <a:buFont typeface="Arial" panose="020B0604020202020204" pitchFamily="34" charset="0"/>
              <a:buChar char="•"/>
            </a:pPr>
            <a:r>
              <a:rPr lang="en-US" dirty="0"/>
              <a:t>Increase Concurrency: If requests can be processed in parallel, the blocked time can be reduced. Concurrency can be introduced by processing different streams of events on different threads or by creating additional threads to process different sets of activities. </a:t>
            </a:r>
          </a:p>
          <a:p>
            <a:pPr>
              <a:buFont typeface="Arial" panose="020B0604020202020204" pitchFamily="34" charset="0"/>
              <a:buChar char="•"/>
            </a:pPr>
            <a:r>
              <a:rPr lang="en-US" dirty="0"/>
              <a:t>Maintain Multiple Copies of Computations: The purpose of replicas is to reduce the contention that would occur if all computations took place on a single server.</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Date Placeholder 6">
            <a:extLst>
              <a:ext uri="{FF2B5EF4-FFF2-40B4-BE49-F238E27FC236}">
                <a16:creationId xmlns:a16="http://schemas.microsoft.com/office/drawing/2014/main" id="{339F16B4-3F83-48D5-893D-83FA8A73EC2A}"/>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D3400B7C-E527-4241-9044-E3526BC79991}"/>
              </a:ext>
            </a:extLst>
          </p:cNvPr>
          <p:cNvSpPr>
            <a:spLocks noGrp="1"/>
          </p:cNvSpPr>
          <p:nvPr>
            <p:ph type="sldNum" sz="quarter" idx="14"/>
          </p:nvPr>
        </p:nvSpPr>
        <p:spPr/>
        <p:txBody>
          <a:bodyPr/>
          <a:lstStyle/>
          <a:p>
            <a:fld id="{BC8D7E44-7D4F-4942-A8C9-2DF6BF8399E8}" type="slidenum">
              <a:rPr lang="en-US" smtClean="0"/>
              <a:pPr/>
              <a:t>64</a:t>
            </a:fld>
            <a:endParaRPr lang="en-US" dirty="0"/>
          </a:p>
        </p:txBody>
      </p:sp>
      <p:sp>
        <p:nvSpPr>
          <p:cNvPr id="9" name="Title 1">
            <a:extLst>
              <a:ext uri="{FF2B5EF4-FFF2-40B4-BE49-F238E27FC236}">
                <a16:creationId xmlns:a16="http://schemas.microsoft.com/office/drawing/2014/main" id="{4C87601C-0D7D-06C9-D1A3-48260AF0767A}"/>
              </a:ext>
            </a:extLst>
          </p:cNvPr>
          <p:cNvSpPr>
            <a:spLocks noGrp="1"/>
          </p:cNvSpPr>
          <p:nvPr>
            <p:ph sz="quarter" idx="10"/>
          </p:nvPr>
        </p:nvSpPr>
        <p:spPr>
          <a:xfrm>
            <a:off x="304800" y="152400"/>
            <a:ext cx="6324600" cy="1143000"/>
          </a:xfrm>
        </p:spPr>
        <p:txBody>
          <a:bodyPr>
            <a:normAutofit/>
          </a:bodyPr>
          <a:lstStyle/>
          <a:p>
            <a:r>
              <a:rPr lang="en-US" dirty="0"/>
              <a:t>Manage Resources</a:t>
            </a:r>
          </a:p>
        </p:txBody>
      </p:sp>
    </p:spTree>
    <p:extLst>
      <p:ext uri="{BB962C8B-B14F-4D97-AF65-F5344CB8AC3E}">
        <p14:creationId xmlns:p14="http://schemas.microsoft.com/office/powerpoint/2010/main" val="368149659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anose="020B0604020202020204" pitchFamily="34" charset="0"/>
              <a:buChar char="•"/>
            </a:pPr>
            <a:r>
              <a:rPr lang="en-US" dirty="0"/>
              <a:t>Maintain Multiple Copies of Data: keeping copies of data (possibly one a subset of the other) on storage with different access speeds.  </a:t>
            </a:r>
          </a:p>
          <a:p>
            <a:pPr>
              <a:buFont typeface="Arial" panose="020B0604020202020204" pitchFamily="34" charset="0"/>
              <a:buChar char="•"/>
            </a:pPr>
            <a:r>
              <a:rPr lang="en-US" dirty="0"/>
              <a:t>Bound Queue Sizes: control the maximum number of queued arrivals and consequently the resources used to process the arrivals.</a:t>
            </a:r>
          </a:p>
          <a:p>
            <a:pPr>
              <a:buFont typeface="Arial" panose="020B0604020202020204" pitchFamily="34" charset="0"/>
              <a:buChar char="•"/>
            </a:pPr>
            <a:r>
              <a:rPr lang="en-US" dirty="0"/>
              <a:t>Schedule Resources: When there is contention for a resource, the resource must be scheduled. </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Date Placeholder 6">
            <a:extLst>
              <a:ext uri="{FF2B5EF4-FFF2-40B4-BE49-F238E27FC236}">
                <a16:creationId xmlns:a16="http://schemas.microsoft.com/office/drawing/2014/main" id="{40225327-EC5C-4782-A814-3646BAD9D6DA}"/>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D8A41E45-4C58-4EB4-B23B-BB14EFCFF4E4}"/>
              </a:ext>
            </a:extLst>
          </p:cNvPr>
          <p:cNvSpPr>
            <a:spLocks noGrp="1"/>
          </p:cNvSpPr>
          <p:nvPr>
            <p:ph type="sldNum" sz="quarter" idx="14"/>
          </p:nvPr>
        </p:nvSpPr>
        <p:spPr/>
        <p:txBody>
          <a:bodyPr/>
          <a:lstStyle/>
          <a:p>
            <a:fld id="{BC8D7E44-7D4F-4942-A8C9-2DF6BF8399E8}" type="slidenum">
              <a:rPr lang="en-US" smtClean="0"/>
              <a:pPr/>
              <a:t>65</a:t>
            </a:fld>
            <a:endParaRPr lang="en-US" dirty="0"/>
          </a:p>
        </p:txBody>
      </p:sp>
      <p:sp>
        <p:nvSpPr>
          <p:cNvPr id="9" name="Title 1">
            <a:extLst>
              <a:ext uri="{FF2B5EF4-FFF2-40B4-BE49-F238E27FC236}">
                <a16:creationId xmlns:a16="http://schemas.microsoft.com/office/drawing/2014/main" id="{46C74B93-D657-F807-1C60-1A5FFBEE96D4}"/>
              </a:ext>
            </a:extLst>
          </p:cNvPr>
          <p:cNvSpPr>
            <a:spLocks noGrp="1"/>
          </p:cNvSpPr>
          <p:nvPr>
            <p:ph sz="quarter" idx="10"/>
          </p:nvPr>
        </p:nvSpPr>
        <p:spPr>
          <a:xfrm>
            <a:off x="304800" y="152400"/>
            <a:ext cx="6324600" cy="1143000"/>
          </a:xfrm>
        </p:spPr>
        <p:txBody>
          <a:bodyPr>
            <a:normAutofit/>
          </a:bodyPr>
          <a:lstStyle/>
          <a:p>
            <a:r>
              <a:rPr lang="en-US" dirty="0"/>
              <a:t>Manage Resources</a:t>
            </a:r>
          </a:p>
        </p:txBody>
      </p:sp>
    </p:spTree>
    <p:extLst>
      <p:ext uri="{BB962C8B-B14F-4D97-AF65-F5344CB8AC3E}">
        <p14:creationId xmlns:p14="http://schemas.microsoft.com/office/powerpoint/2010/main" val="44292474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F93FD0E-60E2-4285-9D36-1F25135D0C72}"/>
              </a:ext>
            </a:extLst>
          </p:cNvPr>
          <p:cNvSpPr>
            <a:spLocks noGrp="1"/>
          </p:cNvSpPr>
          <p:nvPr>
            <p:ph idx="1"/>
          </p:nvPr>
        </p:nvSpPr>
        <p:spPr/>
        <p:txBody>
          <a:bodyPr/>
          <a:lstStyle/>
          <a:p>
            <a:endParaRPr lang="en-IN"/>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graphicFrame>
        <p:nvGraphicFramePr>
          <p:cNvPr id="5" name="Table 4"/>
          <p:cNvGraphicFramePr>
            <a:graphicFrameLocks noGrp="1"/>
          </p:cNvGraphicFramePr>
          <p:nvPr/>
        </p:nvGraphicFramePr>
        <p:xfrm>
          <a:off x="467544" y="1335361"/>
          <a:ext cx="8208912" cy="5406008"/>
        </p:xfrm>
        <a:graphic>
          <a:graphicData uri="http://schemas.openxmlformats.org/drawingml/2006/table">
            <a:tbl>
              <a:tblPr firstRow="1" firstCol="1" bandRow="1">
                <a:tableStyleId>{5C22544A-7EE6-4342-B048-85BDC9FD1C3A}</a:tableStyleId>
              </a:tblPr>
              <a:tblGrid>
                <a:gridCol w="1362339">
                  <a:extLst>
                    <a:ext uri="{9D8B030D-6E8A-4147-A177-3AD203B41FA5}">
                      <a16:colId xmlns:a16="http://schemas.microsoft.com/office/drawing/2014/main" val="20000"/>
                    </a:ext>
                  </a:extLst>
                </a:gridCol>
                <a:gridCol w="6846573">
                  <a:extLst>
                    <a:ext uri="{9D8B030D-6E8A-4147-A177-3AD203B41FA5}">
                      <a16:colId xmlns:a16="http://schemas.microsoft.com/office/drawing/2014/main" val="20001"/>
                    </a:ext>
                  </a:extLst>
                </a:gridCol>
              </a:tblGrid>
              <a:tr h="5406008">
                <a:tc>
                  <a:txBody>
                    <a:bodyPr/>
                    <a:lstStyle/>
                    <a:p>
                      <a:pPr marL="0" marR="0">
                        <a:lnSpc>
                          <a:spcPct val="80000"/>
                        </a:lnSpc>
                        <a:spcBef>
                          <a:spcPts val="400"/>
                        </a:spcBef>
                        <a:spcAft>
                          <a:spcPts val="400"/>
                        </a:spcAft>
                      </a:pPr>
                      <a:r>
                        <a:rPr lang="en-US" sz="2000" dirty="0">
                          <a:effectLst/>
                        </a:rPr>
                        <a:t>Allocation of </a:t>
                      </a:r>
                      <a:r>
                        <a:rPr lang="en-US" sz="2000" dirty="0" err="1">
                          <a:effectLst/>
                        </a:rPr>
                        <a:t>Responsi-bilities</a:t>
                      </a:r>
                      <a:endParaRPr lang="en-US" sz="2000" dirty="0">
                        <a:solidFill>
                          <a:srgbClr val="000080"/>
                        </a:solidFill>
                        <a:effectLst/>
                        <a:latin typeface="Times"/>
                        <a:ea typeface="Times New Roman"/>
                        <a:cs typeface="Times New Roman"/>
                      </a:endParaRPr>
                    </a:p>
                  </a:txBody>
                  <a:tcPr marL="68580" marR="68580" marT="0" marB="0"/>
                </a:tc>
                <a:tc>
                  <a:txBody>
                    <a:bodyPr/>
                    <a:lstStyle/>
                    <a:p>
                      <a:pPr marL="0" marR="0">
                        <a:lnSpc>
                          <a:spcPct val="80000"/>
                        </a:lnSpc>
                        <a:spcBef>
                          <a:spcPts val="400"/>
                        </a:spcBef>
                        <a:spcAft>
                          <a:spcPts val="400"/>
                        </a:spcAft>
                      </a:pPr>
                      <a:r>
                        <a:rPr lang="en-US" sz="2000" dirty="0">
                          <a:effectLst/>
                        </a:rPr>
                        <a:t>Determine the system’s responsibilities that will involve heavy loading, have time-critical response requirements, are heavily used, or impact portions of the system where heavy loads or time critical events occur.  </a:t>
                      </a:r>
                    </a:p>
                    <a:p>
                      <a:pPr marL="0" marR="0">
                        <a:lnSpc>
                          <a:spcPct val="80000"/>
                        </a:lnSpc>
                        <a:spcBef>
                          <a:spcPts val="400"/>
                        </a:spcBef>
                        <a:spcAft>
                          <a:spcPts val="400"/>
                        </a:spcAft>
                      </a:pPr>
                      <a:r>
                        <a:rPr lang="en-US" sz="2000" dirty="0">
                          <a:effectLst/>
                        </a:rPr>
                        <a:t>For those responsibilities, identify </a:t>
                      </a:r>
                    </a:p>
                    <a:p>
                      <a:pPr marL="342900" marR="0" lvl="0" indent="-342900">
                        <a:lnSpc>
                          <a:spcPct val="80000"/>
                        </a:lnSpc>
                        <a:spcBef>
                          <a:spcPts val="100"/>
                        </a:spcBef>
                        <a:spcAft>
                          <a:spcPts val="300"/>
                        </a:spcAft>
                        <a:buSzPts val="800"/>
                        <a:buFont typeface="Symbol"/>
                        <a:buChar char=""/>
                        <a:tabLst>
                          <a:tab pos="274320" algn="l"/>
                          <a:tab pos="274320" algn="l"/>
                          <a:tab pos="685800" algn="l"/>
                        </a:tabLst>
                      </a:pPr>
                      <a:r>
                        <a:rPr lang="en-US" sz="2000" kern="1100" dirty="0">
                          <a:effectLst/>
                        </a:rPr>
                        <a:t>processing requirements of each responsibility and determine whether they may cause bottlenecks</a:t>
                      </a:r>
                    </a:p>
                    <a:p>
                      <a:pPr marL="342900" marR="0" lvl="0" indent="-342900">
                        <a:lnSpc>
                          <a:spcPct val="80000"/>
                        </a:lnSpc>
                        <a:spcBef>
                          <a:spcPts val="100"/>
                        </a:spcBef>
                        <a:spcAft>
                          <a:spcPts val="300"/>
                        </a:spcAft>
                        <a:buSzPts val="800"/>
                        <a:buFont typeface="Symbol"/>
                        <a:buChar char=""/>
                        <a:tabLst>
                          <a:tab pos="274320" algn="l"/>
                          <a:tab pos="274320" algn="l"/>
                          <a:tab pos="685800" algn="l"/>
                        </a:tabLst>
                      </a:pPr>
                      <a:r>
                        <a:rPr lang="en-US" sz="2000" kern="1100" dirty="0">
                          <a:effectLst/>
                        </a:rPr>
                        <a:t>additional responsibilities to recognize and process requests appropriately including</a:t>
                      </a:r>
                    </a:p>
                    <a:p>
                      <a:pPr marL="342900" marR="0" lvl="0" indent="-342900">
                        <a:lnSpc>
                          <a:spcPct val="80000"/>
                        </a:lnSpc>
                        <a:spcBef>
                          <a:spcPts val="100"/>
                        </a:spcBef>
                        <a:spcAft>
                          <a:spcPts val="300"/>
                        </a:spcAft>
                        <a:buSzPts val="800"/>
                        <a:buFont typeface="Symbol"/>
                        <a:buChar char=""/>
                        <a:tabLst>
                          <a:tab pos="274320" algn="l"/>
                          <a:tab pos="274320" algn="l"/>
                          <a:tab pos="1371600" algn="l"/>
                        </a:tabLst>
                      </a:pPr>
                      <a:r>
                        <a:rPr lang="en-US" sz="2000" kern="1100" dirty="0">
                          <a:effectLst/>
                        </a:rPr>
                        <a:t>Responsibilities that result from a thread of control crossing process or processor boundaries.</a:t>
                      </a:r>
                    </a:p>
                    <a:p>
                      <a:pPr marL="342900" marR="0" lvl="0" indent="-342900">
                        <a:lnSpc>
                          <a:spcPct val="80000"/>
                        </a:lnSpc>
                        <a:spcBef>
                          <a:spcPts val="100"/>
                        </a:spcBef>
                        <a:spcAft>
                          <a:spcPts val="300"/>
                        </a:spcAft>
                        <a:buSzPts val="800"/>
                        <a:buFont typeface="Symbol"/>
                        <a:buChar char=""/>
                        <a:tabLst>
                          <a:tab pos="274320" algn="l"/>
                          <a:tab pos="274320" algn="l"/>
                          <a:tab pos="1371600" algn="l"/>
                        </a:tabLst>
                      </a:pPr>
                      <a:r>
                        <a:rPr lang="en-US" sz="2000" kern="1100" dirty="0">
                          <a:effectLst/>
                        </a:rPr>
                        <a:t>Responsibilities to manage the threads of control —allocation and de-allocation of threads, maintaining thread pools, and so forth.</a:t>
                      </a:r>
                    </a:p>
                    <a:p>
                      <a:pPr marL="342900" marR="0" lvl="0" indent="-342900">
                        <a:lnSpc>
                          <a:spcPct val="80000"/>
                        </a:lnSpc>
                        <a:spcBef>
                          <a:spcPts val="100"/>
                        </a:spcBef>
                        <a:spcAft>
                          <a:spcPts val="300"/>
                        </a:spcAft>
                        <a:buSzPts val="800"/>
                        <a:buFont typeface="Symbol"/>
                        <a:buChar char=""/>
                        <a:tabLst>
                          <a:tab pos="274320" algn="l"/>
                          <a:tab pos="274320" algn="l"/>
                          <a:tab pos="1371600" algn="l"/>
                        </a:tabLst>
                      </a:pPr>
                      <a:r>
                        <a:rPr lang="en-US" sz="2000" kern="1100" dirty="0">
                          <a:effectLst/>
                        </a:rPr>
                        <a:t>Responsibilities for scheduling shared resources or managing performance-related artifacts such as queues, buffers, and caches.</a:t>
                      </a:r>
                    </a:p>
                    <a:p>
                      <a:pPr marL="0" marR="0">
                        <a:lnSpc>
                          <a:spcPct val="80000"/>
                        </a:lnSpc>
                        <a:spcBef>
                          <a:spcPts val="400"/>
                        </a:spcBef>
                        <a:spcAft>
                          <a:spcPts val="400"/>
                        </a:spcAft>
                      </a:pPr>
                      <a:r>
                        <a:rPr lang="en-US" sz="2000" dirty="0">
                          <a:effectLst/>
                        </a:rPr>
                        <a:t>For the responsibilities and resources you identified, ensure that the required performance response can be met (perhaps by building a performance model to help in the evaluation).</a:t>
                      </a:r>
                      <a:endParaRPr lang="en-US" sz="2000" dirty="0">
                        <a:solidFill>
                          <a:srgbClr val="000080"/>
                        </a:solidFill>
                        <a:effectLst/>
                        <a:latin typeface="Times"/>
                        <a:ea typeface="Times New Roman"/>
                        <a:cs typeface="Times New Roman"/>
                      </a:endParaRPr>
                    </a:p>
                  </a:txBody>
                  <a:tcPr marL="68580" marR="68580" marT="0" marB="0"/>
                </a:tc>
                <a:extLst>
                  <a:ext uri="{0D108BD9-81ED-4DB2-BD59-A6C34878D82A}">
                    <a16:rowId xmlns:a16="http://schemas.microsoft.com/office/drawing/2014/main" val="10000"/>
                  </a:ext>
                </a:extLst>
              </a:tr>
            </a:tbl>
          </a:graphicData>
        </a:graphic>
      </p:graphicFrame>
      <p:sp>
        <p:nvSpPr>
          <p:cNvPr id="8" name="Date Placeholder 7">
            <a:extLst>
              <a:ext uri="{FF2B5EF4-FFF2-40B4-BE49-F238E27FC236}">
                <a16:creationId xmlns:a16="http://schemas.microsoft.com/office/drawing/2014/main" id="{FF96850A-51BA-4640-A0B5-D16006E06EEC}"/>
              </a:ext>
            </a:extLst>
          </p:cNvPr>
          <p:cNvSpPr>
            <a:spLocks noGrp="1"/>
          </p:cNvSpPr>
          <p:nvPr>
            <p:ph type="dt" sz="half" idx="12"/>
          </p:nvPr>
        </p:nvSpPr>
        <p:spPr/>
        <p:txBody>
          <a:bodyPr/>
          <a:lstStyle/>
          <a:p>
            <a:r>
              <a:rPr lang="en-US"/>
              <a:t>Auguts 1, 2026</a:t>
            </a:r>
          </a:p>
        </p:txBody>
      </p:sp>
      <p:sp>
        <p:nvSpPr>
          <p:cNvPr id="9" name="Slide Number Placeholder 8">
            <a:extLst>
              <a:ext uri="{FF2B5EF4-FFF2-40B4-BE49-F238E27FC236}">
                <a16:creationId xmlns:a16="http://schemas.microsoft.com/office/drawing/2014/main" id="{775C1A63-003A-4520-BDFA-7A991710F479}"/>
              </a:ext>
            </a:extLst>
          </p:cNvPr>
          <p:cNvSpPr>
            <a:spLocks noGrp="1"/>
          </p:cNvSpPr>
          <p:nvPr>
            <p:ph type="sldNum" sz="quarter" idx="14"/>
          </p:nvPr>
        </p:nvSpPr>
        <p:spPr/>
        <p:txBody>
          <a:bodyPr/>
          <a:lstStyle/>
          <a:p>
            <a:fld id="{BC8D7E44-7D4F-4942-A8C9-2DF6BF8399E8}" type="slidenum">
              <a:rPr lang="en-US" smtClean="0"/>
              <a:pPr/>
              <a:t>66</a:t>
            </a:fld>
            <a:endParaRPr lang="en-US" dirty="0"/>
          </a:p>
        </p:txBody>
      </p:sp>
      <p:sp>
        <p:nvSpPr>
          <p:cNvPr id="10" name="Title 1">
            <a:extLst>
              <a:ext uri="{FF2B5EF4-FFF2-40B4-BE49-F238E27FC236}">
                <a16:creationId xmlns:a16="http://schemas.microsoft.com/office/drawing/2014/main" id="{87FC0184-3CB0-CE18-C610-9A8BDB40C273}"/>
              </a:ext>
            </a:extLst>
          </p:cNvPr>
          <p:cNvSpPr>
            <a:spLocks noGrp="1"/>
          </p:cNvSpPr>
          <p:nvPr>
            <p:ph sz="quarter" idx="10"/>
          </p:nvPr>
        </p:nvSpPr>
        <p:spPr>
          <a:xfrm>
            <a:off x="304800" y="152400"/>
            <a:ext cx="6324600" cy="1143000"/>
          </a:xfrm>
        </p:spPr>
        <p:txBody>
          <a:bodyPr>
            <a:normAutofit fontScale="97500"/>
          </a:bodyPr>
          <a:lstStyle/>
          <a:p>
            <a:r>
              <a:rPr lang="en-US" dirty="0"/>
              <a:t>Design Checklist for Performance</a:t>
            </a:r>
          </a:p>
        </p:txBody>
      </p:sp>
    </p:spTree>
    <p:extLst>
      <p:ext uri="{BB962C8B-B14F-4D97-AF65-F5344CB8AC3E}">
        <p14:creationId xmlns:p14="http://schemas.microsoft.com/office/powerpoint/2010/main" val="11469280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8" name="Date Placeholder 7">
            <a:extLst>
              <a:ext uri="{FF2B5EF4-FFF2-40B4-BE49-F238E27FC236}">
                <a16:creationId xmlns:a16="http://schemas.microsoft.com/office/drawing/2014/main" id="{46EA470F-9FDF-4EC7-BE75-01D918F1A38C}"/>
              </a:ext>
            </a:extLst>
          </p:cNvPr>
          <p:cNvSpPr>
            <a:spLocks noGrp="1"/>
          </p:cNvSpPr>
          <p:nvPr>
            <p:ph type="dt" sz="half" idx="12"/>
          </p:nvPr>
        </p:nvSpPr>
        <p:spPr/>
        <p:txBody>
          <a:bodyPr/>
          <a:lstStyle/>
          <a:p>
            <a:r>
              <a:rPr lang="en-US"/>
              <a:t>Auguts 1, 2026</a:t>
            </a:r>
          </a:p>
        </p:txBody>
      </p:sp>
      <p:sp>
        <p:nvSpPr>
          <p:cNvPr id="9" name="Slide Number Placeholder 8">
            <a:extLst>
              <a:ext uri="{FF2B5EF4-FFF2-40B4-BE49-F238E27FC236}">
                <a16:creationId xmlns:a16="http://schemas.microsoft.com/office/drawing/2014/main" id="{EA4C7D82-6841-4D7E-8C65-272F0A54C587}"/>
              </a:ext>
            </a:extLst>
          </p:cNvPr>
          <p:cNvSpPr>
            <a:spLocks noGrp="1"/>
          </p:cNvSpPr>
          <p:nvPr>
            <p:ph type="sldNum" sz="quarter" idx="14"/>
          </p:nvPr>
        </p:nvSpPr>
        <p:spPr/>
        <p:txBody>
          <a:bodyPr/>
          <a:lstStyle/>
          <a:p>
            <a:fld id="{BC8D7E44-7D4F-4942-A8C9-2DF6BF8399E8}" type="slidenum">
              <a:rPr lang="en-US" smtClean="0"/>
              <a:pPr/>
              <a:t>67</a:t>
            </a:fld>
            <a:endParaRPr lang="en-US" dirty="0"/>
          </a:p>
        </p:txBody>
      </p:sp>
      <p:sp>
        <p:nvSpPr>
          <p:cNvPr id="10" name="Title 1">
            <a:extLst>
              <a:ext uri="{FF2B5EF4-FFF2-40B4-BE49-F238E27FC236}">
                <a16:creationId xmlns:a16="http://schemas.microsoft.com/office/drawing/2014/main" id="{2421FC20-CE2C-546D-0E8F-4B9D26CB140A}"/>
              </a:ext>
            </a:extLst>
          </p:cNvPr>
          <p:cNvSpPr>
            <a:spLocks noGrp="1"/>
          </p:cNvSpPr>
          <p:nvPr>
            <p:ph sz="quarter" idx="10"/>
          </p:nvPr>
        </p:nvSpPr>
        <p:spPr>
          <a:xfrm>
            <a:off x="304800" y="152400"/>
            <a:ext cx="6324600" cy="1143000"/>
          </a:xfrm>
        </p:spPr>
        <p:txBody>
          <a:bodyPr>
            <a:normAutofit fontScale="97500"/>
          </a:bodyPr>
          <a:lstStyle/>
          <a:p>
            <a:r>
              <a:rPr lang="en-US" dirty="0"/>
              <a:t>Design Checklist for Performance</a:t>
            </a:r>
          </a:p>
        </p:txBody>
      </p:sp>
      <p:graphicFrame>
        <p:nvGraphicFramePr>
          <p:cNvPr id="11" name="Content Placeholder 10">
            <a:extLst>
              <a:ext uri="{FF2B5EF4-FFF2-40B4-BE49-F238E27FC236}">
                <a16:creationId xmlns:a16="http://schemas.microsoft.com/office/drawing/2014/main" id="{E9C47DE1-EC4E-2A8F-30D2-AFF651B19A2B}"/>
              </a:ext>
            </a:extLst>
          </p:cNvPr>
          <p:cNvGraphicFramePr>
            <a:graphicFrameLocks noGrp="1"/>
          </p:cNvGraphicFramePr>
          <p:nvPr>
            <p:ph idx="1"/>
          </p:nvPr>
        </p:nvGraphicFramePr>
        <p:xfrm>
          <a:off x="304800" y="1493838"/>
          <a:ext cx="8610600" cy="4144962"/>
        </p:xfrm>
        <a:graphic>
          <a:graphicData uri="http://schemas.openxmlformats.org/drawingml/2006/table">
            <a:tbl>
              <a:tblPr firstRow="1" firstCol="1" bandRow="1">
                <a:tableStyleId>{5C22544A-7EE6-4342-B048-85BDC9FD1C3A}</a:tableStyleId>
              </a:tblPr>
              <a:tblGrid>
                <a:gridCol w="1676400">
                  <a:extLst>
                    <a:ext uri="{9D8B030D-6E8A-4147-A177-3AD203B41FA5}">
                      <a16:colId xmlns:a16="http://schemas.microsoft.com/office/drawing/2014/main" val="20000"/>
                    </a:ext>
                  </a:extLst>
                </a:gridCol>
                <a:gridCol w="6934200">
                  <a:extLst>
                    <a:ext uri="{9D8B030D-6E8A-4147-A177-3AD203B41FA5}">
                      <a16:colId xmlns:a16="http://schemas.microsoft.com/office/drawing/2014/main" val="20001"/>
                    </a:ext>
                  </a:extLst>
                </a:gridCol>
              </a:tblGrid>
              <a:tr h="4144962">
                <a:tc>
                  <a:txBody>
                    <a:bodyPr/>
                    <a:lstStyle/>
                    <a:p>
                      <a:pPr marL="0" marR="0">
                        <a:lnSpc>
                          <a:spcPct val="80000"/>
                        </a:lnSpc>
                        <a:spcBef>
                          <a:spcPts val="400"/>
                        </a:spcBef>
                        <a:spcAft>
                          <a:spcPts val="400"/>
                        </a:spcAft>
                      </a:pPr>
                      <a:r>
                        <a:rPr lang="en-US" sz="2000" dirty="0">
                          <a:effectLst/>
                        </a:rPr>
                        <a:t>Coordination Model</a:t>
                      </a:r>
                      <a:endParaRPr lang="en-US" sz="2000" dirty="0">
                        <a:solidFill>
                          <a:srgbClr val="000080"/>
                        </a:solidFill>
                        <a:effectLst/>
                        <a:latin typeface="Times"/>
                        <a:ea typeface="Times New Roman"/>
                        <a:cs typeface="Times New Roman"/>
                      </a:endParaRPr>
                    </a:p>
                  </a:txBody>
                  <a:tcPr marL="68580" marR="68580" marT="0" marB="0"/>
                </a:tc>
                <a:tc>
                  <a:txBody>
                    <a:bodyPr/>
                    <a:lstStyle/>
                    <a:p>
                      <a:pPr marL="0" marR="0">
                        <a:lnSpc>
                          <a:spcPct val="80000"/>
                        </a:lnSpc>
                        <a:spcBef>
                          <a:spcPts val="400"/>
                        </a:spcBef>
                        <a:spcAft>
                          <a:spcPts val="400"/>
                        </a:spcAft>
                      </a:pPr>
                      <a:r>
                        <a:rPr lang="en-US" sz="2000" dirty="0">
                          <a:effectLst/>
                        </a:rPr>
                        <a:t>Determine the elements of the system that must coordinate with each other—directly or indirectly—and choose communication and coordination mechanisms that</a:t>
                      </a:r>
                    </a:p>
                    <a:p>
                      <a:pPr marL="342900" marR="0" lvl="0" indent="-342900">
                        <a:lnSpc>
                          <a:spcPct val="80000"/>
                        </a:lnSpc>
                        <a:spcBef>
                          <a:spcPts val="100"/>
                        </a:spcBef>
                        <a:spcAft>
                          <a:spcPts val="300"/>
                        </a:spcAft>
                        <a:buSzPts val="800"/>
                        <a:buFont typeface="Symbol"/>
                        <a:buChar char=""/>
                        <a:tabLst>
                          <a:tab pos="274320" algn="l"/>
                        </a:tabLst>
                      </a:pPr>
                      <a:r>
                        <a:rPr lang="en-US" sz="2000" kern="1100" dirty="0">
                          <a:effectLst/>
                        </a:rPr>
                        <a:t>supports any introduced concurrency (for example, is it thread-safe?), event </a:t>
                      </a:r>
                      <a:r>
                        <a:rPr lang="en-US" sz="2000" kern="1100" dirty="0" err="1">
                          <a:effectLst/>
                        </a:rPr>
                        <a:t>priorization</a:t>
                      </a:r>
                      <a:r>
                        <a:rPr lang="en-US" sz="2000" kern="1100" dirty="0">
                          <a:effectLst/>
                        </a:rPr>
                        <a:t>, or scheduling strategy</a:t>
                      </a:r>
                    </a:p>
                    <a:p>
                      <a:pPr marL="342900" marR="0" lvl="0" indent="-342900">
                        <a:lnSpc>
                          <a:spcPct val="80000"/>
                        </a:lnSpc>
                        <a:spcBef>
                          <a:spcPts val="100"/>
                        </a:spcBef>
                        <a:spcAft>
                          <a:spcPts val="300"/>
                        </a:spcAft>
                        <a:buSzPts val="800"/>
                        <a:buFont typeface="Symbol"/>
                        <a:buChar char=""/>
                        <a:tabLst>
                          <a:tab pos="274320" algn="l"/>
                        </a:tabLst>
                      </a:pPr>
                      <a:r>
                        <a:rPr lang="en-US" sz="2000" kern="1100" dirty="0">
                          <a:effectLst/>
                        </a:rPr>
                        <a:t>ensures that the required performance response can be delivered</a:t>
                      </a:r>
                    </a:p>
                    <a:p>
                      <a:pPr marL="342900" marR="0" lvl="0" indent="-342900">
                        <a:lnSpc>
                          <a:spcPct val="80000"/>
                        </a:lnSpc>
                        <a:spcBef>
                          <a:spcPts val="100"/>
                        </a:spcBef>
                        <a:spcAft>
                          <a:spcPts val="300"/>
                        </a:spcAft>
                        <a:buSzPts val="800"/>
                        <a:buFont typeface="Symbol"/>
                        <a:buChar char=""/>
                        <a:tabLst>
                          <a:tab pos="274320" algn="l"/>
                        </a:tabLst>
                      </a:pPr>
                      <a:r>
                        <a:rPr lang="en-US" sz="2000" kern="1100" dirty="0">
                          <a:effectLst/>
                        </a:rPr>
                        <a:t>can capture periodic, stochastic, or sporadic event arrivals, as needed </a:t>
                      </a:r>
                    </a:p>
                    <a:p>
                      <a:pPr marL="342900" marR="0" lvl="0" indent="-342900">
                        <a:lnSpc>
                          <a:spcPct val="80000"/>
                        </a:lnSpc>
                        <a:spcBef>
                          <a:spcPts val="100"/>
                        </a:spcBef>
                        <a:spcAft>
                          <a:spcPts val="300"/>
                        </a:spcAft>
                        <a:buSzPts val="800"/>
                        <a:buFont typeface="Symbol"/>
                        <a:buChar char=""/>
                        <a:tabLst>
                          <a:tab pos="274320" algn="l"/>
                        </a:tabLst>
                      </a:pPr>
                      <a:r>
                        <a:rPr lang="en-US" sz="2000" kern="1100" dirty="0">
                          <a:effectLst/>
                        </a:rPr>
                        <a:t>have the appropriate properties of the communication mechanisms, for example, </a:t>
                      </a:r>
                      <a:r>
                        <a:rPr lang="en-US" sz="2000" kern="1100" dirty="0" err="1">
                          <a:effectLst/>
                        </a:rPr>
                        <a:t>stateful</a:t>
                      </a:r>
                      <a:r>
                        <a:rPr lang="en-US" sz="2000" kern="1100" dirty="0">
                          <a:effectLst/>
                        </a:rPr>
                        <a:t>, stateless, synchronous, asynchronous, guaranteed delivery, throughput, or latency.</a:t>
                      </a:r>
                      <a:endParaRPr lang="en-US" sz="2000" kern="1100" dirty="0">
                        <a:solidFill>
                          <a:srgbClr val="000080"/>
                        </a:solidFill>
                        <a:effectLst/>
                        <a:latin typeface="Times New Roman"/>
                        <a:ea typeface="Times New Roman"/>
                      </a:endParaRPr>
                    </a:p>
                  </a:txBody>
                  <a:tcPr marL="68580" marR="68580" marT="0" marB="0"/>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290047714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8" name="Date Placeholder 7">
            <a:extLst>
              <a:ext uri="{FF2B5EF4-FFF2-40B4-BE49-F238E27FC236}">
                <a16:creationId xmlns:a16="http://schemas.microsoft.com/office/drawing/2014/main" id="{CB3C2E78-5ECD-418A-ACDF-DD0FDB15E1C3}"/>
              </a:ext>
            </a:extLst>
          </p:cNvPr>
          <p:cNvSpPr>
            <a:spLocks noGrp="1"/>
          </p:cNvSpPr>
          <p:nvPr>
            <p:ph type="dt" sz="half" idx="12"/>
          </p:nvPr>
        </p:nvSpPr>
        <p:spPr/>
        <p:txBody>
          <a:bodyPr/>
          <a:lstStyle/>
          <a:p>
            <a:r>
              <a:rPr lang="en-US"/>
              <a:t>Auguts 1, 2026</a:t>
            </a:r>
          </a:p>
        </p:txBody>
      </p:sp>
      <p:sp>
        <p:nvSpPr>
          <p:cNvPr id="9" name="Slide Number Placeholder 8">
            <a:extLst>
              <a:ext uri="{FF2B5EF4-FFF2-40B4-BE49-F238E27FC236}">
                <a16:creationId xmlns:a16="http://schemas.microsoft.com/office/drawing/2014/main" id="{9687B6B0-5158-4E5E-AEB0-663598B80044}"/>
              </a:ext>
            </a:extLst>
          </p:cNvPr>
          <p:cNvSpPr>
            <a:spLocks noGrp="1"/>
          </p:cNvSpPr>
          <p:nvPr>
            <p:ph type="sldNum" sz="quarter" idx="14"/>
          </p:nvPr>
        </p:nvSpPr>
        <p:spPr/>
        <p:txBody>
          <a:bodyPr/>
          <a:lstStyle/>
          <a:p>
            <a:fld id="{BC8D7E44-7D4F-4942-A8C9-2DF6BF8399E8}" type="slidenum">
              <a:rPr lang="en-US" smtClean="0"/>
              <a:pPr/>
              <a:t>68</a:t>
            </a:fld>
            <a:endParaRPr lang="en-US" dirty="0"/>
          </a:p>
        </p:txBody>
      </p:sp>
      <p:sp>
        <p:nvSpPr>
          <p:cNvPr id="10" name="Title 1">
            <a:extLst>
              <a:ext uri="{FF2B5EF4-FFF2-40B4-BE49-F238E27FC236}">
                <a16:creationId xmlns:a16="http://schemas.microsoft.com/office/drawing/2014/main" id="{B97C1E46-14D9-EE23-F485-EB01C66DE689}"/>
              </a:ext>
            </a:extLst>
          </p:cNvPr>
          <p:cNvSpPr>
            <a:spLocks noGrp="1"/>
          </p:cNvSpPr>
          <p:nvPr>
            <p:ph sz="quarter" idx="10"/>
          </p:nvPr>
        </p:nvSpPr>
        <p:spPr>
          <a:xfrm>
            <a:off x="304800" y="152400"/>
            <a:ext cx="6324600" cy="1143000"/>
          </a:xfrm>
        </p:spPr>
        <p:txBody>
          <a:bodyPr>
            <a:normAutofit fontScale="97500"/>
          </a:bodyPr>
          <a:lstStyle/>
          <a:p>
            <a:r>
              <a:rPr lang="en-US" dirty="0"/>
              <a:t>Design Checklist for Performance</a:t>
            </a:r>
          </a:p>
        </p:txBody>
      </p:sp>
      <p:graphicFrame>
        <p:nvGraphicFramePr>
          <p:cNvPr id="11" name="Content Placeholder 10">
            <a:extLst>
              <a:ext uri="{FF2B5EF4-FFF2-40B4-BE49-F238E27FC236}">
                <a16:creationId xmlns:a16="http://schemas.microsoft.com/office/drawing/2014/main" id="{A5711FDC-5339-285F-6DD1-C0F4A7BF6B39}"/>
              </a:ext>
            </a:extLst>
          </p:cNvPr>
          <p:cNvGraphicFramePr>
            <a:graphicFrameLocks noGrp="1"/>
          </p:cNvGraphicFramePr>
          <p:nvPr>
            <p:ph idx="1"/>
          </p:nvPr>
        </p:nvGraphicFramePr>
        <p:xfrm>
          <a:off x="304800" y="1493837"/>
          <a:ext cx="8305800" cy="4607713"/>
        </p:xfrm>
        <a:graphic>
          <a:graphicData uri="http://schemas.openxmlformats.org/drawingml/2006/table">
            <a:tbl>
              <a:tblPr firstRow="1" firstCol="1" bandRow="1">
                <a:tableStyleId>{5C22544A-7EE6-4342-B048-85BDC9FD1C3A}</a:tableStyleId>
              </a:tblPr>
              <a:tblGrid>
                <a:gridCol w="1249545">
                  <a:extLst>
                    <a:ext uri="{9D8B030D-6E8A-4147-A177-3AD203B41FA5}">
                      <a16:colId xmlns:a16="http://schemas.microsoft.com/office/drawing/2014/main" val="20000"/>
                    </a:ext>
                  </a:extLst>
                </a:gridCol>
                <a:gridCol w="7056255">
                  <a:extLst>
                    <a:ext uri="{9D8B030D-6E8A-4147-A177-3AD203B41FA5}">
                      <a16:colId xmlns:a16="http://schemas.microsoft.com/office/drawing/2014/main" val="20001"/>
                    </a:ext>
                  </a:extLst>
                </a:gridCol>
              </a:tblGrid>
              <a:tr h="4607713">
                <a:tc>
                  <a:txBody>
                    <a:bodyPr/>
                    <a:lstStyle/>
                    <a:p>
                      <a:pPr marL="0" marR="0">
                        <a:lnSpc>
                          <a:spcPct val="80000"/>
                        </a:lnSpc>
                        <a:spcBef>
                          <a:spcPts val="400"/>
                        </a:spcBef>
                        <a:spcAft>
                          <a:spcPts val="400"/>
                        </a:spcAft>
                      </a:pPr>
                      <a:r>
                        <a:rPr lang="en-US" sz="2000" dirty="0">
                          <a:effectLst/>
                        </a:rPr>
                        <a:t>Data Model</a:t>
                      </a:r>
                      <a:endParaRPr lang="en-US" sz="2000" dirty="0">
                        <a:solidFill>
                          <a:srgbClr val="000080"/>
                        </a:solidFill>
                        <a:effectLst/>
                        <a:latin typeface="Times"/>
                        <a:ea typeface="Times New Roman"/>
                        <a:cs typeface="Times New Roman"/>
                      </a:endParaRPr>
                    </a:p>
                  </a:txBody>
                  <a:tcPr marL="68580" marR="68580" marT="0" marB="0"/>
                </a:tc>
                <a:tc>
                  <a:txBody>
                    <a:bodyPr/>
                    <a:lstStyle/>
                    <a:p>
                      <a:pPr marL="0" marR="0">
                        <a:lnSpc>
                          <a:spcPct val="80000"/>
                        </a:lnSpc>
                        <a:spcBef>
                          <a:spcPts val="400"/>
                        </a:spcBef>
                        <a:spcAft>
                          <a:spcPts val="400"/>
                        </a:spcAft>
                      </a:pPr>
                      <a:r>
                        <a:rPr lang="en-US" sz="2000" dirty="0">
                          <a:effectLst/>
                        </a:rPr>
                        <a:t>Determine those portions of the data model that will be heavily loaded, have time critical response requirements, are heavily used, or impact portions of the system where heavy loads or time critical events occur.  </a:t>
                      </a:r>
                    </a:p>
                    <a:p>
                      <a:pPr marL="0" marR="0">
                        <a:lnSpc>
                          <a:spcPct val="80000"/>
                        </a:lnSpc>
                        <a:spcBef>
                          <a:spcPts val="400"/>
                        </a:spcBef>
                        <a:spcAft>
                          <a:spcPts val="400"/>
                        </a:spcAft>
                      </a:pPr>
                      <a:r>
                        <a:rPr lang="en-US" sz="2000" dirty="0">
                          <a:effectLst/>
                        </a:rPr>
                        <a:t>For those data abstractions, determine </a:t>
                      </a:r>
                    </a:p>
                    <a:p>
                      <a:pPr marL="342900" marR="0" lvl="0" indent="-342900">
                        <a:lnSpc>
                          <a:spcPct val="80000"/>
                        </a:lnSpc>
                        <a:spcBef>
                          <a:spcPts val="100"/>
                        </a:spcBef>
                        <a:spcAft>
                          <a:spcPts val="300"/>
                        </a:spcAft>
                        <a:buSzPts val="800"/>
                        <a:buFont typeface="Symbol"/>
                        <a:buChar char=""/>
                        <a:tabLst>
                          <a:tab pos="274320" algn="l"/>
                        </a:tabLst>
                      </a:pPr>
                      <a:r>
                        <a:rPr lang="en-US" sz="2000" kern="1100" dirty="0">
                          <a:effectLst/>
                        </a:rPr>
                        <a:t>whether maintaining multiple copies of key data would benefit performance</a:t>
                      </a:r>
                    </a:p>
                    <a:p>
                      <a:pPr marL="342900" marR="0" lvl="0" indent="-342900">
                        <a:lnSpc>
                          <a:spcPct val="80000"/>
                        </a:lnSpc>
                        <a:spcBef>
                          <a:spcPts val="100"/>
                        </a:spcBef>
                        <a:spcAft>
                          <a:spcPts val="300"/>
                        </a:spcAft>
                        <a:buSzPts val="800"/>
                        <a:buFont typeface="Symbol"/>
                        <a:buChar char=""/>
                        <a:tabLst>
                          <a:tab pos="274320" algn="l"/>
                        </a:tabLst>
                      </a:pPr>
                      <a:r>
                        <a:rPr lang="en-US" sz="2000" kern="1100" dirty="0">
                          <a:effectLst/>
                        </a:rPr>
                        <a:t>partitioning data would benefit performance</a:t>
                      </a:r>
                    </a:p>
                    <a:p>
                      <a:pPr marL="342900" marR="0" lvl="0" indent="-342900">
                        <a:lnSpc>
                          <a:spcPct val="80000"/>
                        </a:lnSpc>
                        <a:spcBef>
                          <a:spcPts val="100"/>
                        </a:spcBef>
                        <a:spcAft>
                          <a:spcPts val="300"/>
                        </a:spcAft>
                        <a:buSzPts val="800"/>
                        <a:buFont typeface="Symbol"/>
                        <a:buChar char=""/>
                        <a:tabLst>
                          <a:tab pos="274320" algn="l"/>
                        </a:tabLst>
                      </a:pPr>
                      <a:r>
                        <a:rPr lang="en-US" sz="2000" kern="1100" dirty="0">
                          <a:effectLst/>
                        </a:rPr>
                        <a:t>whether reducing the processing requirements for the creation, initialization, persistence, manipulation, translation, or destruction of the enumerated data abstractions is possible</a:t>
                      </a:r>
                    </a:p>
                    <a:p>
                      <a:pPr marL="342900" marR="0" lvl="0" indent="-342900">
                        <a:lnSpc>
                          <a:spcPct val="80000"/>
                        </a:lnSpc>
                        <a:spcBef>
                          <a:spcPts val="100"/>
                        </a:spcBef>
                        <a:spcAft>
                          <a:spcPts val="300"/>
                        </a:spcAft>
                        <a:buSzPts val="800"/>
                        <a:buFont typeface="Symbol"/>
                        <a:buChar char=""/>
                        <a:tabLst>
                          <a:tab pos="274320" algn="l"/>
                        </a:tabLst>
                      </a:pPr>
                      <a:r>
                        <a:rPr lang="en-US" sz="2000" kern="1100" dirty="0">
                          <a:effectLst/>
                        </a:rPr>
                        <a:t>whether adding resources to reduce bottlenecks for the creation, initialization, persistence, manipulation, translation, or destruction of the enumerated data abstractions is feasible.</a:t>
                      </a:r>
                      <a:endParaRPr lang="en-US" sz="2000" kern="1100" dirty="0">
                        <a:solidFill>
                          <a:srgbClr val="000080"/>
                        </a:solidFill>
                        <a:effectLst/>
                        <a:latin typeface="Times New Roman"/>
                        <a:ea typeface="Times New Roman"/>
                      </a:endParaRPr>
                    </a:p>
                  </a:txBody>
                  <a:tcPr marL="68580" marR="68580" marT="0" marB="0"/>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102161113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8" name="Date Placeholder 7">
            <a:extLst>
              <a:ext uri="{FF2B5EF4-FFF2-40B4-BE49-F238E27FC236}">
                <a16:creationId xmlns:a16="http://schemas.microsoft.com/office/drawing/2014/main" id="{E43083D9-F7F4-42A4-BAB3-2F89F2E8EA2E}"/>
              </a:ext>
            </a:extLst>
          </p:cNvPr>
          <p:cNvSpPr>
            <a:spLocks noGrp="1"/>
          </p:cNvSpPr>
          <p:nvPr>
            <p:ph type="dt" sz="half" idx="12"/>
          </p:nvPr>
        </p:nvSpPr>
        <p:spPr/>
        <p:txBody>
          <a:bodyPr/>
          <a:lstStyle/>
          <a:p>
            <a:r>
              <a:rPr lang="en-US"/>
              <a:t>Auguts 1, 2026</a:t>
            </a:r>
          </a:p>
        </p:txBody>
      </p:sp>
      <p:sp>
        <p:nvSpPr>
          <p:cNvPr id="9" name="Slide Number Placeholder 8">
            <a:extLst>
              <a:ext uri="{FF2B5EF4-FFF2-40B4-BE49-F238E27FC236}">
                <a16:creationId xmlns:a16="http://schemas.microsoft.com/office/drawing/2014/main" id="{AE188E0A-9406-4E92-83D5-ADA8A523B5A2}"/>
              </a:ext>
            </a:extLst>
          </p:cNvPr>
          <p:cNvSpPr>
            <a:spLocks noGrp="1"/>
          </p:cNvSpPr>
          <p:nvPr>
            <p:ph type="sldNum" sz="quarter" idx="14"/>
          </p:nvPr>
        </p:nvSpPr>
        <p:spPr/>
        <p:txBody>
          <a:bodyPr/>
          <a:lstStyle/>
          <a:p>
            <a:fld id="{BC8D7E44-7D4F-4942-A8C9-2DF6BF8399E8}" type="slidenum">
              <a:rPr lang="en-US" smtClean="0"/>
              <a:pPr/>
              <a:t>69</a:t>
            </a:fld>
            <a:endParaRPr lang="en-US" dirty="0"/>
          </a:p>
        </p:txBody>
      </p:sp>
      <p:sp>
        <p:nvSpPr>
          <p:cNvPr id="10" name="Title 1">
            <a:extLst>
              <a:ext uri="{FF2B5EF4-FFF2-40B4-BE49-F238E27FC236}">
                <a16:creationId xmlns:a16="http://schemas.microsoft.com/office/drawing/2014/main" id="{18FC7D42-2DEE-8761-CBBB-E1124997D8CA}"/>
              </a:ext>
            </a:extLst>
          </p:cNvPr>
          <p:cNvSpPr>
            <a:spLocks noGrp="1"/>
          </p:cNvSpPr>
          <p:nvPr>
            <p:ph sz="quarter" idx="10"/>
          </p:nvPr>
        </p:nvSpPr>
        <p:spPr>
          <a:xfrm>
            <a:off x="304800" y="152400"/>
            <a:ext cx="6324600" cy="1143000"/>
          </a:xfrm>
        </p:spPr>
        <p:txBody>
          <a:bodyPr>
            <a:normAutofit fontScale="97500"/>
          </a:bodyPr>
          <a:lstStyle/>
          <a:p>
            <a:r>
              <a:rPr lang="en-US" dirty="0"/>
              <a:t>Design Checklist for Performance</a:t>
            </a:r>
          </a:p>
        </p:txBody>
      </p:sp>
      <p:graphicFrame>
        <p:nvGraphicFramePr>
          <p:cNvPr id="11" name="Content Placeholder 10">
            <a:extLst>
              <a:ext uri="{FF2B5EF4-FFF2-40B4-BE49-F238E27FC236}">
                <a16:creationId xmlns:a16="http://schemas.microsoft.com/office/drawing/2014/main" id="{C711D5AA-ED71-865A-F0A3-368761877C0B}"/>
              </a:ext>
            </a:extLst>
          </p:cNvPr>
          <p:cNvGraphicFramePr>
            <a:graphicFrameLocks noGrp="1"/>
          </p:cNvGraphicFramePr>
          <p:nvPr>
            <p:ph idx="1"/>
          </p:nvPr>
        </p:nvGraphicFramePr>
        <p:xfrm>
          <a:off x="304800" y="1493838"/>
          <a:ext cx="8534400" cy="3992562"/>
        </p:xfrm>
        <a:graphic>
          <a:graphicData uri="http://schemas.openxmlformats.org/drawingml/2006/table">
            <a:tbl>
              <a:tblPr firstRow="1" firstCol="1" bandRow="1">
                <a:tableStyleId>{5C22544A-7EE6-4342-B048-85BDC9FD1C3A}</a:tableStyleId>
              </a:tblPr>
              <a:tblGrid>
                <a:gridCol w="1600200">
                  <a:extLst>
                    <a:ext uri="{9D8B030D-6E8A-4147-A177-3AD203B41FA5}">
                      <a16:colId xmlns:a16="http://schemas.microsoft.com/office/drawing/2014/main" val="20000"/>
                    </a:ext>
                  </a:extLst>
                </a:gridCol>
                <a:gridCol w="6934200">
                  <a:extLst>
                    <a:ext uri="{9D8B030D-6E8A-4147-A177-3AD203B41FA5}">
                      <a16:colId xmlns:a16="http://schemas.microsoft.com/office/drawing/2014/main" val="20001"/>
                    </a:ext>
                  </a:extLst>
                </a:gridCol>
              </a:tblGrid>
              <a:tr h="3992562">
                <a:tc>
                  <a:txBody>
                    <a:bodyPr/>
                    <a:lstStyle/>
                    <a:p>
                      <a:pPr marL="0" marR="0">
                        <a:lnSpc>
                          <a:spcPct val="80000"/>
                        </a:lnSpc>
                        <a:spcBef>
                          <a:spcPts val="400"/>
                        </a:spcBef>
                        <a:spcAft>
                          <a:spcPts val="400"/>
                        </a:spcAft>
                      </a:pPr>
                      <a:r>
                        <a:rPr lang="en-US" sz="2000" dirty="0">
                          <a:effectLst/>
                        </a:rPr>
                        <a:t>Mapping Among Architectural Elements</a:t>
                      </a:r>
                      <a:endParaRPr lang="en-US" sz="2000" dirty="0">
                        <a:solidFill>
                          <a:srgbClr val="000080"/>
                        </a:solidFill>
                        <a:effectLst/>
                        <a:latin typeface="Times"/>
                        <a:ea typeface="Times New Roman"/>
                        <a:cs typeface="Times New Roman"/>
                      </a:endParaRPr>
                    </a:p>
                  </a:txBody>
                  <a:tcPr marL="68580" marR="68580" marT="0" marB="0"/>
                </a:tc>
                <a:tc>
                  <a:txBody>
                    <a:bodyPr/>
                    <a:lstStyle/>
                    <a:p>
                      <a:pPr marL="0" marR="0">
                        <a:lnSpc>
                          <a:spcPct val="80000"/>
                        </a:lnSpc>
                        <a:spcBef>
                          <a:spcPts val="400"/>
                        </a:spcBef>
                        <a:spcAft>
                          <a:spcPts val="400"/>
                        </a:spcAft>
                      </a:pPr>
                      <a:r>
                        <a:rPr lang="en-US" sz="2000" dirty="0">
                          <a:effectLst/>
                        </a:rPr>
                        <a:t>Where heavy network loading will occur, determine whether co-locating some components will reduce loading and improve overall efficiency.</a:t>
                      </a:r>
                    </a:p>
                    <a:p>
                      <a:pPr marL="0" marR="0">
                        <a:lnSpc>
                          <a:spcPct val="80000"/>
                        </a:lnSpc>
                        <a:spcBef>
                          <a:spcPts val="600"/>
                        </a:spcBef>
                        <a:spcAft>
                          <a:spcPts val="400"/>
                        </a:spcAft>
                      </a:pPr>
                      <a:r>
                        <a:rPr lang="en-US" sz="2000" dirty="0">
                          <a:effectLst/>
                        </a:rPr>
                        <a:t>Ensure that components with heavy computation requirements are assigned to processors with the most processing capacity. </a:t>
                      </a:r>
                    </a:p>
                    <a:p>
                      <a:pPr marL="0" marR="0" indent="0">
                        <a:lnSpc>
                          <a:spcPct val="80000"/>
                        </a:lnSpc>
                        <a:spcBef>
                          <a:spcPts val="600"/>
                        </a:spcBef>
                        <a:spcAft>
                          <a:spcPts val="300"/>
                        </a:spcAft>
                        <a:tabLst>
                          <a:tab pos="274320" algn="l"/>
                        </a:tabLst>
                      </a:pPr>
                      <a:r>
                        <a:rPr lang="en-US" sz="2000" kern="1100" dirty="0">
                          <a:effectLst/>
                        </a:rPr>
                        <a:t>Determine where introducing concurrency (that is, allocating a piece of functionality to two or more copies of a component running simultaneously) is feasible and has a significant positive effect on performance.</a:t>
                      </a:r>
                    </a:p>
                    <a:p>
                      <a:pPr marL="0" marR="0" indent="0">
                        <a:lnSpc>
                          <a:spcPct val="80000"/>
                        </a:lnSpc>
                        <a:spcBef>
                          <a:spcPts val="600"/>
                        </a:spcBef>
                        <a:spcAft>
                          <a:spcPts val="300"/>
                        </a:spcAft>
                        <a:tabLst>
                          <a:tab pos="274320" algn="l"/>
                        </a:tabLst>
                      </a:pPr>
                      <a:r>
                        <a:rPr lang="en-US" sz="2000" kern="1100" dirty="0">
                          <a:effectLst/>
                        </a:rPr>
                        <a:t>Determine whether the choice of threads of control and their associated responsibilities introduces bottlenecks. </a:t>
                      </a:r>
                      <a:endParaRPr lang="en-US" sz="2000" kern="1100" dirty="0">
                        <a:solidFill>
                          <a:srgbClr val="000080"/>
                        </a:solidFill>
                        <a:effectLst/>
                        <a:latin typeface="Times New Roman"/>
                        <a:ea typeface="Times New Roman"/>
                      </a:endParaRPr>
                    </a:p>
                  </a:txBody>
                  <a:tcPr marL="68580" marR="68580" marT="0" marB="0"/>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77903305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8" name="Date Placeholder 7">
            <a:extLst>
              <a:ext uri="{FF2B5EF4-FFF2-40B4-BE49-F238E27FC236}">
                <a16:creationId xmlns:a16="http://schemas.microsoft.com/office/drawing/2014/main" id="{B8B777FC-889F-4C14-B373-BAE593BB111D}"/>
              </a:ext>
            </a:extLst>
          </p:cNvPr>
          <p:cNvSpPr>
            <a:spLocks noGrp="1"/>
          </p:cNvSpPr>
          <p:nvPr>
            <p:ph type="dt" sz="half" idx="12"/>
          </p:nvPr>
        </p:nvSpPr>
        <p:spPr/>
        <p:txBody>
          <a:bodyPr/>
          <a:lstStyle/>
          <a:p>
            <a:r>
              <a:rPr lang="en-US"/>
              <a:t>Auguts 1, 2026</a:t>
            </a:r>
          </a:p>
        </p:txBody>
      </p:sp>
      <p:sp>
        <p:nvSpPr>
          <p:cNvPr id="9" name="Slide Number Placeholder 8">
            <a:extLst>
              <a:ext uri="{FF2B5EF4-FFF2-40B4-BE49-F238E27FC236}">
                <a16:creationId xmlns:a16="http://schemas.microsoft.com/office/drawing/2014/main" id="{9E2FD531-ED87-4650-8314-BE2ECC391085}"/>
              </a:ext>
            </a:extLst>
          </p:cNvPr>
          <p:cNvSpPr>
            <a:spLocks noGrp="1"/>
          </p:cNvSpPr>
          <p:nvPr>
            <p:ph type="sldNum" sz="quarter" idx="14"/>
          </p:nvPr>
        </p:nvSpPr>
        <p:spPr/>
        <p:txBody>
          <a:bodyPr/>
          <a:lstStyle/>
          <a:p>
            <a:fld id="{BC8D7E44-7D4F-4942-A8C9-2DF6BF8399E8}" type="slidenum">
              <a:rPr lang="en-US" smtClean="0"/>
              <a:pPr/>
              <a:t>70</a:t>
            </a:fld>
            <a:endParaRPr lang="en-US" dirty="0"/>
          </a:p>
        </p:txBody>
      </p:sp>
      <p:sp>
        <p:nvSpPr>
          <p:cNvPr id="10" name="Title 1">
            <a:extLst>
              <a:ext uri="{FF2B5EF4-FFF2-40B4-BE49-F238E27FC236}">
                <a16:creationId xmlns:a16="http://schemas.microsoft.com/office/drawing/2014/main" id="{F18B1F16-6594-633B-9D69-81CAB12FDE02}"/>
              </a:ext>
            </a:extLst>
          </p:cNvPr>
          <p:cNvSpPr>
            <a:spLocks noGrp="1"/>
          </p:cNvSpPr>
          <p:nvPr>
            <p:ph sz="quarter" idx="10"/>
          </p:nvPr>
        </p:nvSpPr>
        <p:spPr>
          <a:xfrm>
            <a:off x="304800" y="152400"/>
            <a:ext cx="6324600" cy="1143000"/>
          </a:xfrm>
        </p:spPr>
        <p:txBody>
          <a:bodyPr>
            <a:normAutofit fontScale="97500"/>
          </a:bodyPr>
          <a:lstStyle/>
          <a:p>
            <a:r>
              <a:rPr lang="en-US" dirty="0"/>
              <a:t>Design Checklist for Performance</a:t>
            </a:r>
          </a:p>
        </p:txBody>
      </p:sp>
      <p:graphicFrame>
        <p:nvGraphicFramePr>
          <p:cNvPr id="11" name="Content Placeholder 10">
            <a:extLst>
              <a:ext uri="{FF2B5EF4-FFF2-40B4-BE49-F238E27FC236}">
                <a16:creationId xmlns:a16="http://schemas.microsoft.com/office/drawing/2014/main" id="{393D4151-1C66-63B6-EFE1-70C9906D43FA}"/>
              </a:ext>
            </a:extLst>
          </p:cNvPr>
          <p:cNvGraphicFramePr>
            <a:graphicFrameLocks noGrp="1"/>
          </p:cNvGraphicFramePr>
          <p:nvPr>
            <p:ph idx="1"/>
          </p:nvPr>
        </p:nvGraphicFramePr>
        <p:xfrm>
          <a:off x="304800" y="1493838"/>
          <a:ext cx="7992888" cy="3600350"/>
        </p:xfrm>
        <a:graphic>
          <a:graphicData uri="http://schemas.openxmlformats.org/drawingml/2006/table">
            <a:tbl>
              <a:tblPr firstRow="1" firstCol="1" bandRow="1">
                <a:tableStyleId>{5C22544A-7EE6-4342-B048-85BDC9FD1C3A}</a:tableStyleId>
              </a:tblPr>
              <a:tblGrid>
                <a:gridCol w="1584176">
                  <a:extLst>
                    <a:ext uri="{9D8B030D-6E8A-4147-A177-3AD203B41FA5}">
                      <a16:colId xmlns:a16="http://schemas.microsoft.com/office/drawing/2014/main" val="20000"/>
                    </a:ext>
                  </a:extLst>
                </a:gridCol>
                <a:gridCol w="6408712">
                  <a:extLst>
                    <a:ext uri="{9D8B030D-6E8A-4147-A177-3AD203B41FA5}">
                      <a16:colId xmlns:a16="http://schemas.microsoft.com/office/drawing/2014/main" val="20001"/>
                    </a:ext>
                  </a:extLst>
                </a:gridCol>
              </a:tblGrid>
              <a:tr h="3600350">
                <a:tc>
                  <a:txBody>
                    <a:bodyPr/>
                    <a:lstStyle/>
                    <a:p>
                      <a:pPr marL="0" marR="0">
                        <a:lnSpc>
                          <a:spcPct val="80000"/>
                        </a:lnSpc>
                        <a:spcBef>
                          <a:spcPts val="400"/>
                        </a:spcBef>
                        <a:spcAft>
                          <a:spcPts val="400"/>
                        </a:spcAft>
                      </a:pPr>
                      <a:r>
                        <a:rPr lang="en-US" sz="2000" dirty="0">
                          <a:effectLst/>
                        </a:rPr>
                        <a:t>Resource Management</a:t>
                      </a:r>
                      <a:endParaRPr lang="en-US" sz="2000" dirty="0">
                        <a:solidFill>
                          <a:srgbClr val="000080"/>
                        </a:solidFill>
                        <a:effectLst/>
                        <a:latin typeface="Times"/>
                        <a:ea typeface="Times New Roman"/>
                        <a:cs typeface="Times New Roman"/>
                      </a:endParaRPr>
                    </a:p>
                  </a:txBody>
                  <a:tcPr marL="68580" marR="68580" marT="0" marB="0"/>
                </a:tc>
                <a:tc>
                  <a:txBody>
                    <a:bodyPr/>
                    <a:lstStyle/>
                    <a:p>
                      <a:pPr marL="0" marR="0">
                        <a:lnSpc>
                          <a:spcPct val="80000"/>
                        </a:lnSpc>
                        <a:spcBef>
                          <a:spcPts val="400"/>
                        </a:spcBef>
                        <a:spcAft>
                          <a:spcPts val="400"/>
                        </a:spcAft>
                      </a:pPr>
                      <a:r>
                        <a:rPr lang="en-US" sz="2000" dirty="0">
                          <a:effectLst/>
                        </a:rPr>
                        <a:t>Determine which resources in your system are critical for performance. For these resources ensure they will be monitored and managed under normal and overloaded system operation. </a:t>
                      </a:r>
                    </a:p>
                    <a:p>
                      <a:pPr marL="0" marR="0">
                        <a:lnSpc>
                          <a:spcPct val="80000"/>
                        </a:lnSpc>
                        <a:spcBef>
                          <a:spcPts val="400"/>
                        </a:spcBef>
                        <a:spcAft>
                          <a:spcPts val="400"/>
                        </a:spcAft>
                      </a:pPr>
                      <a:r>
                        <a:rPr lang="en-US" sz="2000" dirty="0">
                          <a:effectLst/>
                        </a:rPr>
                        <a:t>For example </a:t>
                      </a:r>
                    </a:p>
                    <a:p>
                      <a:pPr marL="342900" marR="0" lvl="0" indent="-342900">
                        <a:lnSpc>
                          <a:spcPct val="80000"/>
                        </a:lnSpc>
                        <a:spcBef>
                          <a:spcPts val="100"/>
                        </a:spcBef>
                        <a:spcAft>
                          <a:spcPts val="300"/>
                        </a:spcAft>
                        <a:buSzPts val="800"/>
                        <a:buFont typeface="Symbol"/>
                        <a:buChar char=""/>
                        <a:tabLst>
                          <a:tab pos="274320" algn="l"/>
                        </a:tabLst>
                      </a:pPr>
                      <a:r>
                        <a:rPr lang="en-US" sz="2000" kern="1100" dirty="0">
                          <a:effectLst/>
                        </a:rPr>
                        <a:t>system elements that need to be aware of, and manage, time and other performance-critical resources</a:t>
                      </a:r>
                    </a:p>
                    <a:p>
                      <a:pPr marL="342900" marR="0" lvl="0" indent="-342900">
                        <a:lnSpc>
                          <a:spcPct val="80000"/>
                        </a:lnSpc>
                        <a:spcBef>
                          <a:spcPts val="100"/>
                        </a:spcBef>
                        <a:spcAft>
                          <a:spcPts val="300"/>
                        </a:spcAft>
                        <a:buSzPts val="800"/>
                        <a:buFont typeface="Symbol"/>
                        <a:buChar char=""/>
                        <a:tabLst>
                          <a:tab pos="274320" algn="l"/>
                        </a:tabLst>
                      </a:pPr>
                      <a:r>
                        <a:rPr lang="en-US" sz="2000" kern="1100" dirty="0">
                          <a:effectLst/>
                        </a:rPr>
                        <a:t>process/thread models </a:t>
                      </a:r>
                    </a:p>
                    <a:p>
                      <a:pPr marL="342900" marR="0" lvl="0" indent="-342900">
                        <a:lnSpc>
                          <a:spcPct val="80000"/>
                        </a:lnSpc>
                        <a:spcBef>
                          <a:spcPts val="100"/>
                        </a:spcBef>
                        <a:spcAft>
                          <a:spcPts val="300"/>
                        </a:spcAft>
                        <a:buSzPts val="800"/>
                        <a:buFont typeface="Symbol"/>
                        <a:buChar char=""/>
                        <a:tabLst>
                          <a:tab pos="274320" algn="l"/>
                        </a:tabLst>
                      </a:pPr>
                      <a:r>
                        <a:rPr lang="en-US" sz="2000" kern="1100" dirty="0">
                          <a:effectLst/>
                        </a:rPr>
                        <a:t>prioritization of  resources and access to resources </a:t>
                      </a:r>
                    </a:p>
                    <a:p>
                      <a:pPr marL="342900" marR="0" lvl="0" indent="-342900">
                        <a:lnSpc>
                          <a:spcPct val="80000"/>
                        </a:lnSpc>
                        <a:spcBef>
                          <a:spcPts val="100"/>
                        </a:spcBef>
                        <a:spcAft>
                          <a:spcPts val="300"/>
                        </a:spcAft>
                        <a:buSzPts val="800"/>
                        <a:buFont typeface="Symbol"/>
                        <a:buChar char=""/>
                        <a:tabLst>
                          <a:tab pos="274320" algn="l"/>
                        </a:tabLst>
                      </a:pPr>
                      <a:r>
                        <a:rPr lang="en-US" sz="2000" kern="1100" dirty="0">
                          <a:effectLst/>
                        </a:rPr>
                        <a:t>scheduling and locking strategies </a:t>
                      </a:r>
                    </a:p>
                    <a:p>
                      <a:pPr marL="342900" marR="0" lvl="0" indent="-342900">
                        <a:lnSpc>
                          <a:spcPct val="80000"/>
                        </a:lnSpc>
                        <a:spcBef>
                          <a:spcPts val="100"/>
                        </a:spcBef>
                        <a:spcAft>
                          <a:spcPts val="300"/>
                        </a:spcAft>
                        <a:buSzPts val="800"/>
                        <a:buFont typeface="Symbol"/>
                        <a:buChar char=""/>
                        <a:tabLst>
                          <a:tab pos="274320" algn="l"/>
                        </a:tabLst>
                      </a:pPr>
                      <a:r>
                        <a:rPr lang="en-US" sz="2000" kern="1100" dirty="0">
                          <a:effectLst/>
                        </a:rPr>
                        <a:t>deploying additional resources on demand to meet increased loads</a:t>
                      </a:r>
                      <a:endParaRPr lang="en-US" sz="2000" kern="1100" dirty="0">
                        <a:solidFill>
                          <a:srgbClr val="000080"/>
                        </a:solidFill>
                        <a:effectLst/>
                        <a:latin typeface="Times New Roman"/>
                        <a:ea typeface="Times New Roman"/>
                      </a:endParaRPr>
                    </a:p>
                  </a:txBody>
                  <a:tcPr marL="68580" marR="68580" marT="0" marB="0"/>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195734162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8" name="Date Placeholder 7">
            <a:extLst>
              <a:ext uri="{FF2B5EF4-FFF2-40B4-BE49-F238E27FC236}">
                <a16:creationId xmlns:a16="http://schemas.microsoft.com/office/drawing/2014/main" id="{BDF9E009-D4DE-4BEE-BA9F-ECFE464A4A51}"/>
              </a:ext>
            </a:extLst>
          </p:cNvPr>
          <p:cNvSpPr>
            <a:spLocks noGrp="1"/>
          </p:cNvSpPr>
          <p:nvPr>
            <p:ph type="dt" sz="half" idx="12"/>
          </p:nvPr>
        </p:nvSpPr>
        <p:spPr/>
        <p:txBody>
          <a:bodyPr/>
          <a:lstStyle/>
          <a:p>
            <a:r>
              <a:rPr lang="en-US"/>
              <a:t>Auguts 1, 2026</a:t>
            </a:r>
          </a:p>
        </p:txBody>
      </p:sp>
      <p:sp>
        <p:nvSpPr>
          <p:cNvPr id="9" name="Slide Number Placeholder 8">
            <a:extLst>
              <a:ext uri="{FF2B5EF4-FFF2-40B4-BE49-F238E27FC236}">
                <a16:creationId xmlns:a16="http://schemas.microsoft.com/office/drawing/2014/main" id="{3F64A062-7008-4BD1-9DA8-6B6239F85EA4}"/>
              </a:ext>
            </a:extLst>
          </p:cNvPr>
          <p:cNvSpPr>
            <a:spLocks noGrp="1"/>
          </p:cNvSpPr>
          <p:nvPr>
            <p:ph type="sldNum" sz="quarter" idx="14"/>
          </p:nvPr>
        </p:nvSpPr>
        <p:spPr/>
        <p:txBody>
          <a:bodyPr/>
          <a:lstStyle/>
          <a:p>
            <a:fld id="{BC8D7E44-7D4F-4942-A8C9-2DF6BF8399E8}" type="slidenum">
              <a:rPr lang="en-US" smtClean="0"/>
              <a:pPr/>
              <a:t>71</a:t>
            </a:fld>
            <a:endParaRPr lang="en-US" dirty="0"/>
          </a:p>
        </p:txBody>
      </p:sp>
      <p:sp>
        <p:nvSpPr>
          <p:cNvPr id="10" name="Title 1">
            <a:extLst>
              <a:ext uri="{FF2B5EF4-FFF2-40B4-BE49-F238E27FC236}">
                <a16:creationId xmlns:a16="http://schemas.microsoft.com/office/drawing/2014/main" id="{51415E53-5986-71B2-25A0-EE3C10C8A0B5}"/>
              </a:ext>
            </a:extLst>
          </p:cNvPr>
          <p:cNvSpPr>
            <a:spLocks noGrp="1"/>
          </p:cNvSpPr>
          <p:nvPr>
            <p:ph sz="quarter" idx="10"/>
          </p:nvPr>
        </p:nvSpPr>
        <p:spPr>
          <a:xfrm>
            <a:off x="304800" y="152400"/>
            <a:ext cx="6324600" cy="1143000"/>
          </a:xfrm>
        </p:spPr>
        <p:txBody>
          <a:bodyPr>
            <a:normAutofit fontScale="97500"/>
          </a:bodyPr>
          <a:lstStyle/>
          <a:p>
            <a:r>
              <a:rPr lang="en-US" dirty="0"/>
              <a:t>Design Checklist for Performance</a:t>
            </a:r>
          </a:p>
        </p:txBody>
      </p:sp>
      <p:graphicFrame>
        <p:nvGraphicFramePr>
          <p:cNvPr id="11" name="Content Placeholder 10">
            <a:extLst>
              <a:ext uri="{FF2B5EF4-FFF2-40B4-BE49-F238E27FC236}">
                <a16:creationId xmlns:a16="http://schemas.microsoft.com/office/drawing/2014/main" id="{EC4E7860-B644-2FA9-1E81-FB57BB84477A}"/>
              </a:ext>
            </a:extLst>
          </p:cNvPr>
          <p:cNvGraphicFramePr>
            <a:graphicFrameLocks noGrp="1"/>
          </p:cNvGraphicFramePr>
          <p:nvPr>
            <p:ph idx="1"/>
          </p:nvPr>
        </p:nvGraphicFramePr>
        <p:xfrm>
          <a:off x="304800" y="1493838"/>
          <a:ext cx="8458200" cy="3459162"/>
        </p:xfrm>
        <a:graphic>
          <a:graphicData uri="http://schemas.openxmlformats.org/drawingml/2006/table">
            <a:tbl>
              <a:tblPr firstRow="1" firstCol="1" bandRow="1">
                <a:tableStyleId>{5C22544A-7EE6-4342-B048-85BDC9FD1C3A}</a:tableStyleId>
              </a:tblPr>
              <a:tblGrid>
                <a:gridCol w="1611086">
                  <a:extLst>
                    <a:ext uri="{9D8B030D-6E8A-4147-A177-3AD203B41FA5}">
                      <a16:colId xmlns:a16="http://schemas.microsoft.com/office/drawing/2014/main" val="20000"/>
                    </a:ext>
                  </a:extLst>
                </a:gridCol>
                <a:gridCol w="6847114">
                  <a:extLst>
                    <a:ext uri="{9D8B030D-6E8A-4147-A177-3AD203B41FA5}">
                      <a16:colId xmlns:a16="http://schemas.microsoft.com/office/drawing/2014/main" val="20001"/>
                    </a:ext>
                  </a:extLst>
                </a:gridCol>
              </a:tblGrid>
              <a:tr h="3459162">
                <a:tc>
                  <a:txBody>
                    <a:bodyPr/>
                    <a:lstStyle/>
                    <a:p>
                      <a:pPr marL="0" marR="0">
                        <a:lnSpc>
                          <a:spcPct val="80000"/>
                        </a:lnSpc>
                        <a:spcBef>
                          <a:spcPts val="400"/>
                        </a:spcBef>
                        <a:spcAft>
                          <a:spcPts val="400"/>
                        </a:spcAft>
                      </a:pPr>
                      <a:r>
                        <a:rPr lang="en-US" sz="2000" dirty="0">
                          <a:effectLst/>
                        </a:rPr>
                        <a:t>Binding Time</a:t>
                      </a:r>
                      <a:endParaRPr lang="en-US" sz="2000" dirty="0">
                        <a:solidFill>
                          <a:srgbClr val="000080"/>
                        </a:solidFill>
                        <a:effectLst/>
                        <a:latin typeface="Times"/>
                        <a:ea typeface="Times New Roman"/>
                        <a:cs typeface="Times New Roman"/>
                      </a:endParaRPr>
                    </a:p>
                  </a:txBody>
                  <a:tcPr marL="68580" marR="68580" marT="0" marB="0"/>
                </a:tc>
                <a:tc>
                  <a:txBody>
                    <a:bodyPr/>
                    <a:lstStyle/>
                    <a:p>
                      <a:pPr marL="0" marR="0">
                        <a:lnSpc>
                          <a:spcPct val="80000"/>
                        </a:lnSpc>
                        <a:spcBef>
                          <a:spcPts val="400"/>
                        </a:spcBef>
                        <a:spcAft>
                          <a:spcPts val="400"/>
                        </a:spcAft>
                      </a:pPr>
                      <a:r>
                        <a:rPr lang="en-US" sz="2000" dirty="0">
                          <a:effectLst/>
                        </a:rPr>
                        <a:t>For each element that will be bound after compile time, determine the</a:t>
                      </a:r>
                    </a:p>
                    <a:p>
                      <a:pPr marL="342900" marR="0" lvl="0" indent="-342900">
                        <a:lnSpc>
                          <a:spcPct val="80000"/>
                        </a:lnSpc>
                        <a:spcBef>
                          <a:spcPts val="100"/>
                        </a:spcBef>
                        <a:spcAft>
                          <a:spcPts val="300"/>
                        </a:spcAft>
                        <a:buSzPts val="800"/>
                        <a:buFont typeface="Symbol"/>
                        <a:buChar char=""/>
                        <a:tabLst>
                          <a:tab pos="274320" algn="l"/>
                        </a:tabLst>
                      </a:pPr>
                      <a:r>
                        <a:rPr lang="en-US" sz="2000" kern="1100" dirty="0">
                          <a:effectLst/>
                        </a:rPr>
                        <a:t>time necessary to complete the binding</a:t>
                      </a:r>
                    </a:p>
                    <a:p>
                      <a:pPr marL="342900" marR="0" lvl="0" indent="-342900">
                        <a:lnSpc>
                          <a:spcPct val="80000"/>
                        </a:lnSpc>
                        <a:spcBef>
                          <a:spcPts val="100"/>
                        </a:spcBef>
                        <a:spcAft>
                          <a:spcPts val="300"/>
                        </a:spcAft>
                        <a:buSzPts val="800"/>
                        <a:buFont typeface="Symbol"/>
                        <a:buChar char=""/>
                        <a:tabLst>
                          <a:tab pos="274320" algn="l"/>
                        </a:tabLst>
                      </a:pPr>
                      <a:r>
                        <a:rPr lang="en-US" sz="2000" kern="1100" dirty="0">
                          <a:effectLst/>
                        </a:rPr>
                        <a:t>additional overhead introduced by using the late binding mechanism</a:t>
                      </a:r>
                    </a:p>
                    <a:p>
                      <a:pPr marL="0" marR="0">
                        <a:lnSpc>
                          <a:spcPct val="80000"/>
                        </a:lnSpc>
                        <a:spcBef>
                          <a:spcPts val="400"/>
                        </a:spcBef>
                        <a:spcAft>
                          <a:spcPts val="400"/>
                        </a:spcAft>
                      </a:pPr>
                      <a:r>
                        <a:rPr lang="en-US" sz="2000" dirty="0">
                          <a:effectLst/>
                        </a:rPr>
                        <a:t>Ensure that these values do not pose unacceptable performance penalties on the system.</a:t>
                      </a:r>
                      <a:endParaRPr lang="en-US" sz="2000" dirty="0">
                        <a:solidFill>
                          <a:srgbClr val="000080"/>
                        </a:solidFill>
                        <a:effectLst/>
                        <a:latin typeface="Times"/>
                        <a:ea typeface="Times New Roman"/>
                        <a:cs typeface="Times New Roman"/>
                      </a:endParaRPr>
                    </a:p>
                  </a:txBody>
                  <a:tcPr marL="68580" marR="68580" marT="0" marB="0"/>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350444663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8" name="Date Placeholder 7">
            <a:extLst>
              <a:ext uri="{FF2B5EF4-FFF2-40B4-BE49-F238E27FC236}">
                <a16:creationId xmlns:a16="http://schemas.microsoft.com/office/drawing/2014/main" id="{C774AACB-79E3-42DE-AC2F-8B7DD7420852}"/>
              </a:ext>
            </a:extLst>
          </p:cNvPr>
          <p:cNvSpPr>
            <a:spLocks noGrp="1"/>
          </p:cNvSpPr>
          <p:nvPr>
            <p:ph type="dt" sz="half" idx="12"/>
          </p:nvPr>
        </p:nvSpPr>
        <p:spPr/>
        <p:txBody>
          <a:bodyPr/>
          <a:lstStyle/>
          <a:p>
            <a:r>
              <a:rPr lang="en-US"/>
              <a:t>Auguts 1, 2026</a:t>
            </a:r>
          </a:p>
        </p:txBody>
      </p:sp>
      <p:sp>
        <p:nvSpPr>
          <p:cNvPr id="9" name="Slide Number Placeholder 8">
            <a:extLst>
              <a:ext uri="{FF2B5EF4-FFF2-40B4-BE49-F238E27FC236}">
                <a16:creationId xmlns:a16="http://schemas.microsoft.com/office/drawing/2014/main" id="{760ABB33-FADA-49CA-9743-8C411A96D1D7}"/>
              </a:ext>
            </a:extLst>
          </p:cNvPr>
          <p:cNvSpPr>
            <a:spLocks noGrp="1"/>
          </p:cNvSpPr>
          <p:nvPr>
            <p:ph type="sldNum" sz="quarter" idx="14"/>
          </p:nvPr>
        </p:nvSpPr>
        <p:spPr/>
        <p:txBody>
          <a:bodyPr/>
          <a:lstStyle/>
          <a:p>
            <a:fld id="{BC8D7E44-7D4F-4942-A8C9-2DF6BF8399E8}" type="slidenum">
              <a:rPr lang="en-US" smtClean="0"/>
              <a:pPr/>
              <a:t>72</a:t>
            </a:fld>
            <a:endParaRPr lang="en-US" dirty="0"/>
          </a:p>
        </p:txBody>
      </p:sp>
      <p:sp>
        <p:nvSpPr>
          <p:cNvPr id="10" name="Title 1">
            <a:extLst>
              <a:ext uri="{FF2B5EF4-FFF2-40B4-BE49-F238E27FC236}">
                <a16:creationId xmlns:a16="http://schemas.microsoft.com/office/drawing/2014/main" id="{C28AADC8-D3B1-B1B9-A50A-C3D72BBF2403}"/>
              </a:ext>
            </a:extLst>
          </p:cNvPr>
          <p:cNvSpPr>
            <a:spLocks noGrp="1"/>
          </p:cNvSpPr>
          <p:nvPr>
            <p:ph sz="quarter" idx="10"/>
          </p:nvPr>
        </p:nvSpPr>
        <p:spPr>
          <a:xfrm>
            <a:off x="304800" y="152400"/>
            <a:ext cx="6324600" cy="1143000"/>
          </a:xfrm>
        </p:spPr>
        <p:txBody>
          <a:bodyPr>
            <a:normAutofit fontScale="97500"/>
          </a:bodyPr>
          <a:lstStyle/>
          <a:p>
            <a:r>
              <a:rPr lang="en-US" dirty="0"/>
              <a:t>Design Checklist for Performance</a:t>
            </a:r>
          </a:p>
        </p:txBody>
      </p:sp>
      <p:graphicFrame>
        <p:nvGraphicFramePr>
          <p:cNvPr id="11" name="Content Placeholder 10">
            <a:extLst>
              <a:ext uri="{FF2B5EF4-FFF2-40B4-BE49-F238E27FC236}">
                <a16:creationId xmlns:a16="http://schemas.microsoft.com/office/drawing/2014/main" id="{1856649F-9485-4B85-B42E-FF9D0C10446D}"/>
              </a:ext>
            </a:extLst>
          </p:cNvPr>
          <p:cNvGraphicFramePr>
            <a:graphicFrameLocks noGrp="1"/>
          </p:cNvGraphicFramePr>
          <p:nvPr>
            <p:ph idx="1"/>
          </p:nvPr>
        </p:nvGraphicFramePr>
        <p:xfrm>
          <a:off x="304800" y="1493838"/>
          <a:ext cx="8534400" cy="4144962"/>
        </p:xfrm>
        <a:graphic>
          <a:graphicData uri="http://schemas.openxmlformats.org/drawingml/2006/table">
            <a:tbl>
              <a:tblPr firstRow="1" firstCol="1" bandRow="1">
                <a:tableStyleId>{5C22544A-7EE6-4342-B048-85BDC9FD1C3A}</a:tableStyleId>
              </a:tblPr>
              <a:tblGrid>
                <a:gridCol w="1537730">
                  <a:extLst>
                    <a:ext uri="{9D8B030D-6E8A-4147-A177-3AD203B41FA5}">
                      <a16:colId xmlns:a16="http://schemas.microsoft.com/office/drawing/2014/main" val="20000"/>
                    </a:ext>
                  </a:extLst>
                </a:gridCol>
                <a:gridCol w="6996670">
                  <a:extLst>
                    <a:ext uri="{9D8B030D-6E8A-4147-A177-3AD203B41FA5}">
                      <a16:colId xmlns:a16="http://schemas.microsoft.com/office/drawing/2014/main" val="20001"/>
                    </a:ext>
                  </a:extLst>
                </a:gridCol>
              </a:tblGrid>
              <a:tr h="4144962">
                <a:tc>
                  <a:txBody>
                    <a:bodyPr/>
                    <a:lstStyle/>
                    <a:p>
                      <a:pPr marL="0" marR="0">
                        <a:lnSpc>
                          <a:spcPct val="80000"/>
                        </a:lnSpc>
                        <a:spcBef>
                          <a:spcPts val="400"/>
                        </a:spcBef>
                        <a:spcAft>
                          <a:spcPts val="400"/>
                        </a:spcAft>
                      </a:pPr>
                      <a:r>
                        <a:rPr lang="en-US" sz="2000" dirty="0">
                          <a:effectLst/>
                        </a:rPr>
                        <a:t>Choice of Technology</a:t>
                      </a:r>
                      <a:endParaRPr lang="en-US" sz="2000" dirty="0">
                        <a:solidFill>
                          <a:srgbClr val="000080"/>
                        </a:solidFill>
                        <a:effectLst/>
                        <a:latin typeface="Times"/>
                        <a:ea typeface="Times New Roman"/>
                        <a:cs typeface="Times New Roman"/>
                      </a:endParaRPr>
                    </a:p>
                  </a:txBody>
                  <a:tcPr marL="68580" marR="68580" marT="0" marB="0"/>
                </a:tc>
                <a:tc>
                  <a:txBody>
                    <a:bodyPr/>
                    <a:lstStyle/>
                    <a:p>
                      <a:pPr marL="0" marR="0">
                        <a:lnSpc>
                          <a:spcPct val="80000"/>
                        </a:lnSpc>
                        <a:spcBef>
                          <a:spcPts val="400"/>
                        </a:spcBef>
                        <a:spcAft>
                          <a:spcPts val="400"/>
                        </a:spcAft>
                      </a:pPr>
                      <a:r>
                        <a:rPr lang="en-US" sz="2000" dirty="0">
                          <a:effectLst/>
                        </a:rPr>
                        <a:t>Will your choice of technology let you set and meet hard real time deadlines? Do you know its characteristics under load and its limits?</a:t>
                      </a:r>
                    </a:p>
                    <a:p>
                      <a:pPr marL="0" marR="0">
                        <a:lnSpc>
                          <a:spcPct val="80000"/>
                        </a:lnSpc>
                        <a:spcBef>
                          <a:spcPts val="400"/>
                        </a:spcBef>
                        <a:spcAft>
                          <a:spcPts val="400"/>
                        </a:spcAft>
                      </a:pPr>
                      <a:r>
                        <a:rPr lang="en-US" sz="2000" dirty="0">
                          <a:effectLst/>
                        </a:rPr>
                        <a:t>Does your choice of technology give you the ability to set</a:t>
                      </a:r>
                    </a:p>
                    <a:p>
                      <a:pPr marL="342900" marR="0" lvl="0" indent="-342900">
                        <a:lnSpc>
                          <a:spcPct val="80000"/>
                        </a:lnSpc>
                        <a:spcBef>
                          <a:spcPts val="100"/>
                        </a:spcBef>
                        <a:spcAft>
                          <a:spcPts val="300"/>
                        </a:spcAft>
                        <a:buSzPts val="800"/>
                        <a:buFont typeface="Symbol"/>
                        <a:buChar char=""/>
                        <a:tabLst>
                          <a:tab pos="274320" algn="l"/>
                        </a:tabLst>
                      </a:pPr>
                      <a:r>
                        <a:rPr lang="en-US" sz="2000" kern="1100" dirty="0">
                          <a:effectLst/>
                        </a:rPr>
                        <a:t>scheduling policy</a:t>
                      </a:r>
                    </a:p>
                    <a:p>
                      <a:pPr marL="342900" marR="0" lvl="0" indent="-342900">
                        <a:lnSpc>
                          <a:spcPct val="80000"/>
                        </a:lnSpc>
                        <a:spcBef>
                          <a:spcPts val="100"/>
                        </a:spcBef>
                        <a:spcAft>
                          <a:spcPts val="300"/>
                        </a:spcAft>
                        <a:buSzPts val="800"/>
                        <a:buFont typeface="Symbol"/>
                        <a:buChar char=""/>
                        <a:tabLst>
                          <a:tab pos="274320" algn="l"/>
                        </a:tabLst>
                      </a:pPr>
                      <a:r>
                        <a:rPr lang="en-US" sz="2000" kern="1100" dirty="0">
                          <a:effectLst/>
                        </a:rPr>
                        <a:t>priorities</a:t>
                      </a:r>
                    </a:p>
                    <a:p>
                      <a:pPr marL="342900" marR="0" lvl="0" indent="-342900">
                        <a:lnSpc>
                          <a:spcPct val="80000"/>
                        </a:lnSpc>
                        <a:spcBef>
                          <a:spcPts val="100"/>
                        </a:spcBef>
                        <a:spcAft>
                          <a:spcPts val="300"/>
                        </a:spcAft>
                        <a:buSzPts val="800"/>
                        <a:buFont typeface="Symbol"/>
                        <a:buChar char=""/>
                        <a:tabLst>
                          <a:tab pos="274320" algn="l"/>
                        </a:tabLst>
                      </a:pPr>
                      <a:r>
                        <a:rPr lang="en-US" sz="2000" kern="1100" dirty="0">
                          <a:effectLst/>
                        </a:rPr>
                        <a:t>policies for reducing demand</a:t>
                      </a:r>
                    </a:p>
                    <a:p>
                      <a:pPr marL="342900" marR="0" lvl="0" indent="-342900">
                        <a:lnSpc>
                          <a:spcPct val="80000"/>
                        </a:lnSpc>
                        <a:spcBef>
                          <a:spcPts val="100"/>
                        </a:spcBef>
                        <a:spcAft>
                          <a:spcPts val="300"/>
                        </a:spcAft>
                        <a:buSzPts val="800"/>
                        <a:buFont typeface="Symbol"/>
                        <a:buChar char=""/>
                        <a:tabLst>
                          <a:tab pos="274320" algn="l"/>
                        </a:tabLst>
                      </a:pPr>
                      <a:r>
                        <a:rPr lang="en-US" sz="2000" kern="1100" dirty="0">
                          <a:effectLst/>
                        </a:rPr>
                        <a:t>allocation of portions of the technology to processors</a:t>
                      </a:r>
                    </a:p>
                    <a:p>
                      <a:pPr marL="342900" marR="0" lvl="0" indent="-342900">
                        <a:lnSpc>
                          <a:spcPct val="80000"/>
                        </a:lnSpc>
                        <a:spcBef>
                          <a:spcPts val="100"/>
                        </a:spcBef>
                        <a:spcAft>
                          <a:spcPts val="300"/>
                        </a:spcAft>
                        <a:buSzPts val="800"/>
                        <a:buFont typeface="Symbol"/>
                        <a:buChar char=""/>
                        <a:tabLst>
                          <a:tab pos="274320" algn="l"/>
                        </a:tabLst>
                      </a:pPr>
                      <a:r>
                        <a:rPr lang="en-US" sz="2000" kern="1100" dirty="0">
                          <a:effectLst/>
                        </a:rPr>
                        <a:t>other performance related parameters</a:t>
                      </a:r>
                    </a:p>
                    <a:p>
                      <a:pPr marL="25400" marR="0" indent="0">
                        <a:lnSpc>
                          <a:spcPct val="80000"/>
                        </a:lnSpc>
                        <a:spcBef>
                          <a:spcPts val="500"/>
                        </a:spcBef>
                        <a:spcAft>
                          <a:spcPts val="300"/>
                        </a:spcAft>
                        <a:tabLst>
                          <a:tab pos="274320" algn="l"/>
                        </a:tabLst>
                      </a:pPr>
                      <a:r>
                        <a:rPr lang="en-US" sz="2000" kern="1100" dirty="0">
                          <a:effectLst/>
                        </a:rPr>
                        <a:t>Does your choice of technology introduce excessive overhead for heavily used operations?</a:t>
                      </a:r>
                      <a:endParaRPr lang="en-US" sz="2000" kern="1100" dirty="0">
                        <a:solidFill>
                          <a:srgbClr val="000080"/>
                        </a:solidFill>
                        <a:effectLst/>
                        <a:latin typeface="Times New Roman"/>
                        <a:ea typeface="Times New Roman"/>
                      </a:endParaRPr>
                    </a:p>
                  </a:txBody>
                  <a:tcPr marL="68580" marR="68580" marT="0" marB="0"/>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218495580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anose="020B0604020202020204" pitchFamily="34" charset="0"/>
              <a:buChar char="•"/>
            </a:pPr>
            <a:r>
              <a:rPr lang="en-US" dirty="0"/>
              <a:t>Performance is about the management of system resources in the face of particular types of demand to achieve acceptable timing behavior. </a:t>
            </a:r>
          </a:p>
          <a:p>
            <a:pPr>
              <a:buFont typeface="Arial" panose="020B0604020202020204" pitchFamily="34" charset="0"/>
              <a:buChar char="•"/>
            </a:pPr>
            <a:r>
              <a:rPr lang="en-US" dirty="0"/>
              <a:t>Performance can be measured in terms of throughput and latency for both interactive and embedded real time systems.</a:t>
            </a:r>
          </a:p>
          <a:p>
            <a:pPr>
              <a:buFont typeface="Arial" panose="020B0604020202020204" pitchFamily="34" charset="0"/>
              <a:buChar char="•"/>
            </a:pPr>
            <a:r>
              <a:rPr lang="en-US" dirty="0"/>
              <a:t>Performance can be improved by reducing demand or by managing resources more appropriately. </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5" name="Date Placeholder 4">
            <a:extLst>
              <a:ext uri="{FF2B5EF4-FFF2-40B4-BE49-F238E27FC236}">
                <a16:creationId xmlns:a16="http://schemas.microsoft.com/office/drawing/2014/main" id="{87767B97-2150-4AC1-92E4-A38C19DAA35C}"/>
              </a:ext>
            </a:extLst>
          </p:cNvPr>
          <p:cNvSpPr>
            <a:spLocks noGrp="1"/>
          </p:cNvSpPr>
          <p:nvPr>
            <p:ph type="dt" sz="half" idx="12"/>
          </p:nvPr>
        </p:nvSpPr>
        <p:spPr/>
        <p:txBody>
          <a:bodyPr/>
          <a:lstStyle/>
          <a:p>
            <a:r>
              <a:rPr lang="en-US"/>
              <a:t>Auguts 1, 2026</a:t>
            </a:r>
          </a:p>
        </p:txBody>
      </p:sp>
      <p:sp>
        <p:nvSpPr>
          <p:cNvPr id="6" name="Slide Number Placeholder 5">
            <a:extLst>
              <a:ext uri="{FF2B5EF4-FFF2-40B4-BE49-F238E27FC236}">
                <a16:creationId xmlns:a16="http://schemas.microsoft.com/office/drawing/2014/main" id="{C445DDB6-BDC9-431D-B2EE-248D9796EB5F}"/>
              </a:ext>
            </a:extLst>
          </p:cNvPr>
          <p:cNvSpPr>
            <a:spLocks noGrp="1"/>
          </p:cNvSpPr>
          <p:nvPr>
            <p:ph type="sldNum" sz="quarter" idx="14"/>
          </p:nvPr>
        </p:nvSpPr>
        <p:spPr/>
        <p:txBody>
          <a:bodyPr/>
          <a:lstStyle/>
          <a:p>
            <a:fld id="{BC8D7E44-7D4F-4942-A8C9-2DF6BF8399E8}" type="slidenum">
              <a:rPr lang="en-US" smtClean="0"/>
              <a:pPr/>
              <a:t>73</a:t>
            </a:fld>
            <a:endParaRPr lang="en-US" dirty="0"/>
          </a:p>
        </p:txBody>
      </p:sp>
      <p:sp>
        <p:nvSpPr>
          <p:cNvPr id="9" name="Title 1">
            <a:extLst>
              <a:ext uri="{FF2B5EF4-FFF2-40B4-BE49-F238E27FC236}">
                <a16:creationId xmlns:a16="http://schemas.microsoft.com/office/drawing/2014/main" id="{833E3E5E-EA97-6F48-BCB9-6757BD2EF7F6}"/>
              </a:ext>
            </a:extLst>
          </p:cNvPr>
          <p:cNvSpPr>
            <a:spLocks noGrp="1"/>
          </p:cNvSpPr>
          <p:nvPr>
            <p:ph sz="quarter" idx="10"/>
          </p:nvPr>
        </p:nvSpPr>
        <p:spPr>
          <a:xfrm>
            <a:off x="304800" y="152400"/>
            <a:ext cx="6324600" cy="1143000"/>
          </a:xfrm>
        </p:spPr>
        <p:txBody>
          <a:bodyPr/>
          <a:lstStyle/>
          <a:p>
            <a:r>
              <a:rPr lang="en-US" dirty="0"/>
              <a:t>Summary</a:t>
            </a:r>
          </a:p>
        </p:txBody>
      </p:sp>
    </p:spTree>
    <p:extLst>
      <p:ext uri="{BB962C8B-B14F-4D97-AF65-F5344CB8AC3E}">
        <p14:creationId xmlns:p14="http://schemas.microsoft.com/office/powerpoint/2010/main" val="165453654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AU" dirty="0"/>
              <a:t>Usability</a:t>
            </a:r>
            <a:br>
              <a:rPr lang="en-AU" dirty="0"/>
            </a:br>
            <a:r>
              <a:rPr lang="en-AU" dirty="0"/>
              <a:t>Module 2 – L4</a:t>
            </a:r>
            <a:endParaRPr lang="en-US" dirty="0"/>
          </a:p>
        </p:txBody>
      </p:sp>
      <p:sp>
        <p:nvSpPr>
          <p:cNvPr id="6" name="Content Placeholder 5"/>
          <p:cNvSpPr>
            <a:spLocks noGrp="1"/>
          </p:cNvSpPr>
          <p:nvPr>
            <p:ph sz="quarter" idx="13"/>
          </p:nvPr>
        </p:nvSpPr>
        <p:spPr/>
        <p:txBody>
          <a:bodyPr/>
          <a:lstStyle/>
          <a:p>
            <a:r>
              <a:rPr lang="en-US" sz="1800" dirty="0"/>
              <a:t>Harvinder S Jabbal </a:t>
            </a:r>
          </a:p>
          <a:p>
            <a:r>
              <a:rPr lang="en-US" dirty="0"/>
              <a:t>CSIS, Work Integrated Learning Programs</a:t>
            </a:r>
          </a:p>
        </p:txBody>
      </p:sp>
      <p:sp>
        <p:nvSpPr>
          <p:cNvPr id="2" name="Slide Number Placeholder 1">
            <a:extLst>
              <a:ext uri="{FF2B5EF4-FFF2-40B4-BE49-F238E27FC236}">
                <a16:creationId xmlns:a16="http://schemas.microsoft.com/office/drawing/2014/main" id="{7F90C164-BD80-4958-B5AD-15C0024F6F1D}"/>
              </a:ext>
            </a:extLst>
          </p:cNvPr>
          <p:cNvSpPr>
            <a:spLocks noGrp="1"/>
          </p:cNvSpPr>
          <p:nvPr>
            <p:ph type="sldNum" sz="quarter" idx="16"/>
          </p:nvPr>
        </p:nvSpPr>
        <p:spPr/>
        <p:txBody>
          <a:bodyPr/>
          <a:lstStyle/>
          <a:p>
            <a:fld id="{BC8D7E44-7D4F-4942-A8C9-2DF6BF8399E8}" type="slidenum">
              <a:rPr lang="en-US" smtClean="0"/>
              <a:pPr/>
              <a:t>74</a:t>
            </a:fld>
            <a:endParaRPr lang="en-US" dirty="0"/>
          </a:p>
        </p:txBody>
      </p:sp>
      <p:sp>
        <p:nvSpPr>
          <p:cNvPr id="3" name="Footer Placeholder 2">
            <a:extLst>
              <a:ext uri="{FF2B5EF4-FFF2-40B4-BE49-F238E27FC236}">
                <a16:creationId xmlns:a16="http://schemas.microsoft.com/office/drawing/2014/main" id="{2618058F-E2B6-466F-9CC1-565AF74727FA}"/>
              </a:ext>
            </a:extLst>
          </p:cNvPr>
          <p:cNvSpPr>
            <a:spLocks noGrp="1"/>
          </p:cNvSpPr>
          <p:nvPr>
            <p:ph type="ftr" sz="quarter" idx="15"/>
          </p:nvPr>
        </p:nvSpPr>
        <p:spPr/>
        <p:txBody>
          <a:bodyPr/>
          <a:lstStyle/>
          <a:p>
            <a:r>
              <a:rPr lang="en-US"/>
              <a:t>SEZG651/SSZG653 Software Architectures</a:t>
            </a:r>
            <a:endParaRPr lang="en-US" dirty="0"/>
          </a:p>
        </p:txBody>
      </p:sp>
      <p:sp>
        <p:nvSpPr>
          <p:cNvPr id="4" name="Date Placeholder 3">
            <a:extLst>
              <a:ext uri="{FF2B5EF4-FFF2-40B4-BE49-F238E27FC236}">
                <a16:creationId xmlns:a16="http://schemas.microsoft.com/office/drawing/2014/main" id="{791BFCCC-1B52-43EB-9B30-A96190E558FD}"/>
              </a:ext>
            </a:extLst>
          </p:cNvPr>
          <p:cNvSpPr>
            <a:spLocks noGrp="1"/>
          </p:cNvSpPr>
          <p:nvPr>
            <p:ph type="dt" sz="half" idx="14"/>
          </p:nvPr>
        </p:nvSpPr>
        <p:spPr/>
        <p:txBody>
          <a:bodyPr/>
          <a:lstStyle/>
          <a:p>
            <a:r>
              <a:rPr lang="en-US"/>
              <a:t>Auguts 1, 2026</a:t>
            </a:r>
          </a:p>
        </p:txBody>
      </p:sp>
    </p:spTree>
    <p:extLst>
      <p:ext uri="{BB962C8B-B14F-4D97-AF65-F5344CB8AC3E}">
        <p14:creationId xmlns:p14="http://schemas.microsoft.com/office/powerpoint/2010/main" val="416999350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z="3200" b="0" i="0" u="none" strike="noStrike" kern="1200" baseline="0" dirty="0">
                <a:solidFill>
                  <a:schemeClr val="tx1"/>
                </a:solidFill>
                <a:latin typeface="+mn-lt"/>
                <a:ea typeface="+mn-ea"/>
                <a:cs typeface="+mn-cs"/>
              </a:rPr>
              <a:t>What is Usability?</a:t>
            </a:r>
          </a:p>
          <a:p>
            <a:r>
              <a:rPr lang="en-US" dirty="0"/>
              <a:t>Usability General </a:t>
            </a:r>
            <a:r>
              <a:rPr lang="en-US" sz="3200" b="0" i="0" u="none" strike="noStrike" kern="1200" baseline="0" dirty="0">
                <a:solidFill>
                  <a:schemeClr val="tx1"/>
                </a:solidFill>
                <a:latin typeface="+mn-lt"/>
                <a:ea typeface="+mn-ea"/>
                <a:cs typeface="+mn-cs"/>
              </a:rPr>
              <a:t>Scenario</a:t>
            </a:r>
          </a:p>
          <a:p>
            <a:r>
              <a:rPr lang="en-US" sz="3200" b="0" i="0" u="none" strike="noStrike" kern="1200" baseline="0" dirty="0">
                <a:solidFill>
                  <a:schemeClr val="tx1"/>
                </a:solidFill>
                <a:latin typeface="+mn-lt"/>
                <a:ea typeface="+mn-ea"/>
                <a:cs typeface="+mn-cs"/>
              </a:rPr>
              <a:t>Tactics for </a:t>
            </a:r>
            <a:r>
              <a:rPr lang="en-US" dirty="0"/>
              <a:t>Usability</a:t>
            </a:r>
            <a:endParaRPr lang="en-US" sz="3200" b="0" i="0" u="none" strike="noStrike" kern="1200" baseline="0" dirty="0">
              <a:solidFill>
                <a:schemeClr val="tx1"/>
              </a:solidFill>
              <a:latin typeface="+mn-lt"/>
              <a:ea typeface="+mn-ea"/>
              <a:cs typeface="+mn-cs"/>
            </a:endParaRPr>
          </a:p>
          <a:p>
            <a:r>
              <a:rPr lang="en-US" dirty="0"/>
              <a:t>A Design Checklist for Usability</a:t>
            </a:r>
            <a:endParaRPr lang="en-US" sz="3200" b="0" i="0" u="none" strike="noStrike" kern="1200" baseline="0" dirty="0">
              <a:solidFill>
                <a:schemeClr val="tx1"/>
              </a:solidFill>
              <a:latin typeface="+mn-lt"/>
              <a:ea typeface="+mn-ea"/>
              <a:cs typeface="+mn-cs"/>
            </a:endParaRPr>
          </a:p>
          <a:p>
            <a:r>
              <a:rPr lang="en-US" sz="3200" b="0" i="0" u="none" strike="noStrike" kern="1200" baseline="0" dirty="0">
                <a:solidFill>
                  <a:schemeClr val="tx1"/>
                </a:solidFill>
                <a:latin typeface="+mn-lt"/>
                <a:ea typeface="+mn-ea"/>
                <a:cs typeface="+mn-cs"/>
              </a:rPr>
              <a:t>Summary </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Date Placeholder 6">
            <a:extLst>
              <a:ext uri="{FF2B5EF4-FFF2-40B4-BE49-F238E27FC236}">
                <a16:creationId xmlns:a16="http://schemas.microsoft.com/office/drawing/2014/main" id="{EE7F50D5-5167-BF38-BEB5-6C786C680D7C}"/>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CB17257E-750C-AD45-E9DE-41591BCFA366}"/>
              </a:ext>
            </a:extLst>
          </p:cNvPr>
          <p:cNvSpPr>
            <a:spLocks noGrp="1"/>
          </p:cNvSpPr>
          <p:nvPr>
            <p:ph type="sldNum" sz="quarter" idx="14"/>
          </p:nvPr>
        </p:nvSpPr>
        <p:spPr/>
        <p:txBody>
          <a:bodyPr/>
          <a:lstStyle/>
          <a:p>
            <a:fld id="{BC8D7E44-7D4F-4942-A8C9-2DF6BF8399E8}" type="slidenum">
              <a:rPr lang="en-US" smtClean="0"/>
              <a:pPr/>
              <a:t>75</a:t>
            </a:fld>
            <a:endParaRPr lang="en-US" dirty="0"/>
          </a:p>
        </p:txBody>
      </p:sp>
      <p:sp>
        <p:nvSpPr>
          <p:cNvPr id="9" name="Title 1">
            <a:extLst>
              <a:ext uri="{FF2B5EF4-FFF2-40B4-BE49-F238E27FC236}">
                <a16:creationId xmlns:a16="http://schemas.microsoft.com/office/drawing/2014/main" id="{C5090947-7964-D9B8-92B6-F5736E15BD7A}"/>
              </a:ext>
            </a:extLst>
          </p:cNvPr>
          <p:cNvSpPr>
            <a:spLocks noGrp="1"/>
          </p:cNvSpPr>
          <p:nvPr>
            <p:ph sz="quarter" idx="10"/>
          </p:nvPr>
        </p:nvSpPr>
        <p:spPr>
          <a:xfrm>
            <a:off x="304800" y="152400"/>
            <a:ext cx="6324600" cy="1143000"/>
          </a:xfrm>
        </p:spPr>
        <p:txBody>
          <a:bodyPr/>
          <a:lstStyle/>
          <a:p>
            <a:r>
              <a:rPr lang="en-AU" dirty="0"/>
              <a:t>Chapter Outline</a:t>
            </a:r>
          </a:p>
        </p:txBody>
      </p:sp>
    </p:spTree>
    <p:extLst>
      <p:ext uri="{BB962C8B-B14F-4D97-AF65-F5344CB8AC3E}">
        <p14:creationId xmlns:p14="http://schemas.microsoft.com/office/powerpoint/2010/main" val="338251427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Usability is concerned with how easy it is for the user to accomplish a desired task and the kind of user support the system provides. </a:t>
            </a:r>
          </a:p>
          <a:p>
            <a:r>
              <a:rPr lang="en-US" dirty="0"/>
              <a:t>Over the years, a focus on usability has shown itself to be one of the cheapest and easiest ways to improve a system’s quality (or, more precisely, the user’s </a:t>
            </a:r>
            <a:r>
              <a:rPr lang="en-US" i="1" dirty="0"/>
              <a:t>perception</a:t>
            </a:r>
            <a:r>
              <a:rPr lang="en-US" dirty="0"/>
              <a:t> of quality). </a:t>
            </a:r>
          </a:p>
          <a:p>
            <a:pPr marL="0" indent="0">
              <a:buNone/>
            </a:pPr>
            <a:endParaRPr lang="en-US" dirty="0"/>
          </a:p>
          <a:p>
            <a:endParaRPr lang="en-US" dirty="0"/>
          </a:p>
          <a:p>
            <a:endParaRPr lang="en-US"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Date Placeholder 6">
            <a:extLst>
              <a:ext uri="{FF2B5EF4-FFF2-40B4-BE49-F238E27FC236}">
                <a16:creationId xmlns:a16="http://schemas.microsoft.com/office/drawing/2014/main" id="{53C5F222-F15C-B941-6605-915EEFFE2A32}"/>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9940B1E0-2E7B-F3BA-3D78-2965E0A5D71A}"/>
              </a:ext>
            </a:extLst>
          </p:cNvPr>
          <p:cNvSpPr>
            <a:spLocks noGrp="1"/>
          </p:cNvSpPr>
          <p:nvPr>
            <p:ph type="sldNum" sz="quarter" idx="14"/>
          </p:nvPr>
        </p:nvSpPr>
        <p:spPr/>
        <p:txBody>
          <a:bodyPr/>
          <a:lstStyle/>
          <a:p>
            <a:fld id="{BC8D7E44-7D4F-4942-A8C9-2DF6BF8399E8}" type="slidenum">
              <a:rPr lang="en-US" smtClean="0"/>
              <a:pPr/>
              <a:t>76</a:t>
            </a:fld>
            <a:endParaRPr lang="en-US" dirty="0"/>
          </a:p>
        </p:txBody>
      </p:sp>
      <p:sp>
        <p:nvSpPr>
          <p:cNvPr id="9" name="Title 1">
            <a:extLst>
              <a:ext uri="{FF2B5EF4-FFF2-40B4-BE49-F238E27FC236}">
                <a16:creationId xmlns:a16="http://schemas.microsoft.com/office/drawing/2014/main" id="{431BAFAE-118A-28EE-9F30-CD757C35985D}"/>
              </a:ext>
            </a:extLst>
          </p:cNvPr>
          <p:cNvSpPr>
            <a:spLocks noGrp="1"/>
          </p:cNvSpPr>
          <p:nvPr>
            <p:ph sz="quarter" idx="10"/>
          </p:nvPr>
        </p:nvSpPr>
        <p:spPr>
          <a:xfrm>
            <a:off x="304800" y="152400"/>
            <a:ext cx="6324600" cy="1143000"/>
          </a:xfrm>
        </p:spPr>
        <p:txBody>
          <a:bodyPr/>
          <a:lstStyle/>
          <a:p>
            <a:r>
              <a:rPr lang="en-US" dirty="0"/>
              <a:t>What is Usability?</a:t>
            </a:r>
          </a:p>
        </p:txBody>
      </p:sp>
    </p:spTree>
    <p:extLst>
      <p:ext uri="{BB962C8B-B14F-4D97-AF65-F5344CB8AC3E}">
        <p14:creationId xmlns:p14="http://schemas.microsoft.com/office/powerpoint/2010/main" val="153090094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Usability comprises the following areas:</a:t>
            </a:r>
          </a:p>
          <a:p>
            <a:pPr lvl="1"/>
            <a:r>
              <a:rPr lang="en-US" dirty="0"/>
              <a:t>Learning system features. </a:t>
            </a:r>
          </a:p>
          <a:p>
            <a:pPr lvl="1"/>
            <a:r>
              <a:rPr lang="en-US" dirty="0"/>
              <a:t>Using a system efficiently. </a:t>
            </a:r>
          </a:p>
          <a:p>
            <a:pPr lvl="1"/>
            <a:r>
              <a:rPr lang="en-US" dirty="0"/>
              <a:t>Minimizing the impact of errors. </a:t>
            </a:r>
          </a:p>
          <a:p>
            <a:pPr lvl="1"/>
            <a:r>
              <a:rPr lang="en-US" dirty="0"/>
              <a:t>Adapting the system to user needs. </a:t>
            </a:r>
          </a:p>
          <a:p>
            <a:pPr lvl="1"/>
            <a:r>
              <a:rPr lang="en-US" dirty="0"/>
              <a:t>Increasing confidence and satisfaction. </a:t>
            </a:r>
          </a:p>
          <a:p>
            <a:endParaRPr lang="en-US"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Date Placeholder 6">
            <a:extLst>
              <a:ext uri="{FF2B5EF4-FFF2-40B4-BE49-F238E27FC236}">
                <a16:creationId xmlns:a16="http://schemas.microsoft.com/office/drawing/2014/main" id="{B732EDD4-15FB-22A1-B56E-62C5878B2798}"/>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9854324F-D75E-CAFA-61FF-D4724B3FD805}"/>
              </a:ext>
            </a:extLst>
          </p:cNvPr>
          <p:cNvSpPr>
            <a:spLocks noGrp="1"/>
          </p:cNvSpPr>
          <p:nvPr>
            <p:ph type="sldNum" sz="quarter" idx="14"/>
          </p:nvPr>
        </p:nvSpPr>
        <p:spPr/>
        <p:txBody>
          <a:bodyPr/>
          <a:lstStyle/>
          <a:p>
            <a:fld id="{BC8D7E44-7D4F-4942-A8C9-2DF6BF8399E8}" type="slidenum">
              <a:rPr lang="en-US" smtClean="0"/>
              <a:pPr/>
              <a:t>77</a:t>
            </a:fld>
            <a:endParaRPr lang="en-US" dirty="0"/>
          </a:p>
        </p:txBody>
      </p:sp>
      <p:sp>
        <p:nvSpPr>
          <p:cNvPr id="9" name="Title 1">
            <a:extLst>
              <a:ext uri="{FF2B5EF4-FFF2-40B4-BE49-F238E27FC236}">
                <a16:creationId xmlns:a16="http://schemas.microsoft.com/office/drawing/2014/main" id="{48CAFC3D-8EBB-8C56-4105-DFDDC346872D}"/>
              </a:ext>
            </a:extLst>
          </p:cNvPr>
          <p:cNvSpPr>
            <a:spLocks noGrp="1"/>
          </p:cNvSpPr>
          <p:nvPr>
            <p:ph sz="quarter" idx="10"/>
          </p:nvPr>
        </p:nvSpPr>
        <p:spPr>
          <a:xfrm>
            <a:off x="304800" y="152400"/>
            <a:ext cx="6324600" cy="1143000"/>
          </a:xfrm>
        </p:spPr>
        <p:txBody>
          <a:bodyPr/>
          <a:lstStyle/>
          <a:p>
            <a:r>
              <a:rPr lang="en-US" dirty="0"/>
              <a:t>What is Usability?</a:t>
            </a:r>
          </a:p>
        </p:txBody>
      </p:sp>
    </p:spTree>
    <p:extLst>
      <p:ext uri="{BB962C8B-B14F-4D97-AF65-F5344CB8AC3E}">
        <p14:creationId xmlns:p14="http://schemas.microsoft.com/office/powerpoint/2010/main" val="330567384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8" name="Date Placeholder 7">
            <a:extLst>
              <a:ext uri="{FF2B5EF4-FFF2-40B4-BE49-F238E27FC236}">
                <a16:creationId xmlns:a16="http://schemas.microsoft.com/office/drawing/2014/main" id="{38BCB608-FBCD-248F-08E4-5B6005C3183E}"/>
              </a:ext>
            </a:extLst>
          </p:cNvPr>
          <p:cNvSpPr>
            <a:spLocks noGrp="1"/>
          </p:cNvSpPr>
          <p:nvPr>
            <p:ph type="dt" sz="half" idx="12"/>
          </p:nvPr>
        </p:nvSpPr>
        <p:spPr/>
        <p:txBody>
          <a:bodyPr/>
          <a:lstStyle/>
          <a:p>
            <a:r>
              <a:rPr lang="en-US"/>
              <a:t>Auguts 1, 2026</a:t>
            </a:r>
          </a:p>
        </p:txBody>
      </p:sp>
      <p:sp>
        <p:nvSpPr>
          <p:cNvPr id="9" name="Slide Number Placeholder 8">
            <a:extLst>
              <a:ext uri="{FF2B5EF4-FFF2-40B4-BE49-F238E27FC236}">
                <a16:creationId xmlns:a16="http://schemas.microsoft.com/office/drawing/2014/main" id="{63C724E9-0A0B-7503-0A2A-62106A5FC04B}"/>
              </a:ext>
            </a:extLst>
          </p:cNvPr>
          <p:cNvSpPr>
            <a:spLocks noGrp="1"/>
          </p:cNvSpPr>
          <p:nvPr>
            <p:ph type="sldNum" sz="quarter" idx="14"/>
          </p:nvPr>
        </p:nvSpPr>
        <p:spPr/>
        <p:txBody>
          <a:bodyPr/>
          <a:lstStyle/>
          <a:p>
            <a:fld id="{BC8D7E44-7D4F-4942-A8C9-2DF6BF8399E8}" type="slidenum">
              <a:rPr lang="en-US" smtClean="0"/>
              <a:pPr/>
              <a:t>78</a:t>
            </a:fld>
            <a:endParaRPr lang="en-US" dirty="0"/>
          </a:p>
        </p:txBody>
      </p:sp>
      <p:graphicFrame>
        <p:nvGraphicFramePr>
          <p:cNvPr id="10" name="Content Placeholder 9">
            <a:extLst>
              <a:ext uri="{FF2B5EF4-FFF2-40B4-BE49-F238E27FC236}">
                <a16:creationId xmlns:a16="http://schemas.microsoft.com/office/drawing/2014/main" id="{F5F9F2A2-4473-B8CF-7758-0AEF5B4105DC}"/>
              </a:ext>
            </a:extLst>
          </p:cNvPr>
          <p:cNvGraphicFramePr>
            <a:graphicFrameLocks noGrp="1"/>
          </p:cNvGraphicFramePr>
          <p:nvPr>
            <p:ph idx="1"/>
          </p:nvPr>
        </p:nvGraphicFramePr>
        <p:xfrm>
          <a:off x="304800" y="1493838"/>
          <a:ext cx="8458200" cy="4525962"/>
        </p:xfrm>
        <a:graphic>
          <a:graphicData uri="http://schemas.openxmlformats.org/drawingml/2006/table">
            <a:tbl>
              <a:tblPr firstRow="1" firstCol="1" bandRow="1">
                <a:tableStyleId>{5C22544A-7EE6-4342-B048-85BDC9FD1C3A}</a:tableStyleId>
              </a:tblPr>
              <a:tblGrid>
                <a:gridCol w="1691640">
                  <a:extLst>
                    <a:ext uri="{9D8B030D-6E8A-4147-A177-3AD203B41FA5}">
                      <a16:colId xmlns:a16="http://schemas.microsoft.com/office/drawing/2014/main" val="20000"/>
                    </a:ext>
                  </a:extLst>
                </a:gridCol>
                <a:gridCol w="6766560">
                  <a:extLst>
                    <a:ext uri="{9D8B030D-6E8A-4147-A177-3AD203B41FA5}">
                      <a16:colId xmlns:a16="http://schemas.microsoft.com/office/drawing/2014/main" val="20001"/>
                    </a:ext>
                  </a:extLst>
                </a:gridCol>
              </a:tblGrid>
              <a:tr h="581204">
                <a:tc>
                  <a:txBody>
                    <a:bodyPr/>
                    <a:lstStyle/>
                    <a:p>
                      <a:pPr marL="0" marR="0">
                        <a:lnSpc>
                          <a:spcPct val="80000"/>
                        </a:lnSpc>
                        <a:spcBef>
                          <a:spcPts val="400"/>
                        </a:spcBef>
                        <a:spcAft>
                          <a:spcPts val="400"/>
                        </a:spcAft>
                      </a:pPr>
                      <a:r>
                        <a:rPr lang="en-US" sz="2000" dirty="0">
                          <a:solidFill>
                            <a:schemeClr val="tx1"/>
                          </a:solidFill>
                          <a:effectLst/>
                        </a:rPr>
                        <a:t>Portion of</a:t>
                      </a:r>
                      <a:br>
                        <a:rPr lang="en-US" sz="2000" dirty="0">
                          <a:solidFill>
                            <a:schemeClr val="tx1"/>
                          </a:solidFill>
                          <a:effectLst/>
                        </a:rPr>
                      </a:br>
                      <a:r>
                        <a:rPr lang="en-US" sz="2000" dirty="0">
                          <a:solidFill>
                            <a:schemeClr val="tx1"/>
                          </a:solidFill>
                          <a:effectLst/>
                        </a:rPr>
                        <a:t>Scenario</a:t>
                      </a:r>
                      <a:endParaRPr lang="en-US" sz="2000" dirty="0">
                        <a:solidFill>
                          <a:schemeClr val="tx1"/>
                        </a:solidFill>
                        <a:effectLst/>
                        <a:latin typeface="Times"/>
                        <a:ea typeface="Times New Roman"/>
                        <a:cs typeface="Times New Roman"/>
                      </a:endParaRPr>
                    </a:p>
                  </a:txBody>
                  <a:tcPr marL="60303" marR="60303" marT="0" marB="0">
                    <a:solidFill>
                      <a:schemeClr val="accent1">
                        <a:lumMod val="20000"/>
                        <a:lumOff val="80000"/>
                      </a:schemeClr>
                    </a:solidFill>
                  </a:tcPr>
                </a:tc>
                <a:tc>
                  <a:txBody>
                    <a:bodyPr/>
                    <a:lstStyle/>
                    <a:p>
                      <a:pPr marL="0" marR="0">
                        <a:lnSpc>
                          <a:spcPct val="80000"/>
                        </a:lnSpc>
                        <a:spcBef>
                          <a:spcPts val="400"/>
                        </a:spcBef>
                        <a:spcAft>
                          <a:spcPts val="400"/>
                        </a:spcAft>
                      </a:pPr>
                      <a:r>
                        <a:rPr lang="en-US" sz="2000" dirty="0">
                          <a:solidFill>
                            <a:schemeClr val="tx1"/>
                          </a:solidFill>
                          <a:effectLst/>
                        </a:rPr>
                        <a:t>Possible Values</a:t>
                      </a:r>
                      <a:endParaRPr lang="en-US" sz="2000" dirty="0">
                        <a:solidFill>
                          <a:schemeClr val="tx1"/>
                        </a:solidFill>
                        <a:effectLst/>
                        <a:latin typeface="Times"/>
                        <a:ea typeface="Times New Roman"/>
                        <a:cs typeface="Times New Roman"/>
                      </a:endParaRPr>
                    </a:p>
                  </a:txBody>
                  <a:tcPr marL="60303" marR="60303" marT="0" marB="0">
                    <a:solidFill>
                      <a:schemeClr val="accent1">
                        <a:lumMod val="20000"/>
                        <a:lumOff val="80000"/>
                      </a:schemeClr>
                    </a:solidFill>
                  </a:tcPr>
                </a:tc>
                <a:extLst>
                  <a:ext uri="{0D108BD9-81ED-4DB2-BD59-A6C34878D82A}">
                    <a16:rowId xmlns:a16="http://schemas.microsoft.com/office/drawing/2014/main" val="10000"/>
                  </a:ext>
                </a:extLst>
              </a:tr>
              <a:tr h="341422">
                <a:tc>
                  <a:txBody>
                    <a:bodyPr/>
                    <a:lstStyle/>
                    <a:p>
                      <a:pPr marL="0" marR="0">
                        <a:lnSpc>
                          <a:spcPct val="80000"/>
                        </a:lnSpc>
                        <a:spcBef>
                          <a:spcPts val="400"/>
                        </a:spcBef>
                        <a:spcAft>
                          <a:spcPts val="400"/>
                        </a:spcAft>
                      </a:pPr>
                      <a:r>
                        <a:rPr lang="en-US" sz="2000" dirty="0">
                          <a:solidFill>
                            <a:schemeClr val="tx1"/>
                          </a:solidFill>
                          <a:effectLst/>
                        </a:rPr>
                        <a:t>Source </a:t>
                      </a:r>
                      <a:endParaRPr lang="en-US" sz="2000" dirty="0">
                        <a:solidFill>
                          <a:schemeClr val="tx1"/>
                        </a:solidFill>
                        <a:effectLst/>
                        <a:latin typeface="Times"/>
                        <a:ea typeface="Times New Roman"/>
                        <a:cs typeface="Times New Roman"/>
                      </a:endParaRPr>
                    </a:p>
                  </a:txBody>
                  <a:tcPr marL="60303" marR="60303" marT="0" marB="0">
                    <a:solidFill>
                      <a:schemeClr val="accent1">
                        <a:lumMod val="20000"/>
                        <a:lumOff val="80000"/>
                      </a:schemeClr>
                    </a:solidFill>
                  </a:tcPr>
                </a:tc>
                <a:tc>
                  <a:txBody>
                    <a:bodyPr/>
                    <a:lstStyle/>
                    <a:p>
                      <a:pPr marL="0" marR="0">
                        <a:lnSpc>
                          <a:spcPct val="80000"/>
                        </a:lnSpc>
                        <a:spcBef>
                          <a:spcPts val="400"/>
                        </a:spcBef>
                        <a:spcAft>
                          <a:spcPts val="400"/>
                        </a:spcAft>
                      </a:pPr>
                      <a:r>
                        <a:rPr lang="en-US" sz="2000" dirty="0">
                          <a:solidFill>
                            <a:schemeClr val="tx1"/>
                          </a:solidFill>
                          <a:effectLst/>
                        </a:rPr>
                        <a:t>End user, possibly in a specialized role</a:t>
                      </a:r>
                      <a:endParaRPr lang="en-US" sz="2000" dirty="0">
                        <a:solidFill>
                          <a:schemeClr val="tx1"/>
                        </a:solidFill>
                        <a:effectLst/>
                        <a:latin typeface="Times"/>
                        <a:ea typeface="Times New Roman"/>
                        <a:cs typeface="Times New Roman"/>
                      </a:endParaRPr>
                    </a:p>
                  </a:txBody>
                  <a:tcPr marL="60303" marR="60303" marT="0" marB="0">
                    <a:solidFill>
                      <a:schemeClr val="accent1">
                        <a:lumMod val="20000"/>
                        <a:lumOff val="80000"/>
                      </a:schemeClr>
                    </a:solidFill>
                  </a:tcPr>
                </a:tc>
                <a:extLst>
                  <a:ext uri="{0D108BD9-81ED-4DB2-BD59-A6C34878D82A}">
                    <a16:rowId xmlns:a16="http://schemas.microsoft.com/office/drawing/2014/main" val="10001"/>
                  </a:ext>
                </a:extLst>
              </a:tr>
              <a:tr h="787726">
                <a:tc>
                  <a:txBody>
                    <a:bodyPr/>
                    <a:lstStyle/>
                    <a:p>
                      <a:pPr marL="0" marR="0">
                        <a:lnSpc>
                          <a:spcPct val="80000"/>
                        </a:lnSpc>
                        <a:spcBef>
                          <a:spcPts val="400"/>
                        </a:spcBef>
                        <a:spcAft>
                          <a:spcPts val="400"/>
                        </a:spcAft>
                      </a:pPr>
                      <a:r>
                        <a:rPr lang="en-US" sz="2000">
                          <a:solidFill>
                            <a:schemeClr val="tx1"/>
                          </a:solidFill>
                          <a:effectLst/>
                        </a:rPr>
                        <a:t>Stimulus</a:t>
                      </a:r>
                      <a:endParaRPr lang="en-US" sz="2000">
                        <a:solidFill>
                          <a:schemeClr val="tx1"/>
                        </a:solidFill>
                        <a:effectLst/>
                        <a:latin typeface="Times"/>
                        <a:ea typeface="Times New Roman"/>
                        <a:cs typeface="Times New Roman"/>
                      </a:endParaRPr>
                    </a:p>
                  </a:txBody>
                  <a:tcPr marL="60303" marR="60303" marT="0" marB="0">
                    <a:solidFill>
                      <a:schemeClr val="accent1">
                        <a:lumMod val="20000"/>
                        <a:lumOff val="80000"/>
                      </a:schemeClr>
                    </a:solidFill>
                  </a:tcPr>
                </a:tc>
                <a:tc>
                  <a:txBody>
                    <a:bodyPr/>
                    <a:lstStyle/>
                    <a:p>
                      <a:pPr marL="0" marR="0" indent="0">
                        <a:lnSpc>
                          <a:spcPct val="80000"/>
                        </a:lnSpc>
                        <a:spcBef>
                          <a:spcPts val="100"/>
                        </a:spcBef>
                        <a:spcAft>
                          <a:spcPts val="300"/>
                        </a:spcAft>
                        <a:tabLst>
                          <a:tab pos="228600" algn="l"/>
                          <a:tab pos="274320" algn="l"/>
                          <a:tab pos="274320" algn="l"/>
                        </a:tabLst>
                      </a:pPr>
                      <a:r>
                        <a:rPr lang="en-US" sz="2000" kern="1100" dirty="0">
                          <a:solidFill>
                            <a:schemeClr val="tx1"/>
                          </a:solidFill>
                          <a:effectLst/>
                        </a:rPr>
                        <a:t>End user tries to use a system efficiently, learn to use the system, minimize the impact of errors, adapt the system, or configure the system</a:t>
                      </a:r>
                      <a:endParaRPr lang="en-US" sz="2000" kern="1100" dirty="0">
                        <a:solidFill>
                          <a:schemeClr val="tx1"/>
                        </a:solidFill>
                        <a:effectLst/>
                        <a:latin typeface="Times New Roman"/>
                        <a:ea typeface="Times New Roman"/>
                      </a:endParaRPr>
                    </a:p>
                  </a:txBody>
                  <a:tcPr marL="60303" marR="60303" marT="0" marB="0">
                    <a:solidFill>
                      <a:schemeClr val="accent1">
                        <a:lumMod val="20000"/>
                        <a:lumOff val="80000"/>
                      </a:schemeClr>
                    </a:solidFill>
                  </a:tcPr>
                </a:tc>
                <a:extLst>
                  <a:ext uri="{0D108BD9-81ED-4DB2-BD59-A6C34878D82A}">
                    <a16:rowId xmlns:a16="http://schemas.microsoft.com/office/drawing/2014/main" val="10002"/>
                  </a:ext>
                </a:extLst>
              </a:tr>
              <a:tr h="452433">
                <a:tc>
                  <a:txBody>
                    <a:bodyPr/>
                    <a:lstStyle/>
                    <a:p>
                      <a:pPr marL="0" marR="0">
                        <a:lnSpc>
                          <a:spcPct val="80000"/>
                        </a:lnSpc>
                        <a:spcBef>
                          <a:spcPts val="400"/>
                        </a:spcBef>
                        <a:spcAft>
                          <a:spcPts val="400"/>
                        </a:spcAft>
                      </a:pPr>
                      <a:r>
                        <a:rPr lang="en-US" sz="2000">
                          <a:solidFill>
                            <a:schemeClr val="tx1"/>
                          </a:solidFill>
                          <a:effectLst/>
                        </a:rPr>
                        <a:t>Environment</a:t>
                      </a:r>
                      <a:endParaRPr lang="en-US" sz="2000">
                        <a:solidFill>
                          <a:schemeClr val="tx1"/>
                        </a:solidFill>
                        <a:effectLst/>
                        <a:latin typeface="Times"/>
                        <a:ea typeface="Times New Roman"/>
                        <a:cs typeface="Times New Roman"/>
                      </a:endParaRPr>
                    </a:p>
                  </a:txBody>
                  <a:tcPr marL="60303" marR="60303" marT="0" marB="0">
                    <a:solidFill>
                      <a:schemeClr val="accent1">
                        <a:lumMod val="20000"/>
                        <a:lumOff val="80000"/>
                      </a:schemeClr>
                    </a:solidFill>
                  </a:tcPr>
                </a:tc>
                <a:tc>
                  <a:txBody>
                    <a:bodyPr/>
                    <a:lstStyle/>
                    <a:p>
                      <a:pPr marL="0" marR="0">
                        <a:lnSpc>
                          <a:spcPct val="80000"/>
                        </a:lnSpc>
                        <a:spcBef>
                          <a:spcPts val="400"/>
                        </a:spcBef>
                        <a:spcAft>
                          <a:spcPts val="400"/>
                        </a:spcAft>
                      </a:pPr>
                      <a:r>
                        <a:rPr lang="en-US" sz="2000" dirty="0">
                          <a:solidFill>
                            <a:schemeClr val="tx1"/>
                          </a:solidFill>
                          <a:effectLst/>
                        </a:rPr>
                        <a:t>Runtime or configuration time </a:t>
                      </a:r>
                      <a:endParaRPr lang="en-US" sz="2000" dirty="0">
                        <a:solidFill>
                          <a:schemeClr val="tx1"/>
                        </a:solidFill>
                        <a:effectLst/>
                        <a:latin typeface="Times"/>
                        <a:ea typeface="Times New Roman"/>
                        <a:cs typeface="Times New Roman"/>
                      </a:endParaRPr>
                    </a:p>
                  </a:txBody>
                  <a:tcPr marL="60303" marR="60303" marT="0" marB="0">
                    <a:solidFill>
                      <a:schemeClr val="accent1">
                        <a:lumMod val="20000"/>
                        <a:lumOff val="80000"/>
                      </a:schemeClr>
                    </a:solidFill>
                  </a:tcPr>
                </a:tc>
                <a:extLst>
                  <a:ext uri="{0D108BD9-81ED-4DB2-BD59-A6C34878D82A}">
                    <a16:rowId xmlns:a16="http://schemas.microsoft.com/office/drawing/2014/main" val="10003"/>
                  </a:ext>
                </a:extLst>
              </a:tr>
              <a:tr h="526736">
                <a:tc>
                  <a:txBody>
                    <a:bodyPr/>
                    <a:lstStyle/>
                    <a:p>
                      <a:pPr marL="0" marR="0">
                        <a:lnSpc>
                          <a:spcPct val="80000"/>
                        </a:lnSpc>
                        <a:spcBef>
                          <a:spcPts val="400"/>
                        </a:spcBef>
                        <a:spcAft>
                          <a:spcPts val="400"/>
                        </a:spcAft>
                      </a:pPr>
                      <a:r>
                        <a:rPr lang="en-US" sz="2000">
                          <a:solidFill>
                            <a:schemeClr val="tx1"/>
                          </a:solidFill>
                          <a:effectLst/>
                        </a:rPr>
                        <a:t>Artifacts</a:t>
                      </a:r>
                      <a:endParaRPr lang="en-US" sz="2000">
                        <a:solidFill>
                          <a:schemeClr val="tx1"/>
                        </a:solidFill>
                        <a:effectLst/>
                        <a:latin typeface="Times"/>
                        <a:ea typeface="Times New Roman"/>
                        <a:cs typeface="Times New Roman"/>
                      </a:endParaRPr>
                    </a:p>
                  </a:txBody>
                  <a:tcPr marL="60303" marR="60303" marT="0" marB="0">
                    <a:solidFill>
                      <a:schemeClr val="accent1">
                        <a:lumMod val="20000"/>
                        <a:lumOff val="80000"/>
                      </a:schemeClr>
                    </a:solidFill>
                  </a:tcPr>
                </a:tc>
                <a:tc>
                  <a:txBody>
                    <a:bodyPr/>
                    <a:lstStyle/>
                    <a:p>
                      <a:pPr marL="0" marR="0">
                        <a:lnSpc>
                          <a:spcPct val="80000"/>
                        </a:lnSpc>
                        <a:spcBef>
                          <a:spcPts val="400"/>
                        </a:spcBef>
                        <a:spcAft>
                          <a:spcPts val="400"/>
                        </a:spcAft>
                      </a:pPr>
                      <a:r>
                        <a:rPr lang="en-US" sz="2000" dirty="0">
                          <a:solidFill>
                            <a:schemeClr val="tx1"/>
                          </a:solidFill>
                          <a:effectLst/>
                        </a:rPr>
                        <a:t>System or the specific portion of the system with which the user is interacting.</a:t>
                      </a:r>
                      <a:endParaRPr lang="en-US" sz="2000" dirty="0">
                        <a:solidFill>
                          <a:schemeClr val="tx1"/>
                        </a:solidFill>
                        <a:effectLst/>
                        <a:latin typeface="Times"/>
                        <a:ea typeface="Times New Roman"/>
                        <a:cs typeface="Times New Roman"/>
                      </a:endParaRPr>
                    </a:p>
                  </a:txBody>
                  <a:tcPr marL="60303" marR="60303" marT="0" marB="0">
                    <a:solidFill>
                      <a:schemeClr val="accent1">
                        <a:lumMod val="20000"/>
                        <a:lumOff val="80000"/>
                      </a:schemeClr>
                    </a:solidFill>
                  </a:tcPr>
                </a:tc>
                <a:extLst>
                  <a:ext uri="{0D108BD9-81ED-4DB2-BD59-A6C34878D82A}">
                    <a16:rowId xmlns:a16="http://schemas.microsoft.com/office/drawing/2014/main" val="10004"/>
                  </a:ext>
                </a:extLst>
              </a:tr>
              <a:tr h="526736">
                <a:tc>
                  <a:txBody>
                    <a:bodyPr/>
                    <a:lstStyle/>
                    <a:p>
                      <a:pPr marL="0" marR="0">
                        <a:lnSpc>
                          <a:spcPct val="80000"/>
                        </a:lnSpc>
                        <a:spcBef>
                          <a:spcPts val="400"/>
                        </a:spcBef>
                        <a:spcAft>
                          <a:spcPts val="400"/>
                        </a:spcAft>
                      </a:pPr>
                      <a:r>
                        <a:rPr lang="en-US" sz="2000">
                          <a:solidFill>
                            <a:schemeClr val="tx1"/>
                          </a:solidFill>
                          <a:effectLst/>
                        </a:rPr>
                        <a:t>Response</a:t>
                      </a:r>
                      <a:endParaRPr lang="en-US" sz="2000">
                        <a:solidFill>
                          <a:schemeClr val="tx1"/>
                        </a:solidFill>
                        <a:effectLst/>
                        <a:latin typeface="Times"/>
                        <a:ea typeface="Times New Roman"/>
                        <a:cs typeface="Times New Roman"/>
                      </a:endParaRPr>
                    </a:p>
                  </a:txBody>
                  <a:tcPr marL="60303" marR="60303" marT="0" marB="0">
                    <a:solidFill>
                      <a:schemeClr val="accent1">
                        <a:lumMod val="20000"/>
                        <a:lumOff val="80000"/>
                      </a:schemeClr>
                    </a:solidFill>
                  </a:tcPr>
                </a:tc>
                <a:tc>
                  <a:txBody>
                    <a:bodyPr/>
                    <a:lstStyle/>
                    <a:p>
                      <a:pPr marL="0" marR="0">
                        <a:lnSpc>
                          <a:spcPct val="80000"/>
                        </a:lnSpc>
                        <a:spcBef>
                          <a:spcPts val="400"/>
                        </a:spcBef>
                        <a:spcAft>
                          <a:spcPts val="400"/>
                        </a:spcAft>
                      </a:pPr>
                      <a:r>
                        <a:rPr lang="en-US" sz="2000" dirty="0">
                          <a:solidFill>
                            <a:schemeClr val="tx1"/>
                          </a:solidFill>
                          <a:effectLst/>
                        </a:rPr>
                        <a:t>The system should either provide the user with the features needed or anticipate the user’s needs.</a:t>
                      </a:r>
                      <a:endParaRPr lang="en-US" sz="2000" dirty="0">
                        <a:solidFill>
                          <a:schemeClr val="tx1"/>
                        </a:solidFill>
                        <a:effectLst/>
                        <a:latin typeface="Times"/>
                        <a:ea typeface="Times New Roman"/>
                        <a:cs typeface="Times New Roman"/>
                      </a:endParaRPr>
                    </a:p>
                  </a:txBody>
                  <a:tcPr marL="60303" marR="60303" marT="0" marB="0">
                    <a:solidFill>
                      <a:schemeClr val="accent1">
                        <a:lumMod val="20000"/>
                        <a:lumOff val="80000"/>
                      </a:schemeClr>
                    </a:solidFill>
                  </a:tcPr>
                </a:tc>
                <a:extLst>
                  <a:ext uri="{0D108BD9-81ED-4DB2-BD59-A6C34878D82A}">
                    <a16:rowId xmlns:a16="http://schemas.microsoft.com/office/drawing/2014/main" val="10005"/>
                  </a:ext>
                </a:extLst>
              </a:tr>
              <a:tr h="1309705">
                <a:tc>
                  <a:txBody>
                    <a:bodyPr/>
                    <a:lstStyle/>
                    <a:p>
                      <a:pPr marL="0" marR="0">
                        <a:lnSpc>
                          <a:spcPct val="80000"/>
                        </a:lnSpc>
                        <a:spcBef>
                          <a:spcPts val="400"/>
                        </a:spcBef>
                        <a:spcAft>
                          <a:spcPts val="400"/>
                        </a:spcAft>
                      </a:pPr>
                      <a:r>
                        <a:rPr lang="en-US" sz="2000">
                          <a:solidFill>
                            <a:schemeClr val="tx1"/>
                          </a:solidFill>
                          <a:effectLst/>
                        </a:rPr>
                        <a:t>Response Measure </a:t>
                      </a:r>
                      <a:endParaRPr lang="en-US" sz="2000">
                        <a:solidFill>
                          <a:schemeClr val="tx1"/>
                        </a:solidFill>
                        <a:effectLst/>
                        <a:latin typeface="Times"/>
                        <a:ea typeface="Times New Roman"/>
                        <a:cs typeface="Times New Roman"/>
                      </a:endParaRPr>
                    </a:p>
                  </a:txBody>
                  <a:tcPr marL="60303" marR="60303" marT="0" marB="0">
                    <a:solidFill>
                      <a:schemeClr val="accent1">
                        <a:lumMod val="20000"/>
                        <a:lumOff val="80000"/>
                      </a:schemeClr>
                    </a:solidFill>
                  </a:tcPr>
                </a:tc>
                <a:tc>
                  <a:txBody>
                    <a:bodyPr/>
                    <a:lstStyle/>
                    <a:p>
                      <a:pPr marL="0" marR="0" indent="0">
                        <a:lnSpc>
                          <a:spcPct val="80000"/>
                        </a:lnSpc>
                        <a:spcBef>
                          <a:spcPts val="100"/>
                        </a:spcBef>
                        <a:spcAft>
                          <a:spcPts val="300"/>
                        </a:spcAft>
                        <a:tabLst>
                          <a:tab pos="228600" algn="l"/>
                          <a:tab pos="274320" algn="l"/>
                          <a:tab pos="274320" algn="l"/>
                        </a:tabLst>
                      </a:pPr>
                      <a:r>
                        <a:rPr lang="en-US" sz="2000" kern="1100" dirty="0">
                          <a:solidFill>
                            <a:schemeClr val="tx1"/>
                          </a:solidFill>
                          <a:effectLst/>
                        </a:rPr>
                        <a:t>One or more of the following: task time, number of errors, number of tasks accomplished, user satisfaction, gain of user knowledge, ratio of successful operations to total operations, or amount of time or data lost when an error occurs. </a:t>
                      </a:r>
                      <a:endParaRPr lang="en-US" sz="2000" kern="1100" dirty="0">
                        <a:solidFill>
                          <a:schemeClr val="tx1"/>
                        </a:solidFill>
                        <a:effectLst/>
                        <a:latin typeface="Times New Roman"/>
                        <a:ea typeface="Times New Roman"/>
                      </a:endParaRPr>
                    </a:p>
                  </a:txBody>
                  <a:tcPr marL="60303" marR="60303" marT="0" marB="0">
                    <a:solidFill>
                      <a:schemeClr val="accent1">
                        <a:lumMod val="20000"/>
                        <a:lumOff val="80000"/>
                      </a:schemeClr>
                    </a:solidFill>
                  </a:tcPr>
                </a:tc>
                <a:extLst>
                  <a:ext uri="{0D108BD9-81ED-4DB2-BD59-A6C34878D82A}">
                    <a16:rowId xmlns:a16="http://schemas.microsoft.com/office/drawing/2014/main" val="10006"/>
                  </a:ext>
                </a:extLst>
              </a:tr>
            </a:tbl>
          </a:graphicData>
        </a:graphic>
      </p:graphicFrame>
      <p:sp>
        <p:nvSpPr>
          <p:cNvPr id="11" name="Title 1">
            <a:extLst>
              <a:ext uri="{FF2B5EF4-FFF2-40B4-BE49-F238E27FC236}">
                <a16:creationId xmlns:a16="http://schemas.microsoft.com/office/drawing/2014/main" id="{B16D0388-17FA-9676-DBB6-3C0D4D67246F}"/>
              </a:ext>
            </a:extLst>
          </p:cNvPr>
          <p:cNvSpPr>
            <a:spLocks noGrp="1"/>
          </p:cNvSpPr>
          <p:nvPr>
            <p:ph sz="quarter" idx="10"/>
          </p:nvPr>
        </p:nvSpPr>
        <p:spPr>
          <a:xfrm>
            <a:off x="304800" y="152400"/>
            <a:ext cx="6324600" cy="1143000"/>
          </a:xfrm>
        </p:spPr>
        <p:txBody>
          <a:bodyPr/>
          <a:lstStyle/>
          <a:p>
            <a:r>
              <a:rPr lang="en-US" dirty="0"/>
              <a:t>Usability General Scenario</a:t>
            </a:r>
          </a:p>
        </p:txBody>
      </p:sp>
    </p:spTree>
    <p:extLst>
      <p:ext uri="{BB962C8B-B14F-4D97-AF65-F5344CB8AC3E}">
        <p14:creationId xmlns:p14="http://schemas.microsoft.com/office/powerpoint/2010/main" val="137246776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Font typeface="Arial" panose="020B0604020202020204" pitchFamily="34" charset="0"/>
              <a:buChar char="•"/>
            </a:pPr>
            <a:r>
              <a:rPr lang="en-US" dirty="0"/>
              <a:t>The user downloads a new application and is using it productively after two minutes of experimentation.</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Date Placeholder 6">
            <a:extLst>
              <a:ext uri="{FF2B5EF4-FFF2-40B4-BE49-F238E27FC236}">
                <a16:creationId xmlns:a16="http://schemas.microsoft.com/office/drawing/2014/main" id="{996949DA-C4C8-9873-98AE-9D2597274876}"/>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2403FD9B-EDED-84DE-6FD0-3EAD7B88BF8A}"/>
              </a:ext>
            </a:extLst>
          </p:cNvPr>
          <p:cNvSpPr>
            <a:spLocks noGrp="1"/>
          </p:cNvSpPr>
          <p:nvPr>
            <p:ph type="sldNum" sz="quarter" idx="14"/>
          </p:nvPr>
        </p:nvSpPr>
        <p:spPr/>
        <p:txBody>
          <a:bodyPr/>
          <a:lstStyle/>
          <a:p>
            <a:fld id="{BC8D7E44-7D4F-4942-A8C9-2DF6BF8399E8}" type="slidenum">
              <a:rPr lang="en-US" smtClean="0"/>
              <a:pPr/>
              <a:t>79</a:t>
            </a:fld>
            <a:endParaRPr lang="en-US" dirty="0"/>
          </a:p>
        </p:txBody>
      </p:sp>
      <p:sp>
        <p:nvSpPr>
          <p:cNvPr id="9" name="Title 1">
            <a:extLst>
              <a:ext uri="{FF2B5EF4-FFF2-40B4-BE49-F238E27FC236}">
                <a16:creationId xmlns:a16="http://schemas.microsoft.com/office/drawing/2014/main" id="{3519856E-344C-A957-98A7-C1954646DDC2}"/>
              </a:ext>
            </a:extLst>
          </p:cNvPr>
          <p:cNvSpPr>
            <a:spLocks noGrp="1"/>
          </p:cNvSpPr>
          <p:nvPr>
            <p:ph sz="quarter" idx="10"/>
          </p:nvPr>
        </p:nvSpPr>
        <p:spPr>
          <a:xfrm>
            <a:off x="304800" y="152400"/>
            <a:ext cx="6324600" cy="1143000"/>
          </a:xfrm>
        </p:spPr>
        <p:txBody>
          <a:bodyPr>
            <a:normAutofit fontScale="97500"/>
          </a:bodyPr>
          <a:lstStyle/>
          <a:p>
            <a:r>
              <a:rPr lang="en-US" dirty="0"/>
              <a:t>Sample Concrete Usability Scenario</a:t>
            </a:r>
          </a:p>
        </p:txBody>
      </p:sp>
    </p:spTree>
    <p:extLst>
      <p:ext uri="{BB962C8B-B14F-4D97-AF65-F5344CB8AC3E}">
        <p14:creationId xmlns:p14="http://schemas.microsoft.com/office/powerpoint/2010/main" val="283531212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anose="020B0604020202020204" pitchFamily="34" charset="0"/>
              <a:buChar char="•"/>
            </a:pPr>
            <a:r>
              <a:rPr lang="en-US" dirty="0"/>
              <a:t>Researchers in human-computer interaction have used the terms "user initiative," "system initiative," and "mixed initiative" to describe which of the human-computer pair takes the initiative in performing certain actions and how the interaction proceeds. </a:t>
            </a:r>
          </a:p>
          <a:p>
            <a:pPr>
              <a:buFont typeface="Arial" panose="020B0604020202020204" pitchFamily="34" charset="0"/>
              <a:buChar char="•"/>
            </a:pPr>
            <a:r>
              <a:rPr lang="en-US" dirty="0"/>
              <a:t>Usability scenarios can combine initiatives from both perspectives. </a:t>
            </a:r>
          </a:p>
          <a:p>
            <a:pPr>
              <a:buFont typeface="Arial" panose="020B0604020202020204" pitchFamily="34" charset="0"/>
              <a:buChar char="•"/>
            </a:pPr>
            <a:r>
              <a:rPr lang="en-US" dirty="0"/>
              <a:t>We use this distinction between user and system initiative to discuss the tactics that the architect uses to achieve the various scenarios.</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Date Placeholder 6">
            <a:extLst>
              <a:ext uri="{FF2B5EF4-FFF2-40B4-BE49-F238E27FC236}">
                <a16:creationId xmlns:a16="http://schemas.microsoft.com/office/drawing/2014/main" id="{008F3EF1-9DC4-F43E-6676-2BD3C618C7A5}"/>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29108228-4C8A-248C-E141-8384C9784CE2}"/>
              </a:ext>
            </a:extLst>
          </p:cNvPr>
          <p:cNvSpPr>
            <a:spLocks noGrp="1"/>
          </p:cNvSpPr>
          <p:nvPr>
            <p:ph type="sldNum" sz="quarter" idx="14"/>
          </p:nvPr>
        </p:nvSpPr>
        <p:spPr/>
        <p:txBody>
          <a:bodyPr/>
          <a:lstStyle/>
          <a:p>
            <a:fld id="{BC8D7E44-7D4F-4942-A8C9-2DF6BF8399E8}" type="slidenum">
              <a:rPr lang="en-US" smtClean="0"/>
              <a:pPr/>
              <a:t>80</a:t>
            </a:fld>
            <a:endParaRPr lang="en-US" dirty="0"/>
          </a:p>
        </p:txBody>
      </p:sp>
      <p:sp>
        <p:nvSpPr>
          <p:cNvPr id="9" name="Title 1">
            <a:extLst>
              <a:ext uri="{FF2B5EF4-FFF2-40B4-BE49-F238E27FC236}">
                <a16:creationId xmlns:a16="http://schemas.microsoft.com/office/drawing/2014/main" id="{5A1FE149-BB39-C95D-093F-48C2D2CBE3DE}"/>
              </a:ext>
            </a:extLst>
          </p:cNvPr>
          <p:cNvSpPr>
            <a:spLocks noGrp="1"/>
          </p:cNvSpPr>
          <p:nvPr>
            <p:ph sz="quarter" idx="10"/>
          </p:nvPr>
        </p:nvSpPr>
        <p:spPr>
          <a:xfrm>
            <a:off x="304800" y="152400"/>
            <a:ext cx="6324600" cy="1143000"/>
          </a:xfrm>
        </p:spPr>
        <p:txBody>
          <a:bodyPr/>
          <a:lstStyle/>
          <a:p>
            <a:r>
              <a:rPr lang="en-US" dirty="0"/>
              <a:t>Goal of Usability Tactics</a:t>
            </a:r>
          </a:p>
        </p:txBody>
      </p:sp>
    </p:spTree>
    <p:extLst>
      <p:ext uri="{BB962C8B-B14F-4D97-AF65-F5344CB8AC3E}">
        <p14:creationId xmlns:p14="http://schemas.microsoft.com/office/powerpoint/2010/main" val="29411311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Date Placeholder 6">
            <a:extLst>
              <a:ext uri="{FF2B5EF4-FFF2-40B4-BE49-F238E27FC236}">
                <a16:creationId xmlns:a16="http://schemas.microsoft.com/office/drawing/2014/main" id="{1EA111C8-18AD-F8C0-160B-5FBFC29789EE}"/>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56840047-575C-25AA-07DF-B8C92767258C}"/>
              </a:ext>
            </a:extLst>
          </p:cNvPr>
          <p:cNvSpPr>
            <a:spLocks noGrp="1"/>
          </p:cNvSpPr>
          <p:nvPr>
            <p:ph type="sldNum" sz="quarter" idx="14"/>
          </p:nvPr>
        </p:nvSpPr>
        <p:spPr/>
        <p:txBody>
          <a:bodyPr/>
          <a:lstStyle/>
          <a:p>
            <a:fld id="{BC8D7E44-7D4F-4942-A8C9-2DF6BF8399E8}" type="slidenum">
              <a:rPr lang="en-US" smtClean="0"/>
              <a:pPr/>
              <a:t>81</a:t>
            </a:fld>
            <a:endParaRPr lang="en-US" dirty="0"/>
          </a:p>
        </p:txBody>
      </p:sp>
      <p:sp>
        <p:nvSpPr>
          <p:cNvPr id="9" name="Title 1">
            <a:extLst>
              <a:ext uri="{FF2B5EF4-FFF2-40B4-BE49-F238E27FC236}">
                <a16:creationId xmlns:a16="http://schemas.microsoft.com/office/drawing/2014/main" id="{E7285396-BDA9-2750-19D4-8FAE2870A9DA}"/>
              </a:ext>
            </a:extLst>
          </p:cNvPr>
          <p:cNvSpPr>
            <a:spLocks noGrp="1"/>
          </p:cNvSpPr>
          <p:nvPr>
            <p:ph sz="quarter" idx="10"/>
          </p:nvPr>
        </p:nvSpPr>
        <p:spPr>
          <a:xfrm>
            <a:off x="304800" y="152400"/>
            <a:ext cx="6324600" cy="1143000"/>
          </a:xfrm>
        </p:spPr>
        <p:txBody>
          <a:bodyPr/>
          <a:lstStyle/>
          <a:p>
            <a:r>
              <a:rPr lang="en-US" dirty="0"/>
              <a:t>Goal of Usability Tactics</a:t>
            </a:r>
          </a:p>
        </p:txBody>
      </p:sp>
      <p:pic>
        <p:nvPicPr>
          <p:cNvPr id="10" name="Picture 20" descr="Description: Description: Description: Description: graphics/05fig12.gif">
            <a:extLst>
              <a:ext uri="{FF2B5EF4-FFF2-40B4-BE49-F238E27FC236}">
                <a16:creationId xmlns:a16="http://schemas.microsoft.com/office/drawing/2014/main" id="{80CFBFFD-0B7A-FA82-28FA-6D33A034B7DA}"/>
              </a:ext>
            </a:extLst>
          </p:cNvPr>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687732" y="2604686"/>
            <a:ext cx="7491399" cy="19327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2569688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3" name="Rectangle 2"/>
          <p:cNvSpPr>
            <a:spLocks noChangeArrowheads="1"/>
          </p:cNvSpPr>
          <p:nvPr/>
        </p:nvSpPr>
        <p:spPr bwMode="auto">
          <a:xfrm>
            <a:off x="0" y="0"/>
            <a:ext cx="9144000" cy="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2"/>
          <p:cNvSpPr>
            <a:spLocks noChangeArrowheads="1"/>
          </p:cNvSpPr>
          <p:nvPr/>
        </p:nvSpPr>
        <p:spPr bwMode="auto">
          <a:xfrm>
            <a:off x="0" y="0"/>
            <a:ext cx="9144000" cy="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9" name="Date Placeholder 8">
            <a:extLst>
              <a:ext uri="{FF2B5EF4-FFF2-40B4-BE49-F238E27FC236}">
                <a16:creationId xmlns:a16="http://schemas.microsoft.com/office/drawing/2014/main" id="{18114179-648E-454C-2EC3-5EEB0F91A9C3}"/>
              </a:ext>
            </a:extLst>
          </p:cNvPr>
          <p:cNvSpPr>
            <a:spLocks noGrp="1"/>
          </p:cNvSpPr>
          <p:nvPr>
            <p:ph type="dt" sz="half" idx="12"/>
          </p:nvPr>
        </p:nvSpPr>
        <p:spPr/>
        <p:txBody>
          <a:bodyPr/>
          <a:lstStyle/>
          <a:p>
            <a:r>
              <a:rPr lang="en-US"/>
              <a:t>Auguts 1, 2026</a:t>
            </a:r>
          </a:p>
        </p:txBody>
      </p:sp>
      <p:sp>
        <p:nvSpPr>
          <p:cNvPr id="10" name="Slide Number Placeholder 9">
            <a:extLst>
              <a:ext uri="{FF2B5EF4-FFF2-40B4-BE49-F238E27FC236}">
                <a16:creationId xmlns:a16="http://schemas.microsoft.com/office/drawing/2014/main" id="{C4661DC9-39FA-9D3F-26A1-31A53186EDA8}"/>
              </a:ext>
            </a:extLst>
          </p:cNvPr>
          <p:cNvSpPr>
            <a:spLocks noGrp="1"/>
          </p:cNvSpPr>
          <p:nvPr>
            <p:ph type="sldNum" sz="quarter" idx="14"/>
          </p:nvPr>
        </p:nvSpPr>
        <p:spPr/>
        <p:txBody>
          <a:bodyPr/>
          <a:lstStyle/>
          <a:p>
            <a:fld id="{BC8D7E44-7D4F-4942-A8C9-2DF6BF8399E8}" type="slidenum">
              <a:rPr lang="en-US" smtClean="0"/>
              <a:pPr/>
              <a:t>82</a:t>
            </a:fld>
            <a:endParaRPr lang="en-US" dirty="0"/>
          </a:p>
        </p:txBody>
      </p:sp>
      <p:pic>
        <p:nvPicPr>
          <p:cNvPr id="11" name="Picture 3">
            <a:extLst>
              <a:ext uri="{FF2B5EF4-FFF2-40B4-BE49-F238E27FC236}">
                <a16:creationId xmlns:a16="http://schemas.microsoft.com/office/drawing/2014/main" id="{C3A82333-DEC1-C16D-98BC-548E55954BAA}"/>
              </a:ext>
            </a:extLst>
          </p:cNvPr>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709612" y="1770856"/>
            <a:ext cx="7900988" cy="42294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2" name="Title 1">
            <a:extLst>
              <a:ext uri="{FF2B5EF4-FFF2-40B4-BE49-F238E27FC236}">
                <a16:creationId xmlns:a16="http://schemas.microsoft.com/office/drawing/2014/main" id="{4ACD356B-E7EE-6E8E-C2F4-5A25873A3295}"/>
              </a:ext>
            </a:extLst>
          </p:cNvPr>
          <p:cNvSpPr>
            <a:spLocks noGrp="1"/>
          </p:cNvSpPr>
          <p:nvPr>
            <p:ph sz="quarter" idx="10"/>
          </p:nvPr>
        </p:nvSpPr>
        <p:spPr>
          <a:xfrm>
            <a:off x="304800" y="152400"/>
            <a:ext cx="6324600" cy="1143000"/>
          </a:xfrm>
        </p:spPr>
        <p:txBody>
          <a:bodyPr>
            <a:normAutofit/>
          </a:bodyPr>
          <a:lstStyle/>
          <a:p>
            <a:r>
              <a:rPr lang="en-US" dirty="0"/>
              <a:t>Usability Tactics</a:t>
            </a:r>
          </a:p>
        </p:txBody>
      </p:sp>
    </p:spTree>
    <p:extLst>
      <p:ext uri="{BB962C8B-B14F-4D97-AF65-F5344CB8AC3E}">
        <p14:creationId xmlns:p14="http://schemas.microsoft.com/office/powerpoint/2010/main" val="269336167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493837"/>
            <a:ext cx="8991600" cy="4525963"/>
          </a:xfrm>
        </p:spPr>
        <p:txBody>
          <a:bodyPr>
            <a:noAutofit/>
          </a:bodyPr>
          <a:lstStyle/>
          <a:p>
            <a:pPr marL="457200" lvl="0" indent="-457200">
              <a:buFont typeface="Arial" panose="020B0604020202020204" pitchFamily="34" charset="0"/>
              <a:buChar char="•"/>
            </a:pPr>
            <a:r>
              <a:rPr lang="en-US" sz="2600" dirty="0"/>
              <a:t>Cancel: the system must listen for the cancel request; the command being canceled must be terminated; resources used must be freed; and collaborating components must be informed.</a:t>
            </a:r>
          </a:p>
          <a:p>
            <a:pPr marL="457200" lvl="0" indent="-457200">
              <a:buFont typeface="Arial" panose="020B0604020202020204" pitchFamily="34" charset="0"/>
              <a:buChar char="•"/>
            </a:pPr>
            <a:r>
              <a:rPr lang="en-US" sz="2600" dirty="0"/>
              <a:t>Pause/Resume: temporarily free resources so that they may be re-allocated to other tasks.</a:t>
            </a:r>
          </a:p>
          <a:p>
            <a:pPr marL="457200" lvl="0" indent="-457200">
              <a:buFont typeface="Arial" panose="020B0604020202020204" pitchFamily="34" charset="0"/>
              <a:buChar char="•"/>
            </a:pPr>
            <a:r>
              <a:rPr lang="en-US" sz="2600" dirty="0"/>
              <a:t>Undo: maintain a sufficient amount of information about system state so that an earlier state may be restored, at the user’s request.</a:t>
            </a:r>
          </a:p>
          <a:p>
            <a:pPr marL="457200" lvl="0" indent="-457200">
              <a:buFont typeface="Arial" panose="020B0604020202020204" pitchFamily="34" charset="0"/>
              <a:buChar char="•"/>
            </a:pPr>
            <a:r>
              <a:rPr lang="en-US" sz="2600" dirty="0"/>
              <a:t>Aggregate: ability to aggregate lower-level objects into a group, so that a user operation may be applied to the group, freeing the user from the drudgery.</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Date Placeholder 6">
            <a:extLst>
              <a:ext uri="{FF2B5EF4-FFF2-40B4-BE49-F238E27FC236}">
                <a16:creationId xmlns:a16="http://schemas.microsoft.com/office/drawing/2014/main" id="{0DF808B8-62A0-E4F3-B175-940B0229E4E6}"/>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8A2818CC-5712-1A11-317D-E57DE7A7A740}"/>
              </a:ext>
            </a:extLst>
          </p:cNvPr>
          <p:cNvSpPr>
            <a:spLocks noGrp="1"/>
          </p:cNvSpPr>
          <p:nvPr>
            <p:ph type="sldNum" sz="quarter" idx="14"/>
          </p:nvPr>
        </p:nvSpPr>
        <p:spPr/>
        <p:txBody>
          <a:bodyPr/>
          <a:lstStyle/>
          <a:p>
            <a:fld id="{BC8D7E44-7D4F-4942-A8C9-2DF6BF8399E8}" type="slidenum">
              <a:rPr lang="en-US" smtClean="0"/>
              <a:pPr/>
              <a:t>83</a:t>
            </a:fld>
            <a:endParaRPr lang="en-US" dirty="0"/>
          </a:p>
        </p:txBody>
      </p:sp>
      <p:sp>
        <p:nvSpPr>
          <p:cNvPr id="9" name="Title 1">
            <a:extLst>
              <a:ext uri="{FF2B5EF4-FFF2-40B4-BE49-F238E27FC236}">
                <a16:creationId xmlns:a16="http://schemas.microsoft.com/office/drawing/2014/main" id="{40B5A08F-F3BE-2DA4-BD32-3FA89E3D099D}"/>
              </a:ext>
            </a:extLst>
          </p:cNvPr>
          <p:cNvSpPr>
            <a:spLocks noGrp="1"/>
          </p:cNvSpPr>
          <p:nvPr>
            <p:ph sz="quarter" idx="10"/>
          </p:nvPr>
        </p:nvSpPr>
        <p:spPr>
          <a:xfrm>
            <a:off x="304800" y="152400"/>
            <a:ext cx="6324600" cy="1143000"/>
          </a:xfrm>
        </p:spPr>
        <p:txBody>
          <a:bodyPr>
            <a:normAutofit/>
          </a:bodyPr>
          <a:lstStyle/>
          <a:p>
            <a:r>
              <a:rPr lang="en-US" dirty="0"/>
              <a:t>Support User Initiative</a:t>
            </a:r>
          </a:p>
        </p:txBody>
      </p:sp>
    </p:spTree>
    <p:extLst>
      <p:ext uri="{BB962C8B-B14F-4D97-AF65-F5344CB8AC3E}">
        <p14:creationId xmlns:p14="http://schemas.microsoft.com/office/powerpoint/2010/main" val="271113830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anose="020B0604020202020204" pitchFamily="34" charset="0"/>
              <a:buChar char="•"/>
            </a:pPr>
            <a:r>
              <a:rPr lang="en-US" dirty="0"/>
              <a:t>Maintain Task Model: determines context so the system can have some idea of what the user is attempting and provide assistance. </a:t>
            </a:r>
          </a:p>
          <a:p>
            <a:pPr>
              <a:buFont typeface="Arial" panose="020B0604020202020204" pitchFamily="34" charset="0"/>
              <a:buChar char="•"/>
            </a:pPr>
            <a:r>
              <a:rPr lang="en-US" dirty="0"/>
              <a:t>Maintain User Model: explicitly represents the user's knowledge of the system, the user's behavior in terms of expected response time, etc. </a:t>
            </a:r>
          </a:p>
          <a:p>
            <a:pPr>
              <a:buFont typeface="Arial" panose="020B0604020202020204" pitchFamily="34" charset="0"/>
              <a:buChar char="•"/>
            </a:pPr>
            <a:r>
              <a:rPr lang="en-US" dirty="0"/>
              <a:t>Maintain System Model: system maintains an explicit model of itself. This is used to determine expected system behavior so that appropriate feedback can be given to the user.</a:t>
            </a:r>
          </a:p>
          <a:p>
            <a:pPr lvl="0">
              <a:buFont typeface="Arial" panose="020B0604020202020204" pitchFamily="34" charset="0"/>
              <a:buChar char="•"/>
            </a:pPr>
            <a:endParaRPr lang="en-US" dirty="0"/>
          </a:p>
          <a:p>
            <a:pPr lvl="0">
              <a:buFont typeface="Arial" panose="020B0604020202020204" pitchFamily="34" charset="0"/>
              <a:buChar char="•"/>
            </a:pPr>
            <a:endParaRPr lang="en-US"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Date Placeholder 6">
            <a:extLst>
              <a:ext uri="{FF2B5EF4-FFF2-40B4-BE49-F238E27FC236}">
                <a16:creationId xmlns:a16="http://schemas.microsoft.com/office/drawing/2014/main" id="{14455F2B-1B7C-E453-E989-98606F98EC44}"/>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5F679025-D938-A1AF-6333-646313869E5D}"/>
              </a:ext>
            </a:extLst>
          </p:cNvPr>
          <p:cNvSpPr>
            <a:spLocks noGrp="1"/>
          </p:cNvSpPr>
          <p:nvPr>
            <p:ph type="sldNum" sz="quarter" idx="14"/>
          </p:nvPr>
        </p:nvSpPr>
        <p:spPr/>
        <p:txBody>
          <a:bodyPr/>
          <a:lstStyle/>
          <a:p>
            <a:fld id="{BC8D7E44-7D4F-4942-A8C9-2DF6BF8399E8}" type="slidenum">
              <a:rPr lang="en-US" smtClean="0"/>
              <a:pPr/>
              <a:t>84</a:t>
            </a:fld>
            <a:endParaRPr lang="en-US" dirty="0"/>
          </a:p>
        </p:txBody>
      </p:sp>
      <p:sp>
        <p:nvSpPr>
          <p:cNvPr id="9" name="Title 1">
            <a:extLst>
              <a:ext uri="{FF2B5EF4-FFF2-40B4-BE49-F238E27FC236}">
                <a16:creationId xmlns:a16="http://schemas.microsoft.com/office/drawing/2014/main" id="{C48297D7-A8C0-5BAA-635B-E6BE62E8A09D}"/>
              </a:ext>
            </a:extLst>
          </p:cNvPr>
          <p:cNvSpPr>
            <a:spLocks noGrp="1"/>
          </p:cNvSpPr>
          <p:nvPr>
            <p:ph sz="quarter" idx="10"/>
          </p:nvPr>
        </p:nvSpPr>
        <p:spPr>
          <a:xfrm>
            <a:off x="304800" y="152400"/>
            <a:ext cx="6324600" cy="1143000"/>
          </a:xfrm>
        </p:spPr>
        <p:txBody>
          <a:bodyPr>
            <a:normAutofit/>
          </a:bodyPr>
          <a:lstStyle/>
          <a:p>
            <a:r>
              <a:rPr lang="en-US" dirty="0"/>
              <a:t>Support System Initiative</a:t>
            </a:r>
          </a:p>
        </p:txBody>
      </p:sp>
    </p:spTree>
    <p:extLst>
      <p:ext uri="{BB962C8B-B14F-4D97-AF65-F5344CB8AC3E}">
        <p14:creationId xmlns:p14="http://schemas.microsoft.com/office/powerpoint/2010/main" val="69963859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8" name="Date Placeholder 7">
            <a:extLst>
              <a:ext uri="{FF2B5EF4-FFF2-40B4-BE49-F238E27FC236}">
                <a16:creationId xmlns:a16="http://schemas.microsoft.com/office/drawing/2014/main" id="{B8419C1E-F48E-68A4-F075-45050728CB15}"/>
              </a:ext>
            </a:extLst>
          </p:cNvPr>
          <p:cNvSpPr>
            <a:spLocks noGrp="1"/>
          </p:cNvSpPr>
          <p:nvPr>
            <p:ph type="dt" sz="half" idx="12"/>
          </p:nvPr>
        </p:nvSpPr>
        <p:spPr/>
        <p:txBody>
          <a:bodyPr/>
          <a:lstStyle/>
          <a:p>
            <a:r>
              <a:rPr lang="en-US"/>
              <a:t>Auguts 1, 2026</a:t>
            </a:r>
          </a:p>
        </p:txBody>
      </p:sp>
      <p:sp>
        <p:nvSpPr>
          <p:cNvPr id="9" name="Slide Number Placeholder 8">
            <a:extLst>
              <a:ext uri="{FF2B5EF4-FFF2-40B4-BE49-F238E27FC236}">
                <a16:creationId xmlns:a16="http://schemas.microsoft.com/office/drawing/2014/main" id="{F06B6CC7-D4E0-C567-CA86-5431AFF82B6F}"/>
              </a:ext>
            </a:extLst>
          </p:cNvPr>
          <p:cNvSpPr>
            <a:spLocks noGrp="1"/>
          </p:cNvSpPr>
          <p:nvPr>
            <p:ph type="sldNum" sz="quarter" idx="14"/>
          </p:nvPr>
        </p:nvSpPr>
        <p:spPr/>
        <p:txBody>
          <a:bodyPr/>
          <a:lstStyle/>
          <a:p>
            <a:fld id="{BC8D7E44-7D4F-4942-A8C9-2DF6BF8399E8}" type="slidenum">
              <a:rPr lang="en-US" smtClean="0"/>
              <a:pPr/>
              <a:t>85</a:t>
            </a:fld>
            <a:endParaRPr lang="en-US" dirty="0"/>
          </a:p>
        </p:txBody>
      </p:sp>
      <p:graphicFrame>
        <p:nvGraphicFramePr>
          <p:cNvPr id="10" name="Content Placeholder 9">
            <a:extLst>
              <a:ext uri="{FF2B5EF4-FFF2-40B4-BE49-F238E27FC236}">
                <a16:creationId xmlns:a16="http://schemas.microsoft.com/office/drawing/2014/main" id="{1EF5A58F-5F0B-61C7-D939-31726EFF1A90}"/>
              </a:ext>
            </a:extLst>
          </p:cNvPr>
          <p:cNvGraphicFramePr>
            <a:graphicFrameLocks noGrp="1"/>
          </p:cNvGraphicFramePr>
          <p:nvPr>
            <p:ph idx="1"/>
          </p:nvPr>
        </p:nvGraphicFramePr>
        <p:xfrm>
          <a:off x="304800" y="1493838"/>
          <a:ext cx="8610600" cy="3154362"/>
        </p:xfrm>
        <a:graphic>
          <a:graphicData uri="http://schemas.openxmlformats.org/drawingml/2006/table">
            <a:tbl>
              <a:tblPr firstRow="1" firstCol="1" bandRow="1">
                <a:tableStyleId>{5C22544A-7EE6-4342-B048-85BDC9FD1C3A}</a:tableStyleId>
              </a:tblPr>
              <a:tblGrid>
                <a:gridCol w="2209846">
                  <a:extLst>
                    <a:ext uri="{9D8B030D-6E8A-4147-A177-3AD203B41FA5}">
                      <a16:colId xmlns:a16="http://schemas.microsoft.com/office/drawing/2014/main" val="20000"/>
                    </a:ext>
                  </a:extLst>
                </a:gridCol>
                <a:gridCol w="6400754">
                  <a:extLst>
                    <a:ext uri="{9D8B030D-6E8A-4147-A177-3AD203B41FA5}">
                      <a16:colId xmlns:a16="http://schemas.microsoft.com/office/drawing/2014/main" val="20001"/>
                    </a:ext>
                  </a:extLst>
                </a:gridCol>
              </a:tblGrid>
              <a:tr h="3154362">
                <a:tc>
                  <a:txBody>
                    <a:bodyPr/>
                    <a:lstStyle/>
                    <a:p>
                      <a:pPr marL="0" marR="0">
                        <a:lnSpc>
                          <a:spcPct val="80000"/>
                        </a:lnSpc>
                        <a:spcBef>
                          <a:spcPts val="400"/>
                        </a:spcBef>
                        <a:spcAft>
                          <a:spcPts val="400"/>
                        </a:spcAft>
                      </a:pPr>
                      <a:r>
                        <a:rPr lang="en-US" sz="2000">
                          <a:effectLst/>
                        </a:rPr>
                        <a:t>Allocation of Responsibilities</a:t>
                      </a:r>
                      <a:endParaRPr lang="en-US" sz="2000" dirty="0">
                        <a:effectLst/>
                        <a:latin typeface="Times"/>
                        <a:ea typeface="Times New Roman"/>
                        <a:cs typeface="Times New Roman"/>
                      </a:endParaRPr>
                    </a:p>
                  </a:txBody>
                  <a:tcPr marL="68580" marR="68580" marT="0" marB="0"/>
                </a:tc>
                <a:tc>
                  <a:txBody>
                    <a:bodyPr/>
                    <a:lstStyle/>
                    <a:p>
                      <a:pPr marL="0" marR="0">
                        <a:lnSpc>
                          <a:spcPct val="80000"/>
                        </a:lnSpc>
                        <a:spcBef>
                          <a:spcPts val="400"/>
                        </a:spcBef>
                        <a:spcAft>
                          <a:spcPts val="400"/>
                        </a:spcAft>
                      </a:pPr>
                      <a:r>
                        <a:rPr lang="en-US" sz="2000" dirty="0">
                          <a:effectLst/>
                        </a:rPr>
                        <a:t>Ensure that additional system responsibilities have been allocated, as needed, to assist the user in</a:t>
                      </a:r>
                    </a:p>
                    <a:p>
                      <a:pPr marL="342900" marR="0" lvl="0" indent="-342900">
                        <a:lnSpc>
                          <a:spcPct val="80000"/>
                        </a:lnSpc>
                        <a:spcBef>
                          <a:spcPts val="100"/>
                        </a:spcBef>
                        <a:spcAft>
                          <a:spcPts val="300"/>
                        </a:spcAft>
                        <a:buSzPts val="800"/>
                        <a:buFont typeface="Symbol"/>
                        <a:buChar char=""/>
                        <a:tabLst>
                          <a:tab pos="228600" algn="l"/>
                          <a:tab pos="274320" algn="l"/>
                        </a:tabLst>
                      </a:pPr>
                      <a:r>
                        <a:rPr lang="en-US" sz="2000" kern="1100" dirty="0">
                          <a:effectLst/>
                        </a:rPr>
                        <a:t>learning how to use the system</a:t>
                      </a:r>
                    </a:p>
                    <a:p>
                      <a:pPr marL="342900" marR="0" lvl="0" indent="-342900">
                        <a:lnSpc>
                          <a:spcPct val="80000"/>
                        </a:lnSpc>
                        <a:spcBef>
                          <a:spcPts val="100"/>
                        </a:spcBef>
                        <a:spcAft>
                          <a:spcPts val="300"/>
                        </a:spcAft>
                        <a:buSzPts val="800"/>
                        <a:buFont typeface="Symbol"/>
                        <a:buChar char=""/>
                        <a:tabLst>
                          <a:tab pos="228600" algn="l"/>
                          <a:tab pos="274320" algn="l"/>
                        </a:tabLst>
                      </a:pPr>
                      <a:r>
                        <a:rPr lang="en-US" sz="2000" kern="1100" dirty="0">
                          <a:effectLst/>
                        </a:rPr>
                        <a:t>efficiently achieving the task at hand </a:t>
                      </a:r>
                    </a:p>
                    <a:p>
                      <a:pPr marL="342900" marR="0" lvl="0" indent="-342900">
                        <a:lnSpc>
                          <a:spcPct val="80000"/>
                        </a:lnSpc>
                        <a:spcBef>
                          <a:spcPts val="100"/>
                        </a:spcBef>
                        <a:spcAft>
                          <a:spcPts val="300"/>
                        </a:spcAft>
                        <a:buSzPts val="800"/>
                        <a:buFont typeface="Symbol"/>
                        <a:buChar char=""/>
                        <a:tabLst>
                          <a:tab pos="228600" algn="l"/>
                          <a:tab pos="274320" algn="l"/>
                        </a:tabLst>
                      </a:pPr>
                      <a:r>
                        <a:rPr lang="en-US" sz="2000" kern="1100" dirty="0">
                          <a:effectLst/>
                        </a:rPr>
                        <a:t>adapting and configuring the system</a:t>
                      </a:r>
                    </a:p>
                    <a:p>
                      <a:pPr marL="342900" marR="0" lvl="0" indent="-342900">
                        <a:lnSpc>
                          <a:spcPct val="80000"/>
                        </a:lnSpc>
                        <a:spcBef>
                          <a:spcPts val="100"/>
                        </a:spcBef>
                        <a:spcAft>
                          <a:spcPts val="300"/>
                        </a:spcAft>
                        <a:buSzPts val="800"/>
                        <a:buFont typeface="Symbol"/>
                        <a:buChar char=""/>
                        <a:tabLst>
                          <a:tab pos="228600" algn="l"/>
                          <a:tab pos="274320" algn="l"/>
                        </a:tabLst>
                      </a:pPr>
                      <a:r>
                        <a:rPr lang="en-US" sz="2000" kern="1100" dirty="0">
                          <a:effectLst/>
                        </a:rPr>
                        <a:t>recovering from user and system errors</a:t>
                      </a:r>
                      <a:endParaRPr lang="en-US" sz="2000" kern="1100" dirty="0">
                        <a:effectLst/>
                        <a:latin typeface="Times New Roman"/>
                        <a:ea typeface="Times New Roman"/>
                      </a:endParaRPr>
                    </a:p>
                  </a:txBody>
                  <a:tcPr marL="68580" marR="68580" marT="0" marB="0"/>
                </a:tc>
                <a:extLst>
                  <a:ext uri="{0D108BD9-81ED-4DB2-BD59-A6C34878D82A}">
                    <a16:rowId xmlns:a16="http://schemas.microsoft.com/office/drawing/2014/main" val="10000"/>
                  </a:ext>
                </a:extLst>
              </a:tr>
            </a:tbl>
          </a:graphicData>
        </a:graphic>
      </p:graphicFrame>
      <p:sp>
        <p:nvSpPr>
          <p:cNvPr id="11" name="Title 1">
            <a:extLst>
              <a:ext uri="{FF2B5EF4-FFF2-40B4-BE49-F238E27FC236}">
                <a16:creationId xmlns:a16="http://schemas.microsoft.com/office/drawing/2014/main" id="{7DA17077-18BA-6DD9-CCC9-F5641DC13A19}"/>
              </a:ext>
            </a:extLst>
          </p:cNvPr>
          <p:cNvSpPr>
            <a:spLocks noGrp="1"/>
          </p:cNvSpPr>
          <p:nvPr>
            <p:ph sz="quarter" idx="10"/>
          </p:nvPr>
        </p:nvSpPr>
        <p:spPr>
          <a:xfrm>
            <a:off x="304800" y="152400"/>
            <a:ext cx="6324600" cy="1143000"/>
          </a:xfrm>
        </p:spPr>
        <p:txBody>
          <a:bodyPr>
            <a:normAutofit/>
          </a:bodyPr>
          <a:lstStyle/>
          <a:p>
            <a:r>
              <a:rPr lang="en-US" dirty="0"/>
              <a:t>Design Checklist for Usability</a:t>
            </a:r>
          </a:p>
        </p:txBody>
      </p:sp>
    </p:spTree>
    <p:extLst>
      <p:ext uri="{BB962C8B-B14F-4D97-AF65-F5344CB8AC3E}">
        <p14:creationId xmlns:p14="http://schemas.microsoft.com/office/powerpoint/2010/main" val="409129215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8" name="Date Placeholder 7">
            <a:extLst>
              <a:ext uri="{FF2B5EF4-FFF2-40B4-BE49-F238E27FC236}">
                <a16:creationId xmlns:a16="http://schemas.microsoft.com/office/drawing/2014/main" id="{C1AB0A40-C1C9-9F53-DF48-5936937967C4}"/>
              </a:ext>
            </a:extLst>
          </p:cNvPr>
          <p:cNvSpPr>
            <a:spLocks noGrp="1"/>
          </p:cNvSpPr>
          <p:nvPr>
            <p:ph type="dt" sz="half" idx="12"/>
          </p:nvPr>
        </p:nvSpPr>
        <p:spPr/>
        <p:txBody>
          <a:bodyPr/>
          <a:lstStyle/>
          <a:p>
            <a:r>
              <a:rPr lang="en-US"/>
              <a:t>Auguts 1, 2026</a:t>
            </a:r>
          </a:p>
        </p:txBody>
      </p:sp>
      <p:sp>
        <p:nvSpPr>
          <p:cNvPr id="9" name="Slide Number Placeholder 8">
            <a:extLst>
              <a:ext uri="{FF2B5EF4-FFF2-40B4-BE49-F238E27FC236}">
                <a16:creationId xmlns:a16="http://schemas.microsoft.com/office/drawing/2014/main" id="{7385252D-424F-B1DF-2CB0-6F0ABFF2F03B}"/>
              </a:ext>
            </a:extLst>
          </p:cNvPr>
          <p:cNvSpPr>
            <a:spLocks noGrp="1"/>
          </p:cNvSpPr>
          <p:nvPr>
            <p:ph type="sldNum" sz="quarter" idx="14"/>
          </p:nvPr>
        </p:nvSpPr>
        <p:spPr/>
        <p:txBody>
          <a:bodyPr/>
          <a:lstStyle/>
          <a:p>
            <a:fld id="{BC8D7E44-7D4F-4942-A8C9-2DF6BF8399E8}" type="slidenum">
              <a:rPr lang="en-US" smtClean="0"/>
              <a:pPr/>
              <a:t>86</a:t>
            </a:fld>
            <a:endParaRPr lang="en-US" dirty="0"/>
          </a:p>
        </p:txBody>
      </p:sp>
      <p:graphicFrame>
        <p:nvGraphicFramePr>
          <p:cNvPr id="10" name="Content Placeholder 9">
            <a:extLst>
              <a:ext uri="{FF2B5EF4-FFF2-40B4-BE49-F238E27FC236}">
                <a16:creationId xmlns:a16="http://schemas.microsoft.com/office/drawing/2014/main" id="{FDE640DE-884C-DAAB-B71C-9882B1946EE2}"/>
              </a:ext>
            </a:extLst>
          </p:cNvPr>
          <p:cNvGraphicFramePr>
            <a:graphicFrameLocks noGrp="1"/>
          </p:cNvGraphicFramePr>
          <p:nvPr>
            <p:ph idx="1"/>
          </p:nvPr>
        </p:nvGraphicFramePr>
        <p:xfrm>
          <a:off x="304800" y="1493838"/>
          <a:ext cx="8610600" cy="3763962"/>
        </p:xfrm>
        <a:graphic>
          <a:graphicData uri="http://schemas.openxmlformats.org/drawingml/2006/table">
            <a:tbl>
              <a:tblPr firstRow="1" firstCol="1" bandRow="1">
                <a:tableStyleId>{5C22544A-7EE6-4342-B048-85BDC9FD1C3A}</a:tableStyleId>
              </a:tblPr>
              <a:tblGrid>
                <a:gridCol w="1868338">
                  <a:extLst>
                    <a:ext uri="{9D8B030D-6E8A-4147-A177-3AD203B41FA5}">
                      <a16:colId xmlns:a16="http://schemas.microsoft.com/office/drawing/2014/main" val="20000"/>
                    </a:ext>
                  </a:extLst>
                </a:gridCol>
                <a:gridCol w="6742262">
                  <a:extLst>
                    <a:ext uri="{9D8B030D-6E8A-4147-A177-3AD203B41FA5}">
                      <a16:colId xmlns:a16="http://schemas.microsoft.com/office/drawing/2014/main" val="20001"/>
                    </a:ext>
                  </a:extLst>
                </a:gridCol>
              </a:tblGrid>
              <a:tr h="3763962">
                <a:tc>
                  <a:txBody>
                    <a:bodyPr/>
                    <a:lstStyle/>
                    <a:p>
                      <a:pPr marL="0" marR="0">
                        <a:lnSpc>
                          <a:spcPct val="80000"/>
                        </a:lnSpc>
                        <a:spcBef>
                          <a:spcPts val="400"/>
                        </a:spcBef>
                        <a:spcAft>
                          <a:spcPts val="400"/>
                        </a:spcAft>
                      </a:pPr>
                      <a:r>
                        <a:rPr lang="en-US" sz="2000">
                          <a:effectLst/>
                        </a:rPr>
                        <a:t>Coordination Model</a:t>
                      </a:r>
                      <a:endParaRPr lang="en-US" sz="2000">
                        <a:effectLst/>
                        <a:latin typeface="Times"/>
                        <a:ea typeface="Times New Roman"/>
                        <a:cs typeface="Times New Roman"/>
                      </a:endParaRPr>
                    </a:p>
                  </a:txBody>
                  <a:tcPr marL="68580" marR="68580" marT="0" marB="0"/>
                </a:tc>
                <a:tc>
                  <a:txBody>
                    <a:bodyPr/>
                    <a:lstStyle/>
                    <a:p>
                      <a:pPr marL="0" marR="0">
                        <a:lnSpc>
                          <a:spcPct val="80000"/>
                        </a:lnSpc>
                        <a:spcBef>
                          <a:spcPts val="400"/>
                        </a:spcBef>
                        <a:spcAft>
                          <a:spcPts val="400"/>
                        </a:spcAft>
                      </a:pPr>
                      <a:r>
                        <a:rPr lang="en-US" sz="2000" dirty="0">
                          <a:effectLst/>
                        </a:rPr>
                        <a:t>Determine whether the properties of system elements’ coordination—timeliness, currency, completeness, correctness, consistency—affect how a user learns to use the system, achieves goals or completes tasks, adapts and configures the system, recovers from user and system errors, increases confidence and satisfaction. </a:t>
                      </a:r>
                    </a:p>
                    <a:p>
                      <a:pPr marL="0" marR="0" indent="0">
                        <a:lnSpc>
                          <a:spcPct val="80000"/>
                        </a:lnSpc>
                        <a:spcBef>
                          <a:spcPts val="100"/>
                        </a:spcBef>
                        <a:spcAft>
                          <a:spcPts val="300"/>
                        </a:spcAft>
                        <a:tabLst>
                          <a:tab pos="228600" algn="l"/>
                          <a:tab pos="274320" algn="l"/>
                          <a:tab pos="274320" algn="l"/>
                        </a:tabLst>
                      </a:pPr>
                      <a:r>
                        <a:rPr lang="en-US" sz="2000" kern="1100" dirty="0">
                          <a:effectLst/>
                        </a:rPr>
                        <a:t>For example, can the system respond to mouse events and give semantic feedback in real time? Can long-running events be canceled in a reasonable amount of time?</a:t>
                      </a:r>
                      <a:endParaRPr lang="en-US" sz="2000" kern="1100" dirty="0">
                        <a:effectLst/>
                        <a:latin typeface="Times New Roman"/>
                        <a:ea typeface="Times New Roman"/>
                      </a:endParaRPr>
                    </a:p>
                  </a:txBody>
                  <a:tcPr marL="68580" marR="68580" marT="0" marB="0"/>
                </a:tc>
                <a:extLst>
                  <a:ext uri="{0D108BD9-81ED-4DB2-BD59-A6C34878D82A}">
                    <a16:rowId xmlns:a16="http://schemas.microsoft.com/office/drawing/2014/main" val="10000"/>
                  </a:ext>
                </a:extLst>
              </a:tr>
            </a:tbl>
          </a:graphicData>
        </a:graphic>
      </p:graphicFrame>
      <p:sp>
        <p:nvSpPr>
          <p:cNvPr id="11" name="Title 1">
            <a:extLst>
              <a:ext uri="{FF2B5EF4-FFF2-40B4-BE49-F238E27FC236}">
                <a16:creationId xmlns:a16="http://schemas.microsoft.com/office/drawing/2014/main" id="{F131FAEA-496F-3444-A0E7-3DD2F383C4CA}"/>
              </a:ext>
            </a:extLst>
          </p:cNvPr>
          <p:cNvSpPr>
            <a:spLocks noGrp="1"/>
          </p:cNvSpPr>
          <p:nvPr>
            <p:ph sz="quarter" idx="10"/>
          </p:nvPr>
        </p:nvSpPr>
        <p:spPr>
          <a:xfrm>
            <a:off x="304800" y="152400"/>
            <a:ext cx="6324600" cy="1143000"/>
          </a:xfrm>
        </p:spPr>
        <p:txBody>
          <a:bodyPr>
            <a:normAutofit/>
          </a:bodyPr>
          <a:lstStyle/>
          <a:p>
            <a:r>
              <a:rPr lang="en-US" dirty="0"/>
              <a:t>Design Checklist for Usability</a:t>
            </a:r>
          </a:p>
        </p:txBody>
      </p:sp>
    </p:spTree>
    <p:extLst>
      <p:ext uri="{BB962C8B-B14F-4D97-AF65-F5344CB8AC3E}">
        <p14:creationId xmlns:p14="http://schemas.microsoft.com/office/powerpoint/2010/main" val="296127333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8" name="Date Placeholder 7">
            <a:extLst>
              <a:ext uri="{FF2B5EF4-FFF2-40B4-BE49-F238E27FC236}">
                <a16:creationId xmlns:a16="http://schemas.microsoft.com/office/drawing/2014/main" id="{CFF8DEF2-D93A-A827-00D2-55E0238061C7}"/>
              </a:ext>
            </a:extLst>
          </p:cNvPr>
          <p:cNvSpPr>
            <a:spLocks noGrp="1"/>
          </p:cNvSpPr>
          <p:nvPr>
            <p:ph type="dt" sz="half" idx="12"/>
          </p:nvPr>
        </p:nvSpPr>
        <p:spPr/>
        <p:txBody>
          <a:bodyPr/>
          <a:lstStyle/>
          <a:p>
            <a:r>
              <a:rPr lang="en-US"/>
              <a:t>Auguts 1, 2026</a:t>
            </a:r>
          </a:p>
        </p:txBody>
      </p:sp>
      <p:sp>
        <p:nvSpPr>
          <p:cNvPr id="9" name="Slide Number Placeholder 8">
            <a:extLst>
              <a:ext uri="{FF2B5EF4-FFF2-40B4-BE49-F238E27FC236}">
                <a16:creationId xmlns:a16="http://schemas.microsoft.com/office/drawing/2014/main" id="{A3A517DF-46CF-E8FF-AACF-1FD4C103A1D1}"/>
              </a:ext>
            </a:extLst>
          </p:cNvPr>
          <p:cNvSpPr>
            <a:spLocks noGrp="1"/>
          </p:cNvSpPr>
          <p:nvPr>
            <p:ph type="sldNum" sz="quarter" idx="14"/>
          </p:nvPr>
        </p:nvSpPr>
        <p:spPr/>
        <p:txBody>
          <a:bodyPr/>
          <a:lstStyle/>
          <a:p>
            <a:fld id="{BC8D7E44-7D4F-4942-A8C9-2DF6BF8399E8}" type="slidenum">
              <a:rPr lang="en-US" smtClean="0"/>
              <a:pPr/>
              <a:t>87</a:t>
            </a:fld>
            <a:endParaRPr lang="en-US" dirty="0"/>
          </a:p>
        </p:txBody>
      </p:sp>
      <p:graphicFrame>
        <p:nvGraphicFramePr>
          <p:cNvPr id="10" name="Content Placeholder 9">
            <a:extLst>
              <a:ext uri="{FF2B5EF4-FFF2-40B4-BE49-F238E27FC236}">
                <a16:creationId xmlns:a16="http://schemas.microsoft.com/office/drawing/2014/main" id="{699183B1-9A4F-3660-BB04-D2B60250EE74}"/>
              </a:ext>
            </a:extLst>
          </p:cNvPr>
          <p:cNvGraphicFramePr>
            <a:graphicFrameLocks noGrp="1"/>
          </p:cNvGraphicFramePr>
          <p:nvPr>
            <p:ph idx="1"/>
          </p:nvPr>
        </p:nvGraphicFramePr>
        <p:xfrm>
          <a:off x="304800" y="1493837"/>
          <a:ext cx="8686800" cy="4051047"/>
        </p:xfrm>
        <a:graphic>
          <a:graphicData uri="http://schemas.openxmlformats.org/drawingml/2006/table">
            <a:tbl>
              <a:tblPr firstRow="1" firstCol="1" bandRow="1">
                <a:tableStyleId>{5C22544A-7EE6-4342-B048-85BDC9FD1C3A}</a:tableStyleId>
              </a:tblPr>
              <a:tblGrid>
                <a:gridCol w="1206499">
                  <a:extLst>
                    <a:ext uri="{9D8B030D-6E8A-4147-A177-3AD203B41FA5}">
                      <a16:colId xmlns:a16="http://schemas.microsoft.com/office/drawing/2014/main" val="20000"/>
                    </a:ext>
                  </a:extLst>
                </a:gridCol>
                <a:gridCol w="7480301">
                  <a:extLst>
                    <a:ext uri="{9D8B030D-6E8A-4147-A177-3AD203B41FA5}">
                      <a16:colId xmlns:a16="http://schemas.microsoft.com/office/drawing/2014/main" val="20001"/>
                    </a:ext>
                  </a:extLst>
                </a:gridCol>
              </a:tblGrid>
              <a:tr h="4051047">
                <a:tc>
                  <a:txBody>
                    <a:bodyPr/>
                    <a:lstStyle/>
                    <a:p>
                      <a:pPr marL="0" marR="0">
                        <a:lnSpc>
                          <a:spcPct val="80000"/>
                        </a:lnSpc>
                        <a:spcBef>
                          <a:spcPts val="400"/>
                        </a:spcBef>
                        <a:spcAft>
                          <a:spcPts val="400"/>
                        </a:spcAft>
                      </a:pPr>
                      <a:r>
                        <a:rPr lang="en-US" sz="2000">
                          <a:effectLst/>
                        </a:rPr>
                        <a:t>Data Model</a:t>
                      </a:r>
                      <a:endParaRPr lang="en-US" sz="2000">
                        <a:effectLst/>
                        <a:latin typeface="Times"/>
                        <a:ea typeface="Times New Roman"/>
                        <a:cs typeface="Times New Roman"/>
                      </a:endParaRPr>
                    </a:p>
                  </a:txBody>
                  <a:tcPr marL="68580" marR="68580" marT="0" marB="0"/>
                </a:tc>
                <a:tc>
                  <a:txBody>
                    <a:bodyPr/>
                    <a:lstStyle/>
                    <a:p>
                      <a:pPr marL="0" marR="0">
                        <a:lnSpc>
                          <a:spcPct val="80000"/>
                        </a:lnSpc>
                        <a:spcBef>
                          <a:spcPts val="400"/>
                        </a:spcBef>
                        <a:spcAft>
                          <a:spcPts val="400"/>
                        </a:spcAft>
                      </a:pPr>
                      <a:r>
                        <a:rPr lang="en-US" sz="2000" dirty="0">
                          <a:effectLst/>
                        </a:rPr>
                        <a:t>Determine the major data abstractions that are involved with user-perceivable behavior.  </a:t>
                      </a:r>
                    </a:p>
                    <a:p>
                      <a:pPr marL="0" marR="0">
                        <a:lnSpc>
                          <a:spcPct val="80000"/>
                        </a:lnSpc>
                        <a:spcBef>
                          <a:spcPts val="400"/>
                        </a:spcBef>
                        <a:spcAft>
                          <a:spcPts val="400"/>
                        </a:spcAft>
                      </a:pPr>
                      <a:r>
                        <a:rPr lang="en-US" sz="2000" dirty="0">
                          <a:effectLst/>
                        </a:rPr>
                        <a:t>Ensure these major data abstractions, their operations, and their properties have been designed to assist the user in achieving the task at hand, adapting and configuring the system, recovering from user and system errors, learning how to use the system, and increasing satisfaction and user confidence</a:t>
                      </a:r>
                    </a:p>
                    <a:p>
                      <a:pPr marL="0" marR="0">
                        <a:lnSpc>
                          <a:spcPct val="80000"/>
                        </a:lnSpc>
                        <a:spcBef>
                          <a:spcPts val="400"/>
                        </a:spcBef>
                        <a:spcAft>
                          <a:spcPts val="400"/>
                        </a:spcAft>
                      </a:pPr>
                      <a:r>
                        <a:rPr lang="en-US" sz="2000" dirty="0">
                          <a:effectLst/>
                        </a:rPr>
                        <a:t>For example, the data abstractions should be designed to support undo and cancel operations: the transaction granularity should not be so great that canceling or undoing an operation takes an excessively long time.</a:t>
                      </a:r>
                      <a:endParaRPr lang="en-US" sz="2000" dirty="0">
                        <a:effectLst/>
                        <a:latin typeface="Times"/>
                        <a:ea typeface="Times New Roman"/>
                        <a:cs typeface="Times New Roman"/>
                      </a:endParaRPr>
                    </a:p>
                  </a:txBody>
                  <a:tcPr marL="68580" marR="68580" marT="0" marB="0"/>
                </a:tc>
                <a:extLst>
                  <a:ext uri="{0D108BD9-81ED-4DB2-BD59-A6C34878D82A}">
                    <a16:rowId xmlns:a16="http://schemas.microsoft.com/office/drawing/2014/main" val="10000"/>
                  </a:ext>
                </a:extLst>
              </a:tr>
            </a:tbl>
          </a:graphicData>
        </a:graphic>
      </p:graphicFrame>
      <p:sp>
        <p:nvSpPr>
          <p:cNvPr id="11" name="Title 1">
            <a:extLst>
              <a:ext uri="{FF2B5EF4-FFF2-40B4-BE49-F238E27FC236}">
                <a16:creationId xmlns:a16="http://schemas.microsoft.com/office/drawing/2014/main" id="{4A93859A-02DE-4CBC-9160-2FA28A609B9C}"/>
              </a:ext>
            </a:extLst>
          </p:cNvPr>
          <p:cNvSpPr>
            <a:spLocks noGrp="1"/>
          </p:cNvSpPr>
          <p:nvPr>
            <p:ph sz="quarter" idx="10"/>
          </p:nvPr>
        </p:nvSpPr>
        <p:spPr>
          <a:xfrm>
            <a:off x="304800" y="152400"/>
            <a:ext cx="6324600" cy="1143000"/>
          </a:xfrm>
        </p:spPr>
        <p:txBody>
          <a:bodyPr>
            <a:normAutofit/>
          </a:bodyPr>
          <a:lstStyle/>
          <a:p>
            <a:r>
              <a:rPr lang="en-US" dirty="0"/>
              <a:t>Design Checklist for Usability</a:t>
            </a:r>
          </a:p>
        </p:txBody>
      </p:sp>
    </p:spTree>
    <p:extLst>
      <p:ext uri="{BB962C8B-B14F-4D97-AF65-F5344CB8AC3E}">
        <p14:creationId xmlns:p14="http://schemas.microsoft.com/office/powerpoint/2010/main" val="61444105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8" name="Date Placeholder 7">
            <a:extLst>
              <a:ext uri="{FF2B5EF4-FFF2-40B4-BE49-F238E27FC236}">
                <a16:creationId xmlns:a16="http://schemas.microsoft.com/office/drawing/2014/main" id="{08D6D3C6-22B2-4C4A-705A-6A64096CEF04}"/>
              </a:ext>
            </a:extLst>
          </p:cNvPr>
          <p:cNvSpPr>
            <a:spLocks noGrp="1"/>
          </p:cNvSpPr>
          <p:nvPr>
            <p:ph type="dt" sz="half" idx="12"/>
          </p:nvPr>
        </p:nvSpPr>
        <p:spPr/>
        <p:txBody>
          <a:bodyPr/>
          <a:lstStyle/>
          <a:p>
            <a:r>
              <a:rPr lang="en-US"/>
              <a:t>Auguts 1, 2026</a:t>
            </a:r>
          </a:p>
        </p:txBody>
      </p:sp>
      <p:sp>
        <p:nvSpPr>
          <p:cNvPr id="9" name="Slide Number Placeholder 8">
            <a:extLst>
              <a:ext uri="{FF2B5EF4-FFF2-40B4-BE49-F238E27FC236}">
                <a16:creationId xmlns:a16="http://schemas.microsoft.com/office/drawing/2014/main" id="{5BD714EA-1169-037F-B36C-D984DE2D010C}"/>
              </a:ext>
            </a:extLst>
          </p:cNvPr>
          <p:cNvSpPr>
            <a:spLocks noGrp="1"/>
          </p:cNvSpPr>
          <p:nvPr>
            <p:ph type="sldNum" sz="quarter" idx="14"/>
          </p:nvPr>
        </p:nvSpPr>
        <p:spPr/>
        <p:txBody>
          <a:bodyPr/>
          <a:lstStyle/>
          <a:p>
            <a:fld id="{BC8D7E44-7D4F-4942-A8C9-2DF6BF8399E8}" type="slidenum">
              <a:rPr lang="en-US" smtClean="0"/>
              <a:pPr/>
              <a:t>88</a:t>
            </a:fld>
            <a:endParaRPr lang="en-US" dirty="0"/>
          </a:p>
        </p:txBody>
      </p:sp>
      <p:graphicFrame>
        <p:nvGraphicFramePr>
          <p:cNvPr id="10" name="Content Placeholder 9">
            <a:extLst>
              <a:ext uri="{FF2B5EF4-FFF2-40B4-BE49-F238E27FC236}">
                <a16:creationId xmlns:a16="http://schemas.microsoft.com/office/drawing/2014/main" id="{A604E8E5-378D-3577-E514-B9650F54ED1B}"/>
              </a:ext>
            </a:extLst>
          </p:cNvPr>
          <p:cNvGraphicFramePr>
            <a:graphicFrameLocks noGrp="1"/>
          </p:cNvGraphicFramePr>
          <p:nvPr>
            <p:ph idx="1"/>
          </p:nvPr>
        </p:nvGraphicFramePr>
        <p:xfrm>
          <a:off x="304800" y="1493837"/>
          <a:ext cx="8534400" cy="4051047"/>
        </p:xfrm>
        <a:graphic>
          <a:graphicData uri="http://schemas.openxmlformats.org/drawingml/2006/table">
            <a:tbl>
              <a:tblPr firstRow="1" firstCol="1" bandRow="1">
                <a:tableStyleId>{5C22544A-7EE6-4342-B048-85BDC9FD1C3A}</a:tableStyleId>
              </a:tblPr>
              <a:tblGrid>
                <a:gridCol w="1932317">
                  <a:extLst>
                    <a:ext uri="{9D8B030D-6E8A-4147-A177-3AD203B41FA5}">
                      <a16:colId xmlns:a16="http://schemas.microsoft.com/office/drawing/2014/main" val="20000"/>
                    </a:ext>
                  </a:extLst>
                </a:gridCol>
                <a:gridCol w="6602083">
                  <a:extLst>
                    <a:ext uri="{9D8B030D-6E8A-4147-A177-3AD203B41FA5}">
                      <a16:colId xmlns:a16="http://schemas.microsoft.com/office/drawing/2014/main" val="20001"/>
                    </a:ext>
                  </a:extLst>
                </a:gridCol>
              </a:tblGrid>
              <a:tr h="4051047">
                <a:tc>
                  <a:txBody>
                    <a:bodyPr/>
                    <a:lstStyle/>
                    <a:p>
                      <a:pPr marL="0" marR="0">
                        <a:lnSpc>
                          <a:spcPct val="80000"/>
                        </a:lnSpc>
                        <a:spcBef>
                          <a:spcPts val="400"/>
                        </a:spcBef>
                        <a:spcAft>
                          <a:spcPts val="400"/>
                        </a:spcAft>
                      </a:pPr>
                      <a:r>
                        <a:rPr lang="en-US" sz="2000">
                          <a:effectLst/>
                        </a:rPr>
                        <a:t>Mapping Among Architectural Elements</a:t>
                      </a:r>
                      <a:endParaRPr lang="en-US" sz="2000">
                        <a:effectLst/>
                        <a:latin typeface="Times"/>
                        <a:ea typeface="Times New Roman"/>
                        <a:cs typeface="Times New Roman"/>
                      </a:endParaRPr>
                    </a:p>
                  </a:txBody>
                  <a:tcPr marL="68580" marR="68580" marT="0" marB="0"/>
                </a:tc>
                <a:tc>
                  <a:txBody>
                    <a:bodyPr/>
                    <a:lstStyle/>
                    <a:p>
                      <a:pPr marL="0" marR="0">
                        <a:lnSpc>
                          <a:spcPct val="80000"/>
                        </a:lnSpc>
                        <a:spcBef>
                          <a:spcPts val="400"/>
                        </a:spcBef>
                        <a:spcAft>
                          <a:spcPts val="400"/>
                        </a:spcAft>
                      </a:pPr>
                      <a:r>
                        <a:rPr lang="en-US" sz="2000" dirty="0">
                          <a:effectLst/>
                        </a:rPr>
                        <a:t>Determine what mapping among architectural elements is visible to the end user (for example, the extent to which the end user is aware of which services are local and which are remote).</a:t>
                      </a:r>
                      <a:r>
                        <a:rPr lang="en-US" sz="2000" baseline="0" dirty="0">
                          <a:effectLst/>
                        </a:rPr>
                        <a:t> </a:t>
                      </a:r>
                    </a:p>
                    <a:p>
                      <a:pPr marL="0" marR="0">
                        <a:lnSpc>
                          <a:spcPct val="80000"/>
                        </a:lnSpc>
                        <a:spcBef>
                          <a:spcPts val="400"/>
                        </a:spcBef>
                        <a:spcAft>
                          <a:spcPts val="400"/>
                        </a:spcAft>
                      </a:pPr>
                      <a:r>
                        <a:rPr lang="en-US" sz="2000" dirty="0">
                          <a:effectLst/>
                        </a:rPr>
                        <a:t>For those that are visible, determine how this affects the ways in which, or the ease with which the user will learn how to use the system, achieve the task at hand, adapt and configure the system, recover from user and system errors, and increase confidence and satisfaction.</a:t>
                      </a:r>
                      <a:endParaRPr lang="en-US" sz="2000" dirty="0">
                        <a:effectLst/>
                        <a:latin typeface="Times"/>
                        <a:ea typeface="Times New Roman"/>
                        <a:cs typeface="Times New Roman"/>
                      </a:endParaRPr>
                    </a:p>
                  </a:txBody>
                  <a:tcPr marL="68580" marR="68580" marT="0" marB="0"/>
                </a:tc>
                <a:extLst>
                  <a:ext uri="{0D108BD9-81ED-4DB2-BD59-A6C34878D82A}">
                    <a16:rowId xmlns:a16="http://schemas.microsoft.com/office/drawing/2014/main" val="10000"/>
                  </a:ext>
                </a:extLst>
              </a:tr>
            </a:tbl>
          </a:graphicData>
        </a:graphic>
      </p:graphicFrame>
      <p:sp>
        <p:nvSpPr>
          <p:cNvPr id="11" name="Title 1">
            <a:extLst>
              <a:ext uri="{FF2B5EF4-FFF2-40B4-BE49-F238E27FC236}">
                <a16:creationId xmlns:a16="http://schemas.microsoft.com/office/drawing/2014/main" id="{7AE55F61-567E-98C6-014C-84AF26A24DE1}"/>
              </a:ext>
            </a:extLst>
          </p:cNvPr>
          <p:cNvSpPr>
            <a:spLocks noGrp="1"/>
          </p:cNvSpPr>
          <p:nvPr>
            <p:ph sz="quarter" idx="10"/>
          </p:nvPr>
        </p:nvSpPr>
        <p:spPr>
          <a:xfrm>
            <a:off x="304800" y="152400"/>
            <a:ext cx="6324600" cy="1143000"/>
          </a:xfrm>
        </p:spPr>
        <p:txBody>
          <a:bodyPr>
            <a:normAutofit/>
          </a:bodyPr>
          <a:lstStyle/>
          <a:p>
            <a:r>
              <a:rPr lang="en-US" dirty="0"/>
              <a:t>Design Checklist for Usability</a:t>
            </a:r>
          </a:p>
        </p:txBody>
      </p:sp>
    </p:spTree>
    <p:extLst>
      <p:ext uri="{BB962C8B-B14F-4D97-AF65-F5344CB8AC3E}">
        <p14:creationId xmlns:p14="http://schemas.microsoft.com/office/powerpoint/2010/main" val="178563478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8" name="Date Placeholder 7">
            <a:extLst>
              <a:ext uri="{FF2B5EF4-FFF2-40B4-BE49-F238E27FC236}">
                <a16:creationId xmlns:a16="http://schemas.microsoft.com/office/drawing/2014/main" id="{63A568AE-EDDE-4530-4044-ECB5A5BBD71B}"/>
              </a:ext>
            </a:extLst>
          </p:cNvPr>
          <p:cNvSpPr>
            <a:spLocks noGrp="1"/>
          </p:cNvSpPr>
          <p:nvPr>
            <p:ph type="dt" sz="half" idx="12"/>
          </p:nvPr>
        </p:nvSpPr>
        <p:spPr/>
        <p:txBody>
          <a:bodyPr/>
          <a:lstStyle/>
          <a:p>
            <a:r>
              <a:rPr lang="en-US"/>
              <a:t>Auguts 1, 2026</a:t>
            </a:r>
          </a:p>
        </p:txBody>
      </p:sp>
      <p:sp>
        <p:nvSpPr>
          <p:cNvPr id="9" name="Slide Number Placeholder 8">
            <a:extLst>
              <a:ext uri="{FF2B5EF4-FFF2-40B4-BE49-F238E27FC236}">
                <a16:creationId xmlns:a16="http://schemas.microsoft.com/office/drawing/2014/main" id="{FED4E2E7-EDB2-9D93-A0F4-BD4257CDB14C}"/>
              </a:ext>
            </a:extLst>
          </p:cNvPr>
          <p:cNvSpPr>
            <a:spLocks noGrp="1"/>
          </p:cNvSpPr>
          <p:nvPr>
            <p:ph type="sldNum" sz="quarter" idx="14"/>
          </p:nvPr>
        </p:nvSpPr>
        <p:spPr/>
        <p:txBody>
          <a:bodyPr/>
          <a:lstStyle/>
          <a:p>
            <a:fld id="{BC8D7E44-7D4F-4942-A8C9-2DF6BF8399E8}" type="slidenum">
              <a:rPr lang="en-US" smtClean="0"/>
              <a:pPr/>
              <a:t>89</a:t>
            </a:fld>
            <a:endParaRPr lang="en-US" dirty="0"/>
          </a:p>
        </p:txBody>
      </p:sp>
      <p:sp>
        <p:nvSpPr>
          <p:cNvPr id="10" name="Title 1">
            <a:extLst>
              <a:ext uri="{FF2B5EF4-FFF2-40B4-BE49-F238E27FC236}">
                <a16:creationId xmlns:a16="http://schemas.microsoft.com/office/drawing/2014/main" id="{2C397E37-41DE-C075-7FB4-5512483774F1}"/>
              </a:ext>
            </a:extLst>
          </p:cNvPr>
          <p:cNvSpPr>
            <a:spLocks noGrp="1"/>
          </p:cNvSpPr>
          <p:nvPr>
            <p:ph sz="quarter" idx="10"/>
          </p:nvPr>
        </p:nvSpPr>
        <p:spPr>
          <a:xfrm>
            <a:off x="304800" y="152400"/>
            <a:ext cx="6324600" cy="1143000"/>
          </a:xfrm>
        </p:spPr>
        <p:txBody>
          <a:bodyPr>
            <a:normAutofit/>
          </a:bodyPr>
          <a:lstStyle/>
          <a:p>
            <a:r>
              <a:rPr lang="en-US" dirty="0"/>
              <a:t>Design Checklist for Usability</a:t>
            </a:r>
          </a:p>
        </p:txBody>
      </p:sp>
      <p:graphicFrame>
        <p:nvGraphicFramePr>
          <p:cNvPr id="11" name="Content Placeholder 10">
            <a:extLst>
              <a:ext uri="{FF2B5EF4-FFF2-40B4-BE49-F238E27FC236}">
                <a16:creationId xmlns:a16="http://schemas.microsoft.com/office/drawing/2014/main" id="{93106716-F0CC-40DC-622B-3BB9B097B8AA}"/>
              </a:ext>
            </a:extLst>
          </p:cNvPr>
          <p:cNvGraphicFramePr>
            <a:graphicFrameLocks noGrp="1"/>
          </p:cNvGraphicFramePr>
          <p:nvPr>
            <p:ph idx="1"/>
          </p:nvPr>
        </p:nvGraphicFramePr>
        <p:xfrm>
          <a:off x="304800" y="1493838"/>
          <a:ext cx="8610600" cy="3535362"/>
        </p:xfrm>
        <a:graphic>
          <a:graphicData uri="http://schemas.openxmlformats.org/drawingml/2006/table">
            <a:tbl>
              <a:tblPr firstRow="1" firstCol="1" bandRow="1">
                <a:tableStyleId>{5C22544A-7EE6-4342-B048-85BDC9FD1C3A}</a:tableStyleId>
              </a:tblPr>
              <a:tblGrid>
                <a:gridCol w="1862352">
                  <a:extLst>
                    <a:ext uri="{9D8B030D-6E8A-4147-A177-3AD203B41FA5}">
                      <a16:colId xmlns:a16="http://schemas.microsoft.com/office/drawing/2014/main" val="20000"/>
                    </a:ext>
                  </a:extLst>
                </a:gridCol>
                <a:gridCol w="6748248">
                  <a:extLst>
                    <a:ext uri="{9D8B030D-6E8A-4147-A177-3AD203B41FA5}">
                      <a16:colId xmlns:a16="http://schemas.microsoft.com/office/drawing/2014/main" val="20001"/>
                    </a:ext>
                  </a:extLst>
                </a:gridCol>
              </a:tblGrid>
              <a:tr h="3535362">
                <a:tc>
                  <a:txBody>
                    <a:bodyPr/>
                    <a:lstStyle/>
                    <a:p>
                      <a:pPr marL="0" marR="0">
                        <a:lnSpc>
                          <a:spcPct val="80000"/>
                        </a:lnSpc>
                        <a:spcBef>
                          <a:spcPts val="400"/>
                        </a:spcBef>
                        <a:spcAft>
                          <a:spcPts val="400"/>
                        </a:spcAft>
                      </a:pPr>
                      <a:r>
                        <a:rPr lang="en-US" sz="2000" dirty="0">
                          <a:effectLst/>
                        </a:rPr>
                        <a:t>Resource Management</a:t>
                      </a:r>
                      <a:endParaRPr lang="en-US" sz="2000" dirty="0">
                        <a:effectLst/>
                        <a:latin typeface="Times"/>
                        <a:ea typeface="Times New Roman"/>
                        <a:cs typeface="Times New Roman"/>
                      </a:endParaRPr>
                    </a:p>
                  </a:txBody>
                  <a:tcPr marL="68580" marR="68580" marT="0" marB="0"/>
                </a:tc>
                <a:tc>
                  <a:txBody>
                    <a:bodyPr/>
                    <a:lstStyle/>
                    <a:p>
                      <a:pPr marL="0" marR="0">
                        <a:lnSpc>
                          <a:spcPct val="80000"/>
                        </a:lnSpc>
                        <a:spcBef>
                          <a:spcPts val="400"/>
                        </a:spcBef>
                        <a:spcAft>
                          <a:spcPts val="400"/>
                        </a:spcAft>
                      </a:pPr>
                      <a:r>
                        <a:rPr lang="en-US" sz="2000" dirty="0">
                          <a:effectLst/>
                        </a:rPr>
                        <a:t>Determine how the user can adapt and configure the system’s use of resources.  </a:t>
                      </a:r>
                    </a:p>
                    <a:p>
                      <a:pPr marL="0" marR="0">
                        <a:lnSpc>
                          <a:spcPct val="80000"/>
                        </a:lnSpc>
                        <a:spcBef>
                          <a:spcPts val="400"/>
                        </a:spcBef>
                        <a:spcAft>
                          <a:spcPts val="400"/>
                        </a:spcAft>
                      </a:pPr>
                      <a:r>
                        <a:rPr lang="en-US" sz="2000" dirty="0">
                          <a:effectLst/>
                        </a:rPr>
                        <a:t>Ensure that resource limitations under all user-controlled configurations will not make users less likely to achieve their tasks.  For example, attempt to avoid configurations that would result in excessively long response times.  </a:t>
                      </a:r>
                    </a:p>
                    <a:p>
                      <a:pPr marL="0" marR="0">
                        <a:lnSpc>
                          <a:spcPct val="80000"/>
                        </a:lnSpc>
                        <a:spcBef>
                          <a:spcPts val="400"/>
                        </a:spcBef>
                        <a:spcAft>
                          <a:spcPts val="400"/>
                        </a:spcAft>
                      </a:pPr>
                      <a:r>
                        <a:rPr lang="en-US" sz="2000" dirty="0">
                          <a:effectLst/>
                        </a:rPr>
                        <a:t>Ensure that the level of resources will not affect the users’ ability to learn how to use the system, or decrease their level of confidence and satisfaction with the system.</a:t>
                      </a:r>
                      <a:endParaRPr lang="en-US" sz="2000" dirty="0">
                        <a:effectLst/>
                        <a:latin typeface="Times"/>
                        <a:ea typeface="Times New Roman"/>
                        <a:cs typeface="Times New Roman"/>
                      </a:endParaRPr>
                    </a:p>
                  </a:txBody>
                  <a:tcPr marL="68580" marR="68580" marT="0" marB="0"/>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350094370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8" name="Date Placeholder 7">
            <a:extLst>
              <a:ext uri="{FF2B5EF4-FFF2-40B4-BE49-F238E27FC236}">
                <a16:creationId xmlns:a16="http://schemas.microsoft.com/office/drawing/2014/main" id="{553ECC69-A26B-01BA-1EC3-32FFB11408A7}"/>
              </a:ext>
            </a:extLst>
          </p:cNvPr>
          <p:cNvSpPr>
            <a:spLocks noGrp="1"/>
          </p:cNvSpPr>
          <p:nvPr>
            <p:ph type="dt" sz="half" idx="12"/>
          </p:nvPr>
        </p:nvSpPr>
        <p:spPr/>
        <p:txBody>
          <a:bodyPr/>
          <a:lstStyle/>
          <a:p>
            <a:r>
              <a:rPr lang="en-US"/>
              <a:t>Auguts 1, 2026</a:t>
            </a:r>
          </a:p>
        </p:txBody>
      </p:sp>
      <p:sp>
        <p:nvSpPr>
          <p:cNvPr id="9" name="Slide Number Placeholder 8">
            <a:extLst>
              <a:ext uri="{FF2B5EF4-FFF2-40B4-BE49-F238E27FC236}">
                <a16:creationId xmlns:a16="http://schemas.microsoft.com/office/drawing/2014/main" id="{B2ABECED-A6D9-3A7A-5BC2-E517470B47F8}"/>
              </a:ext>
            </a:extLst>
          </p:cNvPr>
          <p:cNvSpPr>
            <a:spLocks noGrp="1"/>
          </p:cNvSpPr>
          <p:nvPr>
            <p:ph type="sldNum" sz="quarter" idx="14"/>
          </p:nvPr>
        </p:nvSpPr>
        <p:spPr/>
        <p:txBody>
          <a:bodyPr/>
          <a:lstStyle/>
          <a:p>
            <a:fld id="{BC8D7E44-7D4F-4942-A8C9-2DF6BF8399E8}" type="slidenum">
              <a:rPr lang="en-US" smtClean="0"/>
              <a:pPr/>
              <a:t>90</a:t>
            </a:fld>
            <a:endParaRPr lang="en-US" dirty="0"/>
          </a:p>
        </p:txBody>
      </p:sp>
      <p:sp>
        <p:nvSpPr>
          <p:cNvPr id="10" name="Title 1">
            <a:extLst>
              <a:ext uri="{FF2B5EF4-FFF2-40B4-BE49-F238E27FC236}">
                <a16:creationId xmlns:a16="http://schemas.microsoft.com/office/drawing/2014/main" id="{8692FD80-0386-D610-8763-2A13960F52AB}"/>
              </a:ext>
            </a:extLst>
          </p:cNvPr>
          <p:cNvSpPr>
            <a:spLocks noGrp="1"/>
          </p:cNvSpPr>
          <p:nvPr>
            <p:ph sz="quarter" idx="10"/>
          </p:nvPr>
        </p:nvSpPr>
        <p:spPr>
          <a:xfrm>
            <a:off x="304800" y="152400"/>
            <a:ext cx="6324600" cy="1143000"/>
          </a:xfrm>
        </p:spPr>
        <p:txBody>
          <a:bodyPr>
            <a:normAutofit/>
          </a:bodyPr>
          <a:lstStyle/>
          <a:p>
            <a:r>
              <a:rPr lang="en-US" dirty="0"/>
              <a:t>Design Checklist for Usability</a:t>
            </a:r>
          </a:p>
        </p:txBody>
      </p:sp>
      <p:graphicFrame>
        <p:nvGraphicFramePr>
          <p:cNvPr id="11" name="Content Placeholder 10">
            <a:extLst>
              <a:ext uri="{FF2B5EF4-FFF2-40B4-BE49-F238E27FC236}">
                <a16:creationId xmlns:a16="http://schemas.microsoft.com/office/drawing/2014/main" id="{3D7A59C2-98F8-638F-52F9-CF2CE7A45522}"/>
              </a:ext>
            </a:extLst>
          </p:cNvPr>
          <p:cNvGraphicFramePr>
            <a:graphicFrameLocks noGrp="1"/>
          </p:cNvGraphicFramePr>
          <p:nvPr>
            <p:ph idx="1"/>
          </p:nvPr>
        </p:nvGraphicFramePr>
        <p:xfrm>
          <a:off x="304800" y="1493837"/>
          <a:ext cx="8610600" cy="4051047"/>
        </p:xfrm>
        <a:graphic>
          <a:graphicData uri="http://schemas.openxmlformats.org/drawingml/2006/table">
            <a:tbl>
              <a:tblPr firstRow="1" firstCol="1" bandRow="1">
                <a:tableStyleId>{5C22544A-7EE6-4342-B048-85BDC9FD1C3A}</a:tableStyleId>
              </a:tblPr>
              <a:tblGrid>
                <a:gridCol w="1476103">
                  <a:extLst>
                    <a:ext uri="{9D8B030D-6E8A-4147-A177-3AD203B41FA5}">
                      <a16:colId xmlns:a16="http://schemas.microsoft.com/office/drawing/2014/main" val="20000"/>
                    </a:ext>
                  </a:extLst>
                </a:gridCol>
                <a:gridCol w="7134497">
                  <a:extLst>
                    <a:ext uri="{9D8B030D-6E8A-4147-A177-3AD203B41FA5}">
                      <a16:colId xmlns:a16="http://schemas.microsoft.com/office/drawing/2014/main" val="20001"/>
                    </a:ext>
                  </a:extLst>
                </a:gridCol>
              </a:tblGrid>
              <a:tr h="4051047">
                <a:tc>
                  <a:txBody>
                    <a:bodyPr/>
                    <a:lstStyle/>
                    <a:p>
                      <a:pPr marL="0" marR="0">
                        <a:lnSpc>
                          <a:spcPct val="80000"/>
                        </a:lnSpc>
                        <a:spcBef>
                          <a:spcPts val="400"/>
                        </a:spcBef>
                        <a:spcAft>
                          <a:spcPts val="400"/>
                        </a:spcAft>
                      </a:pPr>
                      <a:r>
                        <a:rPr lang="en-US" sz="2000" dirty="0">
                          <a:effectLst/>
                        </a:rPr>
                        <a:t>Binding Time</a:t>
                      </a:r>
                      <a:endParaRPr lang="en-US" sz="2000" dirty="0">
                        <a:effectLst/>
                        <a:latin typeface="Times"/>
                        <a:ea typeface="Times New Roman"/>
                        <a:cs typeface="Times New Roman"/>
                      </a:endParaRPr>
                    </a:p>
                  </a:txBody>
                  <a:tcPr marL="68580" marR="68580" marT="0" marB="0"/>
                </a:tc>
                <a:tc>
                  <a:txBody>
                    <a:bodyPr/>
                    <a:lstStyle/>
                    <a:p>
                      <a:pPr marL="0" marR="0" indent="0">
                        <a:lnSpc>
                          <a:spcPct val="80000"/>
                        </a:lnSpc>
                        <a:spcBef>
                          <a:spcPts val="100"/>
                        </a:spcBef>
                        <a:spcAft>
                          <a:spcPts val="300"/>
                        </a:spcAft>
                        <a:tabLst>
                          <a:tab pos="228600" algn="l"/>
                          <a:tab pos="274320" algn="l"/>
                          <a:tab pos="274320" algn="l"/>
                        </a:tabLst>
                      </a:pPr>
                      <a:r>
                        <a:rPr lang="en-US" sz="2000" kern="1100" dirty="0">
                          <a:effectLst/>
                        </a:rPr>
                        <a:t>Determine which binding time decisions should be under user control and ensure that users can make decisions that aid in usability. </a:t>
                      </a:r>
                    </a:p>
                    <a:p>
                      <a:pPr marL="0" marR="0" indent="0">
                        <a:lnSpc>
                          <a:spcPct val="80000"/>
                        </a:lnSpc>
                        <a:spcBef>
                          <a:spcPts val="100"/>
                        </a:spcBef>
                        <a:spcAft>
                          <a:spcPts val="300"/>
                        </a:spcAft>
                        <a:tabLst>
                          <a:tab pos="228600" algn="l"/>
                          <a:tab pos="274320" algn="l"/>
                          <a:tab pos="274320" algn="l"/>
                        </a:tabLst>
                      </a:pPr>
                      <a:r>
                        <a:rPr lang="en-US" sz="2000" kern="1100" dirty="0">
                          <a:effectLst/>
                        </a:rPr>
                        <a:t>For example, if the user can choose, at run-time, the system’s configuration, or its communication protocols, or its functionality via plug-ins, you need to ensure that such choices do not adversely affect the user’s ability to learn system features, use the system efficiently, minimize the impact of errors, further adapt and configure the system, or increase confidence and satisfaction.</a:t>
                      </a:r>
                      <a:endParaRPr lang="en-US" sz="2000" kern="1100" dirty="0">
                        <a:effectLst/>
                        <a:latin typeface="Times New Roman"/>
                        <a:ea typeface="Times New Roman"/>
                      </a:endParaRPr>
                    </a:p>
                  </a:txBody>
                  <a:tcPr marL="68580" marR="68580" marT="0" marB="0"/>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54717119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8" name="Date Placeholder 7">
            <a:extLst>
              <a:ext uri="{FF2B5EF4-FFF2-40B4-BE49-F238E27FC236}">
                <a16:creationId xmlns:a16="http://schemas.microsoft.com/office/drawing/2014/main" id="{1428C8A0-2741-6F7B-60FF-493ED53EF34C}"/>
              </a:ext>
            </a:extLst>
          </p:cNvPr>
          <p:cNvSpPr>
            <a:spLocks noGrp="1"/>
          </p:cNvSpPr>
          <p:nvPr>
            <p:ph type="dt" sz="half" idx="12"/>
          </p:nvPr>
        </p:nvSpPr>
        <p:spPr/>
        <p:txBody>
          <a:bodyPr/>
          <a:lstStyle/>
          <a:p>
            <a:r>
              <a:rPr lang="en-US"/>
              <a:t>Auguts 1, 2026</a:t>
            </a:r>
          </a:p>
        </p:txBody>
      </p:sp>
      <p:sp>
        <p:nvSpPr>
          <p:cNvPr id="9" name="Slide Number Placeholder 8">
            <a:extLst>
              <a:ext uri="{FF2B5EF4-FFF2-40B4-BE49-F238E27FC236}">
                <a16:creationId xmlns:a16="http://schemas.microsoft.com/office/drawing/2014/main" id="{590A0C0A-4599-9042-3DF3-E6D1A5C2F45F}"/>
              </a:ext>
            </a:extLst>
          </p:cNvPr>
          <p:cNvSpPr>
            <a:spLocks noGrp="1"/>
          </p:cNvSpPr>
          <p:nvPr>
            <p:ph type="sldNum" sz="quarter" idx="14"/>
          </p:nvPr>
        </p:nvSpPr>
        <p:spPr/>
        <p:txBody>
          <a:bodyPr/>
          <a:lstStyle/>
          <a:p>
            <a:fld id="{BC8D7E44-7D4F-4942-A8C9-2DF6BF8399E8}" type="slidenum">
              <a:rPr lang="en-US" smtClean="0"/>
              <a:pPr/>
              <a:t>91</a:t>
            </a:fld>
            <a:endParaRPr lang="en-US" dirty="0"/>
          </a:p>
        </p:txBody>
      </p:sp>
      <p:sp>
        <p:nvSpPr>
          <p:cNvPr id="10" name="Title 1">
            <a:extLst>
              <a:ext uri="{FF2B5EF4-FFF2-40B4-BE49-F238E27FC236}">
                <a16:creationId xmlns:a16="http://schemas.microsoft.com/office/drawing/2014/main" id="{1E7A0EE5-CB1D-DAC0-CF59-090B4BF19C9A}"/>
              </a:ext>
            </a:extLst>
          </p:cNvPr>
          <p:cNvSpPr>
            <a:spLocks noGrp="1"/>
          </p:cNvSpPr>
          <p:nvPr>
            <p:ph sz="quarter" idx="10"/>
          </p:nvPr>
        </p:nvSpPr>
        <p:spPr>
          <a:xfrm>
            <a:off x="304800" y="152400"/>
            <a:ext cx="6324600" cy="1143000"/>
          </a:xfrm>
        </p:spPr>
        <p:txBody>
          <a:bodyPr>
            <a:normAutofit/>
          </a:bodyPr>
          <a:lstStyle/>
          <a:p>
            <a:r>
              <a:rPr lang="en-US" dirty="0"/>
              <a:t>Design Checklist for Usability</a:t>
            </a:r>
          </a:p>
        </p:txBody>
      </p:sp>
      <p:graphicFrame>
        <p:nvGraphicFramePr>
          <p:cNvPr id="11" name="Content Placeholder 10">
            <a:extLst>
              <a:ext uri="{FF2B5EF4-FFF2-40B4-BE49-F238E27FC236}">
                <a16:creationId xmlns:a16="http://schemas.microsoft.com/office/drawing/2014/main" id="{F4332079-6F83-B3ED-D434-974B048EA405}"/>
              </a:ext>
            </a:extLst>
          </p:cNvPr>
          <p:cNvGraphicFramePr>
            <a:graphicFrameLocks noGrp="1"/>
          </p:cNvGraphicFramePr>
          <p:nvPr>
            <p:ph idx="1"/>
          </p:nvPr>
        </p:nvGraphicFramePr>
        <p:xfrm>
          <a:off x="304800" y="1493838"/>
          <a:ext cx="8458200" cy="3916362"/>
        </p:xfrm>
        <a:graphic>
          <a:graphicData uri="http://schemas.openxmlformats.org/drawingml/2006/table">
            <a:tbl>
              <a:tblPr firstRow="1" firstCol="1" bandRow="1">
                <a:tableStyleId>{5C22544A-7EE6-4342-B048-85BDC9FD1C3A}</a:tableStyleId>
              </a:tblPr>
              <a:tblGrid>
                <a:gridCol w="1739069">
                  <a:extLst>
                    <a:ext uri="{9D8B030D-6E8A-4147-A177-3AD203B41FA5}">
                      <a16:colId xmlns:a16="http://schemas.microsoft.com/office/drawing/2014/main" val="20000"/>
                    </a:ext>
                  </a:extLst>
                </a:gridCol>
                <a:gridCol w="6719131">
                  <a:extLst>
                    <a:ext uri="{9D8B030D-6E8A-4147-A177-3AD203B41FA5}">
                      <a16:colId xmlns:a16="http://schemas.microsoft.com/office/drawing/2014/main" val="20001"/>
                    </a:ext>
                  </a:extLst>
                </a:gridCol>
              </a:tblGrid>
              <a:tr h="3916362">
                <a:tc>
                  <a:txBody>
                    <a:bodyPr/>
                    <a:lstStyle/>
                    <a:p>
                      <a:pPr marL="0" marR="0">
                        <a:lnSpc>
                          <a:spcPct val="80000"/>
                        </a:lnSpc>
                        <a:spcBef>
                          <a:spcPts val="400"/>
                        </a:spcBef>
                        <a:spcAft>
                          <a:spcPts val="400"/>
                        </a:spcAft>
                      </a:pPr>
                      <a:r>
                        <a:rPr lang="en-US" sz="2000">
                          <a:effectLst/>
                        </a:rPr>
                        <a:t>Choice of Technology</a:t>
                      </a:r>
                      <a:endParaRPr lang="en-US" sz="2000">
                        <a:effectLst/>
                        <a:latin typeface="Times"/>
                        <a:ea typeface="Times New Roman"/>
                        <a:cs typeface="Times New Roman"/>
                      </a:endParaRPr>
                    </a:p>
                  </a:txBody>
                  <a:tcPr marL="68580" marR="68580" marT="0" marB="0"/>
                </a:tc>
                <a:tc>
                  <a:txBody>
                    <a:bodyPr/>
                    <a:lstStyle/>
                    <a:p>
                      <a:pPr marL="0" marR="0">
                        <a:lnSpc>
                          <a:spcPct val="80000"/>
                        </a:lnSpc>
                        <a:spcBef>
                          <a:spcPts val="400"/>
                        </a:spcBef>
                        <a:spcAft>
                          <a:spcPts val="400"/>
                        </a:spcAft>
                      </a:pPr>
                      <a:r>
                        <a:rPr lang="en-US" sz="2000" dirty="0">
                          <a:effectLst/>
                        </a:rPr>
                        <a:t>Ensure the chosen technologies help to achieve the usability scenarios that apply to your system. For example, do these technologies aid in the creation of on-line help, training materials, and user feedback collection. </a:t>
                      </a:r>
                    </a:p>
                    <a:p>
                      <a:pPr marL="0" marR="0" indent="0">
                        <a:lnSpc>
                          <a:spcPct val="80000"/>
                        </a:lnSpc>
                        <a:spcBef>
                          <a:spcPts val="100"/>
                        </a:spcBef>
                        <a:spcAft>
                          <a:spcPts val="300"/>
                        </a:spcAft>
                        <a:tabLst>
                          <a:tab pos="228600" algn="l"/>
                          <a:tab pos="274320" algn="l"/>
                          <a:tab pos="274320" algn="l"/>
                        </a:tabLst>
                      </a:pPr>
                      <a:r>
                        <a:rPr lang="en-US" sz="2000" kern="1100" dirty="0">
                          <a:effectLst/>
                        </a:rPr>
                        <a:t>How usable are any of your chosen technologies?  Ensure the chosen technologies do not adversely affect the usability of the system (in terms of learning system features, using the system efficiently, minimizing the impact of errors, or adapting/configuring the system, increase confidence and satisfaction).</a:t>
                      </a:r>
                      <a:endParaRPr lang="en-US" sz="2000" kern="1100" dirty="0">
                        <a:effectLst/>
                        <a:latin typeface="Times New Roman"/>
                        <a:ea typeface="Times New Roman"/>
                      </a:endParaRPr>
                    </a:p>
                  </a:txBody>
                  <a:tcPr marL="68580" marR="68580" marT="0" marB="0"/>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339162421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Architectural support for usability involves both allowing the user to take the initiative in circumstances such as cancelling a long running command, undoing a completed command, and aggregating data and commands. </a:t>
            </a:r>
          </a:p>
          <a:p>
            <a:r>
              <a:rPr lang="en-US" dirty="0"/>
              <a:t>To predict user or system response, the system must keep a model of the user, the system, and the task.</a:t>
            </a:r>
          </a:p>
          <a:p>
            <a:endParaRPr lang="en-US" dirty="0"/>
          </a:p>
          <a:p>
            <a:endParaRPr lang="en-US"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Date Placeholder 6">
            <a:extLst>
              <a:ext uri="{FF2B5EF4-FFF2-40B4-BE49-F238E27FC236}">
                <a16:creationId xmlns:a16="http://schemas.microsoft.com/office/drawing/2014/main" id="{696BD09E-F088-3F2A-1D3B-9521A8C815C8}"/>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69D09D31-9473-15B3-E413-C99B92BBAAC3}"/>
              </a:ext>
            </a:extLst>
          </p:cNvPr>
          <p:cNvSpPr>
            <a:spLocks noGrp="1"/>
          </p:cNvSpPr>
          <p:nvPr>
            <p:ph type="sldNum" sz="quarter" idx="14"/>
          </p:nvPr>
        </p:nvSpPr>
        <p:spPr/>
        <p:txBody>
          <a:bodyPr/>
          <a:lstStyle/>
          <a:p>
            <a:fld id="{BC8D7E44-7D4F-4942-A8C9-2DF6BF8399E8}" type="slidenum">
              <a:rPr lang="en-US" smtClean="0"/>
              <a:pPr/>
              <a:t>92</a:t>
            </a:fld>
            <a:endParaRPr lang="en-US" dirty="0"/>
          </a:p>
        </p:txBody>
      </p:sp>
      <p:sp>
        <p:nvSpPr>
          <p:cNvPr id="9" name="Title 1">
            <a:extLst>
              <a:ext uri="{FF2B5EF4-FFF2-40B4-BE49-F238E27FC236}">
                <a16:creationId xmlns:a16="http://schemas.microsoft.com/office/drawing/2014/main" id="{D514CD2C-F1DC-DC29-82F3-D31C5177C524}"/>
              </a:ext>
            </a:extLst>
          </p:cNvPr>
          <p:cNvSpPr>
            <a:spLocks noGrp="1"/>
          </p:cNvSpPr>
          <p:nvPr>
            <p:ph sz="quarter" idx="10"/>
          </p:nvPr>
        </p:nvSpPr>
        <p:spPr>
          <a:xfrm>
            <a:off x="304800" y="152400"/>
            <a:ext cx="6324600" cy="1143000"/>
          </a:xfrm>
        </p:spPr>
        <p:txBody>
          <a:bodyPr/>
          <a:lstStyle/>
          <a:p>
            <a:r>
              <a:rPr lang="en-US" dirty="0"/>
              <a:t>Summary</a:t>
            </a:r>
          </a:p>
        </p:txBody>
      </p:sp>
    </p:spTree>
    <p:extLst>
      <p:ext uri="{BB962C8B-B14F-4D97-AF65-F5344CB8AC3E}">
        <p14:creationId xmlns:p14="http://schemas.microsoft.com/office/powerpoint/2010/main" val="323235956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2"/>
          </p:nvPr>
        </p:nvSpPr>
        <p:spPr/>
        <p:txBody>
          <a:bodyPr/>
          <a:lstStyle/>
          <a:p>
            <a:r>
              <a:rPr lang="en-AU"/>
              <a:t>SEZG651/SSZG653 Software Architectures</a:t>
            </a:r>
            <a:endParaRPr lang="en-AU" dirty="0"/>
          </a:p>
        </p:txBody>
      </p:sp>
      <p:sp>
        <p:nvSpPr>
          <p:cNvPr id="9" name="Title 1">
            <a:extLst>
              <a:ext uri="{FF2B5EF4-FFF2-40B4-BE49-F238E27FC236}">
                <a16:creationId xmlns:a16="http://schemas.microsoft.com/office/drawing/2014/main" id="{991997E6-6055-4C51-A75F-32160B28AED5}"/>
              </a:ext>
            </a:extLst>
          </p:cNvPr>
          <p:cNvSpPr>
            <a:spLocks noGrp="1"/>
          </p:cNvSpPr>
          <p:nvPr>
            <p:ph sz="quarter" idx="10"/>
          </p:nvPr>
        </p:nvSpPr>
        <p:spPr/>
        <p:txBody>
          <a:bodyPr/>
          <a:lstStyle/>
          <a:p>
            <a:r>
              <a:rPr lang="en-AU" dirty="0"/>
              <a:t>Other Quality Attributes</a:t>
            </a:r>
          </a:p>
        </p:txBody>
      </p:sp>
      <p:sp>
        <p:nvSpPr>
          <p:cNvPr id="2" name="Date Placeholder 1">
            <a:extLst>
              <a:ext uri="{FF2B5EF4-FFF2-40B4-BE49-F238E27FC236}">
                <a16:creationId xmlns:a16="http://schemas.microsoft.com/office/drawing/2014/main" id="{716A2B64-BC0D-CB8E-6CDC-F73FA1770BFA}"/>
              </a:ext>
            </a:extLst>
          </p:cNvPr>
          <p:cNvSpPr>
            <a:spLocks noGrp="1"/>
          </p:cNvSpPr>
          <p:nvPr>
            <p:ph type="dt" sz="half" idx="11"/>
          </p:nvPr>
        </p:nvSpPr>
        <p:spPr/>
        <p:txBody>
          <a:bodyPr/>
          <a:lstStyle/>
          <a:p>
            <a:r>
              <a:rPr lang="en-US"/>
              <a:t>Auguts 1, 2026</a:t>
            </a:r>
            <a:endParaRPr lang="en-US" dirty="0"/>
          </a:p>
        </p:txBody>
      </p:sp>
      <p:sp>
        <p:nvSpPr>
          <p:cNvPr id="3" name="Slide Number Placeholder 2">
            <a:extLst>
              <a:ext uri="{FF2B5EF4-FFF2-40B4-BE49-F238E27FC236}">
                <a16:creationId xmlns:a16="http://schemas.microsoft.com/office/drawing/2014/main" id="{F83A95D9-F8A4-D325-340D-11F12FF6B733}"/>
              </a:ext>
            </a:extLst>
          </p:cNvPr>
          <p:cNvSpPr>
            <a:spLocks noGrp="1"/>
          </p:cNvSpPr>
          <p:nvPr>
            <p:ph type="sldNum" sz="quarter" idx="13"/>
          </p:nvPr>
        </p:nvSpPr>
        <p:spPr/>
        <p:txBody>
          <a:bodyPr/>
          <a:lstStyle/>
          <a:p>
            <a:fld id="{BC8D7E44-7D4F-4942-A8C9-2DF6BF8399E8}" type="slidenum">
              <a:rPr lang="en-US" smtClean="0"/>
              <a:pPr/>
              <a:t>93</a:t>
            </a:fld>
            <a:endParaRPr lang="en-US" dirty="0"/>
          </a:p>
        </p:txBody>
      </p:sp>
    </p:spTree>
    <p:extLst>
      <p:ext uri="{BB962C8B-B14F-4D97-AF65-F5344CB8AC3E}">
        <p14:creationId xmlns:p14="http://schemas.microsoft.com/office/powerpoint/2010/main" val="276353913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z="3200" b="0" i="0" u="none" strike="noStrike" kern="1200" baseline="0" dirty="0">
                <a:solidFill>
                  <a:schemeClr val="tx1"/>
                </a:solidFill>
                <a:latin typeface="+mn-lt"/>
                <a:ea typeface="+mn-ea"/>
                <a:cs typeface="+mn-cs"/>
              </a:rPr>
              <a:t>Other Important Quality Attributes</a:t>
            </a:r>
          </a:p>
          <a:p>
            <a:r>
              <a:rPr lang="en-US" dirty="0"/>
              <a:t>Other Categories of Quality Attributes</a:t>
            </a:r>
            <a:endParaRPr lang="en-US" sz="3200" b="0" i="0" u="none" strike="noStrike" kern="1200" baseline="0" dirty="0">
              <a:solidFill>
                <a:schemeClr val="tx1"/>
              </a:solidFill>
              <a:latin typeface="+mn-lt"/>
              <a:ea typeface="+mn-ea"/>
              <a:cs typeface="+mn-cs"/>
            </a:endParaRPr>
          </a:p>
          <a:p>
            <a:r>
              <a:rPr lang="en-US" dirty="0"/>
              <a:t>Software Quality Attributes and System Quality Attributes</a:t>
            </a:r>
          </a:p>
          <a:p>
            <a:r>
              <a:rPr lang="en-US" dirty="0"/>
              <a:t>Using Standard Lists of Quality Attributes </a:t>
            </a:r>
          </a:p>
          <a:p>
            <a:r>
              <a:rPr lang="en-US" dirty="0"/>
              <a:t>Dealing with “X-ability”</a:t>
            </a:r>
          </a:p>
          <a:p>
            <a:r>
              <a:rPr lang="en-US" dirty="0"/>
              <a:t>Summary </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Date Placeholder 6">
            <a:extLst>
              <a:ext uri="{FF2B5EF4-FFF2-40B4-BE49-F238E27FC236}">
                <a16:creationId xmlns:a16="http://schemas.microsoft.com/office/drawing/2014/main" id="{FC7BEBDC-5A9F-F20E-0E9F-47F17E4308BA}"/>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F4540FA8-1C25-C97E-F10F-D251AB806477}"/>
              </a:ext>
            </a:extLst>
          </p:cNvPr>
          <p:cNvSpPr>
            <a:spLocks noGrp="1"/>
          </p:cNvSpPr>
          <p:nvPr>
            <p:ph type="sldNum" sz="quarter" idx="14"/>
          </p:nvPr>
        </p:nvSpPr>
        <p:spPr/>
        <p:txBody>
          <a:bodyPr/>
          <a:lstStyle/>
          <a:p>
            <a:fld id="{BC8D7E44-7D4F-4942-A8C9-2DF6BF8399E8}" type="slidenum">
              <a:rPr lang="en-US" smtClean="0"/>
              <a:pPr/>
              <a:t>94</a:t>
            </a:fld>
            <a:endParaRPr lang="en-US" dirty="0"/>
          </a:p>
        </p:txBody>
      </p:sp>
      <p:sp>
        <p:nvSpPr>
          <p:cNvPr id="9" name="Title 1">
            <a:extLst>
              <a:ext uri="{FF2B5EF4-FFF2-40B4-BE49-F238E27FC236}">
                <a16:creationId xmlns:a16="http://schemas.microsoft.com/office/drawing/2014/main" id="{62971BF7-DEE6-6CC3-B59E-A65D7DE6E8E0}"/>
              </a:ext>
            </a:extLst>
          </p:cNvPr>
          <p:cNvSpPr>
            <a:spLocks noGrp="1"/>
          </p:cNvSpPr>
          <p:nvPr>
            <p:ph sz="quarter" idx="10"/>
          </p:nvPr>
        </p:nvSpPr>
        <p:spPr>
          <a:xfrm>
            <a:off x="304800" y="152400"/>
            <a:ext cx="6324600" cy="1143000"/>
          </a:xfrm>
        </p:spPr>
        <p:txBody>
          <a:bodyPr/>
          <a:lstStyle/>
          <a:p>
            <a:r>
              <a:rPr lang="en-AU" dirty="0"/>
              <a:t>Chapter Outline</a:t>
            </a:r>
          </a:p>
        </p:txBody>
      </p:sp>
    </p:spTree>
    <p:extLst>
      <p:ext uri="{BB962C8B-B14F-4D97-AF65-F5344CB8AC3E}">
        <p14:creationId xmlns:p14="http://schemas.microsoft.com/office/powerpoint/2010/main" val="30396983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anose="020B0604020202020204" pitchFamily="34" charset="0"/>
              <a:buChar char="•"/>
            </a:pPr>
            <a:r>
              <a:rPr lang="en-US" dirty="0"/>
              <a:t>Variability: is a special form of modifiability. It refers to the ability of a system and its supporting artifacts to support the production of a set of variants that differ from each other in a preplanned fashion.  </a:t>
            </a:r>
          </a:p>
          <a:p>
            <a:pPr>
              <a:buFont typeface="Arial" panose="020B0604020202020204" pitchFamily="34" charset="0"/>
              <a:buChar char="•"/>
            </a:pPr>
            <a:r>
              <a:rPr lang="en-US" dirty="0"/>
              <a:t>Portability: is also a special form of modifiability.  Portability refers to the ease with which software that built to run on one platform can be changed to run on a different platform. </a:t>
            </a:r>
          </a:p>
          <a:p>
            <a:pPr>
              <a:buFont typeface="Arial" panose="020B0604020202020204" pitchFamily="34" charset="0"/>
              <a:buChar char="•"/>
            </a:pPr>
            <a:r>
              <a:rPr lang="en-US" dirty="0"/>
              <a:t>Development </a:t>
            </a:r>
            <a:r>
              <a:rPr lang="en-US" dirty="0" err="1"/>
              <a:t>Distributability</a:t>
            </a:r>
            <a:r>
              <a:rPr lang="en-US" dirty="0"/>
              <a:t>: is the quality of designing the software to support distributed software development. </a:t>
            </a:r>
          </a:p>
          <a:p>
            <a:pPr>
              <a:buFont typeface="Arial" panose="020B0604020202020204" pitchFamily="34" charset="0"/>
              <a:buChar char="•"/>
            </a:pPr>
            <a:endParaRPr lang="en-US" dirty="0"/>
          </a:p>
          <a:p>
            <a:pPr>
              <a:buFont typeface="Arial" panose="020B0604020202020204" pitchFamily="34" charset="0"/>
              <a:buChar char="•"/>
            </a:pPr>
            <a:endParaRPr lang="en-US"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Date Placeholder 6">
            <a:extLst>
              <a:ext uri="{FF2B5EF4-FFF2-40B4-BE49-F238E27FC236}">
                <a16:creationId xmlns:a16="http://schemas.microsoft.com/office/drawing/2014/main" id="{45DB0AF5-45B8-E5F8-7AEB-B2C9582D818A}"/>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08756B9C-2A31-0A43-5663-46A29CEF356F}"/>
              </a:ext>
            </a:extLst>
          </p:cNvPr>
          <p:cNvSpPr>
            <a:spLocks noGrp="1"/>
          </p:cNvSpPr>
          <p:nvPr>
            <p:ph type="sldNum" sz="quarter" idx="14"/>
          </p:nvPr>
        </p:nvSpPr>
        <p:spPr/>
        <p:txBody>
          <a:bodyPr/>
          <a:lstStyle/>
          <a:p>
            <a:fld id="{BC8D7E44-7D4F-4942-A8C9-2DF6BF8399E8}" type="slidenum">
              <a:rPr lang="en-US" smtClean="0"/>
              <a:pPr/>
              <a:t>95</a:t>
            </a:fld>
            <a:endParaRPr lang="en-US" dirty="0"/>
          </a:p>
        </p:txBody>
      </p:sp>
      <p:sp>
        <p:nvSpPr>
          <p:cNvPr id="9" name="Title 1">
            <a:extLst>
              <a:ext uri="{FF2B5EF4-FFF2-40B4-BE49-F238E27FC236}">
                <a16:creationId xmlns:a16="http://schemas.microsoft.com/office/drawing/2014/main" id="{90FA2130-035A-02A0-F95F-81269AB59F6E}"/>
              </a:ext>
            </a:extLst>
          </p:cNvPr>
          <p:cNvSpPr>
            <a:spLocks noGrp="1"/>
          </p:cNvSpPr>
          <p:nvPr>
            <p:ph sz="quarter" idx="10"/>
          </p:nvPr>
        </p:nvSpPr>
        <p:spPr>
          <a:xfrm>
            <a:off x="304800" y="152400"/>
            <a:ext cx="6324600" cy="1143000"/>
          </a:xfrm>
        </p:spPr>
        <p:txBody>
          <a:bodyPr>
            <a:normAutofit fontScale="97500"/>
          </a:bodyPr>
          <a:lstStyle/>
          <a:p>
            <a:r>
              <a:rPr lang="en-US" dirty="0"/>
              <a:t>Other Important Quality Attributes</a:t>
            </a:r>
          </a:p>
        </p:txBody>
      </p:sp>
    </p:spTree>
    <p:extLst>
      <p:ext uri="{BB962C8B-B14F-4D97-AF65-F5344CB8AC3E}">
        <p14:creationId xmlns:p14="http://schemas.microsoft.com/office/powerpoint/2010/main" val="373786132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anose="020B0604020202020204" pitchFamily="34" charset="0"/>
              <a:buChar char="•"/>
            </a:pPr>
            <a:r>
              <a:rPr lang="en-US" dirty="0"/>
              <a:t>Scalability: Horizontal scalability (scaling out) refers to adding more resources to logical units such as adding another server to a cluster. Vertical scalability (scaling up) refers to adding more resources to a physical unit such as adding more memory to a computer. </a:t>
            </a:r>
          </a:p>
          <a:p>
            <a:pPr>
              <a:buFont typeface="Arial" panose="020B0604020202020204" pitchFamily="34" charset="0"/>
              <a:buChar char="•"/>
            </a:pPr>
            <a:r>
              <a:rPr lang="en-US" dirty="0"/>
              <a:t>Deployability: is concerned with how an executable arrives at a host platform and how it is invoked.</a:t>
            </a:r>
          </a:p>
          <a:p>
            <a:pPr>
              <a:buFont typeface="Arial" panose="020B0604020202020204" pitchFamily="34" charset="0"/>
              <a:buChar char="•"/>
            </a:pPr>
            <a:r>
              <a:rPr lang="en-US" dirty="0"/>
              <a:t>Mobility: deals with the problems of movement and affordances of a platform (e.g. size, type of display, type of input devices, availability and volume of bandwidth, and battery life). </a:t>
            </a:r>
          </a:p>
          <a:p>
            <a:pPr>
              <a:buFont typeface="Arial" panose="020B0604020202020204" pitchFamily="34" charset="0"/>
              <a:buChar char="•"/>
            </a:pPr>
            <a:endParaRPr lang="en-US" dirty="0"/>
          </a:p>
          <a:p>
            <a:pPr>
              <a:buFont typeface="Arial" panose="020B0604020202020204" pitchFamily="34" charset="0"/>
              <a:buChar char="•"/>
            </a:pPr>
            <a:endParaRPr lang="en-US"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Date Placeholder 6">
            <a:extLst>
              <a:ext uri="{FF2B5EF4-FFF2-40B4-BE49-F238E27FC236}">
                <a16:creationId xmlns:a16="http://schemas.microsoft.com/office/drawing/2014/main" id="{A2F68E80-0EE3-8394-3460-8C994A9D1534}"/>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50E45850-3F02-1974-9BA7-DD104FCD6AFA}"/>
              </a:ext>
            </a:extLst>
          </p:cNvPr>
          <p:cNvSpPr>
            <a:spLocks noGrp="1"/>
          </p:cNvSpPr>
          <p:nvPr>
            <p:ph type="sldNum" sz="quarter" idx="14"/>
          </p:nvPr>
        </p:nvSpPr>
        <p:spPr/>
        <p:txBody>
          <a:bodyPr/>
          <a:lstStyle/>
          <a:p>
            <a:fld id="{BC8D7E44-7D4F-4942-A8C9-2DF6BF8399E8}" type="slidenum">
              <a:rPr lang="en-US" smtClean="0"/>
              <a:pPr/>
              <a:t>96</a:t>
            </a:fld>
            <a:endParaRPr lang="en-US" dirty="0"/>
          </a:p>
        </p:txBody>
      </p:sp>
      <p:sp>
        <p:nvSpPr>
          <p:cNvPr id="9" name="Title 1">
            <a:extLst>
              <a:ext uri="{FF2B5EF4-FFF2-40B4-BE49-F238E27FC236}">
                <a16:creationId xmlns:a16="http://schemas.microsoft.com/office/drawing/2014/main" id="{A114DA69-7B79-750B-987D-F34B38AC00BF}"/>
              </a:ext>
            </a:extLst>
          </p:cNvPr>
          <p:cNvSpPr>
            <a:spLocks noGrp="1"/>
          </p:cNvSpPr>
          <p:nvPr>
            <p:ph sz="quarter" idx="10"/>
          </p:nvPr>
        </p:nvSpPr>
        <p:spPr>
          <a:xfrm>
            <a:off x="304800" y="152400"/>
            <a:ext cx="6324600" cy="1143000"/>
          </a:xfrm>
        </p:spPr>
        <p:txBody>
          <a:bodyPr>
            <a:normAutofit fontScale="97500"/>
          </a:bodyPr>
          <a:lstStyle/>
          <a:p>
            <a:r>
              <a:rPr lang="en-US" dirty="0"/>
              <a:t>Other Important Quality Attributes</a:t>
            </a:r>
          </a:p>
        </p:txBody>
      </p:sp>
    </p:spTree>
    <p:extLst>
      <p:ext uri="{BB962C8B-B14F-4D97-AF65-F5344CB8AC3E}">
        <p14:creationId xmlns:p14="http://schemas.microsoft.com/office/powerpoint/2010/main" val="2125830969"/>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anose="020B0604020202020204" pitchFamily="34" charset="0"/>
              <a:buChar char="•"/>
            </a:pPr>
            <a:r>
              <a:rPr lang="en-US" dirty="0"/>
              <a:t>Monitorability: deals with the ability of the operations staff to monitor the system while it is executing.</a:t>
            </a:r>
          </a:p>
          <a:p>
            <a:pPr>
              <a:buFont typeface="Arial" panose="020B0604020202020204" pitchFamily="34" charset="0"/>
              <a:buChar char="•"/>
            </a:pPr>
            <a:r>
              <a:rPr lang="en-US" dirty="0"/>
              <a:t>Safety: Software safety is about the software’s ability to avoid entering states that cause or lead to damage, injury, or loss of life, and to recover and limit the damage when it does enter into bad states. The architectural concerns with safety are almost identical with those for availability  (i.e. preventing, detecting, and recovering from failures).</a:t>
            </a:r>
          </a:p>
          <a:p>
            <a:pPr>
              <a:buFont typeface="Arial" panose="020B0604020202020204" pitchFamily="34" charset="0"/>
              <a:buChar char="•"/>
            </a:pPr>
            <a:endParaRPr lang="en-US" dirty="0"/>
          </a:p>
          <a:p>
            <a:pPr>
              <a:buFont typeface="Arial" panose="020B0604020202020204" pitchFamily="34" charset="0"/>
              <a:buChar char="•"/>
            </a:pPr>
            <a:endParaRPr lang="en-US" dirty="0"/>
          </a:p>
          <a:p>
            <a:pPr>
              <a:buFont typeface="Arial" panose="020B0604020202020204" pitchFamily="34" charset="0"/>
              <a:buChar char="•"/>
            </a:pPr>
            <a:endParaRPr lang="en-US" dirty="0"/>
          </a:p>
          <a:p>
            <a:pPr>
              <a:buFont typeface="Arial" panose="020B0604020202020204" pitchFamily="34" charset="0"/>
              <a:buChar char="•"/>
            </a:pPr>
            <a:endParaRPr lang="en-US"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Date Placeholder 6">
            <a:extLst>
              <a:ext uri="{FF2B5EF4-FFF2-40B4-BE49-F238E27FC236}">
                <a16:creationId xmlns:a16="http://schemas.microsoft.com/office/drawing/2014/main" id="{C30948A4-89C6-5DB4-1A27-AAD34B629D70}"/>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4E85B9EF-168F-32D6-DF24-4AECECE5B2DF}"/>
              </a:ext>
            </a:extLst>
          </p:cNvPr>
          <p:cNvSpPr>
            <a:spLocks noGrp="1"/>
          </p:cNvSpPr>
          <p:nvPr>
            <p:ph type="sldNum" sz="quarter" idx="14"/>
          </p:nvPr>
        </p:nvSpPr>
        <p:spPr/>
        <p:txBody>
          <a:bodyPr/>
          <a:lstStyle/>
          <a:p>
            <a:fld id="{BC8D7E44-7D4F-4942-A8C9-2DF6BF8399E8}" type="slidenum">
              <a:rPr lang="en-US" smtClean="0"/>
              <a:pPr/>
              <a:t>97</a:t>
            </a:fld>
            <a:endParaRPr lang="en-US" dirty="0"/>
          </a:p>
        </p:txBody>
      </p:sp>
      <p:sp>
        <p:nvSpPr>
          <p:cNvPr id="9" name="Title 1">
            <a:extLst>
              <a:ext uri="{FF2B5EF4-FFF2-40B4-BE49-F238E27FC236}">
                <a16:creationId xmlns:a16="http://schemas.microsoft.com/office/drawing/2014/main" id="{BB201BD6-390E-F3D9-8B4E-1205FEC1457D}"/>
              </a:ext>
            </a:extLst>
          </p:cNvPr>
          <p:cNvSpPr>
            <a:spLocks noGrp="1"/>
          </p:cNvSpPr>
          <p:nvPr>
            <p:ph sz="quarter" idx="10"/>
          </p:nvPr>
        </p:nvSpPr>
        <p:spPr>
          <a:xfrm>
            <a:off x="304800" y="152400"/>
            <a:ext cx="6324600" cy="1143000"/>
          </a:xfrm>
        </p:spPr>
        <p:txBody>
          <a:bodyPr>
            <a:normAutofit fontScale="97500"/>
          </a:bodyPr>
          <a:lstStyle/>
          <a:p>
            <a:r>
              <a:rPr lang="en-US" dirty="0"/>
              <a:t>Other Important Quality Attributes</a:t>
            </a:r>
          </a:p>
        </p:txBody>
      </p:sp>
    </p:spTree>
    <p:extLst>
      <p:ext uri="{BB962C8B-B14F-4D97-AF65-F5344CB8AC3E}">
        <p14:creationId xmlns:p14="http://schemas.microsoft.com/office/powerpoint/2010/main" val="2250116584"/>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anose="020B0604020202020204" pitchFamily="34" charset="0"/>
              <a:buChar char="•"/>
            </a:pPr>
            <a:r>
              <a:rPr lang="en-US" dirty="0"/>
              <a:t>Conceptual Integrity: refers to consistency in the design of the architecture. It contributes to the understandability of the architecture.   Conceptual integrity demands that the same thing is done in the same way through the architecture. </a:t>
            </a:r>
          </a:p>
          <a:p>
            <a:pPr>
              <a:buFont typeface="Arial" panose="020B0604020202020204" pitchFamily="34" charset="0"/>
              <a:buChar char="•"/>
            </a:pPr>
            <a:r>
              <a:rPr lang="en-US" dirty="0"/>
              <a:t>Marketability: Some systems are marketed by their architectures, and these architectures sometimes carry a meaning all their own, independent of what other quality attributes they bring to the system (e.g. service-oriented or cloud-based).</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Date Placeholder 6">
            <a:extLst>
              <a:ext uri="{FF2B5EF4-FFF2-40B4-BE49-F238E27FC236}">
                <a16:creationId xmlns:a16="http://schemas.microsoft.com/office/drawing/2014/main" id="{F7D947EC-514C-D410-B885-8B49F24437F7}"/>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3E7EA3C1-1DE2-86AD-CB5B-1658566CC626}"/>
              </a:ext>
            </a:extLst>
          </p:cNvPr>
          <p:cNvSpPr>
            <a:spLocks noGrp="1"/>
          </p:cNvSpPr>
          <p:nvPr>
            <p:ph type="sldNum" sz="quarter" idx="14"/>
          </p:nvPr>
        </p:nvSpPr>
        <p:spPr/>
        <p:txBody>
          <a:bodyPr/>
          <a:lstStyle/>
          <a:p>
            <a:fld id="{BC8D7E44-7D4F-4942-A8C9-2DF6BF8399E8}" type="slidenum">
              <a:rPr lang="en-US" smtClean="0"/>
              <a:pPr/>
              <a:t>98</a:t>
            </a:fld>
            <a:endParaRPr lang="en-US" dirty="0"/>
          </a:p>
        </p:txBody>
      </p:sp>
      <p:sp>
        <p:nvSpPr>
          <p:cNvPr id="9" name="Title 1">
            <a:extLst>
              <a:ext uri="{FF2B5EF4-FFF2-40B4-BE49-F238E27FC236}">
                <a16:creationId xmlns:a16="http://schemas.microsoft.com/office/drawing/2014/main" id="{279C6C04-3E57-CD32-D5E2-4D709549D1C5}"/>
              </a:ext>
            </a:extLst>
          </p:cNvPr>
          <p:cNvSpPr>
            <a:spLocks noGrp="1"/>
          </p:cNvSpPr>
          <p:nvPr>
            <p:ph sz="quarter" idx="10"/>
          </p:nvPr>
        </p:nvSpPr>
        <p:spPr>
          <a:xfrm>
            <a:off x="304800" y="152400"/>
            <a:ext cx="6324600" cy="1143000"/>
          </a:xfrm>
        </p:spPr>
        <p:txBody>
          <a:bodyPr>
            <a:normAutofit fontScale="97500"/>
          </a:bodyPr>
          <a:lstStyle/>
          <a:p>
            <a:r>
              <a:rPr lang="en-US" dirty="0"/>
              <a:t>Other Categories of Quality Attributes</a:t>
            </a:r>
          </a:p>
        </p:txBody>
      </p:sp>
    </p:spTree>
    <p:extLst>
      <p:ext uri="{BB962C8B-B14F-4D97-AF65-F5344CB8AC3E}">
        <p14:creationId xmlns:p14="http://schemas.microsoft.com/office/powerpoint/2010/main" val="3271088273"/>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anose="020B0604020202020204" pitchFamily="34" charset="0"/>
              <a:buChar char="•"/>
            </a:pPr>
            <a:r>
              <a:rPr lang="en-US" dirty="0"/>
              <a:t>Quality in Use: qualities that pertain to the use of the system by various stakeholders. For example </a:t>
            </a:r>
          </a:p>
          <a:p>
            <a:pPr lvl="1"/>
            <a:r>
              <a:rPr lang="en-US" dirty="0"/>
              <a:t>Effectiveness: a measure whether the system is correct </a:t>
            </a:r>
          </a:p>
          <a:p>
            <a:pPr lvl="1"/>
            <a:r>
              <a:rPr lang="en-US" dirty="0"/>
              <a:t>Efficiency: the effort and time required to develop a system </a:t>
            </a:r>
          </a:p>
          <a:p>
            <a:pPr lvl="1"/>
            <a:r>
              <a:rPr lang="en-US" dirty="0"/>
              <a:t>Freedom from risk: degree to which a product or system affects economic status, human life, health, or the environment </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Date Placeholder 6">
            <a:extLst>
              <a:ext uri="{FF2B5EF4-FFF2-40B4-BE49-F238E27FC236}">
                <a16:creationId xmlns:a16="http://schemas.microsoft.com/office/drawing/2014/main" id="{2E4D1535-1A2E-557D-E4E9-F1C33720EAD9}"/>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F58EC82D-CADE-14F7-7DE5-D22C6FA9416F}"/>
              </a:ext>
            </a:extLst>
          </p:cNvPr>
          <p:cNvSpPr>
            <a:spLocks noGrp="1"/>
          </p:cNvSpPr>
          <p:nvPr>
            <p:ph type="sldNum" sz="quarter" idx="14"/>
          </p:nvPr>
        </p:nvSpPr>
        <p:spPr/>
        <p:txBody>
          <a:bodyPr/>
          <a:lstStyle/>
          <a:p>
            <a:fld id="{BC8D7E44-7D4F-4942-A8C9-2DF6BF8399E8}" type="slidenum">
              <a:rPr lang="en-US" smtClean="0"/>
              <a:pPr/>
              <a:t>99</a:t>
            </a:fld>
            <a:endParaRPr lang="en-US" dirty="0"/>
          </a:p>
        </p:txBody>
      </p:sp>
      <p:sp>
        <p:nvSpPr>
          <p:cNvPr id="9" name="Title 1">
            <a:extLst>
              <a:ext uri="{FF2B5EF4-FFF2-40B4-BE49-F238E27FC236}">
                <a16:creationId xmlns:a16="http://schemas.microsoft.com/office/drawing/2014/main" id="{EED6B4C0-C6AC-77CE-AC7F-2A58691274E8}"/>
              </a:ext>
            </a:extLst>
          </p:cNvPr>
          <p:cNvSpPr>
            <a:spLocks noGrp="1"/>
          </p:cNvSpPr>
          <p:nvPr>
            <p:ph sz="quarter" idx="10"/>
          </p:nvPr>
        </p:nvSpPr>
        <p:spPr>
          <a:xfrm>
            <a:off x="304800" y="152400"/>
            <a:ext cx="6324600" cy="1143000"/>
          </a:xfrm>
        </p:spPr>
        <p:txBody>
          <a:bodyPr>
            <a:normAutofit fontScale="97500"/>
          </a:bodyPr>
          <a:lstStyle/>
          <a:p>
            <a:r>
              <a:rPr lang="en-US" dirty="0"/>
              <a:t>Other Categories of Quality Attributes</a:t>
            </a:r>
          </a:p>
        </p:txBody>
      </p:sp>
    </p:spTree>
    <p:extLst>
      <p:ext uri="{BB962C8B-B14F-4D97-AF65-F5344CB8AC3E}">
        <p14:creationId xmlns:p14="http://schemas.microsoft.com/office/powerpoint/2010/main" val="3901090296"/>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anose="020B0604020202020204" pitchFamily="34" charset="0"/>
              <a:buChar char="•"/>
            </a:pPr>
            <a:r>
              <a:rPr lang="en-US" dirty="0"/>
              <a:t>Physical systems, such as aircraft or automobiles or kitchen appliances, that rely on software embedded within are designed to meet a whole other litany of quality attributes:  weight, size, electric consumption, power output, pollution output, weather resistance, battery life, and on and on. </a:t>
            </a:r>
          </a:p>
          <a:p>
            <a:pPr>
              <a:buFont typeface="Arial" panose="020B0604020202020204" pitchFamily="34" charset="0"/>
              <a:buChar char="•"/>
            </a:pPr>
            <a:r>
              <a:rPr lang="en-US" dirty="0"/>
              <a:t>The software architecture can have a substantial effect on the system’s quality attributes. </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Date Placeholder 6">
            <a:extLst>
              <a:ext uri="{FF2B5EF4-FFF2-40B4-BE49-F238E27FC236}">
                <a16:creationId xmlns:a16="http://schemas.microsoft.com/office/drawing/2014/main" id="{35A5343E-EB18-1525-FE3C-FB865F1AC722}"/>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31598D00-D5C8-5B33-BC85-673330A498D3}"/>
              </a:ext>
            </a:extLst>
          </p:cNvPr>
          <p:cNvSpPr>
            <a:spLocks noGrp="1"/>
          </p:cNvSpPr>
          <p:nvPr>
            <p:ph type="sldNum" sz="quarter" idx="14"/>
          </p:nvPr>
        </p:nvSpPr>
        <p:spPr/>
        <p:txBody>
          <a:bodyPr/>
          <a:lstStyle/>
          <a:p>
            <a:fld id="{BC8D7E44-7D4F-4942-A8C9-2DF6BF8399E8}" type="slidenum">
              <a:rPr lang="en-US" smtClean="0"/>
              <a:pPr/>
              <a:t>100</a:t>
            </a:fld>
            <a:endParaRPr lang="en-US" dirty="0"/>
          </a:p>
        </p:txBody>
      </p:sp>
      <p:sp>
        <p:nvSpPr>
          <p:cNvPr id="9" name="Title 1">
            <a:extLst>
              <a:ext uri="{FF2B5EF4-FFF2-40B4-BE49-F238E27FC236}">
                <a16:creationId xmlns:a16="http://schemas.microsoft.com/office/drawing/2014/main" id="{6F9E1F97-E0FD-F1CC-6277-DDE4F68EA78B}"/>
              </a:ext>
            </a:extLst>
          </p:cNvPr>
          <p:cNvSpPr>
            <a:spLocks noGrp="1"/>
          </p:cNvSpPr>
          <p:nvPr>
            <p:ph sz="quarter" idx="10"/>
          </p:nvPr>
        </p:nvSpPr>
        <p:spPr>
          <a:xfrm>
            <a:off x="304800" y="152400"/>
            <a:ext cx="6324600" cy="1143000"/>
          </a:xfrm>
        </p:spPr>
        <p:txBody>
          <a:bodyPr>
            <a:normAutofit fontScale="97500"/>
          </a:bodyPr>
          <a:lstStyle/>
          <a:p>
            <a:r>
              <a:rPr lang="en-US" dirty="0"/>
              <a:t>Software Quality Attributes and System Quality Attributes </a:t>
            </a:r>
          </a:p>
        </p:txBody>
      </p:sp>
    </p:spTree>
    <p:extLst>
      <p:ext uri="{BB962C8B-B14F-4D97-AF65-F5344CB8AC3E}">
        <p14:creationId xmlns:p14="http://schemas.microsoft.com/office/powerpoint/2010/main" val="1036159078"/>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buNone/>
            </a:pPr>
            <a:r>
              <a:rPr lang="en-US" sz="2400" dirty="0"/>
              <a:t>ISO/IEC FCD 25010 </a:t>
            </a:r>
            <a:br>
              <a:rPr lang="en-US" sz="2400" dirty="0"/>
            </a:br>
            <a:r>
              <a:rPr lang="en-US" sz="2400" dirty="0"/>
              <a:t>Product Quality Standard</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pic>
        <p:nvPicPr>
          <p:cNvPr id="5" name="Picture 4"/>
          <p:cNvPicPr/>
          <p:nvPr/>
        </p:nvPicPr>
        <p:blipFill>
          <a:blip r:embed="rId2" cstate="print"/>
          <a:stretch>
            <a:fillRect/>
          </a:stretch>
        </p:blipFill>
        <p:spPr>
          <a:xfrm>
            <a:off x="323528" y="1124744"/>
            <a:ext cx="8424936" cy="5328592"/>
          </a:xfrm>
          <a:prstGeom prst="rect">
            <a:avLst/>
          </a:prstGeom>
        </p:spPr>
      </p:pic>
      <p:sp>
        <p:nvSpPr>
          <p:cNvPr id="8" name="Date Placeholder 7">
            <a:extLst>
              <a:ext uri="{FF2B5EF4-FFF2-40B4-BE49-F238E27FC236}">
                <a16:creationId xmlns:a16="http://schemas.microsoft.com/office/drawing/2014/main" id="{F02810F1-C752-D550-003C-F29E99CC2BDF}"/>
              </a:ext>
            </a:extLst>
          </p:cNvPr>
          <p:cNvSpPr>
            <a:spLocks noGrp="1"/>
          </p:cNvSpPr>
          <p:nvPr>
            <p:ph type="dt" sz="half" idx="12"/>
          </p:nvPr>
        </p:nvSpPr>
        <p:spPr/>
        <p:txBody>
          <a:bodyPr/>
          <a:lstStyle/>
          <a:p>
            <a:r>
              <a:rPr lang="en-US"/>
              <a:t>Auguts 1, 2026</a:t>
            </a:r>
          </a:p>
        </p:txBody>
      </p:sp>
      <p:sp>
        <p:nvSpPr>
          <p:cNvPr id="9" name="Slide Number Placeholder 8">
            <a:extLst>
              <a:ext uri="{FF2B5EF4-FFF2-40B4-BE49-F238E27FC236}">
                <a16:creationId xmlns:a16="http://schemas.microsoft.com/office/drawing/2014/main" id="{D730F38C-CAA9-86C8-045C-31C51DD0F955}"/>
              </a:ext>
            </a:extLst>
          </p:cNvPr>
          <p:cNvSpPr>
            <a:spLocks noGrp="1"/>
          </p:cNvSpPr>
          <p:nvPr>
            <p:ph type="sldNum" sz="quarter" idx="14"/>
          </p:nvPr>
        </p:nvSpPr>
        <p:spPr/>
        <p:txBody>
          <a:bodyPr/>
          <a:lstStyle/>
          <a:p>
            <a:fld id="{BC8D7E44-7D4F-4942-A8C9-2DF6BF8399E8}" type="slidenum">
              <a:rPr lang="en-US" smtClean="0"/>
              <a:pPr/>
              <a:t>101</a:t>
            </a:fld>
            <a:endParaRPr lang="en-US" dirty="0"/>
          </a:p>
        </p:txBody>
      </p:sp>
      <p:sp>
        <p:nvSpPr>
          <p:cNvPr id="10" name="Title 1">
            <a:extLst>
              <a:ext uri="{FF2B5EF4-FFF2-40B4-BE49-F238E27FC236}">
                <a16:creationId xmlns:a16="http://schemas.microsoft.com/office/drawing/2014/main" id="{F2D9C9F5-3D6A-D3A9-C763-725FC6870FFA}"/>
              </a:ext>
            </a:extLst>
          </p:cNvPr>
          <p:cNvSpPr>
            <a:spLocks noGrp="1"/>
          </p:cNvSpPr>
          <p:nvPr>
            <p:ph sz="quarter" idx="10"/>
          </p:nvPr>
        </p:nvSpPr>
        <p:spPr>
          <a:xfrm>
            <a:off x="304800" y="152400"/>
            <a:ext cx="6324600" cy="1143000"/>
          </a:xfrm>
        </p:spPr>
        <p:txBody>
          <a:bodyPr>
            <a:normAutofit fontScale="97500"/>
          </a:bodyPr>
          <a:lstStyle/>
          <a:p>
            <a:r>
              <a:rPr lang="en-US" dirty="0"/>
              <a:t>Standard Lists of Quality Attributes</a:t>
            </a:r>
          </a:p>
        </p:txBody>
      </p:sp>
    </p:spTree>
    <p:extLst>
      <p:ext uri="{BB962C8B-B14F-4D97-AF65-F5344CB8AC3E}">
        <p14:creationId xmlns:p14="http://schemas.microsoft.com/office/powerpoint/2010/main" val="3203622624"/>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Advantages:</a:t>
            </a:r>
          </a:p>
          <a:p>
            <a:pPr lvl="1"/>
            <a:r>
              <a:rPr lang="en-US" dirty="0"/>
              <a:t>Can be helpful checklists to assist requirements gatherers in making sure that no important needs were overlooked.  </a:t>
            </a:r>
          </a:p>
          <a:p>
            <a:pPr lvl="1"/>
            <a:r>
              <a:rPr lang="en-US" dirty="0"/>
              <a:t>Can serve as the basis for creating your own checklist that contains the quality attributes of concern in your domain, your industry, your organization, your products, …</a:t>
            </a:r>
          </a:p>
          <a:p>
            <a:endParaRPr lang="en-US"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Date Placeholder 6">
            <a:extLst>
              <a:ext uri="{FF2B5EF4-FFF2-40B4-BE49-F238E27FC236}">
                <a16:creationId xmlns:a16="http://schemas.microsoft.com/office/drawing/2014/main" id="{701337D3-C9B2-E224-0EA9-A9A398BD30B9}"/>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7C77AAFE-731B-A3D9-81BC-6B979CE20EAA}"/>
              </a:ext>
            </a:extLst>
          </p:cNvPr>
          <p:cNvSpPr>
            <a:spLocks noGrp="1"/>
          </p:cNvSpPr>
          <p:nvPr>
            <p:ph type="sldNum" sz="quarter" idx="14"/>
          </p:nvPr>
        </p:nvSpPr>
        <p:spPr/>
        <p:txBody>
          <a:bodyPr/>
          <a:lstStyle/>
          <a:p>
            <a:fld id="{BC8D7E44-7D4F-4942-A8C9-2DF6BF8399E8}" type="slidenum">
              <a:rPr lang="en-US" smtClean="0"/>
              <a:pPr/>
              <a:t>102</a:t>
            </a:fld>
            <a:endParaRPr lang="en-US" dirty="0"/>
          </a:p>
        </p:txBody>
      </p:sp>
      <p:sp>
        <p:nvSpPr>
          <p:cNvPr id="9" name="Title 1">
            <a:extLst>
              <a:ext uri="{FF2B5EF4-FFF2-40B4-BE49-F238E27FC236}">
                <a16:creationId xmlns:a16="http://schemas.microsoft.com/office/drawing/2014/main" id="{3E4087BF-7056-74B6-F52F-0C91FB8FC73B}"/>
              </a:ext>
            </a:extLst>
          </p:cNvPr>
          <p:cNvSpPr>
            <a:spLocks noGrp="1"/>
          </p:cNvSpPr>
          <p:nvPr>
            <p:ph sz="quarter" idx="10"/>
          </p:nvPr>
        </p:nvSpPr>
        <p:spPr>
          <a:xfrm>
            <a:off x="304800" y="152400"/>
            <a:ext cx="6324600" cy="1143000"/>
          </a:xfrm>
        </p:spPr>
        <p:txBody>
          <a:bodyPr>
            <a:normAutofit fontScale="97500"/>
          </a:bodyPr>
          <a:lstStyle/>
          <a:p>
            <a:r>
              <a:rPr lang="en-US" dirty="0"/>
              <a:t>Standard Lists of Quality Attributes</a:t>
            </a:r>
          </a:p>
        </p:txBody>
      </p:sp>
    </p:spTree>
    <p:extLst>
      <p:ext uri="{BB962C8B-B14F-4D97-AF65-F5344CB8AC3E}">
        <p14:creationId xmlns:p14="http://schemas.microsoft.com/office/powerpoint/2010/main" val="2542687145"/>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Disadvantages:</a:t>
            </a:r>
          </a:p>
          <a:p>
            <a:pPr lvl="1"/>
            <a:r>
              <a:rPr lang="en-US" dirty="0"/>
              <a:t>No list will ever be complete.  </a:t>
            </a:r>
          </a:p>
          <a:p>
            <a:pPr lvl="1"/>
            <a:r>
              <a:rPr lang="en-US" dirty="0"/>
              <a:t>Lists often generate more controversy than understanding.</a:t>
            </a:r>
          </a:p>
          <a:p>
            <a:pPr lvl="1"/>
            <a:r>
              <a:rPr lang="en-US" dirty="0"/>
              <a:t> Lists often purport to be </a:t>
            </a:r>
            <a:r>
              <a:rPr lang="en-US" i="1" dirty="0"/>
              <a:t>taxonomies</a:t>
            </a:r>
            <a:r>
              <a:rPr lang="en-US" dirty="0"/>
              <a:t>. But what is a denial-of-service attack?</a:t>
            </a:r>
          </a:p>
          <a:p>
            <a:pPr lvl="1"/>
            <a:r>
              <a:rPr lang="en-US" dirty="0"/>
              <a:t>They force architects to pay attention to every quality attribute on the list, even if only to finally decide that the particular quality attribute is irrelevant to their system. </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Date Placeholder 6">
            <a:extLst>
              <a:ext uri="{FF2B5EF4-FFF2-40B4-BE49-F238E27FC236}">
                <a16:creationId xmlns:a16="http://schemas.microsoft.com/office/drawing/2014/main" id="{FD8DAD3A-112C-FB29-AC8F-97013215D333}"/>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B023437E-066D-B067-DD59-B8E02A1E51DD}"/>
              </a:ext>
            </a:extLst>
          </p:cNvPr>
          <p:cNvSpPr>
            <a:spLocks noGrp="1"/>
          </p:cNvSpPr>
          <p:nvPr>
            <p:ph type="sldNum" sz="quarter" idx="14"/>
          </p:nvPr>
        </p:nvSpPr>
        <p:spPr/>
        <p:txBody>
          <a:bodyPr/>
          <a:lstStyle/>
          <a:p>
            <a:fld id="{BC8D7E44-7D4F-4942-A8C9-2DF6BF8399E8}" type="slidenum">
              <a:rPr lang="en-US" smtClean="0"/>
              <a:pPr/>
              <a:t>103</a:t>
            </a:fld>
            <a:endParaRPr lang="en-US" dirty="0"/>
          </a:p>
        </p:txBody>
      </p:sp>
      <p:sp>
        <p:nvSpPr>
          <p:cNvPr id="9" name="Title 1">
            <a:extLst>
              <a:ext uri="{FF2B5EF4-FFF2-40B4-BE49-F238E27FC236}">
                <a16:creationId xmlns:a16="http://schemas.microsoft.com/office/drawing/2014/main" id="{FFA15A4B-2C8D-3BD8-DAE2-AFA710B23AC6}"/>
              </a:ext>
            </a:extLst>
          </p:cNvPr>
          <p:cNvSpPr>
            <a:spLocks noGrp="1"/>
          </p:cNvSpPr>
          <p:nvPr>
            <p:ph sz="quarter" idx="10"/>
          </p:nvPr>
        </p:nvSpPr>
        <p:spPr>
          <a:xfrm>
            <a:off x="304800" y="152400"/>
            <a:ext cx="6324600" cy="1143000"/>
          </a:xfrm>
        </p:spPr>
        <p:txBody>
          <a:bodyPr>
            <a:normAutofit fontScale="97500"/>
          </a:bodyPr>
          <a:lstStyle/>
          <a:p>
            <a:r>
              <a:rPr lang="en-US" dirty="0"/>
              <a:t>Standard Lists of Quality Attributes</a:t>
            </a:r>
          </a:p>
        </p:txBody>
      </p:sp>
    </p:spTree>
    <p:extLst>
      <p:ext uri="{BB962C8B-B14F-4D97-AF65-F5344CB8AC3E}">
        <p14:creationId xmlns:p14="http://schemas.microsoft.com/office/powerpoint/2010/main" val="2301234191"/>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Font typeface="Arial" panose="020B0604020202020204" pitchFamily="34" charset="0"/>
              <a:buChar char="•"/>
            </a:pPr>
            <a:r>
              <a:rPr lang="en-US" dirty="0"/>
              <a:t>Suppose you must deal with a quality attribute for which there is no compact body of knowledge, e.g. green computing.  </a:t>
            </a:r>
          </a:p>
          <a:p>
            <a:pPr>
              <a:buFont typeface="Arial" panose="020B0604020202020204" pitchFamily="34" charset="0"/>
              <a:buChar char="•"/>
            </a:pPr>
            <a:r>
              <a:rPr lang="en-US" dirty="0"/>
              <a:t>What do you do?</a:t>
            </a:r>
          </a:p>
          <a:p>
            <a:pPr marL="914400" lvl="1" indent="-514350">
              <a:buFont typeface="+mj-lt"/>
              <a:buAutoNum type="arabicPeriod"/>
            </a:pPr>
            <a:r>
              <a:rPr lang="en-US" dirty="0"/>
              <a:t>Model the quality attribute</a:t>
            </a:r>
          </a:p>
          <a:p>
            <a:pPr marL="914400" lvl="1" indent="-514350">
              <a:buFont typeface="+mj-lt"/>
              <a:buAutoNum type="arabicPeriod"/>
            </a:pPr>
            <a:r>
              <a:rPr lang="en-US" dirty="0"/>
              <a:t>Assemble a set of tactics for the quality attribute</a:t>
            </a:r>
          </a:p>
          <a:p>
            <a:pPr marL="914400" lvl="1" indent="-514350">
              <a:buFont typeface="+mj-lt"/>
              <a:buAutoNum type="arabicPeriod"/>
            </a:pPr>
            <a:r>
              <a:rPr lang="en-US" dirty="0"/>
              <a:t>Construct design checklists</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Date Placeholder 6">
            <a:extLst>
              <a:ext uri="{FF2B5EF4-FFF2-40B4-BE49-F238E27FC236}">
                <a16:creationId xmlns:a16="http://schemas.microsoft.com/office/drawing/2014/main" id="{4B9CD1D4-5287-DB8C-1C4E-853633DF594D}"/>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B3962C73-5FE3-138F-F208-C73B1DEAE64C}"/>
              </a:ext>
            </a:extLst>
          </p:cNvPr>
          <p:cNvSpPr>
            <a:spLocks noGrp="1"/>
          </p:cNvSpPr>
          <p:nvPr>
            <p:ph type="sldNum" sz="quarter" idx="14"/>
          </p:nvPr>
        </p:nvSpPr>
        <p:spPr/>
        <p:txBody>
          <a:bodyPr/>
          <a:lstStyle/>
          <a:p>
            <a:fld id="{BC8D7E44-7D4F-4942-A8C9-2DF6BF8399E8}" type="slidenum">
              <a:rPr lang="en-US" smtClean="0"/>
              <a:pPr/>
              <a:t>104</a:t>
            </a:fld>
            <a:endParaRPr lang="en-US" dirty="0"/>
          </a:p>
        </p:txBody>
      </p:sp>
      <p:sp>
        <p:nvSpPr>
          <p:cNvPr id="9" name="Title 1">
            <a:extLst>
              <a:ext uri="{FF2B5EF4-FFF2-40B4-BE49-F238E27FC236}">
                <a16:creationId xmlns:a16="http://schemas.microsoft.com/office/drawing/2014/main" id="{46792B83-AA1C-2992-940E-3CA660068784}"/>
              </a:ext>
            </a:extLst>
          </p:cNvPr>
          <p:cNvSpPr>
            <a:spLocks noGrp="1"/>
          </p:cNvSpPr>
          <p:nvPr>
            <p:ph sz="quarter" idx="10"/>
          </p:nvPr>
        </p:nvSpPr>
        <p:spPr>
          <a:xfrm>
            <a:off x="304800" y="152400"/>
            <a:ext cx="6324600" cy="1143000"/>
          </a:xfrm>
        </p:spPr>
        <p:txBody>
          <a:bodyPr>
            <a:normAutofit/>
          </a:bodyPr>
          <a:lstStyle/>
          <a:p>
            <a:r>
              <a:rPr lang="en-US" dirty="0"/>
              <a:t>Dealing with “X-ability”</a:t>
            </a:r>
          </a:p>
        </p:txBody>
      </p:sp>
    </p:spTree>
    <p:extLst>
      <p:ext uri="{BB962C8B-B14F-4D97-AF65-F5344CB8AC3E}">
        <p14:creationId xmlns:p14="http://schemas.microsoft.com/office/powerpoint/2010/main" val="1663826055"/>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anose="020B0604020202020204" pitchFamily="34" charset="0"/>
              <a:buChar char="•"/>
            </a:pPr>
            <a:r>
              <a:rPr lang="en-US" dirty="0"/>
              <a:t>There are many other quality attributes than the seven that we cover in detail.</a:t>
            </a:r>
          </a:p>
          <a:p>
            <a:pPr>
              <a:buFont typeface="Arial" panose="020B0604020202020204" pitchFamily="34" charset="0"/>
              <a:buChar char="•"/>
            </a:pPr>
            <a:r>
              <a:rPr lang="en-US" dirty="0"/>
              <a:t>Taxonomies of attributes may offer some help, but their disadvantages often outweigh their advantages.</a:t>
            </a:r>
          </a:p>
          <a:p>
            <a:pPr>
              <a:buFont typeface="Arial" panose="020B0604020202020204" pitchFamily="34" charset="0"/>
              <a:buChar char="•"/>
            </a:pPr>
            <a:r>
              <a:rPr lang="en-US" dirty="0"/>
              <a:t>You may need to design or analyze a system for a “new” quality attribute. While this may be challenging, it is doable.</a:t>
            </a:r>
          </a:p>
          <a:p>
            <a:pPr>
              <a:buFont typeface="Arial" panose="020B0604020202020204" pitchFamily="34" charset="0"/>
              <a:buChar char="•"/>
            </a:pPr>
            <a:endParaRPr lang="en-US" dirty="0"/>
          </a:p>
          <a:p>
            <a:pPr>
              <a:buFont typeface="Arial" panose="020B0604020202020204" pitchFamily="34" charset="0"/>
              <a:buChar char="•"/>
            </a:pPr>
            <a:endParaRPr lang="en-US"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Date Placeholder 6">
            <a:extLst>
              <a:ext uri="{FF2B5EF4-FFF2-40B4-BE49-F238E27FC236}">
                <a16:creationId xmlns:a16="http://schemas.microsoft.com/office/drawing/2014/main" id="{9CAE7FA6-27EC-17DE-73E5-C67360321A70}"/>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7E3E7EFC-CC8C-AF5C-9719-938F07B5F72D}"/>
              </a:ext>
            </a:extLst>
          </p:cNvPr>
          <p:cNvSpPr>
            <a:spLocks noGrp="1"/>
          </p:cNvSpPr>
          <p:nvPr>
            <p:ph type="sldNum" sz="quarter" idx="14"/>
          </p:nvPr>
        </p:nvSpPr>
        <p:spPr/>
        <p:txBody>
          <a:bodyPr/>
          <a:lstStyle/>
          <a:p>
            <a:fld id="{BC8D7E44-7D4F-4942-A8C9-2DF6BF8399E8}" type="slidenum">
              <a:rPr lang="en-US" smtClean="0"/>
              <a:pPr/>
              <a:t>105</a:t>
            </a:fld>
            <a:endParaRPr lang="en-US" dirty="0"/>
          </a:p>
        </p:txBody>
      </p:sp>
      <p:sp>
        <p:nvSpPr>
          <p:cNvPr id="9" name="Title 1">
            <a:extLst>
              <a:ext uri="{FF2B5EF4-FFF2-40B4-BE49-F238E27FC236}">
                <a16:creationId xmlns:a16="http://schemas.microsoft.com/office/drawing/2014/main" id="{505662B8-224D-B984-D210-DDB3B92BA102}"/>
              </a:ext>
            </a:extLst>
          </p:cNvPr>
          <p:cNvSpPr>
            <a:spLocks noGrp="1"/>
          </p:cNvSpPr>
          <p:nvPr>
            <p:ph sz="quarter" idx="10"/>
          </p:nvPr>
        </p:nvSpPr>
        <p:spPr>
          <a:xfrm>
            <a:off x="304800" y="152400"/>
            <a:ext cx="6324600" cy="1143000"/>
          </a:xfrm>
        </p:spPr>
        <p:txBody>
          <a:bodyPr/>
          <a:lstStyle/>
          <a:p>
            <a:r>
              <a:rPr lang="en-US" dirty="0"/>
              <a:t>Summary</a:t>
            </a:r>
          </a:p>
        </p:txBody>
      </p:sp>
    </p:spTree>
    <p:extLst>
      <p:ext uri="{BB962C8B-B14F-4D97-AF65-F5344CB8AC3E}">
        <p14:creationId xmlns:p14="http://schemas.microsoft.com/office/powerpoint/2010/main" val="674686672"/>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Security</a:t>
            </a:r>
            <a:br>
              <a:rPr lang="en-US" dirty="0"/>
            </a:br>
            <a:r>
              <a:rPr lang="en-AU" dirty="0"/>
              <a:t>Module 2 – L5</a:t>
            </a:r>
            <a:endParaRPr lang="en-IN" dirty="0"/>
          </a:p>
        </p:txBody>
      </p:sp>
      <p:sp>
        <p:nvSpPr>
          <p:cNvPr id="3" name="Date Placeholder 2"/>
          <p:cNvSpPr>
            <a:spLocks noGrp="1"/>
          </p:cNvSpPr>
          <p:nvPr>
            <p:ph type="dt" sz="half" idx="10"/>
          </p:nvPr>
        </p:nvSpPr>
        <p:spPr/>
        <p:txBody>
          <a:bodyPr/>
          <a:lstStyle/>
          <a:p>
            <a:r>
              <a:rPr lang="en-US"/>
              <a:t>Auguts 1, 2026</a:t>
            </a:r>
          </a:p>
        </p:txBody>
      </p:sp>
      <p:sp>
        <p:nvSpPr>
          <p:cNvPr id="4" name="Footer Placeholder 3"/>
          <p:cNvSpPr>
            <a:spLocks noGrp="1"/>
          </p:cNvSpPr>
          <p:nvPr>
            <p:ph type="ftr" sz="quarter" idx="11"/>
          </p:nvPr>
        </p:nvSpPr>
        <p:spPr/>
        <p:txBody>
          <a:bodyPr/>
          <a:lstStyle/>
          <a:p>
            <a:r>
              <a:rPr lang="en-US"/>
              <a:t>SEZG651/SSZG653 Software Architectures</a:t>
            </a:r>
          </a:p>
        </p:txBody>
      </p:sp>
      <p:sp>
        <p:nvSpPr>
          <p:cNvPr id="5" name="Slide Number Placeholder 4"/>
          <p:cNvSpPr>
            <a:spLocks noGrp="1"/>
          </p:cNvSpPr>
          <p:nvPr>
            <p:ph type="sldNum" sz="quarter" idx="12"/>
          </p:nvPr>
        </p:nvSpPr>
        <p:spPr/>
        <p:txBody>
          <a:bodyPr/>
          <a:lstStyle/>
          <a:p>
            <a:fld id="{BC8D7E44-7D4F-4942-A8C9-2DF6BF8399E8}" type="slidenum">
              <a:rPr lang="en-US" smtClean="0"/>
              <a:pPr/>
              <a:t>106</a:t>
            </a:fld>
            <a:endParaRPr lang="en-US" dirty="0"/>
          </a:p>
        </p:txBody>
      </p:sp>
      <p:sp>
        <p:nvSpPr>
          <p:cNvPr id="6" name="Content Placeholder 5"/>
          <p:cNvSpPr txBox="1">
            <a:spLocks/>
          </p:cNvSpPr>
          <p:nvPr/>
        </p:nvSpPr>
        <p:spPr>
          <a:xfrm>
            <a:off x="2357422" y="5072074"/>
            <a:ext cx="6019800" cy="533400"/>
          </a:xfrm>
          <a:prstGeom prst="rect">
            <a:avLst/>
          </a:prstGeom>
        </p:spPr>
        <p:txBody>
          <a:bodyPr/>
          <a:lstStyle/>
          <a:p>
            <a:pPr marL="342900" marR="0" lvl="0" indent="-342900" algn="r"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err="1">
                <a:solidFill>
                  <a:schemeClr val="bg1"/>
                </a:solidFill>
                <a:latin typeface="Arial" pitchFamily="34" charset="0"/>
                <a:cs typeface="Arial" pitchFamily="34" charset="0"/>
              </a:rPr>
              <a:t>Harvinder</a:t>
            </a:r>
            <a:r>
              <a:rPr lang="en-US" dirty="0">
                <a:solidFill>
                  <a:schemeClr val="bg1"/>
                </a:solidFill>
                <a:latin typeface="Arial" pitchFamily="34" charset="0"/>
                <a:cs typeface="Arial" pitchFamily="34" charset="0"/>
              </a:rPr>
              <a:t> S </a:t>
            </a:r>
            <a:r>
              <a:rPr lang="en-US" dirty="0" err="1">
                <a:solidFill>
                  <a:schemeClr val="bg1"/>
                </a:solidFill>
                <a:latin typeface="Arial" pitchFamily="34" charset="0"/>
                <a:cs typeface="Arial" pitchFamily="34" charset="0"/>
              </a:rPr>
              <a:t>Jabbal</a:t>
            </a:r>
            <a:r>
              <a:rPr lang="en-US" dirty="0">
                <a:solidFill>
                  <a:schemeClr val="bg1"/>
                </a:solidFill>
                <a:latin typeface="Arial" pitchFamily="34" charset="0"/>
                <a:cs typeface="Arial" pitchFamily="34" charset="0"/>
              </a:rPr>
              <a:t> </a:t>
            </a:r>
          </a:p>
          <a:p>
            <a:pPr marL="342900" marR="0" lvl="0" indent="-342900" algn="r"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solidFill>
                  <a:schemeClr val="bg1"/>
                </a:solidFill>
                <a:latin typeface="Arial" pitchFamily="34" charset="0"/>
                <a:cs typeface="Arial" pitchFamily="34" charset="0"/>
              </a:rPr>
              <a:t>CSIS, Work Integrated Learning Programs</a:t>
            </a: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z="3200" b="0" i="0" u="none" strike="noStrike" kern="1200" baseline="0" dirty="0">
                <a:solidFill>
                  <a:schemeClr val="tx1"/>
                </a:solidFill>
                <a:latin typeface="+mn-lt"/>
                <a:ea typeface="+mn-ea"/>
                <a:cs typeface="+mn-cs"/>
              </a:rPr>
              <a:t>What is Security?</a:t>
            </a:r>
          </a:p>
          <a:p>
            <a:r>
              <a:rPr lang="en-US" dirty="0"/>
              <a:t>Security General </a:t>
            </a:r>
            <a:r>
              <a:rPr lang="en-US" sz="3200" b="0" i="0" u="none" strike="noStrike" kern="1200" baseline="0" dirty="0">
                <a:solidFill>
                  <a:schemeClr val="tx1"/>
                </a:solidFill>
                <a:latin typeface="+mn-lt"/>
                <a:ea typeface="+mn-ea"/>
                <a:cs typeface="+mn-cs"/>
              </a:rPr>
              <a:t>Scenario</a:t>
            </a:r>
          </a:p>
          <a:p>
            <a:r>
              <a:rPr lang="en-US" sz="3200" b="0" i="0" u="none" strike="noStrike" kern="1200" baseline="0" dirty="0">
                <a:solidFill>
                  <a:schemeClr val="tx1"/>
                </a:solidFill>
                <a:latin typeface="+mn-lt"/>
                <a:ea typeface="+mn-ea"/>
                <a:cs typeface="+mn-cs"/>
              </a:rPr>
              <a:t>Tactics for </a:t>
            </a:r>
            <a:r>
              <a:rPr lang="en-US" dirty="0"/>
              <a:t>Security</a:t>
            </a:r>
            <a:endParaRPr lang="en-US" sz="3200" b="0" i="0" u="none" strike="noStrike" kern="1200" baseline="0" dirty="0">
              <a:solidFill>
                <a:schemeClr val="tx1"/>
              </a:solidFill>
              <a:latin typeface="+mn-lt"/>
              <a:ea typeface="+mn-ea"/>
              <a:cs typeface="+mn-cs"/>
            </a:endParaRPr>
          </a:p>
          <a:p>
            <a:r>
              <a:rPr lang="en-US" dirty="0"/>
              <a:t>A Design Checklist for Security</a:t>
            </a:r>
            <a:endParaRPr lang="en-US" sz="3200" b="0" i="0" u="none" strike="noStrike" kern="1200" baseline="0" dirty="0">
              <a:solidFill>
                <a:schemeClr val="tx1"/>
              </a:solidFill>
              <a:latin typeface="+mn-lt"/>
              <a:ea typeface="+mn-ea"/>
              <a:cs typeface="+mn-cs"/>
            </a:endParaRPr>
          </a:p>
          <a:p>
            <a:r>
              <a:rPr lang="en-US" sz="3200" b="0" i="0" u="none" strike="noStrike" kern="1200" baseline="0" dirty="0">
                <a:solidFill>
                  <a:schemeClr val="tx1"/>
                </a:solidFill>
                <a:latin typeface="+mn-lt"/>
                <a:ea typeface="+mn-ea"/>
                <a:cs typeface="+mn-cs"/>
              </a:rPr>
              <a:t>Summary </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5" name="Date Placeholder 4">
            <a:extLst>
              <a:ext uri="{FF2B5EF4-FFF2-40B4-BE49-F238E27FC236}">
                <a16:creationId xmlns:a16="http://schemas.microsoft.com/office/drawing/2014/main" id="{9C04C76C-8818-4440-BC33-D31316D367ED}"/>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EAE80265-CB3B-48F6-94CA-42F370B4CF3F}"/>
              </a:ext>
            </a:extLst>
          </p:cNvPr>
          <p:cNvSpPr>
            <a:spLocks noGrp="1"/>
          </p:cNvSpPr>
          <p:nvPr>
            <p:ph type="sldNum" sz="quarter" idx="14"/>
          </p:nvPr>
        </p:nvSpPr>
        <p:spPr/>
        <p:txBody>
          <a:bodyPr/>
          <a:lstStyle/>
          <a:p>
            <a:fld id="{BC8D7E44-7D4F-4942-A8C9-2DF6BF8399E8}" type="slidenum">
              <a:rPr lang="en-US" smtClean="0"/>
              <a:pPr/>
              <a:t>107</a:t>
            </a:fld>
            <a:endParaRPr lang="en-US" dirty="0"/>
          </a:p>
        </p:txBody>
      </p:sp>
      <p:sp>
        <p:nvSpPr>
          <p:cNvPr id="9" name="Title 1">
            <a:extLst>
              <a:ext uri="{FF2B5EF4-FFF2-40B4-BE49-F238E27FC236}">
                <a16:creationId xmlns:a16="http://schemas.microsoft.com/office/drawing/2014/main" id="{6C72AC72-092A-F90B-80D9-D3E6F140874F}"/>
              </a:ext>
            </a:extLst>
          </p:cNvPr>
          <p:cNvSpPr>
            <a:spLocks noGrp="1"/>
          </p:cNvSpPr>
          <p:nvPr>
            <p:ph sz="quarter" idx="10"/>
          </p:nvPr>
        </p:nvSpPr>
        <p:spPr>
          <a:xfrm>
            <a:off x="304800" y="152400"/>
            <a:ext cx="6324600" cy="1143000"/>
          </a:xfrm>
        </p:spPr>
        <p:txBody>
          <a:bodyPr/>
          <a:lstStyle/>
          <a:p>
            <a:r>
              <a:rPr lang="en-AU" dirty="0"/>
              <a:t>Chapter Outline</a:t>
            </a:r>
          </a:p>
        </p:txBody>
      </p:sp>
    </p:spTree>
    <p:extLst>
      <p:ext uri="{BB962C8B-B14F-4D97-AF65-F5344CB8AC3E}">
        <p14:creationId xmlns:p14="http://schemas.microsoft.com/office/powerpoint/2010/main" val="1424581929"/>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anose="020B0604020202020204" pitchFamily="34" charset="0"/>
              <a:buChar char="•"/>
            </a:pPr>
            <a:r>
              <a:rPr lang="x-none" dirty="0"/>
              <a:t>Security is a measure of the system’s ability to </a:t>
            </a:r>
            <a:r>
              <a:rPr lang="en-US" dirty="0"/>
              <a:t>protect data and information from unauthorized access while still providing access to people and systems that are authorized. </a:t>
            </a:r>
            <a:r>
              <a:rPr lang="x-none" dirty="0"/>
              <a:t> </a:t>
            </a:r>
            <a:endParaRPr lang="en-US" dirty="0"/>
          </a:p>
          <a:p>
            <a:pPr>
              <a:buFont typeface="Arial" panose="020B0604020202020204" pitchFamily="34" charset="0"/>
              <a:buChar char="•"/>
            </a:pPr>
            <a:r>
              <a:rPr lang="x-none" dirty="0"/>
              <a:t>An action taken against a computer system with the intention of doing harm is called an </a:t>
            </a:r>
            <a:r>
              <a:rPr lang="x-none" i="1" dirty="0"/>
              <a:t>attack</a:t>
            </a:r>
            <a:r>
              <a:rPr lang="x-none" dirty="0"/>
              <a:t> and can take a number of forms. </a:t>
            </a:r>
            <a:endParaRPr lang="en-US" dirty="0"/>
          </a:p>
          <a:p>
            <a:pPr>
              <a:buFont typeface="Arial" panose="020B0604020202020204" pitchFamily="34" charset="0"/>
              <a:buChar char="•"/>
            </a:pPr>
            <a:r>
              <a:rPr lang="x-none" dirty="0"/>
              <a:t>It may be an unauthorized attempt to access data or services or to modify data, or it may be intended to deny services to legitimate users.</a:t>
            </a:r>
            <a:endParaRPr lang="en-US" dirty="0"/>
          </a:p>
          <a:p>
            <a:pPr>
              <a:buFont typeface="Arial" panose="020B0604020202020204" pitchFamily="34" charset="0"/>
              <a:buChar char="•"/>
            </a:pPr>
            <a:endParaRPr lang="en-US" dirty="0"/>
          </a:p>
          <a:p>
            <a:pPr>
              <a:buFont typeface="Arial" panose="020B0604020202020204" pitchFamily="34" charset="0"/>
              <a:buChar char="•"/>
            </a:pPr>
            <a:endParaRPr lang="en-US"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5" name="Date Placeholder 4">
            <a:extLst>
              <a:ext uri="{FF2B5EF4-FFF2-40B4-BE49-F238E27FC236}">
                <a16:creationId xmlns:a16="http://schemas.microsoft.com/office/drawing/2014/main" id="{0D8FD819-4B0A-4A53-ABCE-AAC8E0A058C4}"/>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3511B9AD-E02A-4491-AB4E-E8378E741291}"/>
              </a:ext>
            </a:extLst>
          </p:cNvPr>
          <p:cNvSpPr>
            <a:spLocks noGrp="1"/>
          </p:cNvSpPr>
          <p:nvPr>
            <p:ph type="sldNum" sz="quarter" idx="14"/>
          </p:nvPr>
        </p:nvSpPr>
        <p:spPr/>
        <p:txBody>
          <a:bodyPr/>
          <a:lstStyle/>
          <a:p>
            <a:fld id="{BC8D7E44-7D4F-4942-A8C9-2DF6BF8399E8}" type="slidenum">
              <a:rPr lang="en-US" smtClean="0"/>
              <a:pPr/>
              <a:t>108</a:t>
            </a:fld>
            <a:endParaRPr lang="en-US" dirty="0"/>
          </a:p>
        </p:txBody>
      </p:sp>
      <p:sp>
        <p:nvSpPr>
          <p:cNvPr id="9" name="Title 1">
            <a:extLst>
              <a:ext uri="{FF2B5EF4-FFF2-40B4-BE49-F238E27FC236}">
                <a16:creationId xmlns:a16="http://schemas.microsoft.com/office/drawing/2014/main" id="{EA6449A4-7B5D-FEC7-B7F3-E20A31A70EB8}"/>
              </a:ext>
            </a:extLst>
          </p:cNvPr>
          <p:cNvSpPr>
            <a:spLocks noGrp="1"/>
          </p:cNvSpPr>
          <p:nvPr>
            <p:ph sz="quarter" idx="10"/>
          </p:nvPr>
        </p:nvSpPr>
        <p:spPr>
          <a:xfrm>
            <a:off x="304800" y="152400"/>
            <a:ext cx="6324600" cy="1143000"/>
          </a:xfrm>
        </p:spPr>
        <p:txBody>
          <a:bodyPr/>
          <a:lstStyle/>
          <a:p>
            <a:r>
              <a:rPr lang="en-US" dirty="0"/>
              <a:t>What is Security?</a:t>
            </a:r>
          </a:p>
        </p:txBody>
      </p:sp>
    </p:spTree>
    <p:extLst>
      <p:ext uri="{BB962C8B-B14F-4D97-AF65-F5344CB8AC3E}">
        <p14:creationId xmlns:p14="http://schemas.microsoft.com/office/powerpoint/2010/main" val="2749791067"/>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32500" lnSpcReduction="20000"/>
          </a:bodyPr>
          <a:lstStyle/>
          <a:p>
            <a:r>
              <a:rPr lang="en-US" sz="5100" dirty="0"/>
              <a:t>S</a:t>
            </a:r>
            <a:r>
              <a:rPr lang="x-none" sz="5100"/>
              <a:t>ecurity has three </a:t>
            </a:r>
            <a:r>
              <a:rPr lang="en-US" sz="5100" dirty="0"/>
              <a:t>main </a:t>
            </a:r>
            <a:r>
              <a:rPr lang="x-none" sz="5100"/>
              <a:t>characteristics</a:t>
            </a:r>
            <a:r>
              <a:rPr lang="en-US" sz="5100" dirty="0"/>
              <a:t>, called </a:t>
            </a:r>
            <a:r>
              <a:rPr lang="x-none" sz="5100"/>
              <a:t>CIA</a:t>
            </a:r>
            <a:r>
              <a:rPr lang="en-US" sz="5100" dirty="0"/>
              <a:t>:</a:t>
            </a:r>
          </a:p>
          <a:p>
            <a:pPr lvl="1"/>
            <a:r>
              <a:rPr lang="x-none" sz="4500"/>
              <a:t>Confidentiality is the property that data or services are protected from unauthorized access. For example, a hacker cannot access your income tax returns on a government computer.</a:t>
            </a:r>
            <a:endParaRPr lang="en-US" sz="4500" dirty="0"/>
          </a:p>
          <a:p>
            <a:pPr lvl="1"/>
            <a:r>
              <a:rPr lang="x-none" sz="4500"/>
              <a:t>Integrity is the property that data or services are not subject to unauthorized manipulation. For example, your grade has not been changed since your instructor assigned it.</a:t>
            </a:r>
            <a:endParaRPr lang="en-US" sz="4500" dirty="0"/>
          </a:p>
          <a:p>
            <a:pPr lvl="1"/>
            <a:r>
              <a:rPr lang="x-none" sz="4500"/>
              <a:t>Availability is the property that the system will be available for legitimate use. For example, a denial-of-service attack won’t prevent you from ordering </a:t>
            </a:r>
            <a:r>
              <a:rPr lang="en-US" sz="4500" dirty="0"/>
              <a:t>a </a:t>
            </a:r>
            <a:r>
              <a:rPr lang="x-none" sz="4500"/>
              <a:t>book</a:t>
            </a:r>
            <a:r>
              <a:rPr lang="en-US" sz="4500" dirty="0"/>
              <a:t> from an online bookstore</a:t>
            </a:r>
            <a:r>
              <a:rPr lang="x-none" sz="4500"/>
              <a:t>.</a:t>
            </a:r>
            <a:endParaRPr lang="en-US" sz="4500" dirty="0"/>
          </a:p>
          <a:p>
            <a:r>
              <a:rPr lang="x-none" sz="5100"/>
              <a:t>Other characteristics that support CIA are</a:t>
            </a:r>
            <a:endParaRPr lang="en-US" sz="5100" dirty="0"/>
          </a:p>
          <a:p>
            <a:pPr lvl="1"/>
            <a:r>
              <a:rPr lang="x-none" sz="4500"/>
              <a:t>Authentication </a:t>
            </a:r>
            <a:r>
              <a:rPr lang="en-US" sz="4500" dirty="0"/>
              <a:t>verifies the identities of</a:t>
            </a:r>
            <a:r>
              <a:rPr lang="x-none" sz="4500"/>
              <a:t> the parties to a transaction </a:t>
            </a:r>
            <a:r>
              <a:rPr lang="en-US" sz="4500" dirty="0"/>
              <a:t>and checks if they </a:t>
            </a:r>
            <a:r>
              <a:rPr lang="x-none" sz="4500"/>
              <a:t>are </a:t>
            </a:r>
            <a:r>
              <a:rPr lang="en-US" sz="4500" dirty="0"/>
              <a:t>truly </a:t>
            </a:r>
            <a:r>
              <a:rPr lang="x-none" sz="4500"/>
              <a:t>who they </a:t>
            </a:r>
            <a:r>
              <a:rPr lang="en-US" sz="4500" dirty="0"/>
              <a:t>claim </a:t>
            </a:r>
            <a:r>
              <a:rPr lang="x-none" sz="4500"/>
              <a:t>to be. For example, when you get an e-mail purporting to come from a bank, </a:t>
            </a:r>
            <a:r>
              <a:rPr lang="en-US" sz="4500" dirty="0"/>
              <a:t>authentication guarantees that </a:t>
            </a:r>
            <a:r>
              <a:rPr lang="x-none" sz="4500"/>
              <a:t>it actually comes from the bank.</a:t>
            </a:r>
            <a:endParaRPr lang="en-US" sz="4500" dirty="0"/>
          </a:p>
          <a:p>
            <a:pPr lvl="1"/>
            <a:r>
              <a:rPr lang="x-none" sz="4500"/>
              <a:t> Nonrepudiation guarantees that the sender of a message cannot later deny having sent the message and that the recipient cannot deny having received the message.  For example, you cannot </a:t>
            </a:r>
            <a:r>
              <a:rPr lang="en-US" sz="4500" dirty="0"/>
              <a:t>deny </a:t>
            </a:r>
            <a:r>
              <a:rPr lang="x-none" sz="4500"/>
              <a:t>ordering something from the </a:t>
            </a:r>
            <a:r>
              <a:rPr lang="en-US" sz="4500" dirty="0"/>
              <a:t>I</a:t>
            </a:r>
            <a:r>
              <a:rPr lang="x-none" sz="4500"/>
              <a:t>nternet</a:t>
            </a:r>
            <a:r>
              <a:rPr lang="en-US" sz="4500" dirty="0"/>
              <a:t>, or </a:t>
            </a:r>
            <a:r>
              <a:rPr lang="x-none" sz="4500"/>
              <a:t>the merchant cannot </a:t>
            </a:r>
            <a:r>
              <a:rPr lang="en-US" sz="4500" dirty="0"/>
              <a:t>disclaim </a:t>
            </a:r>
            <a:r>
              <a:rPr lang="x-none" sz="4500"/>
              <a:t>getting your order.</a:t>
            </a:r>
            <a:endParaRPr lang="en-US" sz="4500" dirty="0"/>
          </a:p>
          <a:p>
            <a:pPr lvl="1"/>
            <a:r>
              <a:rPr lang="x-none" sz="4500"/>
              <a:t>Authorization </a:t>
            </a:r>
            <a:r>
              <a:rPr lang="en-US" sz="4500" dirty="0"/>
              <a:t>grants </a:t>
            </a:r>
            <a:r>
              <a:rPr lang="x-none" sz="4500"/>
              <a:t>a user the privileges to perform a task. For example, </a:t>
            </a:r>
            <a:r>
              <a:rPr lang="en-US" sz="4500" dirty="0"/>
              <a:t>an online banking system authorizes a legitimate user to access his account</a:t>
            </a:r>
            <a:r>
              <a:rPr lang="x-none" sz="4500"/>
              <a:t>.</a:t>
            </a:r>
            <a:endParaRPr lang="en-US" sz="4500" dirty="0"/>
          </a:p>
          <a:p>
            <a:endParaRPr lang="en-US"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5" name="Date Placeholder 4">
            <a:extLst>
              <a:ext uri="{FF2B5EF4-FFF2-40B4-BE49-F238E27FC236}">
                <a16:creationId xmlns:a16="http://schemas.microsoft.com/office/drawing/2014/main" id="{727E8F9D-4818-4DF7-B12F-EACE4529E081}"/>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C2EC15A0-5833-4C7B-A690-810A0ACC51FB}"/>
              </a:ext>
            </a:extLst>
          </p:cNvPr>
          <p:cNvSpPr>
            <a:spLocks noGrp="1"/>
          </p:cNvSpPr>
          <p:nvPr>
            <p:ph type="sldNum" sz="quarter" idx="14"/>
          </p:nvPr>
        </p:nvSpPr>
        <p:spPr/>
        <p:txBody>
          <a:bodyPr/>
          <a:lstStyle/>
          <a:p>
            <a:fld id="{BC8D7E44-7D4F-4942-A8C9-2DF6BF8399E8}" type="slidenum">
              <a:rPr lang="en-US" smtClean="0"/>
              <a:pPr/>
              <a:t>109</a:t>
            </a:fld>
            <a:endParaRPr lang="en-US" dirty="0"/>
          </a:p>
        </p:txBody>
      </p:sp>
      <p:sp>
        <p:nvSpPr>
          <p:cNvPr id="9" name="Title 1">
            <a:extLst>
              <a:ext uri="{FF2B5EF4-FFF2-40B4-BE49-F238E27FC236}">
                <a16:creationId xmlns:a16="http://schemas.microsoft.com/office/drawing/2014/main" id="{90DBFFEF-6B11-6149-05D7-AEFE71F2777C}"/>
              </a:ext>
            </a:extLst>
          </p:cNvPr>
          <p:cNvSpPr>
            <a:spLocks noGrp="1"/>
          </p:cNvSpPr>
          <p:nvPr>
            <p:ph sz="quarter" idx="10"/>
          </p:nvPr>
        </p:nvSpPr>
        <p:spPr>
          <a:xfrm>
            <a:off x="304800" y="152400"/>
            <a:ext cx="6324600" cy="1143000"/>
          </a:xfrm>
        </p:spPr>
        <p:txBody>
          <a:bodyPr/>
          <a:lstStyle/>
          <a:p>
            <a:r>
              <a:rPr lang="en-US" dirty="0"/>
              <a:t>What is Security?</a:t>
            </a:r>
          </a:p>
        </p:txBody>
      </p:sp>
    </p:spTree>
    <p:extLst>
      <p:ext uri="{BB962C8B-B14F-4D97-AF65-F5344CB8AC3E}">
        <p14:creationId xmlns:p14="http://schemas.microsoft.com/office/powerpoint/2010/main" val="2703799621"/>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5" name="Date Placeholder 4">
            <a:extLst>
              <a:ext uri="{FF2B5EF4-FFF2-40B4-BE49-F238E27FC236}">
                <a16:creationId xmlns:a16="http://schemas.microsoft.com/office/drawing/2014/main" id="{E3C86371-E5BA-42A2-A646-EF7904F7FE70}"/>
              </a:ext>
            </a:extLst>
          </p:cNvPr>
          <p:cNvSpPr>
            <a:spLocks noGrp="1"/>
          </p:cNvSpPr>
          <p:nvPr>
            <p:ph type="dt" sz="half" idx="12"/>
          </p:nvPr>
        </p:nvSpPr>
        <p:spPr/>
        <p:txBody>
          <a:bodyPr/>
          <a:lstStyle/>
          <a:p>
            <a:r>
              <a:rPr lang="en-US"/>
              <a:t>Auguts 1, 2026</a:t>
            </a:r>
          </a:p>
        </p:txBody>
      </p:sp>
      <p:sp>
        <p:nvSpPr>
          <p:cNvPr id="6" name="Slide Number Placeholder 5">
            <a:extLst>
              <a:ext uri="{FF2B5EF4-FFF2-40B4-BE49-F238E27FC236}">
                <a16:creationId xmlns:a16="http://schemas.microsoft.com/office/drawing/2014/main" id="{F894A304-63C3-4A73-AA6F-D435504E6802}"/>
              </a:ext>
            </a:extLst>
          </p:cNvPr>
          <p:cNvSpPr>
            <a:spLocks noGrp="1"/>
          </p:cNvSpPr>
          <p:nvPr>
            <p:ph type="sldNum" sz="quarter" idx="14"/>
          </p:nvPr>
        </p:nvSpPr>
        <p:spPr/>
        <p:txBody>
          <a:bodyPr/>
          <a:lstStyle/>
          <a:p>
            <a:fld id="{BC8D7E44-7D4F-4942-A8C9-2DF6BF8399E8}" type="slidenum">
              <a:rPr lang="en-US" smtClean="0"/>
              <a:pPr/>
              <a:t>110</a:t>
            </a:fld>
            <a:endParaRPr lang="en-US" dirty="0"/>
          </a:p>
        </p:txBody>
      </p:sp>
      <p:sp>
        <p:nvSpPr>
          <p:cNvPr id="10" name="Title 1">
            <a:extLst>
              <a:ext uri="{FF2B5EF4-FFF2-40B4-BE49-F238E27FC236}">
                <a16:creationId xmlns:a16="http://schemas.microsoft.com/office/drawing/2014/main" id="{80DBE3D4-F737-2034-28E8-10674F0C0DDD}"/>
              </a:ext>
            </a:extLst>
          </p:cNvPr>
          <p:cNvSpPr>
            <a:spLocks noGrp="1"/>
          </p:cNvSpPr>
          <p:nvPr>
            <p:ph sz="quarter" idx="10"/>
          </p:nvPr>
        </p:nvSpPr>
        <p:spPr>
          <a:xfrm>
            <a:off x="304800" y="152400"/>
            <a:ext cx="6324600" cy="1143000"/>
          </a:xfrm>
        </p:spPr>
        <p:txBody>
          <a:bodyPr/>
          <a:lstStyle/>
          <a:p>
            <a:r>
              <a:rPr lang="en-US" dirty="0"/>
              <a:t>Security General Scenario</a:t>
            </a:r>
          </a:p>
        </p:txBody>
      </p:sp>
      <p:graphicFrame>
        <p:nvGraphicFramePr>
          <p:cNvPr id="11" name="Content Placeholder 10">
            <a:extLst>
              <a:ext uri="{FF2B5EF4-FFF2-40B4-BE49-F238E27FC236}">
                <a16:creationId xmlns:a16="http://schemas.microsoft.com/office/drawing/2014/main" id="{64634C1E-93DF-9B8D-804D-CB7311B90D01}"/>
              </a:ext>
            </a:extLst>
          </p:cNvPr>
          <p:cNvGraphicFramePr>
            <a:graphicFrameLocks noGrp="1"/>
          </p:cNvGraphicFramePr>
          <p:nvPr>
            <p:ph idx="1"/>
          </p:nvPr>
        </p:nvGraphicFramePr>
        <p:xfrm>
          <a:off x="304800" y="1180808"/>
          <a:ext cx="8610600" cy="5285868"/>
        </p:xfrm>
        <a:graphic>
          <a:graphicData uri="http://schemas.openxmlformats.org/drawingml/2006/table">
            <a:tbl>
              <a:tblPr>
                <a:tableStyleId>{5C22544A-7EE6-4342-B048-85BDC9FD1C3A}</a:tableStyleId>
              </a:tblPr>
              <a:tblGrid>
                <a:gridCol w="1143000">
                  <a:extLst>
                    <a:ext uri="{9D8B030D-6E8A-4147-A177-3AD203B41FA5}">
                      <a16:colId xmlns:a16="http://schemas.microsoft.com/office/drawing/2014/main" val="20000"/>
                    </a:ext>
                  </a:extLst>
                </a:gridCol>
                <a:gridCol w="7467600">
                  <a:extLst>
                    <a:ext uri="{9D8B030D-6E8A-4147-A177-3AD203B41FA5}">
                      <a16:colId xmlns:a16="http://schemas.microsoft.com/office/drawing/2014/main" val="20001"/>
                    </a:ext>
                  </a:extLst>
                </a:gridCol>
              </a:tblGrid>
              <a:tr h="310141">
                <a:tc>
                  <a:txBody>
                    <a:bodyPr/>
                    <a:lstStyle/>
                    <a:p>
                      <a:pPr marL="0" marR="0">
                        <a:lnSpc>
                          <a:spcPts val="1450"/>
                        </a:lnSpc>
                        <a:spcBef>
                          <a:spcPts val="400"/>
                        </a:spcBef>
                        <a:spcAft>
                          <a:spcPts val="400"/>
                        </a:spcAft>
                      </a:pPr>
                      <a:r>
                        <a:rPr lang="en-US" sz="1400" b="1" dirty="0">
                          <a:effectLst/>
                        </a:rPr>
                        <a:t>Portion of </a:t>
                      </a:r>
                      <a:br>
                        <a:rPr lang="en-US" sz="1400" b="1" dirty="0">
                          <a:effectLst/>
                        </a:rPr>
                      </a:br>
                      <a:r>
                        <a:rPr lang="en-US" sz="1400" b="1" dirty="0">
                          <a:effectLst/>
                        </a:rPr>
                        <a:t>Scenario</a:t>
                      </a:r>
                      <a:endParaRPr lang="en-US" sz="1400" b="1" dirty="0">
                        <a:effectLst/>
                        <a:latin typeface="Times"/>
                        <a:ea typeface="Times New Roman"/>
                        <a:cs typeface="Times New Roman"/>
                      </a:endParaRPr>
                    </a:p>
                  </a:txBody>
                  <a:tcPr marL="47608" marR="47608" marT="0" marB="0"/>
                </a:tc>
                <a:tc>
                  <a:txBody>
                    <a:bodyPr/>
                    <a:lstStyle/>
                    <a:p>
                      <a:pPr marL="0" marR="0">
                        <a:lnSpc>
                          <a:spcPts val="1450"/>
                        </a:lnSpc>
                        <a:spcBef>
                          <a:spcPts val="400"/>
                        </a:spcBef>
                        <a:spcAft>
                          <a:spcPts val="400"/>
                        </a:spcAft>
                      </a:pPr>
                      <a:r>
                        <a:rPr lang="en-US" sz="1400" b="1" dirty="0">
                          <a:effectLst/>
                        </a:rPr>
                        <a:t>Possible Values</a:t>
                      </a:r>
                      <a:endParaRPr lang="en-US" sz="1400" b="1" dirty="0">
                        <a:effectLst/>
                        <a:latin typeface="Times"/>
                        <a:ea typeface="Times New Roman"/>
                        <a:cs typeface="Times New Roman"/>
                      </a:endParaRPr>
                    </a:p>
                  </a:txBody>
                  <a:tcPr marL="47608" marR="47608" marT="0" marB="0"/>
                </a:tc>
                <a:extLst>
                  <a:ext uri="{0D108BD9-81ED-4DB2-BD59-A6C34878D82A}">
                    <a16:rowId xmlns:a16="http://schemas.microsoft.com/office/drawing/2014/main" val="10000"/>
                  </a:ext>
                </a:extLst>
              </a:tr>
              <a:tr h="465211">
                <a:tc>
                  <a:txBody>
                    <a:bodyPr/>
                    <a:lstStyle/>
                    <a:p>
                      <a:pPr marL="0" marR="0">
                        <a:lnSpc>
                          <a:spcPts val="1450"/>
                        </a:lnSpc>
                        <a:spcBef>
                          <a:spcPts val="400"/>
                        </a:spcBef>
                        <a:spcAft>
                          <a:spcPts val="400"/>
                        </a:spcAft>
                      </a:pPr>
                      <a:r>
                        <a:rPr lang="en-US" sz="1400" dirty="0">
                          <a:effectLst/>
                        </a:rPr>
                        <a:t>Source</a:t>
                      </a:r>
                      <a:endParaRPr lang="en-US" sz="1400" dirty="0">
                        <a:effectLst/>
                        <a:latin typeface="Times"/>
                        <a:ea typeface="Times New Roman"/>
                        <a:cs typeface="Times New Roman"/>
                      </a:endParaRPr>
                    </a:p>
                  </a:txBody>
                  <a:tcPr marL="47608" marR="47608" marT="0" marB="0"/>
                </a:tc>
                <a:tc>
                  <a:txBody>
                    <a:bodyPr/>
                    <a:lstStyle/>
                    <a:p>
                      <a:pPr marL="0" marR="0" indent="0">
                        <a:lnSpc>
                          <a:spcPts val="1450"/>
                        </a:lnSpc>
                        <a:spcBef>
                          <a:spcPts val="100"/>
                        </a:spcBef>
                        <a:spcAft>
                          <a:spcPts val="300"/>
                        </a:spcAft>
                        <a:tabLst>
                          <a:tab pos="228600" algn="l"/>
                          <a:tab pos="274320" algn="l"/>
                          <a:tab pos="274320" algn="l"/>
                        </a:tabLst>
                      </a:pPr>
                      <a:r>
                        <a:rPr lang="en-US" sz="1400" kern="1100" dirty="0">
                          <a:effectLst/>
                        </a:rPr>
                        <a:t>Human or another system which may have been previously identified (either correctly or incorrectly) or may be currently unknown. A human attacker may be from outside the organization or from inside the organization.</a:t>
                      </a:r>
                      <a:endParaRPr lang="en-US" sz="1400" kern="1100" dirty="0">
                        <a:effectLst/>
                        <a:latin typeface="Times New Roman"/>
                        <a:ea typeface="Times New Roman"/>
                      </a:endParaRPr>
                    </a:p>
                  </a:txBody>
                  <a:tcPr marL="47608" marR="47608" marT="0" marB="0"/>
                </a:tc>
                <a:extLst>
                  <a:ext uri="{0D108BD9-81ED-4DB2-BD59-A6C34878D82A}">
                    <a16:rowId xmlns:a16="http://schemas.microsoft.com/office/drawing/2014/main" val="10001"/>
                  </a:ext>
                </a:extLst>
              </a:tr>
              <a:tr h="310141">
                <a:tc>
                  <a:txBody>
                    <a:bodyPr/>
                    <a:lstStyle/>
                    <a:p>
                      <a:pPr marL="0" marR="0">
                        <a:lnSpc>
                          <a:spcPts val="1450"/>
                        </a:lnSpc>
                        <a:spcBef>
                          <a:spcPts val="400"/>
                        </a:spcBef>
                        <a:spcAft>
                          <a:spcPts val="400"/>
                        </a:spcAft>
                      </a:pPr>
                      <a:r>
                        <a:rPr lang="en-US" sz="1400">
                          <a:effectLst/>
                        </a:rPr>
                        <a:t>Stimulus</a:t>
                      </a:r>
                      <a:endParaRPr lang="en-US" sz="1400">
                        <a:effectLst/>
                        <a:latin typeface="Times"/>
                        <a:ea typeface="Times New Roman"/>
                        <a:cs typeface="Times New Roman"/>
                      </a:endParaRPr>
                    </a:p>
                  </a:txBody>
                  <a:tcPr marL="47608" marR="47608" marT="0" marB="0"/>
                </a:tc>
                <a:tc>
                  <a:txBody>
                    <a:bodyPr/>
                    <a:lstStyle/>
                    <a:p>
                      <a:pPr marL="0" marR="0" indent="0">
                        <a:lnSpc>
                          <a:spcPts val="1450"/>
                        </a:lnSpc>
                        <a:spcBef>
                          <a:spcPts val="100"/>
                        </a:spcBef>
                        <a:spcAft>
                          <a:spcPts val="300"/>
                        </a:spcAft>
                        <a:tabLst>
                          <a:tab pos="228600" algn="l"/>
                          <a:tab pos="274320" algn="l"/>
                          <a:tab pos="274320" algn="l"/>
                        </a:tabLst>
                      </a:pPr>
                      <a:r>
                        <a:rPr lang="en-US" sz="1400" kern="1100" dirty="0">
                          <a:effectLst/>
                        </a:rPr>
                        <a:t>Unauthorized attempt is made to display data, change or delete data, access system services, change the system’s behavior, or reduce availability.</a:t>
                      </a:r>
                      <a:endParaRPr lang="en-US" sz="1400" kern="1100" dirty="0">
                        <a:effectLst/>
                        <a:latin typeface="Times New Roman"/>
                        <a:ea typeface="Times New Roman"/>
                      </a:endParaRPr>
                    </a:p>
                  </a:txBody>
                  <a:tcPr marL="47608" marR="47608" marT="0" marB="0"/>
                </a:tc>
                <a:extLst>
                  <a:ext uri="{0D108BD9-81ED-4DB2-BD59-A6C34878D82A}">
                    <a16:rowId xmlns:a16="http://schemas.microsoft.com/office/drawing/2014/main" val="10002"/>
                  </a:ext>
                </a:extLst>
              </a:tr>
              <a:tr h="310141">
                <a:tc>
                  <a:txBody>
                    <a:bodyPr/>
                    <a:lstStyle/>
                    <a:p>
                      <a:pPr marL="0" marR="0">
                        <a:lnSpc>
                          <a:spcPts val="1450"/>
                        </a:lnSpc>
                        <a:spcBef>
                          <a:spcPts val="400"/>
                        </a:spcBef>
                        <a:spcAft>
                          <a:spcPts val="400"/>
                        </a:spcAft>
                      </a:pPr>
                      <a:r>
                        <a:rPr lang="en-US" sz="1400">
                          <a:effectLst/>
                        </a:rPr>
                        <a:t>Artifact</a:t>
                      </a:r>
                      <a:endParaRPr lang="en-US" sz="1400">
                        <a:effectLst/>
                        <a:latin typeface="Times"/>
                        <a:ea typeface="Times New Roman"/>
                        <a:cs typeface="Times New Roman"/>
                      </a:endParaRPr>
                    </a:p>
                  </a:txBody>
                  <a:tcPr marL="47608" marR="47608" marT="0" marB="0"/>
                </a:tc>
                <a:tc>
                  <a:txBody>
                    <a:bodyPr/>
                    <a:lstStyle/>
                    <a:p>
                      <a:pPr marL="0" marR="0">
                        <a:lnSpc>
                          <a:spcPts val="1450"/>
                        </a:lnSpc>
                        <a:spcBef>
                          <a:spcPts val="400"/>
                        </a:spcBef>
                        <a:spcAft>
                          <a:spcPts val="400"/>
                        </a:spcAft>
                      </a:pPr>
                      <a:r>
                        <a:rPr lang="en-US" sz="1400" dirty="0">
                          <a:effectLst/>
                        </a:rPr>
                        <a:t>System services; data within the system; a component or resources of the system; data produced or consumed by the system</a:t>
                      </a:r>
                      <a:endParaRPr lang="en-US" sz="1400" dirty="0">
                        <a:effectLst/>
                        <a:latin typeface="Times"/>
                        <a:ea typeface="Times New Roman"/>
                        <a:cs typeface="Times New Roman"/>
                      </a:endParaRPr>
                    </a:p>
                  </a:txBody>
                  <a:tcPr marL="47608" marR="47608" marT="0" marB="0"/>
                </a:tc>
                <a:extLst>
                  <a:ext uri="{0D108BD9-81ED-4DB2-BD59-A6C34878D82A}">
                    <a16:rowId xmlns:a16="http://schemas.microsoft.com/office/drawing/2014/main" val="10003"/>
                  </a:ext>
                </a:extLst>
              </a:tr>
              <a:tr h="310141">
                <a:tc>
                  <a:txBody>
                    <a:bodyPr/>
                    <a:lstStyle/>
                    <a:p>
                      <a:pPr marL="0" marR="0">
                        <a:lnSpc>
                          <a:spcPts val="1450"/>
                        </a:lnSpc>
                        <a:spcBef>
                          <a:spcPts val="400"/>
                        </a:spcBef>
                        <a:spcAft>
                          <a:spcPts val="400"/>
                        </a:spcAft>
                      </a:pPr>
                      <a:r>
                        <a:rPr lang="en-US" sz="1400">
                          <a:effectLst/>
                        </a:rPr>
                        <a:t>Environment</a:t>
                      </a:r>
                      <a:endParaRPr lang="en-US" sz="1400">
                        <a:effectLst/>
                        <a:latin typeface="Times"/>
                        <a:ea typeface="Times New Roman"/>
                        <a:cs typeface="Times New Roman"/>
                      </a:endParaRPr>
                    </a:p>
                  </a:txBody>
                  <a:tcPr marL="47608" marR="47608" marT="0" marB="0"/>
                </a:tc>
                <a:tc>
                  <a:txBody>
                    <a:bodyPr/>
                    <a:lstStyle/>
                    <a:p>
                      <a:pPr marL="0" marR="0">
                        <a:lnSpc>
                          <a:spcPts val="1450"/>
                        </a:lnSpc>
                        <a:spcBef>
                          <a:spcPts val="400"/>
                        </a:spcBef>
                        <a:spcAft>
                          <a:spcPts val="400"/>
                        </a:spcAft>
                        <a:tabLst>
                          <a:tab pos="1969135" algn="ctr"/>
                        </a:tabLst>
                      </a:pPr>
                      <a:r>
                        <a:rPr lang="en-US" sz="1400" dirty="0">
                          <a:effectLst/>
                        </a:rPr>
                        <a:t>The system is either online or offline, connected to or disconnected from a network, behind a firewall or open to a network, fully operational, partially operational, or not operational</a:t>
                      </a:r>
                      <a:endParaRPr lang="en-US" sz="1400" dirty="0">
                        <a:effectLst/>
                        <a:latin typeface="Times"/>
                        <a:ea typeface="Times New Roman"/>
                        <a:cs typeface="Times New Roman"/>
                      </a:endParaRPr>
                    </a:p>
                  </a:txBody>
                  <a:tcPr marL="47608" marR="47608" marT="0" marB="0"/>
                </a:tc>
                <a:extLst>
                  <a:ext uri="{0D108BD9-81ED-4DB2-BD59-A6C34878D82A}">
                    <a16:rowId xmlns:a16="http://schemas.microsoft.com/office/drawing/2014/main" val="10004"/>
                  </a:ext>
                </a:extLst>
              </a:tr>
              <a:tr h="1612223">
                <a:tc>
                  <a:txBody>
                    <a:bodyPr/>
                    <a:lstStyle/>
                    <a:p>
                      <a:pPr marL="0" marR="0">
                        <a:lnSpc>
                          <a:spcPts val="1450"/>
                        </a:lnSpc>
                        <a:spcBef>
                          <a:spcPts val="400"/>
                        </a:spcBef>
                        <a:spcAft>
                          <a:spcPts val="400"/>
                        </a:spcAft>
                      </a:pPr>
                      <a:r>
                        <a:rPr lang="en-US" sz="1400">
                          <a:effectLst/>
                        </a:rPr>
                        <a:t>Response</a:t>
                      </a:r>
                      <a:endParaRPr lang="en-US" sz="1400">
                        <a:effectLst/>
                        <a:latin typeface="Times"/>
                        <a:ea typeface="Times New Roman"/>
                        <a:cs typeface="Times New Roman"/>
                      </a:endParaRPr>
                    </a:p>
                  </a:txBody>
                  <a:tcPr marL="47608" marR="47608" marT="0" marB="0"/>
                </a:tc>
                <a:tc>
                  <a:txBody>
                    <a:bodyPr/>
                    <a:lstStyle/>
                    <a:p>
                      <a:pPr marL="0" marR="0" indent="0">
                        <a:lnSpc>
                          <a:spcPts val="1450"/>
                        </a:lnSpc>
                        <a:spcBef>
                          <a:spcPts val="100"/>
                        </a:spcBef>
                        <a:spcAft>
                          <a:spcPts val="300"/>
                        </a:spcAft>
                        <a:tabLst>
                          <a:tab pos="228600" algn="l"/>
                          <a:tab pos="274320" algn="l"/>
                          <a:tab pos="274320" algn="l"/>
                        </a:tabLst>
                      </a:pPr>
                      <a:r>
                        <a:rPr lang="en-US" sz="1400" kern="1100" dirty="0">
                          <a:effectLst/>
                        </a:rPr>
                        <a:t>Transactions are carried out in a fashion such that </a:t>
                      </a:r>
                    </a:p>
                    <a:p>
                      <a:pPr marL="342900" marR="0" lvl="0" indent="-342900">
                        <a:lnSpc>
                          <a:spcPts val="1400"/>
                        </a:lnSpc>
                        <a:spcBef>
                          <a:spcPts val="0"/>
                        </a:spcBef>
                        <a:spcAft>
                          <a:spcPts val="0"/>
                        </a:spcAft>
                        <a:buFont typeface="Symbol"/>
                        <a:buChar char=""/>
                        <a:tabLst>
                          <a:tab pos="228600" algn="l"/>
                          <a:tab pos="274320" algn="l"/>
                          <a:tab pos="274320" algn="l"/>
                        </a:tabLst>
                      </a:pPr>
                      <a:r>
                        <a:rPr lang="en-US" sz="1400" kern="1100" dirty="0">
                          <a:effectLst/>
                        </a:rPr>
                        <a:t>data or services are protected from unauthorized access; </a:t>
                      </a:r>
                    </a:p>
                    <a:p>
                      <a:pPr marL="342900" marR="0" lvl="0" indent="-342900">
                        <a:lnSpc>
                          <a:spcPts val="1400"/>
                        </a:lnSpc>
                        <a:spcBef>
                          <a:spcPts val="0"/>
                        </a:spcBef>
                        <a:spcAft>
                          <a:spcPts val="0"/>
                        </a:spcAft>
                        <a:buFont typeface="Symbol"/>
                        <a:buChar char=""/>
                        <a:tabLst>
                          <a:tab pos="228600" algn="l"/>
                          <a:tab pos="274320" algn="l"/>
                          <a:tab pos="274320" algn="l"/>
                        </a:tabLst>
                      </a:pPr>
                      <a:r>
                        <a:rPr lang="en-US" sz="1400" kern="1100" dirty="0">
                          <a:effectLst/>
                        </a:rPr>
                        <a:t>data or services are not being manipulated without authorization;</a:t>
                      </a:r>
                    </a:p>
                    <a:p>
                      <a:pPr marL="342900" marR="0" lvl="0" indent="-342900">
                        <a:lnSpc>
                          <a:spcPts val="1400"/>
                        </a:lnSpc>
                        <a:spcBef>
                          <a:spcPts val="0"/>
                        </a:spcBef>
                        <a:spcAft>
                          <a:spcPts val="0"/>
                        </a:spcAft>
                        <a:buFont typeface="Symbol"/>
                        <a:buChar char=""/>
                        <a:tabLst>
                          <a:tab pos="228600" algn="l"/>
                          <a:tab pos="274320" algn="l"/>
                          <a:tab pos="274320" algn="l"/>
                        </a:tabLst>
                      </a:pPr>
                      <a:r>
                        <a:rPr lang="en-US" sz="1400" kern="1100" dirty="0">
                          <a:effectLst/>
                        </a:rPr>
                        <a:t>parties to a transaction are identified with assurance; </a:t>
                      </a:r>
                    </a:p>
                    <a:p>
                      <a:pPr marL="342900" marR="0" lvl="0" indent="-342900">
                        <a:lnSpc>
                          <a:spcPts val="1400"/>
                        </a:lnSpc>
                        <a:spcBef>
                          <a:spcPts val="0"/>
                        </a:spcBef>
                        <a:spcAft>
                          <a:spcPts val="0"/>
                        </a:spcAft>
                        <a:buFont typeface="Symbol"/>
                        <a:buChar char=""/>
                        <a:tabLst>
                          <a:tab pos="228600" algn="l"/>
                          <a:tab pos="274320" algn="l"/>
                          <a:tab pos="274320" algn="l"/>
                        </a:tabLst>
                      </a:pPr>
                      <a:r>
                        <a:rPr lang="en-US" sz="1400" kern="1100" dirty="0">
                          <a:effectLst/>
                        </a:rPr>
                        <a:t>the parties to the transaction cannot repudiate their involvements; </a:t>
                      </a:r>
                    </a:p>
                    <a:p>
                      <a:pPr marL="342900" marR="0" lvl="0" indent="-342900">
                        <a:lnSpc>
                          <a:spcPts val="1400"/>
                        </a:lnSpc>
                        <a:spcBef>
                          <a:spcPts val="0"/>
                        </a:spcBef>
                        <a:spcAft>
                          <a:spcPts val="0"/>
                        </a:spcAft>
                        <a:buFont typeface="Symbol"/>
                        <a:buChar char=""/>
                        <a:tabLst>
                          <a:tab pos="228600" algn="l"/>
                          <a:tab pos="274320" algn="l"/>
                          <a:tab pos="274320" algn="l"/>
                        </a:tabLst>
                      </a:pPr>
                      <a:r>
                        <a:rPr lang="en-US" sz="1400" kern="1100" dirty="0">
                          <a:effectLst/>
                        </a:rPr>
                        <a:t>the data, resources, and system services will be available for legitimate use. </a:t>
                      </a:r>
                    </a:p>
                    <a:p>
                      <a:pPr marL="0" marR="0" indent="0">
                        <a:lnSpc>
                          <a:spcPts val="1450"/>
                        </a:lnSpc>
                        <a:spcBef>
                          <a:spcPts val="100"/>
                        </a:spcBef>
                        <a:spcAft>
                          <a:spcPts val="300"/>
                        </a:spcAft>
                        <a:tabLst>
                          <a:tab pos="228600" algn="l"/>
                          <a:tab pos="274320" algn="l"/>
                          <a:tab pos="274320" algn="l"/>
                        </a:tabLst>
                      </a:pPr>
                      <a:r>
                        <a:rPr lang="en-US" sz="1400" kern="1100" dirty="0">
                          <a:effectLst/>
                        </a:rPr>
                        <a:t>The system tracks activities within it by</a:t>
                      </a:r>
                    </a:p>
                    <a:p>
                      <a:pPr marL="342900" marR="0" lvl="0" indent="-342900">
                        <a:lnSpc>
                          <a:spcPts val="1400"/>
                        </a:lnSpc>
                        <a:spcBef>
                          <a:spcPts val="0"/>
                        </a:spcBef>
                        <a:spcAft>
                          <a:spcPts val="0"/>
                        </a:spcAft>
                        <a:buFont typeface="Symbol"/>
                        <a:buChar char=""/>
                        <a:tabLst>
                          <a:tab pos="228600" algn="l"/>
                          <a:tab pos="274320" algn="l"/>
                          <a:tab pos="274320" algn="l"/>
                        </a:tabLst>
                      </a:pPr>
                      <a:r>
                        <a:rPr lang="en-US" sz="1400" kern="1100" dirty="0">
                          <a:effectLst/>
                        </a:rPr>
                        <a:t>recording access or modification, </a:t>
                      </a:r>
                    </a:p>
                    <a:p>
                      <a:pPr marL="342900" marR="0" lvl="0" indent="-342900">
                        <a:lnSpc>
                          <a:spcPts val="1400"/>
                        </a:lnSpc>
                        <a:spcBef>
                          <a:spcPts val="0"/>
                        </a:spcBef>
                        <a:spcAft>
                          <a:spcPts val="0"/>
                        </a:spcAft>
                        <a:buFont typeface="Symbol"/>
                        <a:buChar char=""/>
                        <a:tabLst>
                          <a:tab pos="228600" algn="l"/>
                          <a:tab pos="274320" algn="l"/>
                          <a:tab pos="274320" algn="l"/>
                        </a:tabLst>
                      </a:pPr>
                      <a:r>
                        <a:rPr lang="en-US" sz="1400" kern="1100" dirty="0">
                          <a:effectLst/>
                        </a:rPr>
                        <a:t>recording attempts to access data, resources or services, </a:t>
                      </a:r>
                    </a:p>
                    <a:p>
                      <a:pPr marL="342900" marR="0" lvl="0" indent="-342900">
                        <a:lnSpc>
                          <a:spcPts val="1400"/>
                        </a:lnSpc>
                        <a:spcBef>
                          <a:spcPts val="0"/>
                        </a:spcBef>
                        <a:spcAft>
                          <a:spcPts val="0"/>
                        </a:spcAft>
                        <a:buFont typeface="Symbol"/>
                        <a:buChar char=""/>
                        <a:tabLst>
                          <a:tab pos="228600" algn="l"/>
                          <a:tab pos="274320" algn="l"/>
                          <a:tab pos="274320" algn="l"/>
                        </a:tabLst>
                      </a:pPr>
                      <a:r>
                        <a:rPr lang="en-US" sz="1400" kern="1100" dirty="0">
                          <a:effectLst/>
                        </a:rPr>
                        <a:t>notifying appropriate entities (people or systems) when an apparent attack is occurring.</a:t>
                      </a:r>
                      <a:endParaRPr lang="en-US" sz="1400" kern="1100" dirty="0">
                        <a:effectLst/>
                        <a:latin typeface="Times New Roman"/>
                        <a:ea typeface="Times New Roman"/>
                      </a:endParaRPr>
                    </a:p>
                  </a:txBody>
                  <a:tcPr marL="47608" marR="47608" marT="0" marB="0"/>
                </a:tc>
                <a:extLst>
                  <a:ext uri="{0D108BD9-81ED-4DB2-BD59-A6C34878D82A}">
                    <a16:rowId xmlns:a16="http://schemas.microsoft.com/office/drawing/2014/main" val="10005"/>
                  </a:ext>
                </a:extLst>
              </a:tr>
              <a:tr h="1055565">
                <a:tc>
                  <a:txBody>
                    <a:bodyPr/>
                    <a:lstStyle/>
                    <a:p>
                      <a:pPr marL="0" marR="0">
                        <a:lnSpc>
                          <a:spcPts val="1450"/>
                        </a:lnSpc>
                        <a:spcBef>
                          <a:spcPts val="400"/>
                        </a:spcBef>
                        <a:spcAft>
                          <a:spcPts val="400"/>
                        </a:spcAft>
                      </a:pPr>
                      <a:r>
                        <a:rPr lang="en-US" sz="1400">
                          <a:effectLst/>
                        </a:rPr>
                        <a:t>Response </a:t>
                      </a:r>
                      <a:br>
                        <a:rPr lang="en-US" sz="1400">
                          <a:effectLst/>
                        </a:rPr>
                      </a:br>
                      <a:r>
                        <a:rPr lang="en-US" sz="1400">
                          <a:effectLst/>
                        </a:rPr>
                        <a:t>Measure</a:t>
                      </a:r>
                      <a:endParaRPr lang="en-US" sz="1400">
                        <a:effectLst/>
                        <a:latin typeface="Times"/>
                        <a:ea typeface="Times New Roman"/>
                        <a:cs typeface="Times New Roman"/>
                      </a:endParaRPr>
                    </a:p>
                  </a:txBody>
                  <a:tcPr marL="47608" marR="47608" marT="0" marB="0"/>
                </a:tc>
                <a:tc>
                  <a:txBody>
                    <a:bodyPr/>
                    <a:lstStyle/>
                    <a:p>
                      <a:pPr marL="0" marR="0" indent="0">
                        <a:lnSpc>
                          <a:spcPts val="1450"/>
                        </a:lnSpc>
                        <a:spcBef>
                          <a:spcPts val="100"/>
                        </a:spcBef>
                        <a:spcAft>
                          <a:spcPts val="300"/>
                        </a:spcAft>
                        <a:tabLst>
                          <a:tab pos="228600" algn="l"/>
                          <a:tab pos="274320" algn="l"/>
                          <a:tab pos="274320" algn="l"/>
                        </a:tabLst>
                      </a:pPr>
                      <a:r>
                        <a:rPr lang="en-US" sz="1400" kern="1100" dirty="0">
                          <a:effectLst/>
                        </a:rPr>
                        <a:t>One or more of the following</a:t>
                      </a:r>
                    </a:p>
                    <a:p>
                      <a:pPr marL="342900" marR="0" lvl="0" indent="-342900">
                        <a:lnSpc>
                          <a:spcPts val="1400"/>
                        </a:lnSpc>
                        <a:spcBef>
                          <a:spcPts val="0"/>
                        </a:spcBef>
                        <a:spcAft>
                          <a:spcPts val="0"/>
                        </a:spcAft>
                        <a:buFont typeface="Symbol"/>
                        <a:buChar char=""/>
                        <a:tabLst>
                          <a:tab pos="228600" algn="l"/>
                          <a:tab pos="274320" algn="l"/>
                          <a:tab pos="274320" algn="l"/>
                        </a:tabLst>
                      </a:pPr>
                      <a:r>
                        <a:rPr lang="en-US" sz="1400" kern="1100" dirty="0">
                          <a:effectLst/>
                        </a:rPr>
                        <a:t>how much of a system is compromised when a particular component or data value is compromised,</a:t>
                      </a:r>
                    </a:p>
                    <a:p>
                      <a:pPr marL="342900" marR="0" lvl="0" indent="-342900">
                        <a:lnSpc>
                          <a:spcPts val="1400"/>
                        </a:lnSpc>
                        <a:spcBef>
                          <a:spcPts val="0"/>
                        </a:spcBef>
                        <a:spcAft>
                          <a:spcPts val="0"/>
                        </a:spcAft>
                        <a:buFont typeface="Symbol"/>
                        <a:buChar char=""/>
                        <a:tabLst>
                          <a:tab pos="228600" algn="l"/>
                          <a:tab pos="274320" algn="l"/>
                          <a:tab pos="274320" algn="l"/>
                        </a:tabLst>
                      </a:pPr>
                      <a:r>
                        <a:rPr lang="en-US" sz="1400" kern="1100" dirty="0">
                          <a:effectLst/>
                        </a:rPr>
                        <a:t>how much time passed before an attack was detected, </a:t>
                      </a:r>
                    </a:p>
                    <a:p>
                      <a:pPr marL="342900" marR="0" lvl="0" indent="-342900">
                        <a:lnSpc>
                          <a:spcPts val="1400"/>
                        </a:lnSpc>
                        <a:spcBef>
                          <a:spcPts val="0"/>
                        </a:spcBef>
                        <a:spcAft>
                          <a:spcPts val="0"/>
                        </a:spcAft>
                        <a:buFont typeface="Symbol"/>
                        <a:buChar char=""/>
                        <a:tabLst>
                          <a:tab pos="228600" algn="l"/>
                          <a:tab pos="274320" algn="l"/>
                          <a:tab pos="274320" algn="l"/>
                        </a:tabLst>
                      </a:pPr>
                      <a:r>
                        <a:rPr lang="en-US" sz="1400" kern="1100" dirty="0">
                          <a:effectLst/>
                        </a:rPr>
                        <a:t>how many attacks were resisted, </a:t>
                      </a:r>
                    </a:p>
                    <a:p>
                      <a:pPr marL="342900" marR="0" lvl="0" indent="-342900">
                        <a:lnSpc>
                          <a:spcPts val="1400"/>
                        </a:lnSpc>
                        <a:spcBef>
                          <a:spcPts val="0"/>
                        </a:spcBef>
                        <a:spcAft>
                          <a:spcPts val="0"/>
                        </a:spcAft>
                        <a:buFont typeface="Symbol"/>
                        <a:buChar char=""/>
                        <a:tabLst>
                          <a:tab pos="228600" algn="l"/>
                          <a:tab pos="274320" algn="l"/>
                          <a:tab pos="274320" algn="l"/>
                        </a:tabLst>
                      </a:pPr>
                      <a:r>
                        <a:rPr lang="en-US" sz="1400" kern="1100" dirty="0">
                          <a:effectLst/>
                        </a:rPr>
                        <a:t>how long does it take to recover from a successful attack, </a:t>
                      </a:r>
                    </a:p>
                    <a:p>
                      <a:pPr marL="342900" marR="0" lvl="0" indent="-342900">
                        <a:lnSpc>
                          <a:spcPts val="1400"/>
                        </a:lnSpc>
                        <a:spcBef>
                          <a:spcPts val="0"/>
                        </a:spcBef>
                        <a:spcAft>
                          <a:spcPts val="0"/>
                        </a:spcAft>
                        <a:buFont typeface="Symbol"/>
                        <a:buChar char=""/>
                        <a:tabLst>
                          <a:tab pos="228600" algn="l"/>
                          <a:tab pos="274320" algn="l"/>
                          <a:tab pos="274320" algn="l"/>
                        </a:tabLst>
                      </a:pPr>
                      <a:r>
                        <a:rPr lang="en-US" sz="1400" kern="1100" dirty="0">
                          <a:effectLst/>
                        </a:rPr>
                        <a:t>how much data is vulnerable to a particular attack</a:t>
                      </a:r>
                      <a:endParaRPr lang="en-US" sz="1400" kern="1100" dirty="0">
                        <a:effectLst/>
                        <a:latin typeface="Times New Roman"/>
                        <a:ea typeface="Times New Roman"/>
                      </a:endParaRPr>
                    </a:p>
                  </a:txBody>
                  <a:tcPr marL="47608" marR="47608" marT="0" marB="0"/>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52314516"/>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Font typeface="Arial" panose="020B0604020202020204" pitchFamily="34" charset="0"/>
              <a:buChar char="•"/>
            </a:pPr>
            <a:r>
              <a:rPr lang="en-AU" dirty="0"/>
              <a:t>A disgruntled employee from a remote location attempts to modify the pay rate table during normal operations. The system maintains an audit trail and the correct data is restored within a day.</a:t>
            </a:r>
            <a:endParaRPr lang="en-US"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5" name="Date Placeholder 4">
            <a:extLst>
              <a:ext uri="{FF2B5EF4-FFF2-40B4-BE49-F238E27FC236}">
                <a16:creationId xmlns:a16="http://schemas.microsoft.com/office/drawing/2014/main" id="{3DCAD8A6-D261-478A-8DE0-3FA7658A4680}"/>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0217EEFF-BD29-46D4-AF36-52245AFC5DFE}"/>
              </a:ext>
            </a:extLst>
          </p:cNvPr>
          <p:cNvSpPr>
            <a:spLocks noGrp="1"/>
          </p:cNvSpPr>
          <p:nvPr>
            <p:ph type="sldNum" sz="quarter" idx="14"/>
          </p:nvPr>
        </p:nvSpPr>
        <p:spPr/>
        <p:txBody>
          <a:bodyPr/>
          <a:lstStyle/>
          <a:p>
            <a:fld id="{BC8D7E44-7D4F-4942-A8C9-2DF6BF8399E8}" type="slidenum">
              <a:rPr lang="en-US" smtClean="0"/>
              <a:pPr/>
              <a:t>111</a:t>
            </a:fld>
            <a:endParaRPr lang="en-US" dirty="0"/>
          </a:p>
        </p:txBody>
      </p:sp>
      <p:sp>
        <p:nvSpPr>
          <p:cNvPr id="9" name="Title 1">
            <a:extLst>
              <a:ext uri="{FF2B5EF4-FFF2-40B4-BE49-F238E27FC236}">
                <a16:creationId xmlns:a16="http://schemas.microsoft.com/office/drawing/2014/main" id="{B6053476-25BF-AEA1-371A-B2237B374D0F}"/>
              </a:ext>
            </a:extLst>
          </p:cNvPr>
          <p:cNvSpPr>
            <a:spLocks noGrp="1"/>
          </p:cNvSpPr>
          <p:nvPr>
            <p:ph sz="quarter" idx="10"/>
          </p:nvPr>
        </p:nvSpPr>
        <p:spPr>
          <a:xfrm>
            <a:off x="304800" y="152400"/>
            <a:ext cx="6324600" cy="1143000"/>
          </a:xfrm>
        </p:spPr>
        <p:txBody>
          <a:bodyPr>
            <a:normAutofit fontScale="97500"/>
          </a:bodyPr>
          <a:lstStyle/>
          <a:p>
            <a:r>
              <a:rPr lang="en-US" dirty="0"/>
              <a:t>Sample Concrete Security Scenario</a:t>
            </a:r>
          </a:p>
        </p:txBody>
      </p:sp>
    </p:spTree>
    <p:extLst>
      <p:ext uri="{BB962C8B-B14F-4D97-AF65-F5344CB8AC3E}">
        <p14:creationId xmlns:p14="http://schemas.microsoft.com/office/powerpoint/2010/main" val="3748393001"/>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anose="020B0604020202020204" pitchFamily="34" charset="0"/>
              <a:buChar char="•"/>
            </a:pPr>
            <a:r>
              <a:rPr lang="en-US" dirty="0"/>
              <a:t>One method for thinking about system security is to think about physical security. </a:t>
            </a:r>
          </a:p>
          <a:p>
            <a:pPr>
              <a:buFont typeface="Arial" panose="020B0604020202020204" pitchFamily="34" charset="0"/>
              <a:buChar char="•"/>
            </a:pPr>
            <a:r>
              <a:rPr lang="en-US" dirty="0"/>
              <a:t>Secure installations have limited access to them (e.g., by using security checkpoints), have means of detecting intruders (e.g., by requiring legitimate visitors to wear badges), have deterrence mechanisms such as armed guards, have reaction mechanisms such as automatic locking of doors and have recovery mechanisms such as off-site back up. </a:t>
            </a:r>
          </a:p>
          <a:p>
            <a:pPr>
              <a:buFont typeface="Arial" panose="020B0604020202020204" pitchFamily="34" charset="0"/>
              <a:buChar char="•"/>
            </a:pPr>
            <a:r>
              <a:rPr lang="en-US" dirty="0"/>
              <a:t>This leads to our four categories of tactics: detect, resist, react, and recover.</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5" name="Date Placeholder 4">
            <a:extLst>
              <a:ext uri="{FF2B5EF4-FFF2-40B4-BE49-F238E27FC236}">
                <a16:creationId xmlns:a16="http://schemas.microsoft.com/office/drawing/2014/main" id="{90EEFE31-C897-48D5-BD83-B3A8B6F7D96F}"/>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06F77FED-2866-4BAB-93DD-6316D80B633F}"/>
              </a:ext>
            </a:extLst>
          </p:cNvPr>
          <p:cNvSpPr>
            <a:spLocks noGrp="1"/>
          </p:cNvSpPr>
          <p:nvPr>
            <p:ph type="sldNum" sz="quarter" idx="14"/>
          </p:nvPr>
        </p:nvSpPr>
        <p:spPr/>
        <p:txBody>
          <a:bodyPr/>
          <a:lstStyle/>
          <a:p>
            <a:fld id="{BC8D7E44-7D4F-4942-A8C9-2DF6BF8399E8}" type="slidenum">
              <a:rPr lang="en-US" smtClean="0"/>
              <a:pPr/>
              <a:t>112</a:t>
            </a:fld>
            <a:endParaRPr lang="en-US" dirty="0"/>
          </a:p>
        </p:txBody>
      </p:sp>
      <p:sp>
        <p:nvSpPr>
          <p:cNvPr id="9" name="Title 1">
            <a:extLst>
              <a:ext uri="{FF2B5EF4-FFF2-40B4-BE49-F238E27FC236}">
                <a16:creationId xmlns:a16="http://schemas.microsoft.com/office/drawing/2014/main" id="{E4D3D636-FAB9-CE04-DC24-FAEF493EDE02}"/>
              </a:ext>
            </a:extLst>
          </p:cNvPr>
          <p:cNvSpPr>
            <a:spLocks noGrp="1"/>
          </p:cNvSpPr>
          <p:nvPr>
            <p:ph sz="quarter" idx="10"/>
          </p:nvPr>
        </p:nvSpPr>
        <p:spPr>
          <a:xfrm>
            <a:off x="304800" y="152400"/>
            <a:ext cx="6324600" cy="1143000"/>
          </a:xfrm>
        </p:spPr>
        <p:txBody>
          <a:bodyPr/>
          <a:lstStyle/>
          <a:p>
            <a:r>
              <a:rPr lang="en-US" dirty="0"/>
              <a:t>Goal of Security Tactics</a:t>
            </a:r>
          </a:p>
        </p:txBody>
      </p:sp>
    </p:spTree>
    <p:extLst>
      <p:ext uri="{BB962C8B-B14F-4D97-AF65-F5344CB8AC3E}">
        <p14:creationId xmlns:p14="http://schemas.microsoft.com/office/powerpoint/2010/main" val="1842371898"/>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3" name="Date Placeholder 2">
            <a:extLst>
              <a:ext uri="{FF2B5EF4-FFF2-40B4-BE49-F238E27FC236}">
                <a16:creationId xmlns:a16="http://schemas.microsoft.com/office/drawing/2014/main" id="{B4CEDCEC-7626-4744-8E10-ED43FAC19910}"/>
              </a:ext>
            </a:extLst>
          </p:cNvPr>
          <p:cNvSpPr>
            <a:spLocks noGrp="1"/>
          </p:cNvSpPr>
          <p:nvPr>
            <p:ph type="dt" sz="half" idx="12"/>
          </p:nvPr>
        </p:nvSpPr>
        <p:spPr/>
        <p:txBody>
          <a:bodyPr/>
          <a:lstStyle/>
          <a:p>
            <a:r>
              <a:rPr lang="en-US"/>
              <a:t>Auguts 1, 2026</a:t>
            </a:r>
          </a:p>
        </p:txBody>
      </p:sp>
      <p:sp>
        <p:nvSpPr>
          <p:cNvPr id="5" name="Slide Number Placeholder 4">
            <a:extLst>
              <a:ext uri="{FF2B5EF4-FFF2-40B4-BE49-F238E27FC236}">
                <a16:creationId xmlns:a16="http://schemas.microsoft.com/office/drawing/2014/main" id="{02C8EEBF-C246-421C-9848-22D83EDF42FB}"/>
              </a:ext>
            </a:extLst>
          </p:cNvPr>
          <p:cNvSpPr>
            <a:spLocks noGrp="1"/>
          </p:cNvSpPr>
          <p:nvPr>
            <p:ph type="sldNum" sz="quarter" idx="14"/>
          </p:nvPr>
        </p:nvSpPr>
        <p:spPr/>
        <p:txBody>
          <a:bodyPr/>
          <a:lstStyle/>
          <a:p>
            <a:fld id="{BC8D7E44-7D4F-4942-A8C9-2DF6BF8399E8}" type="slidenum">
              <a:rPr lang="en-US" smtClean="0"/>
              <a:pPr/>
              <a:t>113</a:t>
            </a:fld>
            <a:endParaRPr lang="en-US" dirty="0"/>
          </a:p>
        </p:txBody>
      </p:sp>
      <p:sp>
        <p:nvSpPr>
          <p:cNvPr id="9" name="Title 1">
            <a:extLst>
              <a:ext uri="{FF2B5EF4-FFF2-40B4-BE49-F238E27FC236}">
                <a16:creationId xmlns:a16="http://schemas.microsoft.com/office/drawing/2014/main" id="{767F3E4C-843E-72EA-A3E9-D173D7B90196}"/>
              </a:ext>
            </a:extLst>
          </p:cNvPr>
          <p:cNvSpPr>
            <a:spLocks noGrp="1"/>
          </p:cNvSpPr>
          <p:nvPr>
            <p:ph sz="quarter" idx="10"/>
          </p:nvPr>
        </p:nvSpPr>
        <p:spPr>
          <a:xfrm>
            <a:off x="304800" y="152400"/>
            <a:ext cx="6324600" cy="1143000"/>
          </a:xfrm>
        </p:spPr>
        <p:txBody>
          <a:bodyPr/>
          <a:lstStyle/>
          <a:p>
            <a:r>
              <a:rPr lang="en-US" dirty="0"/>
              <a:t>Goal of Security Tactics</a:t>
            </a:r>
          </a:p>
        </p:txBody>
      </p:sp>
      <p:pic>
        <p:nvPicPr>
          <p:cNvPr id="10" name="Picture 1">
            <a:extLst>
              <a:ext uri="{FF2B5EF4-FFF2-40B4-BE49-F238E27FC236}">
                <a16:creationId xmlns:a16="http://schemas.microsoft.com/office/drawing/2014/main" id="{EDE40548-3849-244D-7912-FDA5B101C63E}"/>
              </a:ext>
            </a:extLst>
          </p:cNvPr>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299200" y="2743201"/>
            <a:ext cx="8673170" cy="21336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61010853"/>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338575"/>
            <a:ext cx="9144000" cy="4525963"/>
          </a:xfrm>
        </p:spPr>
        <p:txBody>
          <a:bodyPr>
            <a:noAutofit/>
          </a:bodyPr>
          <a:lstStyle/>
          <a:p>
            <a:pPr lvl="0">
              <a:buFont typeface="Arial" panose="020B0604020202020204" pitchFamily="34" charset="0"/>
              <a:buChar char="•"/>
            </a:pPr>
            <a:r>
              <a:rPr lang="en-US" sz="2500" dirty="0"/>
              <a:t>Detect Intrusion: compare network traffic or service request patterns </a:t>
            </a:r>
            <a:r>
              <a:rPr lang="en-US" sz="2500" i="1" dirty="0"/>
              <a:t>within</a:t>
            </a:r>
            <a:r>
              <a:rPr lang="en-US" sz="2500" dirty="0"/>
              <a:t> a system to a set of signatures or known patterns of malicious behavior stored in a database. </a:t>
            </a:r>
          </a:p>
          <a:p>
            <a:pPr lvl="0">
              <a:buFont typeface="Arial" panose="020B0604020202020204" pitchFamily="34" charset="0"/>
              <a:buChar char="•"/>
            </a:pPr>
            <a:r>
              <a:rPr lang="en-US" sz="2500" dirty="0"/>
              <a:t>Detect Service Denial: comparison of the pattern or signature of network traffic </a:t>
            </a:r>
            <a:r>
              <a:rPr lang="en-US" sz="2500" i="1" dirty="0"/>
              <a:t>coming</a:t>
            </a:r>
            <a:r>
              <a:rPr lang="en-US" sz="2500" dirty="0"/>
              <a:t> </a:t>
            </a:r>
            <a:r>
              <a:rPr lang="en-US" sz="2500" i="1" dirty="0"/>
              <a:t>into</a:t>
            </a:r>
            <a:r>
              <a:rPr lang="en-US" sz="2500" dirty="0"/>
              <a:t> a system to historic profiles of known Denial of Service (</a:t>
            </a:r>
            <a:r>
              <a:rPr lang="en-US" sz="2500" dirty="0" err="1"/>
              <a:t>DoS</a:t>
            </a:r>
            <a:r>
              <a:rPr lang="en-US" sz="2500" dirty="0"/>
              <a:t>) attacks.</a:t>
            </a:r>
          </a:p>
          <a:p>
            <a:pPr lvl="0">
              <a:buFont typeface="Arial" panose="020B0604020202020204" pitchFamily="34" charset="0"/>
              <a:buChar char="•"/>
            </a:pPr>
            <a:r>
              <a:rPr lang="en-US" sz="2500" dirty="0"/>
              <a:t>Verify Message Integrity: use techniques such as checksums or hash values to verify the integrity of messages, resource files, deployment files, and configuration files. </a:t>
            </a:r>
          </a:p>
          <a:p>
            <a:pPr lvl="0">
              <a:buFont typeface="Arial" panose="020B0604020202020204" pitchFamily="34" charset="0"/>
              <a:buChar char="•"/>
            </a:pPr>
            <a:r>
              <a:rPr lang="en-US" sz="2500" dirty="0"/>
              <a:t>Detect Message Delay: checking the time that it takes to deliver a message, it is possible to detect suspicious timing behavior.</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5" name="Date Placeholder 4">
            <a:extLst>
              <a:ext uri="{FF2B5EF4-FFF2-40B4-BE49-F238E27FC236}">
                <a16:creationId xmlns:a16="http://schemas.microsoft.com/office/drawing/2014/main" id="{C956797A-AB71-450C-B5C2-78B9A3C0F1AA}"/>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B76E8FE6-D83F-4644-A41F-3632F65DF7E8}"/>
              </a:ext>
            </a:extLst>
          </p:cNvPr>
          <p:cNvSpPr>
            <a:spLocks noGrp="1"/>
          </p:cNvSpPr>
          <p:nvPr>
            <p:ph type="sldNum" sz="quarter" idx="14"/>
          </p:nvPr>
        </p:nvSpPr>
        <p:spPr/>
        <p:txBody>
          <a:bodyPr/>
          <a:lstStyle/>
          <a:p>
            <a:fld id="{BC8D7E44-7D4F-4942-A8C9-2DF6BF8399E8}" type="slidenum">
              <a:rPr lang="en-US" smtClean="0"/>
              <a:pPr/>
              <a:t>114</a:t>
            </a:fld>
            <a:endParaRPr lang="en-US" dirty="0"/>
          </a:p>
        </p:txBody>
      </p:sp>
      <p:sp>
        <p:nvSpPr>
          <p:cNvPr id="9" name="Title 1">
            <a:extLst>
              <a:ext uri="{FF2B5EF4-FFF2-40B4-BE49-F238E27FC236}">
                <a16:creationId xmlns:a16="http://schemas.microsoft.com/office/drawing/2014/main" id="{EA1410C0-6266-54E4-6218-A86AD39DB839}"/>
              </a:ext>
            </a:extLst>
          </p:cNvPr>
          <p:cNvSpPr>
            <a:spLocks noGrp="1"/>
          </p:cNvSpPr>
          <p:nvPr>
            <p:ph sz="quarter" idx="10"/>
          </p:nvPr>
        </p:nvSpPr>
        <p:spPr>
          <a:xfrm>
            <a:off x="304800" y="152400"/>
            <a:ext cx="6324600" cy="1143000"/>
          </a:xfrm>
        </p:spPr>
        <p:txBody>
          <a:bodyPr>
            <a:normAutofit/>
          </a:bodyPr>
          <a:lstStyle/>
          <a:p>
            <a:r>
              <a:rPr lang="en-US" dirty="0"/>
              <a:t>Detect Attacks</a:t>
            </a:r>
          </a:p>
        </p:txBody>
      </p:sp>
    </p:spTree>
    <p:extLst>
      <p:ext uri="{BB962C8B-B14F-4D97-AF65-F5344CB8AC3E}">
        <p14:creationId xmlns:p14="http://schemas.microsoft.com/office/powerpoint/2010/main" val="2248534079"/>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lvl="0">
              <a:buFont typeface="Arial" panose="020B0604020202020204" pitchFamily="34" charset="0"/>
              <a:buChar char="•"/>
            </a:pPr>
            <a:r>
              <a:rPr lang="en-US" dirty="0"/>
              <a:t>Identify Actors: identify the source of any external input to the system. </a:t>
            </a:r>
          </a:p>
          <a:p>
            <a:pPr lvl="0">
              <a:buFont typeface="Arial" panose="020B0604020202020204" pitchFamily="34" charset="0"/>
              <a:buChar char="•"/>
            </a:pPr>
            <a:r>
              <a:rPr lang="en-US" dirty="0"/>
              <a:t>Authenticate Actors: ensure that an actor (user or a remote computer) is actually who or what it purports to be.</a:t>
            </a:r>
          </a:p>
          <a:p>
            <a:pPr lvl="0">
              <a:buFont typeface="Arial" panose="020B0604020202020204" pitchFamily="34" charset="0"/>
              <a:buChar char="•"/>
            </a:pPr>
            <a:r>
              <a:rPr lang="en-US" dirty="0"/>
              <a:t>Authorize Actors: ensuring that an authenticated actor has the rights to access and modify either data or services. </a:t>
            </a:r>
          </a:p>
          <a:p>
            <a:pPr lvl="0">
              <a:buFont typeface="Arial" panose="020B0604020202020204" pitchFamily="34" charset="0"/>
              <a:buChar char="•"/>
            </a:pPr>
            <a:r>
              <a:rPr lang="en-US" dirty="0"/>
              <a:t>Limit Access: limiting access to resources such as memory, network connections, or access points.</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5" name="Date Placeholder 4">
            <a:extLst>
              <a:ext uri="{FF2B5EF4-FFF2-40B4-BE49-F238E27FC236}">
                <a16:creationId xmlns:a16="http://schemas.microsoft.com/office/drawing/2014/main" id="{83124B09-2153-41C7-B0B1-762AA2E72472}"/>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F9909BBC-CC3C-4888-9D3D-FD6AA11C9988}"/>
              </a:ext>
            </a:extLst>
          </p:cNvPr>
          <p:cNvSpPr>
            <a:spLocks noGrp="1"/>
          </p:cNvSpPr>
          <p:nvPr>
            <p:ph type="sldNum" sz="quarter" idx="14"/>
          </p:nvPr>
        </p:nvSpPr>
        <p:spPr/>
        <p:txBody>
          <a:bodyPr/>
          <a:lstStyle/>
          <a:p>
            <a:fld id="{BC8D7E44-7D4F-4942-A8C9-2DF6BF8399E8}" type="slidenum">
              <a:rPr lang="en-US" smtClean="0"/>
              <a:pPr/>
              <a:t>115</a:t>
            </a:fld>
            <a:endParaRPr lang="en-US" dirty="0"/>
          </a:p>
        </p:txBody>
      </p:sp>
      <p:sp>
        <p:nvSpPr>
          <p:cNvPr id="9" name="Title 1">
            <a:extLst>
              <a:ext uri="{FF2B5EF4-FFF2-40B4-BE49-F238E27FC236}">
                <a16:creationId xmlns:a16="http://schemas.microsoft.com/office/drawing/2014/main" id="{92130863-2512-F3E9-1CE1-87905A70A1DC}"/>
              </a:ext>
            </a:extLst>
          </p:cNvPr>
          <p:cNvSpPr>
            <a:spLocks noGrp="1"/>
          </p:cNvSpPr>
          <p:nvPr>
            <p:ph sz="quarter" idx="10"/>
          </p:nvPr>
        </p:nvSpPr>
        <p:spPr>
          <a:xfrm>
            <a:off x="304800" y="152400"/>
            <a:ext cx="6324600" cy="1143000"/>
          </a:xfrm>
        </p:spPr>
        <p:txBody>
          <a:bodyPr>
            <a:normAutofit/>
          </a:bodyPr>
          <a:lstStyle/>
          <a:p>
            <a:r>
              <a:rPr lang="en-US" dirty="0"/>
              <a:t>Resist Attacks</a:t>
            </a:r>
          </a:p>
        </p:txBody>
      </p:sp>
    </p:spTree>
    <p:extLst>
      <p:ext uri="{BB962C8B-B14F-4D97-AF65-F5344CB8AC3E}">
        <p14:creationId xmlns:p14="http://schemas.microsoft.com/office/powerpoint/2010/main" val="3497079156"/>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anose="020B0604020202020204" pitchFamily="34" charset="0"/>
              <a:buChar char="•"/>
            </a:pPr>
            <a:r>
              <a:rPr lang="en-US" dirty="0"/>
              <a:t>Limit Exposure: minimize the attack surface of a system by having the fewest possible number of access points.</a:t>
            </a:r>
          </a:p>
          <a:p>
            <a:pPr>
              <a:buFont typeface="Arial" panose="020B0604020202020204" pitchFamily="34" charset="0"/>
              <a:buChar char="•"/>
            </a:pPr>
            <a:r>
              <a:rPr lang="en-US" dirty="0"/>
              <a:t>Encrypt Data: apply some form of encryption to data and to communication.</a:t>
            </a:r>
          </a:p>
          <a:p>
            <a:pPr>
              <a:buFont typeface="Arial" panose="020B0604020202020204" pitchFamily="34" charset="0"/>
              <a:buChar char="•"/>
            </a:pPr>
            <a:r>
              <a:rPr lang="en-US" dirty="0"/>
              <a:t>Separate Entities: can be done through physical separation on different servers attached to different networks, the use of virtual machines, or an “air gap”.</a:t>
            </a:r>
          </a:p>
          <a:p>
            <a:pPr>
              <a:buFont typeface="Arial" panose="020B0604020202020204" pitchFamily="34" charset="0"/>
              <a:buChar char="•"/>
            </a:pPr>
            <a:r>
              <a:rPr lang="en-US" dirty="0"/>
              <a:t>Change Default Settings: Force the user to change settings assigned by default.</a:t>
            </a:r>
          </a:p>
          <a:p>
            <a:pPr lvl="0">
              <a:buFont typeface="Arial" panose="020B0604020202020204" pitchFamily="34" charset="0"/>
              <a:buChar char="•"/>
            </a:pPr>
            <a:endParaRPr lang="en-US"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5" name="Date Placeholder 4">
            <a:extLst>
              <a:ext uri="{FF2B5EF4-FFF2-40B4-BE49-F238E27FC236}">
                <a16:creationId xmlns:a16="http://schemas.microsoft.com/office/drawing/2014/main" id="{48078FD5-A594-487C-86C1-40AFC642C115}"/>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95F43F2E-723F-441F-8ECE-2863904DB752}"/>
              </a:ext>
            </a:extLst>
          </p:cNvPr>
          <p:cNvSpPr>
            <a:spLocks noGrp="1"/>
          </p:cNvSpPr>
          <p:nvPr>
            <p:ph type="sldNum" sz="quarter" idx="14"/>
          </p:nvPr>
        </p:nvSpPr>
        <p:spPr/>
        <p:txBody>
          <a:bodyPr/>
          <a:lstStyle/>
          <a:p>
            <a:fld id="{BC8D7E44-7D4F-4942-A8C9-2DF6BF8399E8}" type="slidenum">
              <a:rPr lang="en-US" smtClean="0"/>
              <a:pPr/>
              <a:t>116</a:t>
            </a:fld>
            <a:endParaRPr lang="en-US" dirty="0"/>
          </a:p>
        </p:txBody>
      </p:sp>
      <p:sp>
        <p:nvSpPr>
          <p:cNvPr id="9" name="Title 1">
            <a:extLst>
              <a:ext uri="{FF2B5EF4-FFF2-40B4-BE49-F238E27FC236}">
                <a16:creationId xmlns:a16="http://schemas.microsoft.com/office/drawing/2014/main" id="{0BE3CBAC-F388-26FB-F4A7-CA26A181FEA6}"/>
              </a:ext>
            </a:extLst>
          </p:cNvPr>
          <p:cNvSpPr>
            <a:spLocks noGrp="1"/>
          </p:cNvSpPr>
          <p:nvPr>
            <p:ph sz="quarter" idx="10"/>
          </p:nvPr>
        </p:nvSpPr>
        <p:spPr>
          <a:xfrm>
            <a:off x="304800" y="152400"/>
            <a:ext cx="6324600" cy="1143000"/>
          </a:xfrm>
        </p:spPr>
        <p:txBody>
          <a:bodyPr>
            <a:normAutofit/>
          </a:bodyPr>
          <a:lstStyle/>
          <a:p>
            <a:r>
              <a:rPr lang="en-US" dirty="0"/>
              <a:t>Resist Attacks</a:t>
            </a:r>
          </a:p>
        </p:txBody>
      </p:sp>
    </p:spTree>
    <p:extLst>
      <p:ext uri="{BB962C8B-B14F-4D97-AF65-F5344CB8AC3E}">
        <p14:creationId xmlns:p14="http://schemas.microsoft.com/office/powerpoint/2010/main" val="1869958920"/>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lvl="0">
              <a:buFont typeface="Arial" panose="020B0604020202020204" pitchFamily="34" charset="0"/>
              <a:buChar char="•"/>
            </a:pPr>
            <a:r>
              <a:rPr lang="en-US" dirty="0"/>
              <a:t>Revoke Access: limit access to sensitive resources, even for normally legitimate users and uses, if an attack is suspected. </a:t>
            </a:r>
          </a:p>
          <a:p>
            <a:pPr lvl="0">
              <a:buFont typeface="Arial" panose="020B0604020202020204" pitchFamily="34" charset="0"/>
              <a:buChar char="•"/>
            </a:pPr>
            <a:r>
              <a:rPr lang="en-US" dirty="0"/>
              <a:t>Lock Computer: limit access to a resource if there are repeated failed attempts to access it.</a:t>
            </a:r>
          </a:p>
          <a:p>
            <a:pPr lvl="0">
              <a:buFont typeface="Arial" panose="020B0604020202020204" pitchFamily="34" charset="0"/>
              <a:buChar char="•"/>
            </a:pPr>
            <a:r>
              <a:rPr lang="en-US" dirty="0"/>
              <a:t>Inform Actors: notify operators, other personnel, or cooperating systems when an attack is suspected or detected. </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5" name="Date Placeholder 4">
            <a:extLst>
              <a:ext uri="{FF2B5EF4-FFF2-40B4-BE49-F238E27FC236}">
                <a16:creationId xmlns:a16="http://schemas.microsoft.com/office/drawing/2014/main" id="{9A237018-4755-4384-952D-0B0B8844C165}"/>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329F0609-7B5A-44E3-957B-95DA5DD7501B}"/>
              </a:ext>
            </a:extLst>
          </p:cNvPr>
          <p:cNvSpPr>
            <a:spLocks noGrp="1"/>
          </p:cNvSpPr>
          <p:nvPr>
            <p:ph type="sldNum" sz="quarter" idx="14"/>
          </p:nvPr>
        </p:nvSpPr>
        <p:spPr/>
        <p:txBody>
          <a:bodyPr/>
          <a:lstStyle/>
          <a:p>
            <a:fld id="{BC8D7E44-7D4F-4942-A8C9-2DF6BF8399E8}" type="slidenum">
              <a:rPr lang="en-US" smtClean="0"/>
              <a:pPr/>
              <a:t>117</a:t>
            </a:fld>
            <a:endParaRPr lang="en-US" dirty="0"/>
          </a:p>
        </p:txBody>
      </p:sp>
      <p:sp>
        <p:nvSpPr>
          <p:cNvPr id="9" name="Title 1">
            <a:extLst>
              <a:ext uri="{FF2B5EF4-FFF2-40B4-BE49-F238E27FC236}">
                <a16:creationId xmlns:a16="http://schemas.microsoft.com/office/drawing/2014/main" id="{DE9B330E-B6F6-C565-747E-161D920E00C0}"/>
              </a:ext>
            </a:extLst>
          </p:cNvPr>
          <p:cNvSpPr>
            <a:spLocks noGrp="1"/>
          </p:cNvSpPr>
          <p:nvPr>
            <p:ph sz="quarter" idx="10"/>
          </p:nvPr>
        </p:nvSpPr>
        <p:spPr>
          <a:xfrm>
            <a:off x="304800" y="152400"/>
            <a:ext cx="6324600" cy="1143000"/>
          </a:xfrm>
        </p:spPr>
        <p:txBody>
          <a:bodyPr>
            <a:normAutofit/>
          </a:bodyPr>
          <a:lstStyle/>
          <a:p>
            <a:r>
              <a:rPr lang="en-US" dirty="0"/>
              <a:t>React to Attacks</a:t>
            </a:r>
          </a:p>
        </p:txBody>
      </p:sp>
    </p:spTree>
    <p:extLst>
      <p:ext uri="{BB962C8B-B14F-4D97-AF65-F5344CB8AC3E}">
        <p14:creationId xmlns:p14="http://schemas.microsoft.com/office/powerpoint/2010/main" val="1680608573"/>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lvl="0">
              <a:buFont typeface="Arial" panose="020B0604020202020204" pitchFamily="34" charset="0"/>
              <a:buChar char="•"/>
            </a:pPr>
            <a:r>
              <a:rPr lang="en-US" dirty="0"/>
              <a:t>In addition to the Availability tactics for recovery of failed resources there is Audit.</a:t>
            </a:r>
          </a:p>
          <a:p>
            <a:pPr lvl="0">
              <a:buFont typeface="Arial" panose="020B0604020202020204" pitchFamily="34" charset="0"/>
              <a:buChar char="•"/>
            </a:pPr>
            <a:r>
              <a:rPr lang="en-US" dirty="0"/>
              <a:t>Audit: keep a record of user and system actions and their effects, to help trace the actions of, and to identify, an attacker. </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5" name="Date Placeholder 4">
            <a:extLst>
              <a:ext uri="{FF2B5EF4-FFF2-40B4-BE49-F238E27FC236}">
                <a16:creationId xmlns:a16="http://schemas.microsoft.com/office/drawing/2014/main" id="{A471DCE8-7635-4404-B615-F623341844C7}"/>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D325A41A-3623-4ABD-8A0D-2BAE4BD31D18}"/>
              </a:ext>
            </a:extLst>
          </p:cNvPr>
          <p:cNvSpPr>
            <a:spLocks noGrp="1"/>
          </p:cNvSpPr>
          <p:nvPr>
            <p:ph type="sldNum" sz="quarter" idx="14"/>
          </p:nvPr>
        </p:nvSpPr>
        <p:spPr/>
        <p:txBody>
          <a:bodyPr/>
          <a:lstStyle/>
          <a:p>
            <a:fld id="{BC8D7E44-7D4F-4942-A8C9-2DF6BF8399E8}" type="slidenum">
              <a:rPr lang="en-US" smtClean="0"/>
              <a:pPr/>
              <a:t>118</a:t>
            </a:fld>
            <a:endParaRPr lang="en-US" dirty="0"/>
          </a:p>
        </p:txBody>
      </p:sp>
      <p:sp>
        <p:nvSpPr>
          <p:cNvPr id="9" name="Title 1">
            <a:extLst>
              <a:ext uri="{FF2B5EF4-FFF2-40B4-BE49-F238E27FC236}">
                <a16:creationId xmlns:a16="http://schemas.microsoft.com/office/drawing/2014/main" id="{3CBC6585-BFCE-B386-4258-FC9E4D209010}"/>
              </a:ext>
            </a:extLst>
          </p:cNvPr>
          <p:cNvSpPr>
            <a:spLocks noGrp="1"/>
          </p:cNvSpPr>
          <p:nvPr>
            <p:ph sz="quarter" idx="10"/>
          </p:nvPr>
        </p:nvSpPr>
        <p:spPr>
          <a:xfrm>
            <a:off x="304800" y="152400"/>
            <a:ext cx="6324600" cy="1143000"/>
          </a:xfrm>
        </p:spPr>
        <p:txBody>
          <a:bodyPr>
            <a:normAutofit/>
          </a:bodyPr>
          <a:lstStyle/>
          <a:p>
            <a:r>
              <a:rPr lang="en-US" dirty="0"/>
              <a:t>Recover From Attacks</a:t>
            </a:r>
          </a:p>
        </p:txBody>
      </p:sp>
    </p:spTree>
    <p:extLst>
      <p:ext uri="{BB962C8B-B14F-4D97-AF65-F5344CB8AC3E}">
        <p14:creationId xmlns:p14="http://schemas.microsoft.com/office/powerpoint/2010/main" val="220295979"/>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5" name="Date Placeholder 4">
            <a:extLst>
              <a:ext uri="{FF2B5EF4-FFF2-40B4-BE49-F238E27FC236}">
                <a16:creationId xmlns:a16="http://schemas.microsoft.com/office/drawing/2014/main" id="{49FF97F2-E192-4B11-B3FF-3CE9EC855710}"/>
              </a:ext>
            </a:extLst>
          </p:cNvPr>
          <p:cNvSpPr>
            <a:spLocks noGrp="1"/>
          </p:cNvSpPr>
          <p:nvPr>
            <p:ph type="dt" sz="half" idx="12"/>
          </p:nvPr>
        </p:nvSpPr>
        <p:spPr/>
        <p:txBody>
          <a:bodyPr/>
          <a:lstStyle/>
          <a:p>
            <a:r>
              <a:rPr lang="en-US"/>
              <a:t>Auguts 1, 2026</a:t>
            </a:r>
          </a:p>
        </p:txBody>
      </p:sp>
      <p:sp>
        <p:nvSpPr>
          <p:cNvPr id="6" name="Slide Number Placeholder 5">
            <a:extLst>
              <a:ext uri="{FF2B5EF4-FFF2-40B4-BE49-F238E27FC236}">
                <a16:creationId xmlns:a16="http://schemas.microsoft.com/office/drawing/2014/main" id="{EFC01048-ECA2-4838-B127-E98F4A0DC9D9}"/>
              </a:ext>
            </a:extLst>
          </p:cNvPr>
          <p:cNvSpPr>
            <a:spLocks noGrp="1"/>
          </p:cNvSpPr>
          <p:nvPr>
            <p:ph type="sldNum" sz="quarter" idx="14"/>
          </p:nvPr>
        </p:nvSpPr>
        <p:spPr/>
        <p:txBody>
          <a:bodyPr/>
          <a:lstStyle/>
          <a:p>
            <a:fld id="{BC8D7E44-7D4F-4942-A8C9-2DF6BF8399E8}" type="slidenum">
              <a:rPr lang="en-US" smtClean="0"/>
              <a:pPr/>
              <a:t>119</a:t>
            </a:fld>
            <a:endParaRPr lang="en-US" dirty="0"/>
          </a:p>
        </p:txBody>
      </p:sp>
      <p:sp>
        <p:nvSpPr>
          <p:cNvPr id="10" name="Title 1">
            <a:extLst>
              <a:ext uri="{FF2B5EF4-FFF2-40B4-BE49-F238E27FC236}">
                <a16:creationId xmlns:a16="http://schemas.microsoft.com/office/drawing/2014/main" id="{795F0FFF-9AD7-F758-F735-30B6FC4237D5}"/>
              </a:ext>
            </a:extLst>
          </p:cNvPr>
          <p:cNvSpPr>
            <a:spLocks noGrp="1"/>
          </p:cNvSpPr>
          <p:nvPr>
            <p:ph sz="quarter" idx="10"/>
          </p:nvPr>
        </p:nvSpPr>
        <p:spPr>
          <a:xfrm>
            <a:off x="304800" y="152400"/>
            <a:ext cx="6324600" cy="1143000"/>
          </a:xfrm>
        </p:spPr>
        <p:txBody>
          <a:bodyPr>
            <a:normAutofit/>
          </a:bodyPr>
          <a:lstStyle/>
          <a:p>
            <a:r>
              <a:rPr lang="en-US" dirty="0"/>
              <a:t>Design Checklist for Security</a:t>
            </a:r>
          </a:p>
        </p:txBody>
      </p:sp>
      <p:graphicFrame>
        <p:nvGraphicFramePr>
          <p:cNvPr id="11" name="Content Placeholder 10">
            <a:extLst>
              <a:ext uri="{FF2B5EF4-FFF2-40B4-BE49-F238E27FC236}">
                <a16:creationId xmlns:a16="http://schemas.microsoft.com/office/drawing/2014/main" id="{90E0507B-2DCE-1952-51F4-3E3B44DE9DA1}"/>
              </a:ext>
            </a:extLst>
          </p:cNvPr>
          <p:cNvGraphicFramePr>
            <a:graphicFrameLocks noGrp="1"/>
          </p:cNvGraphicFramePr>
          <p:nvPr>
            <p:ph idx="1"/>
          </p:nvPr>
        </p:nvGraphicFramePr>
        <p:xfrm>
          <a:off x="304800" y="1493838"/>
          <a:ext cx="8534400" cy="4221162"/>
        </p:xfrm>
        <a:graphic>
          <a:graphicData uri="http://schemas.openxmlformats.org/drawingml/2006/table">
            <a:tbl>
              <a:tblPr firstRow="1" firstCol="1" bandRow="1">
                <a:tableStyleId>{5C22544A-7EE6-4342-B048-85BDC9FD1C3A}</a:tableStyleId>
              </a:tblPr>
              <a:tblGrid>
                <a:gridCol w="1922162">
                  <a:extLst>
                    <a:ext uri="{9D8B030D-6E8A-4147-A177-3AD203B41FA5}">
                      <a16:colId xmlns:a16="http://schemas.microsoft.com/office/drawing/2014/main" val="20000"/>
                    </a:ext>
                  </a:extLst>
                </a:gridCol>
                <a:gridCol w="6612238">
                  <a:extLst>
                    <a:ext uri="{9D8B030D-6E8A-4147-A177-3AD203B41FA5}">
                      <a16:colId xmlns:a16="http://schemas.microsoft.com/office/drawing/2014/main" val="20001"/>
                    </a:ext>
                  </a:extLst>
                </a:gridCol>
              </a:tblGrid>
              <a:tr h="4221162">
                <a:tc>
                  <a:txBody>
                    <a:bodyPr/>
                    <a:lstStyle/>
                    <a:p>
                      <a:pPr marL="0" marR="0">
                        <a:lnSpc>
                          <a:spcPct val="80000"/>
                        </a:lnSpc>
                        <a:spcBef>
                          <a:spcPts val="400"/>
                        </a:spcBef>
                        <a:spcAft>
                          <a:spcPts val="400"/>
                        </a:spcAft>
                      </a:pPr>
                      <a:r>
                        <a:rPr lang="en-US" sz="2000" dirty="0">
                          <a:effectLst/>
                        </a:rPr>
                        <a:t>Allocation of Responsibilities</a:t>
                      </a:r>
                      <a:endParaRPr lang="en-US" sz="2000" dirty="0">
                        <a:effectLst/>
                        <a:latin typeface="Times"/>
                        <a:ea typeface="Times New Roman"/>
                        <a:cs typeface="Times New Roman"/>
                      </a:endParaRPr>
                    </a:p>
                  </a:txBody>
                  <a:tcPr marL="68580" marR="68580" marT="0" marB="0"/>
                </a:tc>
                <a:tc>
                  <a:txBody>
                    <a:bodyPr/>
                    <a:lstStyle/>
                    <a:p>
                      <a:pPr marL="0" marR="0" indent="0">
                        <a:lnSpc>
                          <a:spcPct val="80000"/>
                        </a:lnSpc>
                        <a:spcBef>
                          <a:spcPts val="100"/>
                        </a:spcBef>
                        <a:spcAft>
                          <a:spcPts val="300"/>
                        </a:spcAft>
                        <a:tabLst>
                          <a:tab pos="228600" algn="l"/>
                          <a:tab pos="274320" algn="l"/>
                          <a:tab pos="274320" algn="l"/>
                        </a:tabLst>
                      </a:pPr>
                      <a:r>
                        <a:rPr lang="en-US" sz="2000" kern="1100" dirty="0">
                          <a:effectLst/>
                        </a:rPr>
                        <a:t>Determine which system responsibilities need to be secure. For each of these responsibilities ensure that additional responsibilities have been allocated to:</a:t>
                      </a:r>
                      <a:endParaRPr lang="en-US" sz="2000" dirty="0">
                        <a:effectLst/>
                      </a:endParaRPr>
                    </a:p>
                    <a:p>
                      <a:pPr marL="342900" marR="0" lvl="0" indent="-342900">
                        <a:lnSpc>
                          <a:spcPct val="80000"/>
                        </a:lnSpc>
                        <a:spcBef>
                          <a:spcPts val="100"/>
                        </a:spcBef>
                        <a:spcAft>
                          <a:spcPts val="100"/>
                        </a:spcAft>
                        <a:buFont typeface="Symbol"/>
                        <a:buChar char=""/>
                        <a:tabLst>
                          <a:tab pos="498475" algn="l"/>
                          <a:tab pos="457200" algn="l"/>
                        </a:tabLst>
                      </a:pPr>
                      <a:r>
                        <a:rPr lang="en-US" sz="2000" kern="1000" dirty="0">
                          <a:effectLst/>
                        </a:rPr>
                        <a:t>identify the actor</a:t>
                      </a:r>
                    </a:p>
                    <a:p>
                      <a:pPr marL="342900" marR="0" lvl="0" indent="-342900">
                        <a:lnSpc>
                          <a:spcPct val="80000"/>
                        </a:lnSpc>
                        <a:spcBef>
                          <a:spcPts val="100"/>
                        </a:spcBef>
                        <a:spcAft>
                          <a:spcPts val="100"/>
                        </a:spcAft>
                        <a:buFont typeface="Symbol"/>
                        <a:buChar char=""/>
                        <a:tabLst>
                          <a:tab pos="498475" algn="l"/>
                          <a:tab pos="457200" algn="l"/>
                        </a:tabLst>
                      </a:pPr>
                      <a:r>
                        <a:rPr lang="en-US" sz="2000" kern="1000" dirty="0">
                          <a:effectLst/>
                        </a:rPr>
                        <a:t>authenticate the actor</a:t>
                      </a:r>
                    </a:p>
                    <a:p>
                      <a:pPr marL="342900" marR="0" lvl="0" indent="-342900">
                        <a:lnSpc>
                          <a:spcPct val="80000"/>
                        </a:lnSpc>
                        <a:spcBef>
                          <a:spcPts val="100"/>
                        </a:spcBef>
                        <a:spcAft>
                          <a:spcPts val="100"/>
                        </a:spcAft>
                        <a:buFont typeface="Symbol"/>
                        <a:buChar char=""/>
                        <a:tabLst>
                          <a:tab pos="498475" algn="l"/>
                          <a:tab pos="457200" algn="l"/>
                        </a:tabLst>
                      </a:pPr>
                      <a:r>
                        <a:rPr lang="en-US" sz="2000" kern="1000" dirty="0">
                          <a:effectLst/>
                        </a:rPr>
                        <a:t>authorize actors</a:t>
                      </a:r>
                    </a:p>
                    <a:p>
                      <a:pPr marL="342900" marR="0" lvl="0" indent="-342900">
                        <a:lnSpc>
                          <a:spcPct val="80000"/>
                        </a:lnSpc>
                        <a:spcBef>
                          <a:spcPts val="100"/>
                        </a:spcBef>
                        <a:spcAft>
                          <a:spcPts val="100"/>
                        </a:spcAft>
                        <a:buFont typeface="Symbol"/>
                        <a:buChar char=""/>
                        <a:tabLst>
                          <a:tab pos="498475" algn="l"/>
                          <a:tab pos="457200" algn="l"/>
                        </a:tabLst>
                      </a:pPr>
                      <a:r>
                        <a:rPr lang="en-US" sz="2000" kern="1000" dirty="0">
                          <a:effectLst/>
                        </a:rPr>
                        <a:t>grant or deny access to data or services</a:t>
                      </a:r>
                    </a:p>
                    <a:p>
                      <a:pPr marL="342900" marR="0" lvl="0" indent="-342900">
                        <a:lnSpc>
                          <a:spcPct val="80000"/>
                        </a:lnSpc>
                        <a:spcBef>
                          <a:spcPts val="100"/>
                        </a:spcBef>
                        <a:spcAft>
                          <a:spcPts val="100"/>
                        </a:spcAft>
                        <a:buFont typeface="Symbol"/>
                        <a:buChar char=""/>
                        <a:tabLst>
                          <a:tab pos="498475" algn="l"/>
                          <a:tab pos="457200" algn="l"/>
                        </a:tabLst>
                      </a:pPr>
                      <a:r>
                        <a:rPr lang="en-US" sz="2000" kern="1000" dirty="0">
                          <a:effectLst/>
                        </a:rPr>
                        <a:t>record attempts to access or modify data or services</a:t>
                      </a:r>
                    </a:p>
                    <a:p>
                      <a:pPr marL="342900" marR="0" lvl="0" indent="-342900">
                        <a:lnSpc>
                          <a:spcPct val="80000"/>
                        </a:lnSpc>
                        <a:spcBef>
                          <a:spcPts val="100"/>
                        </a:spcBef>
                        <a:spcAft>
                          <a:spcPts val="100"/>
                        </a:spcAft>
                        <a:buFont typeface="Symbol"/>
                        <a:buChar char=""/>
                        <a:tabLst>
                          <a:tab pos="498475" algn="l"/>
                          <a:tab pos="457200" algn="l"/>
                        </a:tabLst>
                      </a:pPr>
                      <a:r>
                        <a:rPr lang="en-US" sz="2000" kern="1000" dirty="0">
                          <a:effectLst/>
                        </a:rPr>
                        <a:t>encrypt data</a:t>
                      </a:r>
                    </a:p>
                    <a:p>
                      <a:pPr marL="342900" marR="0" lvl="0" indent="-342900">
                        <a:lnSpc>
                          <a:spcPct val="80000"/>
                        </a:lnSpc>
                        <a:spcBef>
                          <a:spcPts val="100"/>
                        </a:spcBef>
                        <a:spcAft>
                          <a:spcPts val="100"/>
                        </a:spcAft>
                        <a:buFont typeface="Symbol"/>
                        <a:buChar char=""/>
                        <a:tabLst>
                          <a:tab pos="498475" algn="l"/>
                          <a:tab pos="457200" algn="l"/>
                        </a:tabLst>
                      </a:pPr>
                      <a:r>
                        <a:rPr lang="en-US" sz="2000" kern="1000" dirty="0">
                          <a:effectLst/>
                        </a:rPr>
                        <a:t>recognize reduced availability for resources or services and inform appropriate personnel and restrict access</a:t>
                      </a:r>
                    </a:p>
                    <a:p>
                      <a:pPr marL="342900" marR="0" lvl="0" indent="-342900">
                        <a:lnSpc>
                          <a:spcPct val="80000"/>
                        </a:lnSpc>
                        <a:spcBef>
                          <a:spcPts val="100"/>
                        </a:spcBef>
                        <a:spcAft>
                          <a:spcPts val="100"/>
                        </a:spcAft>
                        <a:buFont typeface="Symbol"/>
                        <a:buChar char=""/>
                        <a:tabLst>
                          <a:tab pos="498475" algn="l"/>
                          <a:tab pos="457200" algn="l"/>
                        </a:tabLst>
                      </a:pPr>
                      <a:r>
                        <a:rPr lang="en-US" sz="2000" kern="1000" dirty="0">
                          <a:effectLst/>
                        </a:rPr>
                        <a:t>recover from an attack</a:t>
                      </a:r>
                    </a:p>
                    <a:p>
                      <a:pPr marL="342900" marR="0" lvl="0" indent="-342900">
                        <a:lnSpc>
                          <a:spcPct val="80000"/>
                        </a:lnSpc>
                        <a:spcBef>
                          <a:spcPts val="100"/>
                        </a:spcBef>
                        <a:spcAft>
                          <a:spcPts val="100"/>
                        </a:spcAft>
                        <a:buFont typeface="Symbol"/>
                        <a:buChar char=""/>
                        <a:tabLst>
                          <a:tab pos="498475" algn="l"/>
                          <a:tab pos="457200" algn="l"/>
                        </a:tabLst>
                      </a:pPr>
                      <a:r>
                        <a:rPr lang="en-US" sz="2000" kern="1000" dirty="0">
                          <a:effectLst/>
                        </a:rPr>
                        <a:t>verify checksums and hash values</a:t>
                      </a:r>
                      <a:endParaRPr lang="en-US" sz="2000" kern="1000" dirty="0">
                        <a:effectLst/>
                        <a:latin typeface="Times New Roman"/>
                        <a:ea typeface="Times New Roman"/>
                      </a:endParaRPr>
                    </a:p>
                  </a:txBody>
                  <a:tcPr marL="68580" marR="68580" marT="0" marB="0"/>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688496970"/>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3" name="Date Placeholder 2">
            <a:extLst>
              <a:ext uri="{FF2B5EF4-FFF2-40B4-BE49-F238E27FC236}">
                <a16:creationId xmlns:a16="http://schemas.microsoft.com/office/drawing/2014/main" id="{64816D3F-21A5-4EAD-BC56-359A4B2B6048}"/>
              </a:ext>
            </a:extLst>
          </p:cNvPr>
          <p:cNvSpPr>
            <a:spLocks noGrp="1"/>
          </p:cNvSpPr>
          <p:nvPr>
            <p:ph type="dt" sz="half" idx="12"/>
          </p:nvPr>
        </p:nvSpPr>
        <p:spPr/>
        <p:txBody>
          <a:bodyPr/>
          <a:lstStyle/>
          <a:p>
            <a:r>
              <a:rPr lang="en-US"/>
              <a:t>Auguts 1, 2026</a:t>
            </a:r>
          </a:p>
        </p:txBody>
      </p:sp>
      <p:sp>
        <p:nvSpPr>
          <p:cNvPr id="6" name="Slide Number Placeholder 5">
            <a:extLst>
              <a:ext uri="{FF2B5EF4-FFF2-40B4-BE49-F238E27FC236}">
                <a16:creationId xmlns:a16="http://schemas.microsoft.com/office/drawing/2014/main" id="{2E1AEE4F-CF18-47CA-AE8D-B5A5864D8CE0}"/>
              </a:ext>
            </a:extLst>
          </p:cNvPr>
          <p:cNvSpPr>
            <a:spLocks noGrp="1"/>
          </p:cNvSpPr>
          <p:nvPr>
            <p:ph type="sldNum" sz="quarter" idx="14"/>
          </p:nvPr>
        </p:nvSpPr>
        <p:spPr/>
        <p:txBody>
          <a:bodyPr/>
          <a:lstStyle/>
          <a:p>
            <a:fld id="{BC8D7E44-7D4F-4942-A8C9-2DF6BF8399E8}" type="slidenum">
              <a:rPr lang="en-US" smtClean="0"/>
              <a:pPr/>
              <a:t>120</a:t>
            </a:fld>
            <a:endParaRPr lang="en-US" dirty="0"/>
          </a:p>
        </p:txBody>
      </p:sp>
      <p:sp>
        <p:nvSpPr>
          <p:cNvPr id="10" name="Title 1">
            <a:extLst>
              <a:ext uri="{FF2B5EF4-FFF2-40B4-BE49-F238E27FC236}">
                <a16:creationId xmlns:a16="http://schemas.microsoft.com/office/drawing/2014/main" id="{F5FDF1BE-3FAF-3CD4-F880-90E2B4EDB280}"/>
              </a:ext>
            </a:extLst>
          </p:cNvPr>
          <p:cNvSpPr>
            <a:spLocks noGrp="1"/>
          </p:cNvSpPr>
          <p:nvPr>
            <p:ph sz="quarter" idx="10"/>
          </p:nvPr>
        </p:nvSpPr>
        <p:spPr>
          <a:xfrm>
            <a:off x="304800" y="152400"/>
            <a:ext cx="6324600" cy="1143000"/>
          </a:xfrm>
        </p:spPr>
        <p:txBody>
          <a:bodyPr>
            <a:normAutofit/>
          </a:bodyPr>
          <a:lstStyle/>
          <a:p>
            <a:r>
              <a:rPr lang="en-US" dirty="0"/>
              <a:t>Design Checklist for Security</a:t>
            </a:r>
          </a:p>
        </p:txBody>
      </p:sp>
      <p:graphicFrame>
        <p:nvGraphicFramePr>
          <p:cNvPr id="11" name="Content Placeholder 10">
            <a:extLst>
              <a:ext uri="{FF2B5EF4-FFF2-40B4-BE49-F238E27FC236}">
                <a16:creationId xmlns:a16="http://schemas.microsoft.com/office/drawing/2014/main" id="{9C90D3B4-1644-0798-F2DC-DA0E4E5C8091}"/>
              </a:ext>
            </a:extLst>
          </p:cNvPr>
          <p:cNvGraphicFramePr>
            <a:graphicFrameLocks noGrp="1"/>
          </p:cNvGraphicFramePr>
          <p:nvPr>
            <p:ph idx="1"/>
          </p:nvPr>
        </p:nvGraphicFramePr>
        <p:xfrm>
          <a:off x="304800" y="1493838"/>
          <a:ext cx="8458200" cy="3382962"/>
        </p:xfrm>
        <a:graphic>
          <a:graphicData uri="http://schemas.openxmlformats.org/drawingml/2006/table">
            <a:tbl>
              <a:tblPr firstRow="1" firstCol="1" bandRow="1">
                <a:tableStyleId>{5C22544A-7EE6-4342-B048-85BDC9FD1C3A}</a:tableStyleId>
              </a:tblPr>
              <a:tblGrid>
                <a:gridCol w="1676400">
                  <a:extLst>
                    <a:ext uri="{9D8B030D-6E8A-4147-A177-3AD203B41FA5}">
                      <a16:colId xmlns:a16="http://schemas.microsoft.com/office/drawing/2014/main" val="20000"/>
                    </a:ext>
                  </a:extLst>
                </a:gridCol>
                <a:gridCol w="6781800">
                  <a:extLst>
                    <a:ext uri="{9D8B030D-6E8A-4147-A177-3AD203B41FA5}">
                      <a16:colId xmlns:a16="http://schemas.microsoft.com/office/drawing/2014/main" val="20001"/>
                    </a:ext>
                  </a:extLst>
                </a:gridCol>
              </a:tblGrid>
              <a:tr h="3382962">
                <a:tc>
                  <a:txBody>
                    <a:bodyPr/>
                    <a:lstStyle/>
                    <a:p>
                      <a:pPr marL="0" marR="0">
                        <a:lnSpc>
                          <a:spcPct val="80000"/>
                        </a:lnSpc>
                        <a:spcBef>
                          <a:spcPts val="400"/>
                        </a:spcBef>
                        <a:spcAft>
                          <a:spcPts val="400"/>
                        </a:spcAft>
                      </a:pPr>
                      <a:r>
                        <a:rPr lang="en-US" sz="2000" dirty="0">
                          <a:effectLst/>
                        </a:rPr>
                        <a:t>Coordination Model</a:t>
                      </a:r>
                      <a:endParaRPr lang="en-US" sz="2000" dirty="0">
                        <a:effectLst/>
                        <a:latin typeface="Times"/>
                        <a:ea typeface="Times New Roman"/>
                        <a:cs typeface="Times New Roman"/>
                      </a:endParaRPr>
                    </a:p>
                  </a:txBody>
                  <a:tcPr marL="68580" marR="68580" marT="0" marB="0"/>
                </a:tc>
                <a:tc>
                  <a:txBody>
                    <a:bodyPr/>
                    <a:lstStyle/>
                    <a:p>
                      <a:pPr marL="0" marR="0">
                        <a:lnSpc>
                          <a:spcPct val="80000"/>
                        </a:lnSpc>
                        <a:spcBef>
                          <a:spcPts val="400"/>
                        </a:spcBef>
                        <a:spcAft>
                          <a:spcPts val="400"/>
                        </a:spcAft>
                      </a:pPr>
                      <a:r>
                        <a:rPr lang="en-US" sz="2000" dirty="0">
                          <a:effectLst/>
                        </a:rPr>
                        <a:t>Determine mechanisms required to communicate and coordinate with other systems or individuals. For these communications, ensure that mechanisms for authenticating and authorizing the actor or system, and encrypting data for transmission across the connection are in place. </a:t>
                      </a:r>
                    </a:p>
                    <a:p>
                      <a:pPr marL="0" marR="0">
                        <a:lnSpc>
                          <a:spcPct val="80000"/>
                        </a:lnSpc>
                        <a:spcBef>
                          <a:spcPts val="400"/>
                        </a:spcBef>
                        <a:spcAft>
                          <a:spcPts val="400"/>
                        </a:spcAft>
                      </a:pPr>
                      <a:r>
                        <a:rPr lang="en-US" sz="2000" dirty="0">
                          <a:effectLst/>
                        </a:rPr>
                        <a:t>Ensure also that mechanisms exist for monitoring and recognizing unexpectedly high demands for resources or services as well as mechanisms for restricting or terminating the connection.</a:t>
                      </a:r>
                      <a:endParaRPr lang="en-US" sz="2000" dirty="0">
                        <a:effectLst/>
                        <a:latin typeface="Times"/>
                        <a:ea typeface="Times New Roman"/>
                        <a:cs typeface="Times New Roman"/>
                      </a:endParaRPr>
                    </a:p>
                  </a:txBody>
                  <a:tcPr marL="68580" marR="68580" marT="0" marB="0"/>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542815618"/>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3" name="Date Placeholder 2">
            <a:extLst>
              <a:ext uri="{FF2B5EF4-FFF2-40B4-BE49-F238E27FC236}">
                <a16:creationId xmlns:a16="http://schemas.microsoft.com/office/drawing/2014/main" id="{EFDEC628-46CB-4614-B328-A88E8F8415D9}"/>
              </a:ext>
            </a:extLst>
          </p:cNvPr>
          <p:cNvSpPr>
            <a:spLocks noGrp="1"/>
          </p:cNvSpPr>
          <p:nvPr>
            <p:ph type="dt" sz="half" idx="12"/>
          </p:nvPr>
        </p:nvSpPr>
        <p:spPr/>
        <p:txBody>
          <a:bodyPr/>
          <a:lstStyle/>
          <a:p>
            <a:r>
              <a:rPr lang="en-US"/>
              <a:t>Auguts 1, 2026</a:t>
            </a:r>
          </a:p>
        </p:txBody>
      </p:sp>
      <p:sp>
        <p:nvSpPr>
          <p:cNvPr id="6" name="Slide Number Placeholder 5">
            <a:extLst>
              <a:ext uri="{FF2B5EF4-FFF2-40B4-BE49-F238E27FC236}">
                <a16:creationId xmlns:a16="http://schemas.microsoft.com/office/drawing/2014/main" id="{C9308EDD-67F8-4500-B1EF-022813FE2588}"/>
              </a:ext>
            </a:extLst>
          </p:cNvPr>
          <p:cNvSpPr>
            <a:spLocks noGrp="1"/>
          </p:cNvSpPr>
          <p:nvPr>
            <p:ph type="sldNum" sz="quarter" idx="14"/>
          </p:nvPr>
        </p:nvSpPr>
        <p:spPr/>
        <p:txBody>
          <a:bodyPr/>
          <a:lstStyle/>
          <a:p>
            <a:fld id="{BC8D7E44-7D4F-4942-A8C9-2DF6BF8399E8}" type="slidenum">
              <a:rPr lang="en-US" smtClean="0"/>
              <a:pPr/>
              <a:t>121</a:t>
            </a:fld>
            <a:endParaRPr lang="en-US" dirty="0"/>
          </a:p>
        </p:txBody>
      </p:sp>
      <p:sp>
        <p:nvSpPr>
          <p:cNvPr id="10" name="Title 1">
            <a:extLst>
              <a:ext uri="{FF2B5EF4-FFF2-40B4-BE49-F238E27FC236}">
                <a16:creationId xmlns:a16="http://schemas.microsoft.com/office/drawing/2014/main" id="{2D177FCA-50A8-9836-6574-8532D7D7AEC4}"/>
              </a:ext>
            </a:extLst>
          </p:cNvPr>
          <p:cNvSpPr>
            <a:spLocks noGrp="1"/>
          </p:cNvSpPr>
          <p:nvPr>
            <p:ph sz="quarter" idx="10"/>
          </p:nvPr>
        </p:nvSpPr>
        <p:spPr>
          <a:xfrm>
            <a:off x="304800" y="152400"/>
            <a:ext cx="6324600" cy="1143000"/>
          </a:xfrm>
        </p:spPr>
        <p:txBody>
          <a:bodyPr>
            <a:normAutofit/>
          </a:bodyPr>
          <a:lstStyle/>
          <a:p>
            <a:r>
              <a:rPr lang="en-US" dirty="0"/>
              <a:t>Design Checklist for Security</a:t>
            </a:r>
          </a:p>
        </p:txBody>
      </p:sp>
      <p:graphicFrame>
        <p:nvGraphicFramePr>
          <p:cNvPr id="11" name="Content Placeholder 10">
            <a:extLst>
              <a:ext uri="{FF2B5EF4-FFF2-40B4-BE49-F238E27FC236}">
                <a16:creationId xmlns:a16="http://schemas.microsoft.com/office/drawing/2014/main" id="{6751C2CC-FAFF-CD53-A7DE-20B7994713A3}"/>
              </a:ext>
            </a:extLst>
          </p:cNvPr>
          <p:cNvGraphicFramePr>
            <a:graphicFrameLocks noGrp="1"/>
          </p:cNvGraphicFramePr>
          <p:nvPr>
            <p:ph idx="1"/>
          </p:nvPr>
        </p:nvGraphicFramePr>
        <p:xfrm>
          <a:off x="304800" y="1493838"/>
          <a:ext cx="8534400" cy="3916362"/>
        </p:xfrm>
        <a:graphic>
          <a:graphicData uri="http://schemas.openxmlformats.org/drawingml/2006/table">
            <a:tbl>
              <a:tblPr firstRow="1" firstCol="1" bandRow="1">
                <a:tableStyleId>{5C22544A-7EE6-4342-B048-85BDC9FD1C3A}</a:tableStyleId>
              </a:tblPr>
              <a:tblGrid>
                <a:gridCol w="1241367">
                  <a:extLst>
                    <a:ext uri="{9D8B030D-6E8A-4147-A177-3AD203B41FA5}">
                      <a16:colId xmlns:a16="http://schemas.microsoft.com/office/drawing/2014/main" val="20000"/>
                    </a:ext>
                  </a:extLst>
                </a:gridCol>
                <a:gridCol w="7293033">
                  <a:extLst>
                    <a:ext uri="{9D8B030D-6E8A-4147-A177-3AD203B41FA5}">
                      <a16:colId xmlns:a16="http://schemas.microsoft.com/office/drawing/2014/main" val="20001"/>
                    </a:ext>
                  </a:extLst>
                </a:gridCol>
              </a:tblGrid>
              <a:tr h="3916362">
                <a:tc>
                  <a:txBody>
                    <a:bodyPr/>
                    <a:lstStyle/>
                    <a:p>
                      <a:pPr marL="0" marR="0">
                        <a:lnSpc>
                          <a:spcPct val="80000"/>
                        </a:lnSpc>
                        <a:spcBef>
                          <a:spcPts val="400"/>
                        </a:spcBef>
                        <a:spcAft>
                          <a:spcPts val="400"/>
                        </a:spcAft>
                      </a:pPr>
                      <a:r>
                        <a:rPr lang="en-US" sz="2000" dirty="0">
                          <a:effectLst/>
                        </a:rPr>
                        <a:t>Data Model</a:t>
                      </a:r>
                    </a:p>
                    <a:p>
                      <a:pPr marL="0" marR="0" indent="457200">
                        <a:lnSpc>
                          <a:spcPts val="1450"/>
                        </a:lnSpc>
                        <a:spcBef>
                          <a:spcPts val="400"/>
                        </a:spcBef>
                        <a:spcAft>
                          <a:spcPts val="400"/>
                        </a:spcAft>
                      </a:pPr>
                      <a:r>
                        <a:rPr lang="en-US" sz="2000" dirty="0">
                          <a:effectLst/>
                        </a:rPr>
                        <a:t> </a:t>
                      </a:r>
                      <a:endParaRPr lang="en-US" sz="2000" dirty="0">
                        <a:effectLst/>
                        <a:latin typeface="Times"/>
                        <a:ea typeface="Times New Roman"/>
                        <a:cs typeface="Times New Roman"/>
                      </a:endParaRPr>
                    </a:p>
                  </a:txBody>
                  <a:tcPr marL="68580" marR="68580" marT="0" marB="0"/>
                </a:tc>
                <a:tc>
                  <a:txBody>
                    <a:bodyPr/>
                    <a:lstStyle/>
                    <a:p>
                      <a:pPr marL="0" marR="0">
                        <a:lnSpc>
                          <a:spcPct val="80000"/>
                        </a:lnSpc>
                        <a:spcBef>
                          <a:spcPts val="400"/>
                        </a:spcBef>
                        <a:spcAft>
                          <a:spcPts val="400"/>
                        </a:spcAft>
                      </a:pPr>
                      <a:r>
                        <a:rPr lang="en-US" sz="2000" dirty="0">
                          <a:effectLst/>
                        </a:rPr>
                        <a:t>Determine the sensitivity of different data fields.  For each data abstraction</a:t>
                      </a:r>
                    </a:p>
                    <a:p>
                      <a:pPr marL="342900" marR="0" lvl="0" indent="-342900">
                        <a:lnSpc>
                          <a:spcPct val="80000"/>
                        </a:lnSpc>
                        <a:spcBef>
                          <a:spcPts val="400"/>
                        </a:spcBef>
                        <a:spcAft>
                          <a:spcPts val="400"/>
                        </a:spcAft>
                        <a:buFont typeface="Symbol"/>
                        <a:buChar char=""/>
                      </a:pPr>
                      <a:r>
                        <a:rPr lang="en-US" sz="2000" dirty="0">
                          <a:effectLst/>
                        </a:rPr>
                        <a:t>Ensure that data of different sensitivity is separated.</a:t>
                      </a:r>
                    </a:p>
                    <a:p>
                      <a:pPr marL="342900" marR="0" lvl="0" indent="-342900">
                        <a:lnSpc>
                          <a:spcPct val="80000"/>
                        </a:lnSpc>
                        <a:spcBef>
                          <a:spcPts val="400"/>
                        </a:spcBef>
                        <a:spcAft>
                          <a:spcPts val="400"/>
                        </a:spcAft>
                        <a:buFont typeface="Symbol"/>
                        <a:buChar char=""/>
                      </a:pPr>
                      <a:r>
                        <a:rPr lang="en-US" sz="2000" dirty="0">
                          <a:effectLst/>
                        </a:rPr>
                        <a:t>Ensure that data of different sensitivity has different access rights and that access rights are checked prior to access.</a:t>
                      </a:r>
                    </a:p>
                    <a:p>
                      <a:pPr marL="342900" marR="0" lvl="0" indent="-342900">
                        <a:lnSpc>
                          <a:spcPct val="80000"/>
                        </a:lnSpc>
                        <a:spcBef>
                          <a:spcPts val="400"/>
                        </a:spcBef>
                        <a:spcAft>
                          <a:spcPts val="400"/>
                        </a:spcAft>
                        <a:buFont typeface="Symbol"/>
                        <a:buChar char=""/>
                      </a:pPr>
                      <a:r>
                        <a:rPr lang="en-US" sz="2000" dirty="0">
                          <a:effectLst/>
                        </a:rPr>
                        <a:t>Ensure that access to sensitive data is logged and that the log file is suitably protected.</a:t>
                      </a:r>
                    </a:p>
                    <a:p>
                      <a:pPr marL="342900" marR="0" lvl="0" indent="-342900">
                        <a:lnSpc>
                          <a:spcPct val="80000"/>
                        </a:lnSpc>
                        <a:spcBef>
                          <a:spcPts val="400"/>
                        </a:spcBef>
                        <a:spcAft>
                          <a:spcPts val="400"/>
                        </a:spcAft>
                        <a:buFont typeface="Symbol"/>
                        <a:buChar char=""/>
                      </a:pPr>
                      <a:r>
                        <a:rPr lang="en-US" sz="2000" dirty="0">
                          <a:effectLst/>
                        </a:rPr>
                        <a:t>Ensure that data is suitably encrypted and that keys are separated from the encrypted data.</a:t>
                      </a:r>
                    </a:p>
                    <a:p>
                      <a:pPr marL="342900" marR="0" lvl="0" indent="-342900">
                        <a:lnSpc>
                          <a:spcPct val="80000"/>
                        </a:lnSpc>
                        <a:spcBef>
                          <a:spcPts val="400"/>
                        </a:spcBef>
                        <a:spcAft>
                          <a:spcPts val="400"/>
                        </a:spcAft>
                        <a:buFont typeface="Symbol"/>
                        <a:buChar char=""/>
                      </a:pPr>
                      <a:r>
                        <a:rPr lang="en-US" sz="2000" dirty="0">
                          <a:effectLst/>
                        </a:rPr>
                        <a:t>Ensure that data can be restored if it is inappropriately modified.</a:t>
                      </a:r>
                      <a:endParaRPr lang="en-US" sz="2000" dirty="0">
                        <a:solidFill>
                          <a:srgbClr val="000080"/>
                        </a:solidFill>
                        <a:effectLst/>
                        <a:latin typeface="Times"/>
                        <a:ea typeface="Times New Roman"/>
                        <a:cs typeface="Times New Roman"/>
                      </a:endParaRPr>
                    </a:p>
                  </a:txBody>
                  <a:tcPr marL="68580" marR="68580" marT="0" marB="0"/>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4177626318"/>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3" name="Date Placeholder 2">
            <a:extLst>
              <a:ext uri="{FF2B5EF4-FFF2-40B4-BE49-F238E27FC236}">
                <a16:creationId xmlns:a16="http://schemas.microsoft.com/office/drawing/2014/main" id="{7165A748-F709-4B7B-B94D-860BA0C4E977}"/>
              </a:ext>
            </a:extLst>
          </p:cNvPr>
          <p:cNvSpPr>
            <a:spLocks noGrp="1"/>
          </p:cNvSpPr>
          <p:nvPr>
            <p:ph type="dt" sz="half" idx="12"/>
          </p:nvPr>
        </p:nvSpPr>
        <p:spPr/>
        <p:txBody>
          <a:bodyPr/>
          <a:lstStyle/>
          <a:p>
            <a:r>
              <a:rPr lang="en-US"/>
              <a:t>Auguts 1, 2026</a:t>
            </a:r>
          </a:p>
        </p:txBody>
      </p:sp>
      <p:sp>
        <p:nvSpPr>
          <p:cNvPr id="6" name="Slide Number Placeholder 5">
            <a:extLst>
              <a:ext uri="{FF2B5EF4-FFF2-40B4-BE49-F238E27FC236}">
                <a16:creationId xmlns:a16="http://schemas.microsoft.com/office/drawing/2014/main" id="{0227E1C2-8C6F-48EE-9C45-B06864CBDBB4}"/>
              </a:ext>
            </a:extLst>
          </p:cNvPr>
          <p:cNvSpPr>
            <a:spLocks noGrp="1"/>
          </p:cNvSpPr>
          <p:nvPr>
            <p:ph type="sldNum" sz="quarter" idx="14"/>
          </p:nvPr>
        </p:nvSpPr>
        <p:spPr/>
        <p:txBody>
          <a:bodyPr/>
          <a:lstStyle/>
          <a:p>
            <a:fld id="{BC8D7E44-7D4F-4942-A8C9-2DF6BF8399E8}" type="slidenum">
              <a:rPr lang="en-US" smtClean="0"/>
              <a:pPr/>
              <a:t>122</a:t>
            </a:fld>
            <a:endParaRPr lang="en-US" dirty="0"/>
          </a:p>
        </p:txBody>
      </p:sp>
      <p:sp>
        <p:nvSpPr>
          <p:cNvPr id="10" name="Title 1">
            <a:extLst>
              <a:ext uri="{FF2B5EF4-FFF2-40B4-BE49-F238E27FC236}">
                <a16:creationId xmlns:a16="http://schemas.microsoft.com/office/drawing/2014/main" id="{3DD450E6-BEEA-10A8-47BA-CBEA259A2E51}"/>
              </a:ext>
            </a:extLst>
          </p:cNvPr>
          <p:cNvSpPr>
            <a:spLocks noGrp="1"/>
          </p:cNvSpPr>
          <p:nvPr>
            <p:ph sz="quarter" idx="10"/>
          </p:nvPr>
        </p:nvSpPr>
        <p:spPr>
          <a:xfrm>
            <a:off x="304800" y="152400"/>
            <a:ext cx="6324600" cy="1143000"/>
          </a:xfrm>
        </p:spPr>
        <p:txBody>
          <a:bodyPr>
            <a:normAutofit/>
          </a:bodyPr>
          <a:lstStyle/>
          <a:p>
            <a:r>
              <a:rPr lang="en-US" dirty="0"/>
              <a:t>Design Checklist for Security</a:t>
            </a:r>
          </a:p>
        </p:txBody>
      </p:sp>
      <p:graphicFrame>
        <p:nvGraphicFramePr>
          <p:cNvPr id="11" name="Content Placeholder 10">
            <a:extLst>
              <a:ext uri="{FF2B5EF4-FFF2-40B4-BE49-F238E27FC236}">
                <a16:creationId xmlns:a16="http://schemas.microsoft.com/office/drawing/2014/main" id="{9EDE8995-58CA-C1F7-3C77-E1D9D1D2502A}"/>
              </a:ext>
            </a:extLst>
          </p:cNvPr>
          <p:cNvGraphicFramePr>
            <a:graphicFrameLocks noGrp="1"/>
          </p:cNvGraphicFramePr>
          <p:nvPr>
            <p:ph idx="1"/>
          </p:nvPr>
        </p:nvGraphicFramePr>
        <p:xfrm>
          <a:off x="274320" y="1293813"/>
          <a:ext cx="8458200" cy="5064125"/>
        </p:xfrm>
        <a:graphic>
          <a:graphicData uri="http://schemas.openxmlformats.org/drawingml/2006/table">
            <a:tbl>
              <a:tblPr firstRow="1" firstCol="1" bandRow="1">
                <a:tableStyleId>{5C22544A-7EE6-4342-B048-85BDC9FD1C3A}</a:tableStyleId>
              </a:tblPr>
              <a:tblGrid>
                <a:gridCol w="1676400">
                  <a:extLst>
                    <a:ext uri="{9D8B030D-6E8A-4147-A177-3AD203B41FA5}">
                      <a16:colId xmlns:a16="http://schemas.microsoft.com/office/drawing/2014/main" val="20000"/>
                    </a:ext>
                  </a:extLst>
                </a:gridCol>
                <a:gridCol w="6781800">
                  <a:extLst>
                    <a:ext uri="{9D8B030D-6E8A-4147-A177-3AD203B41FA5}">
                      <a16:colId xmlns:a16="http://schemas.microsoft.com/office/drawing/2014/main" val="20001"/>
                    </a:ext>
                  </a:extLst>
                </a:gridCol>
              </a:tblGrid>
              <a:tr h="4607713">
                <a:tc>
                  <a:txBody>
                    <a:bodyPr/>
                    <a:lstStyle/>
                    <a:p>
                      <a:pPr marL="0" marR="0">
                        <a:lnSpc>
                          <a:spcPct val="80000"/>
                        </a:lnSpc>
                        <a:spcBef>
                          <a:spcPts val="400"/>
                        </a:spcBef>
                        <a:spcAft>
                          <a:spcPts val="400"/>
                        </a:spcAft>
                      </a:pPr>
                      <a:r>
                        <a:rPr lang="en-US" sz="2000" dirty="0">
                          <a:effectLst/>
                        </a:rPr>
                        <a:t>Mapping Among Architectural Elements</a:t>
                      </a:r>
                      <a:endParaRPr lang="en-US" sz="2000" dirty="0">
                        <a:effectLst/>
                        <a:latin typeface="Times"/>
                        <a:ea typeface="Times New Roman"/>
                        <a:cs typeface="Times New Roman"/>
                      </a:endParaRPr>
                    </a:p>
                  </a:txBody>
                  <a:tcPr marL="68580" marR="68580" marT="0" marB="0"/>
                </a:tc>
                <a:tc>
                  <a:txBody>
                    <a:bodyPr/>
                    <a:lstStyle/>
                    <a:p>
                      <a:pPr marL="0" marR="0">
                        <a:lnSpc>
                          <a:spcPct val="80000"/>
                        </a:lnSpc>
                        <a:spcBef>
                          <a:spcPts val="400"/>
                        </a:spcBef>
                        <a:spcAft>
                          <a:spcPts val="400"/>
                        </a:spcAft>
                      </a:pPr>
                      <a:r>
                        <a:rPr lang="en-US" sz="2000" dirty="0">
                          <a:effectLst/>
                        </a:rPr>
                        <a:t>Determine how alternative mappings of architectural elements may change how an individual or system may read, write, or modify data, access system services or resources, or reduce their availability. Determine how alternative mappings may affect the recording of access to data, services or resources and the recognition of high demands for resources.</a:t>
                      </a:r>
                    </a:p>
                    <a:p>
                      <a:pPr marL="0" marR="0">
                        <a:lnSpc>
                          <a:spcPct val="80000"/>
                        </a:lnSpc>
                        <a:spcBef>
                          <a:spcPts val="400"/>
                        </a:spcBef>
                        <a:spcAft>
                          <a:spcPts val="400"/>
                        </a:spcAft>
                      </a:pPr>
                      <a:r>
                        <a:rPr lang="en-US" sz="2000" dirty="0">
                          <a:effectLst/>
                        </a:rPr>
                        <a:t>For each such mapping, ensure that there are responsibilities to</a:t>
                      </a:r>
                    </a:p>
                    <a:p>
                      <a:pPr marL="342900" marR="0" lvl="0" indent="-342900">
                        <a:lnSpc>
                          <a:spcPct val="80000"/>
                        </a:lnSpc>
                        <a:spcBef>
                          <a:spcPts val="400"/>
                        </a:spcBef>
                        <a:spcAft>
                          <a:spcPts val="400"/>
                        </a:spcAft>
                        <a:buFont typeface="Symbol"/>
                        <a:buChar char=""/>
                      </a:pPr>
                      <a:r>
                        <a:rPr lang="en-US" sz="2000" dirty="0">
                          <a:effectLst/>
                        </a:rPr>
                        <a:t>identify an actor</a:t>
                      </a:r>
                    </a:p>
                    <a:p>
                      <a:pPr marL="342900" marR="0" lvl="0" indent="-342900">
                        <a:lnSpc>
                          <a:spcPct val="80000"/>
                        </a:lnSpc>
                        <a:spcBef>
                          <a:spcPts val="400"/>
                        </a:spcBef>
                        <a:spcAft>
                          <a:spcPts val="400"/>
                        </a:spcAft>
                        <a:buFont typeface="Symbol"/>
                        <a:buChar char=""/>
                      </a:pPr>
                      <a:r>
                        <a:rPr lang="en-US" sz="2000" dirty="0">
                          <a:effectLst/>
                        </a:rPr>
                        <a:t>authenticate an actor</a:t>
                      </a:r>
                    </a:p>
                    <a:p>
                      <a:pPr marL="342900" marR="0" lvl="0" indent="-342900">
                        <a:lnSpc>
                          <a:spcPct val="80000"/>
                        </a:lnSpc>
                        <a:spcBef>
                          <a:spcPts val="400"/>
                        </a:spcBef>
                        <a:spcAft>
                          <a:spcPts val="400"/>
                        </a:spcAft>
                        <a:buFont typeface="Symbol"/>
                        <a:buChar char=""/>
                      </a:pPr>
                      <a:r>
                        <a:rPr lang="en-US" sz="2000" dirty="0">
                          <a:effectLst/>
                        </a:rPr>
                        <a:t>authorize actors</a:t>
                      </a:r>
                    </a:p>
                    <a:p>
                      <a:pPr marL="342900" marR="0" lvl="0" indent="-342900">
                        <a:lnSpc>
                          <a:spcPct val="80000"/>
                        </a:lnSpc>
                        <a:spcBef>
                          <a:spcPts val="400"/>
                        </a:spcBef>
                        <a:spcAft>
                          <a:spcPts val="400"/>
                        </a:spcAft>
                        <a:buFont typeface="Symbol"/>
                        <a:buChar char=""/>
                      </a:pPr>
                      <a:r>
                        <a:rPr lang="en-US" sz="2000" dirty="0">
                          <a:effectLst/>
                        </a:rPr>
                        <a:t>grant or deny access to data or services</a:t>
                      </a:r>
                    </a:p>
                    <a:p>
                      <a:pPr marL="342900" marR="0" lvl="0" indent="-342900">
                        <a:lnSpc>
                          <a:spcPct val="80000"/>
                        </a:lnSpc>
                        <a:spcBef>
                          <a:spcPts val="400"/>
                        </a:spcBef>
                        <a:spcAft>
                          <a:spcPts val="400"/>
                        </a:spcAft>
                        <a:buFont typeface="Symbol"/>
                        <a:buChar char=""/>
                      </a:pPr>
                      <a:r>
                        <a:rPr lang="en-US" sz="2000" dirty="0">
                          <a:effectLst/>
                        </a:rPr>
                        <a:t>record attempts to access or modify data or services</a:t>
                      </a:r>
                    </a:p>
                    <a:p>
                      <a:pPr marL="342900" marR="0" lvl="0" indent="-342900">
                        <a:lnSpc>
                          <a:spcPct val="80000"/>
                        </a:lnSpc>
                        <a:spcBef>
                          <a:spcPts val="400"/>
                        </a:spcBef>
                        <a:spcAft>
                          <a:spcPts val="400"/>
                        </a:spcAft>
                        <a:buFont typeface="Symbol"/>
                        <a:buChar char=""/>
                      </a:pPr>
                      <a:r>
                        <a:rPr lang="en-US" sz="2000" dirty="0">
                          <a:effectLst/>
                        </a:rPr>
                        <a:t>encrypt data</a:t>
                      </a:r>
                    </a:p>
                    <a:p>
                      <a:pPr marL="342900" marR="0" lvl="0" indent="-342900">
                        <a:lnSpc>
                          <a:spcPct val="80000"/>
                        </a:lnSpc>
                        <a:spcBef>
                          <a:spcPts val="400"/>
                        </a:spcBef>
                        <a:spcAft>
                          <a:spcPts val="400"/>
                        </a:spcAft>
                        <a:buFont typeface="Symbol"/>
                        <a:buChar char=""/>
                      </a:pPr>
                      <a:r>
                        <a:rPr lang="en-US" sz="2000" dirty="0">
                          <a:effectLst/>
                        </a:rPr>
                        <a:t>recognize reduced availability for resources or services, inform appropriate personnel, and restrict access</a:t>
                      </a:r>
                    </a:p>
                    <a:p>
                      <a:pPr marL="342900" marR="0" lvl="0" indent="-342900">
                        <a:lnSpc>
                          <a:spcPct val="80000"/>
                        </a:lnSpc>
                        <a:spcBef>
                          <a:spcPts val="400"/>
                        </a:spcBef>
                        <a:spcAft>
                          <a:spcPts val="400"/>
                        </a:spcAft>
                        <a:buFont typeface="Symbol"/>
                        <a:buChar char=""/>
                      </a:pPr>
                      <a:r>
                        <a:rPr lang="en-US" sz="2000" dirty="0">
                          <a:effectLst/>
                        </a:rPr>
                        <a:t>recover from an attack</a:t>
                      </a:r>
                      <a:endParaRPr lang="en-US" sz="2000" dirty="0">
                        <a:solidFill>
                          <a:srgbClr val="000080"/>
                        </a:solidFill>
                        <a:effectLst/>
                        <a:latin typeface="Times"/>
                        <a:ea typeface="Times New Roman"/>
                        <a:cs typeface="Times New Roman"/>
                      </a:endParaRPr>
                    </a:p>
                  </a:txBody>
                  <a:tcPr marL="68580" marR="68580" marT="0" marB="0"/>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1238781419"/>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3" name="Date Placeholder 2">
            <a:extLst>
              <a:ext uri="{FF2B5EF4-FFF2-40B4-BE49-F238E27FC236}">
                <a16:creationId xmlns:a16="http://schemas.microsoft.com/office/drawing/2014/main" id="{7DA10F03-8C0D-49D5-9144-A6EE8D9B8DDC}"/>
              </a:ext>
            </a:extLst>
          </p:cNvPr>
          <p:cNvSpPr>
            <a:spLocks noGrp="1"/>
          </p:cNvSpPr>
          <p:nvPr>
            <p:ph type="dt" sz="half" idx="12"/>
          </p:nvPr>
        </p:nvSpPr>
        <p:spPr/>
        <p:txBody>
          <a:bodyPr/>
          <a:lstStyle/>
          <a:p>
            <a:r>
              <a:rPr lang="en-US"/>
              <a:t>Auguts 1, 2026</a:t>
            </a:r>
          </a:p>
        </p:txBody>
      </p:sp>
      <p:sp>
        <p:nvSpPr>
          <p:cNvPr id="6" name="Slide Number Placeholder 5">
            <a:extLst>
              <a:ext uri="{FF2B5EF4-FFF2-40B4-BE49-F238E27FC236}">
                <a16:creationId xmlns:a16="http://schemas.microsoft.com/office/drawing/2014/main" id="{B953D963-AE8C-439E-880D-F98AE44314A0}"/>
              </a:ext>
            </a:extLst>
          </p:cNvPr>
          <p:cNvSpPr>
            <a:spLocks noGrp="1"/>
          </p:cNvSpPr>
          <p:nvPr>
            <p:ph type="sldNum" sz="quarter" idx="14"/>
          </p:nvPr>
        </p:nvSpPr>
        <p:spPr/>
        <p:txBody>
          <a:bodyPr/>
          <a:lstStyle/>
          <a:p>
            <a:fld id="{BC8D7E44-7D4F-4942-A8C9-2DF6BF8399E8}" type="slidenum">
              <a:rPr lang="en-US" smtClean="0"/>
              <a:pPr/>
              <a:t>123</a:t>
            </a:fld>
            <a:endParaRPr lang="en-US" dirty="0"/>
          </a:p>
        </p:txBody>
      </p:sp>
      <p:sp>
        <p:nvSpPr>
          <p:cNvPr id="10" name="Title 1">
            <a:extLst>
              <a:ext uri="{FF2B5EF4-FFF2-40B4-BE49-F238E27FC236}">
                <a16:creationId xmlns:a16="http://schemas.microsoft.com/office/drawing/2014/main" id="{37C0DA57-FB57-1089-A4BB-80C9AEAD4EDD}"/>
              </a:ext>
            </a:extLst>
          </p:cNvPr>
          <p:cNvSpPr>
            <a:spLocks noGrp="1"/>
          </p:cNvSpPr>
          <p:nvPr>
            <p:ph sz="quarter" idx="10"/>
          </p:nvPr>
        </p:nvSpPr>
        <p:spPr>
          <a:xfrm>
            <a:off x="304800" y="152400"/>
            <a:ext cx="6324600" cy="1143000"/>
          </a:xfrm>
        </p:spPr>
        <p:txBody>
          <a:bodyPr>
            <a:normAutofit/>
          </a:bodyPr>
          <a:lstStyle/>
          <a:p>
            <a:r>
              <a:rPr lang="en-US" dirty="0"/>
              <a:t>Design Checklist for Security</a:t>
            </a:r>
          </a:p>
        </p:txBody>
      </p:sp>
      <p:graphicFrame>
        <p:nvGraphicFramePr>
          <p:cNvPr id="11" name="Content Placeholder 10">
            <a:extLst>
              <a:ext uri="{FF2B5EF4-FFF2-40B4-BE49-F238E27FC236}">
                <a16:creationId xmlns:a16="http://schemas.microsoft.com/office/drawing/2014/main" id="{A0FA1CD8-1FE9-7536-1057-1C61FE5D9FD0}"/>
              </a:ext>
            </a:extLst>
          </p:cNvPr>
          <p:cNvGraphicFramePr>
            <a:graphicFrameLocks noGrp="1"/>
          </p:cNvGraphicFramePr>
          <p:nvPr>
            <p:ph idx="1"/>
          </p:nvPr>
        </p:nvGraphicFramePr>
        <p:xfrm>
          <a:off x="304800" y="1282100"/>
          <a:ext cx="8064896" cy="5184576"/>
        </p:xfrm>
        <a:graphic>
          <a:graphicData uri="http://schemas.openxmlformats.org/drawingml/2006/table">
            <a:tbl>
              <a:tblPr firstRow="1" firstCol="1" bandRow="1">
                <a:tableStyleId>{5C22544A-7EE6-4342-B048-85BDC9FD1C3A}</a:tableStyleId>
              </a:tblPr>
              <a:tblGrid>
                <a:gridCol w="1584176">
                  <a:extLst>
                    <a:ext uri="{9D8B030D-6E8A-4147-A177-3AD203B41FA5}">
                      <a16:colId xmlns:a16="http://schemas.microsoft.com/office/drawing/2014/main" val="20000"/>
                    </a:ext>
                  </a:extLst>
                </a:gridCol>
                <a:gridCol w="6480720">
                  <a:extLst>
                    <a:ext uri="{9D8B030D-6E8A-4147-A177-3AD203B41FA5}">
                      <a16:colId xmlns:a16="http://schemas.microsoft.com/office/drawing/2014/main" val="20001"/>
                    </a:ext>
                  </a:extLst>
                </a:gridCol>
              </a:tblGrid>
              <a:tr h="5184576">
                <a:tc>
                  <a:txBody>
                    <a:bodyPr/>
                    <a:lstStyle/>
                    <a:p>
                      <a:pPr marL="0" marR="0">
                        <a:lnSpc>
                          <a:spcPct val="80000"/>
                        </a:lnSpc>
                        <a:spcBef>
                          <a:spcPts val="400"/>
                        </a:spcBef>
                        <a:spcAft>
                          <a:spcPts val="400"/>
                        </a:spcAft>
                      </a:pPr>
                      <a:r>
                        <a:rPr lang="en-US" sz="2000" dirty="0">
                          <a:effectLst/>
                        </a:rPr>
                        <a:t>Resource Management</a:t>
                      </a:r>
                    </a:p>
                    <a:p>
                      <a:pPr marL="0" marR="0">
                        <a:lnSpc>
                          <a:spcPts val="1450"/>
                        </a:lnSpc>
                        <a:spcBef>
                          <a:spcPts val="400"/>
                        </a:spcBef>
                        <a:spcAft>
                          <a:spcPts val="400"/>
                        </a:spcAft>
                      </a:pPr>
                      <a:r>
                        <a:rPr lang="en-US" sz="2000" dirty="0">
                          <a:effectLst/>
                        </a:rPr>
                        <a:t> </a:t>
                      </a:r>
                      <a:endParaRPr lang="en-US" sz="2000" dirty="0">
                        <a:effectLst/>
                        <a:latin typeface="Times"/>
                        <a:ea typeface="Times New Roman"/>
                        <a:cs typeface="Times New Roman"/>
                      </a:endParaRPr>
                    </a:p>
                  </a:txBody>
                  <a:tcPr marL="68580" marR="68580" marT="0" marB="0"/>
                </a:tc>
                <a:tc>
                  <a:txBody>
                    <a:bodyPr/>
                    <a:lstStyle/>
                    <a:p>
                      <a:pPr marL="0" marR="0">
                        <a:lnSpc>
                          <a:spcPct val="80000"/>
                        </a:lnSpc>
                        <a:spcBef>
                          <a:spcPts val="400"/>
                        </a:spcBef>
                        <a:spcAft>
                          <a:spcPts val="400"/>
                        </a:spcAft>
                      </a:pPr>
                      <a:r>
                        <a:rPr lang="en-US" sz="2000" dirty="0">
                          <a:effectLst/>
                        </a:rPr>
                        <a:t>Determine the system resources required to identify and monitor a system or an individual who is internal or external, authorized or not authorized, with access to specific resources or all resources.</a:t>
                      </a:r>
                    </a:p>
                    <a:p>
                      <a:pPr marL="0" marR="0">
                        <a:lnSpc>
                          <a:spcPct val="80000"/>
                        </a:lnSpc>
                        <a:spcBef>
                          <a:spcPts val="400"/>
                        </a:spcBef>
                        <a:spcAft>
                          <a:spcPts val="400"/>
                        </a:spcAft>
                      </a:pPr>
                      <a:r>
                        <a:rPr lang="en-US" sz="2000" dirty="0">
                          <a:effectLst/>
                        </a:rPr>
                        <a:t>Determine the resources required to authenticate the actor, grant or deny access to data or resources, notify appropriate entities, record attempts to access data or resources, encrypt data, recognize high demand for resources, inform users or systems, and restrict access.  </a:t>
                      </a:r>
                    </a:p>
                    <a:p>
                      <a:pPr marL="0" marR="0">
                        <a:lnSpc>
                          <a:spcPct val="80000"/>
                        </a:lnSpc>
                        <a:spcBef>
                          <a:spcPts val="400"/>
                        </a:spcBef>
                        <a:spcAft>
                          <a:spcPts val="400"/>
                        </a:spcAft>
                      </a:pPr>
                      <a:r>
                        <a:rPr lang="en-US" sz="2000" dirty="0">
                          <a:effectLst/>
                        </a:rPr>
                        <a:t>For these resources consider whether an external entity can access or exhaust a critical resource; how to monitor the resource; how to manage resource utilization; how to log resource utilization and ensure that there are sufficient resources to perform necessary security operations.</a:t>
                      </a:r>
                    </a:p>
                    <a:p>
                      <a:pPr marL="0" marR="0">
                        <a:lnSpc>
                          <a:spcPct val="80000"/>
                        </a:lnSpc>
                        <a:spcBef>
                          <a:spcPts val="400"/>
                        </a:spcBef>
                        <a:spcAft>
                          <a:spcPts val="400"/>
                        </a:spcAft>
                      </a:pPr>
                      <a:r>
                        <a:rPr lang="en-US" sz="2000" dirty="0">
                          <a:effectLst/>
                        </a:rPr>
                        <a:t>Ensure that a contaminated element can be prevented from contaminating other elements.</a:t>
                      </a:r>
                    </a:p>
                    <a:p>
                      <a:pPr marL="0" marR="0">
                        <a:lnSpc>
                          <a:spcPct val="80000"/>
                        </a:lnSpc>
                        <a:spcBef>
                          <a:spcPts val="400"/>
                        </a:spcBef>
                        <a:spcAft>
                          <a:spcPts val="400"/>
                        </a:spcAft>
                      </a:pPr>
                      <a:r>
                        <a:rPr lang="en-US" sz="2000" dirty="0">
                          <a:effectLst/>
                        </a:rPr>
                        <a:t>Ensure that shared resources are not used for passing sensitive data from an actor with access rights to that data to an actor without access rights.</a:t>
                      </a:r>
                      <a:endParaRPr lang="en-US" sz="2000" dirty="0">
                        <a:effectLst/>
                        <a:latin typeface="Times"/>
                        <a:ea typeface="Times New Roman"/>
                        <a:cs typeface="Times New Roman"/>
                      </a:endParaRPr>
                    </a:p>
                  </a:txBody>
                  <a:tcPr marL="68580" marR="68580" marT="0" marB="0"/>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249914122"/>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3" name="Date Placeholder 2">
            <a:extLst>
              <a:ext uri="{FF2B5EF4-FFF2-40B4-BE49-F238E27FC236}">
                <a16:creationId xmlns:a16="http://schemas.microsoft.com/office/drawing/2014/main" id="{9E00FFA5-292D-41E7-9BD8-6CCF9B93AFBA}"/>
              </a:ext>
            </a:extLst>
          </p:cNvPr>
          <p:cNvSpPr>
            <a:spLocks noGrp="1"/>
          </p:cNvSpPr>
          <p:nvPr>
            <p:ph type="dt" sz="half" idx="12"/>
          </p:nvPr>
        </p:nvSpPr>
        <p:spPr/>
        <p:txBody>
          <a:bodyPr/>
          <a:lstStyle/>
          <a:p>
            <a:r>
              <a:rPr lang="en-US"/>
              <a:t>Auguts 1, 2026</a:t>
            </a:r>
          </a:p>
        </p:txBody>
      </p:sp>
      <p:sp>
        <p:nvSpPr>
          <p:cNvPr id="6" name="Slide Number Placeholder 5">
            <a:extLst>
              <a:ext uri="{FF2B5EF4-FFF2-40B4-BE49-F238E27FC236}">
                <a16:creationId xmlns:a16="http://schemas.microsoft.com/office/drawing/2014/main" id="{2BEFD902-8BEC-47EA-8800-36BF5454FCD2}"/>
              </a:ext>
            </a:extLst>
          </p:cNvPr>
          <p:cNvSpPr>
            <a:spLocks noGrp="1"/>
          </p:cNvSpPr>
          <p:nvPr>
            <p:ph type="sldNum" sz="quarter" idx="14"/>
          </p:nvPr>
        </p:nvSpPr>
        <p:spPr/>
        <p:txBody>
          <a:bodyPr/>
          <a:lstStyle/>
          <a:p>
            <a:fld id="{BC8D7E44-7D4F-4942-A8C9-2DF6BF8399E8}" type="slidenum">
              <a:rPr lang="en-US" smtClean="0"/>
              <a:pPr/>
              <a:t>124</a:t>
            </a:fld>
            <a:endParaRPr lang="en-US" dirty="0"/>
          </a:p>
        </p:txBody>
      </p:sp>
      <p:sp>
        <p:nvSpPr>
          <p:cNvPr id="10" name="Title 1">
            <a:extLst>
              <a:ext uri="{FF2B5EF4-FFF2-40B4-BE49-F238E27FC236}">
                <a16:creationId xmlns:a16="http://schemas.microsoft.com/office/drawing/2014/main" id="{7954A77F-4E83-AE5B-6261-680F31BF22DF}"/>
              </a:ext>
            </a:extLst>
          </p:cNvPr>
          <p:cNvSpPr>
            <a:spLocks noGrp="1"/>
          </p:cNvSpPr>
          <p:nvPr>
            <p:ph sz="quarter" idx="10"/>
          </p:nvPr>
        </p:nvSpPr>
        <p:spPr>
          <a:xfrm>
            <a:off x="304800" y="152400"/>
            <a:ext cx="6324600" cy="1143000"/>
          </a:xfrm>
        </p:spPr>
        <p:txBody>
          <a:bodyPr>
            <a:normAutofit/>
          </a:bodyPr>
          <a:lstStyle/>
          <a:p>
            <a:r>
              <a:rPr lang="en-US" dirty="0"/>
              <a:t>Design Checklist for Security</a:t>
            </a:r>
          </a:p>
        </p:txBody>
      </p:sp>
      <p:graphicFrame>
        <p:nvGraphicFramePr>
          <p:cNvPr id="11" name="Content Placeholder 10">
            <a:extLst>
              <a:ext uri="{FF2B5EF4-FFF2-40B4-BE49-F238E27FC236}">
                <a16:creationId xmlns:a16="http://schemas.microsoft.com/office/drawing/2014/main" id="{706E29B6-2AB9-FE79-D4DF-9FB2A8804CF5}"/>
              </a:ext>
            </a:extLst>
          </p:cNvPr>
          <p:cNvGraphicFramePr>
            <a:graphicFrameLocks noGrp="1"/>
          </p:cNvGraphicFramePr>
          <p:nvPr>
            <p:ph idx="1"/>
          </p:nvPr>
        </p:nvGraphicFramePr>
        <p:xfrm>
          <a:off x="304800" y="1493838"/>
          <a:ext cx="8610600" cy="3916362"/>
        </p:xfrm>
        <a:graphic>
          <a:graphicData uri="http://schemas.openxmlformats.org/drawingml/2006/table">
            <a:tbl>
              <a:tblPr firstRow="1" firstCol="1" bandRow="1">
                <a:tableStyleId>{5C22544A-7EE6-4342-B048-85BDC9FD1C3A}</a:tableStyleId>
              </a:tblPr>
              <a:tblGrid>
                <a:gridCol w="1076325">
                  <a:extLst>
                    <a:ext uri="{9D8B030D-6E8A-4147-A177-3AD203B41FA5}">
                      <a16:colId xmlns:a16="http://schemas.microsoft.com/office/drawing/2014/main" val="20000"/>
                    </a:ext>
                  </a:extLst>
                </a:gridCol>
                <a:gridCol w="7534275">
                  <a:extLst>
                    <a:ext uri="{9D8B030D-6E8A-4147-A177-3AD203B41FA5}">
                      <a16:colId xmlns:a16="http://schemas.microsoft.com/office/drawing/2014/main" val="20001"/>
                    </a:ext>
                  </a:extLst>
                </a:gridCol>
              </a:tblGrid>
              <a:tr h="3916362">
                <a:tc>
                  <a:txBody>
                    <a:bodyPr/>
                    <a:lstStyle/>
                    <a:p>
                      <a:pPr marL="0" marR="0">
                        <a:lnSpc>
                          <a:spcPct val="80000"/>
                        </a:lnSpc>
                        <a:spcBef>
                          <a:spcPts val="400"/>
                        </a:spcBef>
                        <a:spcAft>
                          <a:spcPts val="400"/>
                        </a:spcAft>
                      </a:pPr>
                      <a:r>
                        <a:rPr lang="en-US" sz="2000" dirty="0">
                          <a:effectLst/>
                        </a:rPr>
                        <a:t>Binding Time</a:t>
                      </a:r>
                      <a:endParaRPr lang="en-US" sz="2000" dirty="0">
                        <a:effectLst/>
                        <a:latin typeface="Times"/>
                        <a:ea typeface="Times New Roman"/>
                        <a:cs typeface="Times New Roman"/>
                      </a:endParaRPr>
                    </a:p>
                  </a:txBody>
                  <a:tcPr marL="68580" marR="68580" marT="0" marB="0"/>
                </a:tc>
                <a:tc>
                  <a:txBody>
                    <a:bodyPr/>
                    <a:lstStyle/>
                    <a:p>
                      <a:pPr marL="0" marR="0">
                        <a:lnSpc>
                          <a:spcPct val="80000"/>
                        </a:lnSpc>
                        <a:spcBef>
                          <a:spcPts val="400"/>
                        </a:spcBef>
                        <a:spcAft>
                          <a:spcPts val="400"/>
                        </a:spcAft>
                      </a:pPr>
                      <a:r>
                        <a:rPr lang="en-US" sz="2000" dirty="0">
                          <a:effectLst/>
                        </a:rPr>
                        <a:t>Determine cases where an instance of a late bound component may be untrusted. </a:t>
                      </a:r>
                    </a:p>
                    <a:p>
                      <a:pPr marL="0" marR="0">
                        <a:lnSpc>
                          <a:spcPct val="80000"/>
                        </a:lnSpc>
                        <a:spcBef>
                          <a:spcPts val="400"/>
                        </a:spcBef>
                        <a:spcAft>
                          <a:spcPts val="400"/>
                        </a:spcAft>
                      </a:pPr>
                      <a:r>
                        <a:rPr lang="en-US" sz="2000" dirty="0">
                          <a:effectLst/>
                        </a:rPr>
                        <a:t>For such cases ensure that late bound components can be qualified, that is, if ownership certificates for late bound components are required, there are appropriate mechanisms to manage and validate them; that access to late bound data and services can be managed; that access by late bound components to data and services can be blocked; that mechanisms to record the access, modification, and attempts to access data or services by late bound components are in place; and that system data is encrypted where the keys are intentionally withheld for late bound components</a:t>
                      </a:r>
                      <a:endParaRPr lang="en-US" sz="2000" dirty="0">
                        <a:effectLst/>
                        <a:latin typeface="Times"/>
                        <a:ea typeface="Times New Roman"/>
                        <a:cs typeface="Times New Roman"/>
                      </a:endParaRPr>
                    </a:p>
                  </a:txBody>
                  <a:tcPr marL="68580" marR="68580" marT="0" marB="0"/>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2012626577"/>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3" name="Date Placeholder 2">
            <a:extLst>
              <a:ext uri="{FF2B5EF4-FFF2-40B4-BE49-F238E27FC236}">
                <a16:creationId xmlns:a16="http://schemas.microsoft.com/office/drawing/2014/main" id="{005B656D-D30B-4F69-94BB-1EE34996B81E}"/>
              </a:ext>
            </a:extLst>
          </p:cNvPr>
          <p:cNvSpPr>
            <a:spLocks noGrp="1"/>
          </p:cNvSpPr>
          <p:nvPr>
            <p:ph type="dt" sz="half" idx="12"/>
          </p:nvPr>
        </p:nvSpPr>
        <p:spPr/>
        <p:txBody>
          <a:bodyPr/>
          <a:lstStyle/>
          <a:p>
            <a:r>
              <a:rPr lang="en-US"/>
              <a:t>Auguts 1, 2026</a:t>
            </a:r>
          </a:p>
        </p:txBody>
      </p:sp>
      <p:sp>
        <p:nvSpPr>
          <p:cNvPr id="6" name="Slide Number Placeholder 5">
            <a:extLst>
              <a:ext uri="{FF2B5EF4-FFF2-40B4-BE49-F238E27FC236}">
                <a16:creationId xmlns:a16="http://schemas.microsoft.com/office/drawing/2014/main" id="{D8C0199A-DE99-47B3-AA29-CC2E9E97F982}"/>
              </a:ext>
            </a:extLst>
          </p:cNvPr>
          <p:cNvSpPr>
            <a:spLocks noGrp="1"/>
          </p:cNvSpPr>
          <p:nvPr>
            <p:ph type="sldNum" sz="quarter" idx="14"/>
          </p:nvPr>
        </p:nvSpPr>
        <p:spPr/>
        <p:txBody>
          <a:bodyPr/>
          <a:lstStyle/>
          <a:p>
            <a:fld id="{BC8D7E44-7D4F-4942-A8C9-2DF6BF8399E8}" type="slidenum">
              <a:rPr lang="en-US" smtClean="0"/>
              <a:pPr/>
              <a:t>125</a:t>
            </a:fld>
            <a:endParaRPr lang="en-US" dirty="0"/>
          </a:p>
        </p:txBody>
      </p:sp>
      <p:graphicFrame>
        <p:nvGraphicFramePr>
          <p:cNvPr id="10" name="Content Placeholder 9">
            <a:extLst>
              <a:ext uri="{FF2B5EF4-FFF2-40B4-BE49-F238E27FC236}">
                <a16:creationId xmlns:a16="http://schemas.microsoft.com/office/drawing/2014/main" id="{2F0DBE0A-92E8-CB65-9AFB-11A345A250B7}"/>
              </a:ext>
            </a:extLst>
          </p:cNvPr>
          <p:cNvGraphicFramePr>
            <a:graphicFrameLocks noGrp="1"/>
          </p:cNvGraphicFramePr>
          <p:nvPr>
            <p:ph idx="1"/>
          </p:nvPr>
        </p:nvGraphicFramePr>
        <p:xfrm>
          <a:off x="304800" y="1493838"/>
          <a:ext cx="8534400" cy="2925762"/>
        </p:xfrm>
        <a:graphic>
          <a:graphicData uri="http://schemas.openxmlformats.org/drawingml/2006/table">
            <a:tbl>
              <a:tblPr firstRow="1" firstCol="1" bandRow="1">
                <a:tableStyleId>{5C22544A-7EE6-4342-B048-85BDC9FD1C3A}</a:tableStyleId>
              </a:tblPr>
              <a:tblGrid>
                <a:gridCol w="1644242">
                  <a:extLst>
                    <a:ext uri="{9D8B030D-6E8A-4147-A177-3AD203B41FA5}">
                      <a16:colId xmlns:a16="http://schemas.microsoft.com/office/drawing/2014/main" val="20000"/>
                    </a:ext>
                  </a:extLst>
                </a:gridCol>
                <a:gridCol w="6890158">
                  <a:extLst>
                    <a:ext uri="{9D8B030D-6E8A-4147-A177-3AD203B41FA5}">
                      <a16:colId xmlns:a16="http://schemas.microsoft.com/office/drawing/2014/main" val="20001"/>
                    </a:ext>
                  </a:extLst>
                </a:gridCol>
              </a:tblGrid>
              <a:tr h="2925762">
                <a:tc>
                  <a:txBody>
                    <a:bodyPr/>
                    <a:lstStyle/>
                    <a:p>
                      <a:pPr marL="0" marR="0">
                        <a:lnSpc>
                          <a:spcPct val="80000"/>
                        </a:lnSpc>
                        <a:spcBef>
                          <a:spcPts val="400"/>
                        </a:spcBef>
                        <a:spcAft>
                          <a:spcPts val="400"/>
                        </a:spcAft>
                      </a:pPr>
                      <a:r>
                        <a:rPr lang="en-US" sz="2000" dirty="0">
                          <a:effectLst/>
                        </a:rPr>
                        <a:t>Choice of Technology</a:t>
                      </a:r>
                      <a:endParaRPr lang="en-US" sz="2000" dirty="0">
                        <a:effectLst/>
                        <a:latin typeface="Times"/>
                        <a:ea typeface="Times New Roman"/>
                        <a:cs typeface="Times New Roman"/>
                      </a:endParaRPr>
                    </a:p>
                  </a:txBody>
                  <a:tcPr marL="68580" marR="68580" marT="0" marB="0"/>
                </a:tc>
                <a:tc>
                  <a:txBody>
                    <a:bodyPr/>
                    <a:lstStyle/>
                    <a:p>
                      <a:pPr marL="0" marR="0">
                        <a:lnSpc>
                          <a:spcPct val="80000"/>
                        </a:lnSpc>
                        <a:spcBef>
                          <a:spcPts val="400"/>
                        </a:spcBef>
                        <a:spcAft>
                          <a:spcPts val="400"/>
                        </a:spcAft>
                      </a:pPr>
                      <a:r>
                        <a:rPr lang="en-US" sz="2000" dirty="0">
                          <a:effectLst/>
                        </a:rPr>
                        <a:t>Determine what technologies are available to help user authentication, data access rights, resource protection, data encryption.</a:t>
                      </a:r>
                    </a:p>
                    <a:p>
                      <a:pPr marL="0" marR="0">
                        <a:lnSpc>
                          <a:spcPct val="80000"/>
                        </a:lnSpc>
                        <a:spcBef>
                          <a:spcPts val="400"/>
                        </a:spcBef>
                        <a:spcAft>
                          <a:spcPts val="400"/>
                        </a:spcAft>
                      </a:pPr>
                      <a:r>
                        <a:rPr lang="en-US" sz="2000" dirty="0">
                          <a:effectLst/>
                        </a:rPr>
                        <a:t>Ensure that your chosen technologies support the tactics relevant for your security needs.</a:t>
                      </a:r>
                      <a:endParaRPr lang="en-US" sz="2000" dirty="0">
                        <a:effectLst/>
                        <a:latin typeface="Times"/>
                        <a:ea typeface="Times New Roman"/>
                        <a:cs typeface="Times New Roman"/>
                      </a:endParaRPr>
                    </a:p>
                  </a:txBody>
                  <a:tcPr marL="68580" marR="68580" marT="0" marB="0"/>
                </a:tc>
                <a:extLst>
                  <a:ext uri="{0D108BD9-81ED-4DB2-BD59-A6C34878D82A}">
                    <a16:rowId xmlns:a16="http://schemas.microsoft.com/office/drawing/2014/main" val="10000"/>
                  </a:ext>
                </a:extLst>
              </a:tr>
            </a:tbl>
          </a:graphicData>
        </a:graphic>
      </p:graphicFrame>
      <p:sp>
        <p:nvSpPr>
          <p:cNvPr id="11" name="Title 1">
            <a:extLst>
              <a:ext uri="{FF2B5EF4-FFF2-40B4-BE49-F238E27FC236}">
                <a16:creationId xmlns:a16="http://schemas.microsoft.com/office/drawing/2014/main" id="{CB82811A-65A9-A2AC-9E48-C582F745CC1F}"/>
              </a:ext>
            </a:extLst>
          </p:cNvPr>
          <p:cNvSpPr>
            <a:spLocks noGrp="1"/>
          </p:cNvSpPr>
          <p:nvPr>
            <p:ph sz="quarter" idx="10"/>
          </p:nvPr>
        </p:nvSpPr>
        <p:spPr>
          <a:xfrm>
            <a:off x="304800" y="152400"/>
            <a:ext cx="6324600" cy="1143000"/>
          </a:xfrm>
        </p:spPr>
        <p:txBody>
          <a:bodyPr>
            <a:normAutofit/>
          </a:bodyPr>
          <a:lstStyle/>
          <a:p>
            <a:r>
              <a:rPr lang="en-US" dirty="0"/>
              <a:t>Design Checklist for Security</a:t>
            </a:r>
          </a:p>
        </p:txBody>
      </p:sp>
    </p:spTree>
    <p:extLst>
      <p:ext uri="{BB962C8B-B14F-4D97-AF65-F5344CB8AC3E}">
        <p14:creationId xmlns:p14="http://schemas.microsoft.com/office/powerpoint/2010/main" val="1587125936"/>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anose="020B0604020202020204" pitchFamily="34" charset="0"/>
              <a:buChar char="•"/>
            </a:pPr>
            <a:r>
              <a:rPr lang="x-none" dirty="0"/>
              <a:t>Attacks against a system can be characterized as attacks against the confidentiality, integrity, or availability of a system or its data. </a:t>
            </a:r>
            <a:endParaRPr lang="en-US" dirty="0"/>
          </a:p>
          <a:p>
            <a:pPr>
              <a:buFont typeface="Arial" panose="020B0604020202020204" pitchFamily="34" charset="0"/>
              <a:buChar char="•"/>
            </a:pPr>
            <a:r>
              <a:rPr lang="x-none" dirty="0"/>
              <a:t>Th</a:t>
            </a:r>
            <a:r>
              <a:rPr lang="en-US" dirty="0"/>
              <a:t>is</a:t>
            </a:r>
            <a:r>
              <a:rPr lang="x-none" dirty="0"/>
              <a:t> leads to many of the tactics used to achieve security. Identifying, authenticating, and authorizing </a:t>
            </a:r>
            <a:r>
              <a:rPr lang="en-US" dirty="0"/>
              <a:t>actors </a:t>
            </a:r>
            <a:r>
              <a:rPr lang="x-none" dirty="0"/>
              <a:t>are tactics intended to determine which users or systems are entitled to what kind of access to a system.</a:t>
            </a:r>
            <a:endParaRPr lang="en-US" dirty="0"/>
          </a:p>
          <a:p>
            <a:pPr>
              <a:buFont typeface="Arial" panose="020B0604020202020204" pitchFamily="34" charset="0"/>
              <a:buChar char="•"/>
            </a:pPr>
            <a:r>
              <a:rPr lang="en-US" dirty="0"/>
              <a:t>N</a:t>
            </a:r>
            <a:r>
              <a:rPr lang="x-none" dirty="0"/>
              <a:t>o security tactic is foolproof and systems </a:t>
            </a:r>
            <a:r>
              <a:rPr lang="x-none" i="1" dirty="0"/>
              <a:t>will</a:t>
            </a:r>
            <a:r>
              <a:rPr lang="x-none" dirty="0"/>
              <a:t> be compromised. Hence, tactics exist to detect an attack, limit the spread of any attack, and to react and recover from an attack.</a:t>
            </a:r>
            <a:endParaRPr lang="en-US" dirty="0"/>
          </a:p>
          <a:p>
            <a:pPr>
              <a:buFont typeface="Arial" panose="020B0604020202020204" pitchFamily="34" charset="0"/>
              <a:buChar char="•"/>
            </a:pPr>
            <a:endParaRPr lang="en-US"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5" name="Date Placeholder 4">
            <a:extLst>
              <a:ext uri="{FF2B5EF4-FFF2-40B4-BE49-F238E27FC236}">
                <a16:creationId xmlns:a16="http://schemas.microsoft.com/office/drawing/2014/main" id="{FDFE7137-42F3-4777-9623-909054C4FDFD}"/>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0C7FDF3A-7D3A-4045-A10B-0404DFB5B23E}"/>
              </a:ext>
            </a:extLst>
          </p:cNvPr>
          <p:cNvSpPr>
            <a:spLocks noGrp="1"/>
          </p:cNvSpPr>
          <p:nvPr>
            <p:ph type="sldNum" sz="quarter" idx="14"/>
          </p:nvPr>
        </p:nvSpPr>
        <p:spPr/>
        <p:txBody>
          <a:bodyPr/>
          <a:lstStyle/>
          <a:p>
            <a:fld id="{BC8D7E44-7D4F-4942-A8C9-2DF6BF8399E8}" type="slidenum">
              <a:rPr lang="en-US" smtClean="0"/>
              <a:pPr/>
              <a:t>126</a:t>
            </a:fld>
            <a:endParaRPr lang="en-US" dirty="0"/>
          </a:p>
        </p:txBody>
      </p:sp>
      <p:sp>
        <p:nvSpPr>
          <p:cNvPr id="9" name="Title 1">
            <a:extLst>
              <a:ext uri="{FF2B5EF4-FFF2-40B4-BE49-F238E27FC236}">
                <a16:creationId xmlns:a16="http://schemas.microsoft.com/office/drawing/2014/main" id="{871DE8D7-A7DC-6032-1E8C-23FCF4465454}"/>
              </a:ext>
            </a:extLst>
          </p:cNvPr>
          <p:cNvSpPr>
            <a:spLocks noGrp="1"/>
          </p:cNvSpPr>
          <p:nvPr>
            <p:ph sz="quarter" idx="10"/>
          </p:nvPr>
        </p:nvSpPr>
        <p:spPr>
          <a:xfrm>
            <a:off x="304800" y="152400"/>
            <a:ext cx="6324600" cy="1143000"/>
          </a:xfrm>
        </p:spPr>
        <p:txBody>
          <a:bodyPr/>
          <a:lstStyle/>
          <a:p>
            <a:r>
              <a:rPr lang="en-US" dirty="0"/>
              <a:t>Summary</a:t>
            </a:r>
          </a:p>
        </p:txBody>
      </p:sp>
    </p:spTree>
    <p:extLst>
      <p:ext uri="{BB962C8B-B14F-4D97-AF65-F5344CB8AC3E}">
        <p14:creationId xmlns:p14="http://schemas.microsoft.com/office/powerpoint/2010/main" val="370632596"/>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br>
              <a:rPr lang="en-US" dirty="0"/>
            </a:br>
            <a:r>
              <a:rPr lang="en-AU" dirty="0"/>
              <a:t>Modifiability</a:t>
            </a:r>
            <a:br>
              <a:rPr lang="en-AU" dirty="0"/>
            </a:br>
            <a:r>
              <a:rPr lang="en-AU" dirty="0"/>
              <a:t>Module 2 – L6</a:t>
            </a:r>
            <a:endParaRPr lang="en-US" dirty="0"/>
          </a:p>
        </p:txBody>
      </p:sp>
      <p:sp>
        <p:nvSpPr>
          <p:cNvPr id="6" name="Content Placeholder 5"/>
          <p:cNvSpPr>
            <a:spLocks noGrp="1"/>
          </p:cNvSpPr>
          <p:nvPr>
            <p:ph sz="quarter" idx="13"/>
          </p:nvPr>
        </p:nvSpPr>
        <p:spPr/>
        <p:txBody>
          <a:bodyPr/>
          <a:lstStyle/>
          <a:p>
            <a:r>
              <a:rPr lang="en-US" sz="1800" dirty="0"/>
              <a:t>Harvinder S Jabbal </a:t>
            </a:r>
          </a:p>
          <a:p>
            <a:r>
              <a:rPr lang="en-US" dirty="0"/>
              <a:t>CSIS, Work Integrated Learning Programs</a:t>
            </a:r>
          </a:p>
        </p:txBody>
      </p:sp>
      <p:sp>
        <p:nvSpPr>
          <p:cNvPr id="2" name="Slide Number Placeholder 1">
            <a:extLst>
              <a:ext uri="{FF2B5EF4-FFF2-40B4-BE49-F238E27FC236}">
                <a16:creationId xmlns:a16="http://schemas.microsoft.com/office/drawing/2014/main" id="{7F90C164-BD80-4958-B5AD-15C0024F6F1D}"/>
              </a:ext>
            </a:extLst>
          </p:cNvPr>
          <p:cNvSpPr>
            <a:spLocks noGrp="1"/>
          </p:cNvSpPr>
          <p:nvPr>
            <p:ph type="sldNum" sz="quarter" idx="16"/>
          </p:nvPr>
        </p:nvSpPr>
        <p:spPr/>
        <p:txBody>
          <a:bodyPr/>
          <a:lstStyle/>
          <a:p>
            <a:fld id="{BC8D7E44-7D4F-4942-A8C9-2DF6BF8399E8}" type="slidenum">
              <a:rPr lang="en-US" smtClean="0"/>
              <a:pPr/>
              <a:t>127</a:t>
            </a:fld>
            <a:endParaRPr lang="en-US" dirty="0"/>
          </a:p>
        </p:txBody>
      </p:sp>
      <p:sp>
        <p:nvSpPr>
          <p:cNvPr id="3" name="Footer Placeholder 2">
            <a:extLst>
              <a:ext uri="{FF2B5EF4-FFF2-40B4-BE49-F238E27FC236}">
                <a16:creationId xmlns:a16="http://schemas.microsoft.com/office/drawing/2014/main" id="{2618058F-E2B6-466F-9CC1-565AF74727FA}"/>
              </a:ext>
            </a:extLst>
          </p:cNvPr>
          <p:cNvSpPr>
            <a:spLocks noGrp="1"/>
          </p:cNvSpPr>
          <p:nvPr>
            <p:ph type="ftr" sz="quarter" idx="15"/>
          </p:nvPr>
        </p:nvSpPr>
        <p:spPr/>
        <p:txBody>
          <a:bodyPr/>
          <a:lstStyle/>
          <a:p>
            <a:r>
              <a:rPr lang="en-US"/>
              <a:t>SEZG651/SSZG653 Software Architectures</a:t>
            </a:r>
            <a:endParaRPr lang="en-US" dirty="0"/>
          </a:p>
        </p:txBody>
      </p:sp>
      <p:sp>
        <p:nvSpPr>
          <p:cNvPr id="4" name="Date Placeholder 3">
            <a:extLst>
              <a:ext uri="{FF2B5EF4-FFF2-40B4-BE49-F238E27FC236}">
                <a16:creationId xmlns:a16="http://schemas.microsoft.com/office/drawing/2014/main" id="{791BFCCC-1B52-43EB-9B30-A96190E558FD}"/>
              </a:ext>
            </a:extLst>
          </p:cNvPr>
          <p:cNvSpPr>
            <a:spLocks noGrp="1"/>
          </p:cNvSpPr>
          <p:nvPr>
            <p:ph type="dt" sz="half" idx="14"/>
          </p:nvPr>
        </p:nvSpPr>
        <p:spPr/>
        <p:txBody>
          <a:bodyPr/>
          <a:lstStyle/>
          <a:p>
            <a:r>
              <a:rPr lang="en-US"/>
              <a:t>Auguts 1, 2026</a:t>
            </a:r>
          </a:p>
        </p:txBody>
      </p:sp>
    </p:spTree>
    <p:extLst>
      <p:ext uri="{BB962C8B-B14F-4D97-AF65-F5344CB8AC3E}">
        <p14:creationId xmlns:p14="http://schemas.microsoft.com/office/powerpoint/2010/main" val="3945030415"/>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z="3200" b="0" i="0" u="none" strike="noStrike" kern="1200" baseline="0" dirty="0">
                <a:solidFill>
                  <a:schemeClr val="tx1"/>
                </a:solidFill>
                <a:latin typeface="+mn-lt"/>
                <a:ea typeface="+mn-ea"/>
                <a:cs typeface="+mn-cs"/>
              </a:rPr>
              <a:t>What is Modifiability?</a:t>
            </a:r>
          </a:p>
          <a:p>
            <a:r>
              <a:rPr lang="en-US" dirty="0"/>
              <a:t>Modifiability General </a:t>
            </a:r>
            <a:r>
              <a:rPr lang="en-US" sz="3200" b="0" i="0" u="none" strike="noStrike" kern="1200" baseline="0" dirty="0">
                <a:solidFill>
                  <a:schemeClr val="tx1"/>
                </a:solidFill>
                <a:latin typeface="+mn-lt"/>
                <a:ea typeface="+mn-ea"/>
                <a:cs typeface="+mn-cs"/>
              </a:rPr>
              <a:t>Scenario</a:t>
            </a:r>
          </a:p>
          <a:p>
            <a:r>
              <a:rPr lang="en-US" sz="3200" b="0" i="0" u="none" strike="noStrike" kern="1200" baseline="0" dirty="0">
                <a:solidFill>
                  <a:schemeClr val="tx1"/>
                </a:solidFill>
                <a:latin typeface="+mn-lt"/>
                <a:ea typeface="+mn-ea"/>
                <a:cs typeface="+mn-cs"/>
              </a:rPr>
              <a:t>Tactics for </a:t>
            </a:r>
            <a:r>
              <a:rPr lang="en-US" dirty="0"/>
              <a:t>Modifiability</a:t>
            </a:r>
            <a:endParaRPr lang="en-US" sz="3200" b="0" i="0" u="none" strike="noStrike" kern="1200" baseline="0" dirty="0">
              <a:solidFill>
                <a:schemeClr val="tx1"/>
              </a:solidFill>
              <a:latin typeface="+mn-lt"/>
              <a:ea typeface="+mn-ea"/>
              <a:cs typeface="+mn-cs"/>
            </a:endParaRPr>
          </a:p>
          <a:p>
            <a:r>
              <a:rPr lang="en-US" dirty="0"/>
              <a:t>A Design Checklist for Modifiability</a:t>
            </a:r>
            <a:endParaRPr lang="en-US" sz="3200" b="0" i="0" u="none" strike="noStrike" kern="1200" baseline="0" dirty="0">
              <a:solidFill>
                <a:schemeClr val="tx1"/>
              </a:solidFill>
              <a:latin typeface="+mn-lt"/>
              <a:ea typeface="+mn-ea"/>
              <a:cs typeface="+mn-cs"/>
            </a:endParaRPr>
          </a:p>
          <a:p>
            <a:r>
              <a:rPr lang="en-US" sz="3200" b="0" i="0" u="none" strike="noStrike" kern="1200" baseline="0" dirty="0">
                <a:solidFill>
                  <a:schemeClr val="tx1"/>
                </a:solidFill>
                <a:latin typeface="+mn-lt"/>
                <a:ea typeface="+mn-ea"/>
                <a:cs typeface="+mn-cs"/>
              </a:rPr>
              <a:t>Summary </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Date Placeholder 6">
            <a:extLst>
              <a:ext uri="{FF2B5EF4-FFF2-40B4-BE49-F238E27FC236}">
                <a16:creationId xmlns:a16="http://schemas.microsoft.com/office/drawing/2014/main" id="{6D77DE93-38D7-4DFD-B890-8D95536AC5C7}"/>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4CD7AD8C-EDDC-47D9-A2E7-46A7B8C6ED79}"/>
              </a:ext>
            </a:extLst>
          </p:cNvPr>
          <p:cNvSpPr>
            <a:spLocks noGrp="1"/>
          </p:cNvSpPr>
          <p:nvPr>
            <p:ph type="sldNum" sz="quarter" idx="14"/>
          </p:nvPr>
        </p:nvSpPr>
        <p:spPr/>
        <p:txBody>
          <a:bodyPr/>
          <a:lstStyle/>
          <a:p>
            <a:fld id="{BC8D7E44-7D4F-4942-A8C9-2DF6BF8399E8}" type="slidenum">
              <a:rPr lang="en-US" smtClean="0"/>
              <a:pPr/>
              <a:t>128</a:t>
            </a:fld>
            <a:endParaRPr lang="en-US" dirty="0"/>
          </a:p>
        </p:txBody>
      </p:sp>
      <p:sp>
        <p:nvSpPr>
          <p:cNvPr id="9" name="Title 1">
            <a:extLst>
              <a:ext uri="{FF2B5EF4-FFF2-40B4-BE49-F238E27FC236}">
                <a16:creationId xmlns:a16="http://schemas.microsoft.com/office/drawing/2014/main" id="{8B03F83B-F74D-5B45-9440-6F80B03F17BA}"/>
              </a:ext>
            </a:extLst>
          </p:cNvPr>
          <p:cNvSpPr>
            <a:spLocks noGrp="1"/>
          </p:cNvSpPr>
          <p:nvPr>
            <p:ph sz="quarter" idx="10"/>
          </p:nvPr>
        </p:nvSpPr>
        <p:spPr>
          <a:xfrm>
            <a:off x="304800" y="152400"/>
            <a:ext cx="6324600" cy="1143000"/>
          </a:xfrm>
        </p:spPr>
        <p:txBody>
          <a:bodyPr/>
          <a:lstStyle/>
          <a:p>
            <a:r>
              <a:rPr lang="en-AU" dirty="0"/>
              <a:t>Chapter Outline</a:t>
            </a:r>
          </a:p>
        </p:txBody>
      </p:sp>
    </p:spTree>
    <p:extLst>
      <p:ext uri="{BB962C8B-B14F-4D97-AF65-F5344CB8AC3E}">
        <p14:creationId xmlns:p14="http://schemas.microsoft.com/office/powerpoint/2010/main" val="74852715"/>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Modifiability is about change and our interest in it is in the cost and risk of making changes.  </a:t>
            </a:r>
          </a:p>
          <a:p>
            <a:r>
              <a:rPr lang="en-US" dirty="0"/>
              <a:t>To plan for modifiability, an architect has to consider three questions: </a:t>
            </a:r>
          </a:p>
          <a:p>
            <a:pPr lvl="1"/>
            <a:r>
              <a:rPr lang="en-US" dirty="0"/>
              <a:t>What can change? </a:t>
            </a:r>
          </a:p>
          <a:p>
            <a:pPr lvl="1"/>
            <a:r>
              <a:rPr lang="en-US" dirty="0"/>
              <a:t>What is the likelihood of the change? </a:t>
            </a:r>
          </a:p>
          <a:p>
            <a:pPr lvl="1"/>
            <a:r>
              <a:rPr lang="en-US" dirty="0"/>
              <a:t>When is the change made and who makes it?  </a:t>
            </a:r>
          </a:p>
          <a:p>
            <a:endParaRPr lang="en-US" dirty="0"/>
          </a:p>
          <a:p>
            <a:endParaRPr lang="en-US" dirty="0"/>
          </a:p>
          <a:p>
            <a:endParaRPr lang="en-US"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Date Placeholder 6">
            <a:extLst>
              <a:ext uri="{FF2B5EF4-FFF2-40B4-BE49-F238E27FC236}">
                <a16:creationId xmlns:a16="http://schemas.microsoft.com/office/drawing/2014/main" id="{15F81896-C336-487B-B6A9-6AD145E3EC92}"/>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BF93CE86-77C9-4F15-BD52-EFF7E6F5F06E}"/>
              </a:ext>
            </a:extLst>
          </p:cNvPr>
          <p:cNvSpPr>
            <a:spLocks noGrp="1"/>
          </p:cNvSpPr>
          <p:nvPr>
            <p:ph type="sldNum" sz="quarter" idx="14"/>
          </p:nvPr>
        </p:nvSpPr>
        <p:spPr/>
        <p:txBody>
          <a:bodyPr/>
          <a:lstStyle/>
          <a:p>
            <a:fld id="{BC8D7E44-7D4F-4942-A8C9-2DF6BF8399E8}" type="slidenum">
              <a:rPr lang="en-US" smtClean="0"/>
              <a:pPr/>
              <a:t>129</a:t>
            </a:fld>
            <a:endParaRPr lang="en-US" dirty="0"/>
          </a:p>
        </p:txBody>
      </p:sp>
      <p:sp>
        <p:nvSpPr>
          <p:cNvPr id="9" name="Title 1">
            <a:extLst>
              <a:ext uri="{FF2B5EF4-FFF2-40B4-BE49-F238E27FC236}">
                <a16:creationId xmlns:a16="http://schemas.microsoft.com/office/drawing/2014/main" id="{AAD75EFD-6F4D-D6DD-76AA-E915D13C76CD}"/>
              </a:ext>
            </a:extLst>
          </p:cNvPr>
          <p:cNvSpPr>
            <a:spLocks noGrp="1"/>
          </p:cNvSpPr>
          <p:nvPr>
            <p:ph sz="quarter" idx="10"/>
          </p:nvPr>
        </p:nvSpPr>
        <p:spPr>
          <a:xfrm>
            <a:off x="304800" y="152400"/>
            <a:ext cx="6324600" cy="1143000"/>
          </a:xfrm>
        </p:spPr>
        <p:txBody>
          <a:bodyPr/>
          <a:lstStyle/>
          <a:p>
            <a:r>
              <a:rPr lang="en-US" dirty="0"/>
              <a:t>What is Modifiability?</a:t>
            </a:r>
          </a:p>
        </p:txBody>
      </p:sp>
    </p:spTree>
    <p:extLst>
      <p:ext uri="{BB962C8B-B14F-4D97-AF65-F5344CB8AC3E}">
        <p14:creationId xmlns:p14="http://schemas.microsoft.com/office/powerpoint/2010/main" val="980203975"/>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FD3F4BA6-D6AB-47C1-BAA5-ADE66C80934F}"/>
              </a:ext>
            </a:extLst>
          </p:cNvPr>
          <p:cNvSpPr>
            <a:spLocks noGrp="1"/>
          </p:cNvSpPr>
          <p:nvPr>
            <p:ph idx="1"/>
          </p:nvPr>
        </p:nvSpPr>
        <p:spPr/>
        <p:txBody>
          <a:bodyPr/>
          <a:lstStyle/>
          <a:p>
            <a:endParaRPr lang="en-IN"/>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graphicFrame>
        <p:nvGraphicFramePr>
          <p:cNvPr id="3" name="Table 2"/>
          <p:cNvGraphicFramePr>
            <a:graphicFrameLocks noGrp="1"/>
          </p:cNvGraphicFramePr>
          <p:nvPr/>
        </p:nvGraphicFramePr>
        <p:xfrm>
          <a:off x="539552" y="1428410"/>
          <a:ext cx="8064896" cy="5213028"/>
        </p:xfrm>
        <a:graphic>
          <a:graphicData uri="http://schemas.openxmlformats.org/drawingml/2006/table">
            <a:tbl>
              <a:tblPr>
                <a:tableStyleId>{5C22544A-7EE6-4342-B048-85BDC9FD1C3A}</a:tableStyleId>
              </a:tblPr>
              <a:tblGrid>
                <a:gridCol w="1368152">
                  <a:extLst>
                    <a:ext uri="{9D8B030D-6E8A-4147-A177-3AD203B41FA5}">
                      <a16:colId xmlns:a16="http://schemas.microsoft.com/office/drawing/2014/main" val="20000"/>
                    </a:ext>
                  </a:extLst>
                </a:gridCol>
                <a:gridCol w="6696744">
                  <a:extLst>
                    <a:ext uri="{9D8B030D-6E8A-4147-A177-3AD203B41FA5}">
                      <a16:colId xmlns:a16="http://schemas.microsoft.com/office/drawing/2014/main" val="20001"/>
                    </a:ext>
                  </a:extLst>
                </a:gridCol>
              </a:tblGrid>
              <a:tr h="504056">
                <a:tc>
                  <a:txBody>
                    <a:bodyPr/>
                    <a:lstStyle/>
                    <a:p>
                      <a:pPr marL="0" marR="0">
                        <a:lnSpc>
                          <a:spcPct val="90000"/>
                        </a:lnSpc>
                        <a:spcBef>
                          <a:spcPts val="400"/>
                        </a:spcBef>
                        <a:spcAft>
                          <a:spcPts val="400"/>
                        </a:spcAft>
                      </a:pPr>
                      <a:r>
                        <a:rPr lang="en-US" sz="1800" b="1" dirty="0">
                          <a:effectLst/>
                        </a:rPr>
                        <a:t>Portion of </a:t>
                      </a:r>
                      <a:br>
                        <a:rPr lang="en-US" sz="1800" b="1" dirty="0">
                          <a:effectLst/>
                        </a:rPr>
                      </a:br>
                      <a:r>
                        <a:rPr lang="en-US" sz="1800" b="1" dirty="0">
                          <a:effectLst/>
                        </a:rPr>
                        <a:t>Scenario</a:t>
                      </a:r>
                      <a:endParaRPr lang="en-US" sz="1800" b="1" dirty="0">
                        <a:effectLst/>
                        <a:latin typeface="Times"/>
                        <a:ea typeface="Times New Roman"/>
                        <a:cs typeface="Times New Roman"/>
                      </a:endParaRPr>
                    </a:p>
                  </a:txBody>
                  <a:tcPr marL="68580" marR="68580" marT="0" marB="0"/>
                </a:tc>
                <a:tc>
                  <a:txBody>
                    <a:bodyPr/>
                    <a:lstStyle/>
                    <a:p>
                      <a:pPr marL="0" marR="0">
                        <a:lnSpc>
                          <a:spcPct val="90000"/>
                        </a:lnSpc>
                        <a:spcBef>
                          <a:spcPts val="400"/>
                        </a:spcBef>
                        <a:spcAft>
                          <a:spcPts val="400"/>
                        </a:spcAft>
                      </a:pPr>
                      <a:r>
                        <a:rPr lang="en-US" sz="1800" b="1" dirty="0">
                          <a:effectLst/>
                        </a:rPr>
                        <a:t>Possible Values</a:t>
                      </a:r>
                      <a:endParaRPr lang="en-US" sz="1800" b="1" dirty="0">
                        <a:effectLst/>
                        <a:latin typeface="Times"/>
                        <a:ea typeface="Times New Roman"/>
                        <a:cs typeface="Times New Roman"/>
                      </a:endParaRPr>
                    </a:p>
                  </a:txBody>
                  <a:tcPr marL="68580" marR="68580" marT="0" marB="0"/>
                </a:tc>
                <a:extLst>
                  <a:ext uri="{0D108BD9-81ED-4DB2-BD59-A6C34878D82A}">
                    <a16:rowId xmlns:a16="http://schemas.microsoft.com/office/drawing/2014/main" val="10000"/>
                  </a:ext>
                </a:extLst>
              </a:tr>
              <a:tr h="202690">
                <a:tc>
                  <a:txBody>
                    <a:bodyPr/>
                    <a:lstStyle/>
                    <a:p>
                      <a:pPr marL="0" marR="0">
                        <a:lnSpc>
                          <a:spcPct val="90000"/>
                        </a:lnSpc>
                        <a:spcBef>
                          <a:spcPts val="400"/>
                        </a:spcBef>
                        <a:spcAft>
                          <a:spcPts val="400"/>
                        </a:spcAft>
                      </a:pPr>
                      <a:r>
                        <a:rPr lang="en-US" sz="1800" dirty="0">
                          <a:effectLst/>
                        </a:rPr>
                        <a:t>Source</a:t>
                      </a:r>
                      <a:endParaRPr lang="en-US" sz="1800" dirty="0">
                        <a:effectLst/>
                        <a:latin typeface="Times"/>
                        <a:ea typeface="Times New Roman"/>
                        <a:cs typeface="Times New Roman"/>
                      </a:endParaRPr>
                    </a:p>
                  </a:txBody>
                  <a:tcPr marL="68580" marR="68580" marT="0" marB="0"/>
                </a:tc>
                <a:tc>
                  <a:txBody>
                    <a:bodyPr/>
                    <a:lstStyle/>
                    <a:p>
                      <a:pPr marL="0" marR="0">
                        <a:lnSpc>
                          <a:spcPct val="100000"/>
                        </a:lnSpc>
                        <a:spcBef>
                          <a:spcPts val="400"/>
                        </a:spcBef>
                        <a:spcAft>
                          <a:spcPts val="400"/>
                        </a:spcAft>
                      </a:pPr>
                      <a:r>
                        <a:rPr lang="en-US" sz="1800" dirty="0">
                          <a:effectLst/>
                        </a:rPr>
                        <a:t>End user, developer, system administrator</a:t>
                      </a:r>
                      <a:endParaRPr lang="en-US" sz="1800" dirty="0">
                        <a:effectLst/>
                        <a:latin typeface="Times"/>
                        <a:ea typeface="Times New Roman"/>
                        <a:cs typeface="Times New Roman"/>
                      </a:endParaRPr>
                    </a:p>
                  </a:txBody>
                  <a:tcPr marL="68580" marR="68580" marT="0" marB="0"/>
                </a:tc>
                <a:extLst>
                  <a:ext uri="{0D108BD9-81ED-4DB2-BD59-A6C34878D82A}">
                    <a16:rowId xmlns:a16="http://schemas.microsoft.com/office/drawing/2014/main" val="10001"/>
                  </a:ext>
                </a:extLst>
              </a:tr>
              <a:tr h="405380">
                <a:tc>
                  <a:txBody>
                    <a:bodyPr/>
                    <a:lstStyle/>
                    <a:p>
                      <a:pPr marL="0" marR="0">
                        <a:lnSpc>
                          <a:spcPct val="90000"/>
                        </a:lnSpc>
                        <a:spcBef>
                          <a:spcPts val="400"/>
                        </a:spcBef>
                        <a:spcAft>
                          <a:spcPts val="400"/>
                        </a:spcAft>
                      </a:pPr>
                      <a:r>
                        <a:rPr lang="en-US" sz="1800" dirty="0">
                          <a:effectLst/>
                        </a:rPr>
                        <a:t>Stimulus</a:t>
                      </a:r>
                      <a:endParaRPr lang="en-US" sz="1800" dirty="0">
                        <a:effectLst/>
                        <a:latin typeface="Times"/>
                        <a:ea typeface="Times New Roman"/>
                        <a:cs typeface="Times New Roman"/>
                      </a:endParaRPr>
                    </a:p>
                  </a:txBody>
                  <a:tcPr marL="68580" marR="68580" marT="0" marB="0"/>
                </a:tc>
                <a:tc>
                  <a:txBody>
                    <a:bodyPr/>
                    <a:lstStyle/>
                    <a:p>
                      <a:pPr marL="0" marR="0">
                        <a:lnSpc>
                          <a:spcPct val="100000"/>
                        </a:lnSpc>
                        <a:spcBef>
                          <a:spcPts val="400"/>
                        </a:spcBef>
                        <a:spcAft>
                          <a:spcPts val="400"/>
                        </a:spcAft>
                      </a:pPr>
                      <a:r>
                        <a:rPr lang="en-US" sz="1800" dirty="0">
                          <a:effectLst/>
                        </a:rPr>
                        <a:t>A directive to add/delete/modify functionality, or change a quality attribute, capacity, or technology</a:t>
                      </a:r>
                      <a:endParaRPr lang="en-US" sz="1800" dirty="0">
                        <a:effectLst/>
                        <a:latin typeface="Times"/>
                        <a:ea typeface="Times New Roman"/>
                        <a:cs typeface="Times New Roman"/>
                      </a:endParaRPr>
                    </a:p>
                  </a:txBody>
                  <a:tcPr marL="68580" marR="68580" marT="0" marB="0"/>
                </a:tc>
                <a:extLst>
                  <a:ext uri="{0D108BD9-81ED-4DB2-BD59-A6C34878D82A}">
                    <a16:rowId xmlns:a16="http://schemas.microsoft.com/office/drawing/2014/main" val="10002"/>
                  </a:ext>
                </a:extLst>
              </a:tr>
              <a:tr h="283766">
                <a:tc>
                  <a:txBody>
                    <a:bodyPr/>
                    <a:lstStyle/>
                    <a:p>
                      <a:pPr marL="0" marR="0">
                        <a:lnSpc>
                          <a:spcPct val="90000"/>
                        </a:lnSpc>
                        <a:spcBef>
                          <a:spcPts val="400"/>
                        </a:spcBef>
                        <a:spcAft>
                          <a:spcPts val="400"/>
                        </a:spcAft>
                      </a:pPr>
                      <a:r>
                        <a:rPr lang="en-US" sz="1800">
                          <a:effectLst/>
                        </a:rPr>
                        <a:t>Artifacts</a:t>
                      </a:r>
                      <a:endParaRPr lang="en-US" sz="1800">
                        <a:effectLst/>
                        <a:latin typeface="Times"/>
                        <a:ea typeface="Times New Roman"/>
                        <a:cs typeface="Times New Roman"/>
                      </a:endParaRPr>
                    </a:p>
                  </a:txBody>
                  <a:tcPr marL="68580" marR="68580" marT="0" marB="0"/>
                </a:tc>
                <a:tc>
                  <a:txBody>
                    <a:bodyPr/>
                    <a:lstStyle/>
                    <a:p>
                      <a:pPr marL="0" marR="0">
                        <a:lnSpc>
                          <a:spcPct val="100000"/>
                        </a:lnSpc>
                        <a:spcBef>
                          <a:spcPts val="400"/>
                        </a:spcBef>
                        <a:spcAft>
                          <a:spcPts val="400"/>
                        </a:spcAft>
                      </a:pPr>
                      <a:r>
                        <a:rPr lang="en-US" sz="1800" dirty="0">
                          <a:effectLst/>
                        </a:rPr>
                        <a:t>Code, data, interfaces, components, resources, configurations, … </a:t>
                      </a:r>
                      <a:endParaRPr lang="en-US" sz="1800" dirty="0">
                        <a:effectLst/>
                        <a:latin typeface="Times"/>
                        <a:ea typeface="Times New Roman"/>
                        <a:cs typeface="Times New Roman"/>
                      </a:endParaRPr>
                    </a:p>
                  </a:txBody>
                  <a:tcPr marL="68580" marR="68580" marT="0" marB="0"/>
                </a:tc>
                <a:extLst>
                  <a:ext uri="{0D108BD9-81ED-4DB2-BD59-A6C34878D82A}">
                    <a16:rowId xmlns:a16="http://schemas.microsoft.com/office/drawing/2014/main" val="10003"/>
                  </a:ext>
                </a:extLst>
              </a:tr>
              <a:tr h="202690">
                <a:tc>
                  <a:txBody>
                    <a:bodyPr/>
                    <a:lstStyle/>
                    <a:p>
                      <a:pPr marL="0" marR="0">
                        <a:lnSpc>
                          <a:spcPct val="90000"/>
                        </a:lnSpc>
                        <a:spcBef>
                          <a:spcPts val="400"/>
                        </a:spcBef>
                        <a:spcAft>
                          <a:spcPts val="400"/>
                        </a:spcAft>
                      </a:pPr>
                      <a:r>
                        <a:rPr lang="en-US" sz="1800">
                          <a:effectLst/>
                        </a:rPr>
                        <a:t>Environment</a:t>
                      </a:r>
                      <a:endParaRPr lang="en-US" sz="1800">
                        <a:effectLst/>
                        <a:latin typeface="Times"/>
                        <a:ea typeface="Times New Roman"/>
                        <a:cs typeface="Times New Roman"/>
                      </a:endParaRPr>
                    </a:p>
                  </a:txBody>
                  <a:tcPr marL="68580" marR="68580" marT="0" marB="0"/>
                </a:tc>
                <a:tc>
                  <a:txBody>
                    <a:bodyPr/>
                    <a:lstStyle/>
                    <a:p>
                      <a:pPr marL="0" marR="0">
                        <a:lnSpc>
                          <a:spcPct val="100000"/>
                        </a:lnSpc>
                        <a:spcBef>
                          <a:spcPts val="400"/>
                        </a:spcBef>
                        <a:spcAft>
                          <a:spcPts val="400"/>
                        </a:spcAft>
                      </a:pPr>
                      <a:r>
                        <a:rPr lang="en-US" sz="1800" dirty="0">
                          <a:effectLst/>
                        </a:rPr>
                        <a:t>Runtime, compile time, build time, initiation time, design time</a:t>
                      </a:r>
                      <a:endParaRPr lang="en-US" sz="1800" dirty="0">
                        <a:effectLst/>
                        <a:latin typeface="Times"/>
                        <a:ea typeface="Times New Roman"/>
                        <a:cs typeface="Times New Roman"/>
                      </a:endParaRPr>
                    </a:p>
                  </a:txBody>
                  <a:tcPr marL="68580" marR="68580" marT="0" marB="0"/>
                </a:tc>
                <a:extLst>
                  <a:ext uri="{0D108BD9-81ED-4DB2-BD59-A6C34878D82A}">
                    <a16:rowId xmlns:a16="http://schemas.microsoft.com/office/drawing/2014/main" val="10004"/>
                  </a:ext>
                </a:extLst>
              </a:tr>
              <a:tr h="986425">
                <a:tc>
                  <a:txBody>
                    <a:bodyPr/>
                    <a:lstStyle/>
                    <a:p>
                      <a:pPr marL="0" marR="0">
                        <a:lnSpc>
                          <a:spcPct val="90000"/>
                        </a:lnSpc>
                        <a:spcBef>
                          <a:spcPts val="400"/>
                        </a:spcBef>
                        <a:spcAft>
                          <a:spcPts val="400"/>
                        </a:spcAft>
                      </a:pPr>
                      <a:r>
                        <a:rPr lang="en-US" sz="1800">
                          <a:effectLst/>
                        </a:rPr>
                        <a:t>Response</a:t>
                      </a:r>
                      <a:endParaRPr lang="en-US" sz="1800">
                        <a:effectLst/>
                        <a:latin typeface="Times"/>
                        <a:ea typeface="Times New Roman"/>
                        <a:cs typeface="Times New Roman"/>
                      </a:endParaRPr>
                    </a:p>
                  </a:txBody>
                  <a:tcPr marL="68580" marR="68580" marT="0" marB="0"/>
                </a:tc>
                <a:tc>
                  <a:txBody>
                    <a:bodyPr/>
                    <a:lstStyle/>
                    <a:p>
                      <a:pPr marL="0" marR="0">
                        <a:lnSpc>
                          <a:spcPct val="90000"/>
                        </a:lnSpc>
                        <a:spcBef>
                          <a:spcPts val="400"/>
                        </a:spcBef>
                        <a:spcAft>
                          <a:spcPts val="400"/>
                        </a:spcAft>
                      </a:pPr>
                      <a:r>
                        <a:rPr lang="en-US" sz="1800" dirty="0">
                          <a:effectLst/>
                        </a:rPr>
                        <a:t>One or more of the following:</a:t>
                      </a:r>
                    </a:p>
                    <a:p>
                      <a:pPr marL="342900" marR="0" lvl="0" indent="-342900">
                        <a:lnSpc>
                          <a:spcPct val="90000"/>
                        </a:lnSpc>
                        <a:spcBef>
                          <a:spcPts val="100"/>
                        </a:spcBef>
                        <a:spcAft>
                          <a:spcPts val="300"/>
                        </a:spcAft>
                        <a:buSzPts val="800"/>
                        <a:buFont typeface="Symbol"/>
                        <a:buChar char=""/>
                        <a:tabLst>
                          <a:tab pos="228600" algn="l"/>
                          <a:tab pos="274320" algn="l"/>
                        </a:tabLst>
                      </a:pPr>
                      <a:r>
                        <a:rPr lang="en-US" sz="1800" kern="1100" dirty="0">
                          <a:effectLst/>
                        </a:rPr>
                        <a:t>make modification </a:t>
                      </a:r>
                    </a:p>
                    <a:p>
                      <a:pPr marL="342900" marR="0" lvl="0" indent="-342900">
                        <a:lnSpc>
                          <a:spcPct val="90000"/>
                        </a:lnSpc>
                        <a:spcBef>
                          <a:spcPts val="100"/>
                        </a:spcBef>
                        <a:spcAft>
                          <a:spcPts val="300"/>
                        </a:spcAft>
                        <a:buSzPts val="800"/>
                        <a:buFont typeface="Symbol"/>
                        <a:buChar char=""/>
                        <a:tabLst>
                          <a:tab pos="228600" algn="l"/>
                          <a:tab pos="274320" algn="l"/>
                        </a:tabLst>
                      </a:pPr>
                      <a:r>
                        <a:rPr lang="en-US" sz="1800" kern="1100" dirty="0">
                          <a:effectLst/>
                        </a:rPr>
                        <a:t>test modification</a:t>
                      </a:r>
                    </a:p>
                    <a:p>
                      <a:pPr marL="342900" marR="0" lvl="0" indent="-342900">
                        <a:lnSpc>
                          <a:spcPct val="90000"/>
                        </a:lnSpc>
                        <a:spcBef>
                          <a:spcPts val="100"/>
                        </a:spcBef>
                        <a:spcAft>
                          <a:spcPts val="300"/>
                        </a:spcAft>
                        <a:buSzPts val="800"/>
                        <a:buFont typeface="Symbol"/>
                        <a:buChar char=""/>
                        <a:tabLst>
                          <a:tab pos="228600" algn="l"/>
                          <a:tab pos="274320" algn="l"/>
                        </a:tabLst>
                      </a:pPr>
                      <a:r>
                        <a:rPr lang="en-US" sz="1800" kern="1100" dirty="0">
                          <a:effectLst/>
                        </a:rPr>
                        <a:t>deploy modification</a:t>
                      </a:r>
                      <a:endParaRPr lang="en-US" sz="1800" kern="1100" dirty="0">
                        <a:effectLst/>
                        <a:latin typeface="Times New Roman"/>
                        <a:ea typeface="Times New Roman"/>
                      </a:endParaRPr>
                    </a:p>
                  </a:txBody>
                  <a:tcPr marL="68580" marR="68580" marT="0" marB="0"/>
                </a:tc>
                <a:extLst>
                  <a:ext uri="{0D108BD9-81ED-4DB2-BD59-A6C34878D82A}">
                    <a16:rowId xmlns:a16="http://schemas.microsoft.com/office/drawing/2014/main" val="10005"/>
                  </a:ext>
                </a:extLst>
              </a:tr>
              <a:tr h="2175274">
                <a:tc>
                  <a:txBody>
                    <a:bodyPr/>
                    <a:lstStyle/>
                    <a:p>
                      <a:pPr marL="0" marR="0">
                        <a:lnSpc>
                          <a:spcPct val="90000"/>
                        </a:lnSpc>
                        <a:spcBef>
                          <a:spcPts val="400"/>
                        </a:spcBef>
                        <a:spcAft>
                          <a:spcPts val="400"/>
                        </a:spcAft>
                      </a:pPr>
                      <a:r>
                        <a:rPr lang="en-US" sz="1800">
                          <a:effectLst/>
                        </a:rPr>
                        <a:t>Response </a:t>
                      </a:r>
                      <a:br>
                        <a:rPr lang="en-US" sz="1800">
                          <a:effectLst/>
                        </a:rPr>
                      </a:br>
                      <a:r>
                        <a:rPr lang="en-US" sz="1800">
                          <a:effectLst/>
                        </a:rPr>
                        <a:t>Measure</a:t>
                      </a:r>
                    </a:p>
                    <a:p>
                      <a:pPr marL="0" marR="0">
                        <a:lnSpc>
                          <a:spcPct val="90000"/>
                        </a:lnSpc>
                        <a:spcBef>
                          <a:spcPts val="400"/>
                        </a:spcBef>
                        <a:spcAft>
                          <a:spcPts val="400"/>
                        </a:spcAft>
                      </a:pPr>
                      <a:r>
                        <a:rPr lang="en-US" sz="1800">
                          <a:effectLst/>
                        </a:rPr>
                        <a:t> </a:t>
                      </a:r>
                      <a:endParaRPr lang="en-US" sz="1800">
                        <a:effectLst/>
                        <a:latin typeface="Times"/>
                        <a:ea typeface="Times New Roman"/>
                        <a:cs typeface="Times New Roman"/>
                      </a:endParaRPr>
                    </a:p>
                  </a:txBody>
                  <a:tcPr marL="68580" marR="68580" marT="0" marB="0"/>
                </a:tc>
                <a:tc>
                  <a:txBody>
                    <a:bodyPr/>
                    <a:lstStyle/>
                    <a:p>
                      <a:pPr marL="0" marR="0">
                        <a:lnSpc>
                          <a:spcPct val="90000"/>
                        </a:lnSpc>
                        <a:spcBef>
                          <a:spcPts val="400"/>
                        </a:spcBef>
                        <a:spcAft>
                          <a:spcPts val="400"/>
                        </a:spcAft>
                      </a:pPr>
                      <a:r>
                        <a:rPr lang="en-US" sz="1800" dirty="0">
                          <a:effectLst/>
                        </a:rPr>
                        <a:t>Cost in terms of:</a:t>
                      </a:r>
                    </a:p>
                    <a:p>
                      <a:pPr marL="342900" marR="0" lvl="0" indent="-342900">
                        <a:lnSpc>
                          <a:spcPct val="90000"/>
                        </a:lnSpc>
                        <a:spcBef>
                          <a:spcPts val="100"/>
                        </a:spcBef>
                        <a:spcAft>
                          <a:spcPts val="0"/>
                        </a:spcAft>
                        <a:buSzPts val="800"/>
                        <a:buFont typeface="Symbol"/>
                        <a:buChar char=""/>
                        <a:tabLst>
                          <a:tab pos="228600" algn="l"/>
                          <a:tab pos="274320" algn="l"/>
                        </a:tabLst>
                      </a:pPr>
                      <a:r>
                        <a:rPr lang="en-US" sz="1800" kern="1100" dirty="0">
                          <a:effectLst/>
                        </a:rPr>
                        <a:t>number, size, complexity of affected artifacts</a:t>
                      </a:r>
                    </a:p>
                    <a:p>
                      <a:pPr marL="342900" marR="0" lvl="0" indent="-342900">
                        <a:lnSpc>
                          <a:spcPct val="90000"/>
                        </a:lnSpc>
                        <a:spcBef>
                          <a:spcPts val="100"/>
                        </a:spcBef>
                        <a:spcAft>
                          <a:spcPts val="0"/>
                        </a:spcAft>
                        <a:buSzPts val="800"/>
                        <a:buFont typeface="Symbol"/>
                        <a:buChar char=""/>
                        <a:tabLst>
                          <a:tab pos="228600" algn="l"/>
                          <a:tab pos="274320" algn="l"/>
                        </a:tabLst>
                      </a:pPr>
                      <a:r>
                        <a:rPr lang="en-US" sz="1800" kern="1100" dirty="0">
                          <a:effectLst/>
                        </a:rPr>
                        <a:t>effort</a:t>
                      </a:r>
                    </a:p>
                    <a:p>
                      <a:pPr marL="342900" marR="0" lvl="0" indent="-342900">
                        <a:lnSpc>
                          <a:spcPct val="90000"/>
                        </a:lnSpc>
                        <a:spcBef>
                          <a:spcPts val="100"/>
                        </a:spcBef>
                        <a:spcAft>
                          <a:spcPts val="0"/>
                        </a:spcAft>
                        <a:buSzPts val="800"/>
                        <a:buFont typeface="Symbol"/>
                        <a:buChar char=""/>
                        <a:tabLst>
                          <a:tab pos="228600" algn="l"/>
                          <a:tab pos="274320" algn="l"/>
                        </a:tabLst>
                      </a:pPr>
                      <a:r>
                        <a:rPr lang="en-US" sz="1800" kern="1100" dirty="0">
                          <a:effectLst/>
                        </a:rPr>
                        <a:t>calendar time</a:t>
                      </a:r>
                    </a:p>
                    <a:p>
                      <a:pPr marL="342900" marR="0" lvl="0" indent="-342900">
                        <a:lnSpc>
                          <a:spcPct val="90000"/>
                        </a:lnSpc>
                        <a:spcBef>
                          <a:spcPts val="100"/>
                        </a:spcBef>
                        <a:spcAft>
                          <a:spcPts val="0"/>
                        </a:spcAft>
                        <a:buSzPts val="800"/>
                        <a:buFont typeface="Symbol"/>
                        <a:buChar char=""/>
                        <a:tabLst>
                          <a:tab pos="228600" algn="l"/>
                          <a:tab pos="274320" algn="l"/>
                        </a:tabLst>
                      </a:pPr>
                      <a:r>
                        <a:rPr lang="en-US" sz="1800" kern="1100" dirty="0">
                          <a:effectLst/>
                        </a:rPr>
                        <a:t>money (direct outlay or opportunity cost)</a:t>
                      </a:r>
                    </a:p>
                    <a:p>
                      <a:pPr marL="342900" marR="0" lvl="0" indent="-342900">
                        <a:lnSpc>
                          <a:spcPct val="90000"/>
                        </a:lnSpc>
                        <a:spcBef>
                          <a:spcPts val="100"/>
                        </a:spcBef>
                        <a:spcAft>
                          <a:spcPts val="0"/>
                        </a:spcAft>
                        <a:buSzPts val="800"/>
                        <a:buFont typeface="Symbol"/>
                        <a:buChar char=""/>
                        <a:tabLst>
                          <a:tab pos="228600" algn="l"/>
                          <a:tab pos="274320" algn="l"/>
                        </a:tabLst>
                      </a:pPr>
                      <a:r>
                        <a:rPr lang="en-US" sz="1800" kern="1100" dirty="0">
                          <a:effectLst/>
                        </a:rPr>
                        <a:t>extent to which this modification affects other functions or quality attributes</a:t>
                      </a:r>
                    </a:p>
                    <a:p>
                      <a:pPr marL="342900" marR="0" lvl="0" indent="-342900">
                        <a:lnSpc>
                          <a:spcPct val="90000"/>
                        </a:lnSpc>
                        <a:spcBef>
                          <a:spcPts val="100"/>
                        </a:spcBef>
                        <a:spcAft>
                          <a:spcPts val="0"/>
                        </a:spcAft>
                        <a:buSzPts val="800"/>
                        <a:buFont typeface="Symbol"/>
                        <a:buChar char=""/>
                        <a:tabLst>
                          <a:tab pos="228600" algn="l"/>
                          <a:tab pos="274320" algn="l"/>
                        </a:tabLst>
                      </a:pPr>
                      <a:r>
                        <a:rPr lang="en-US" sz="1800" kern="1100" dirty="0">
                          <a:effectLst/>
                        </a:rPr>
                        <a:t>new defects introduced</a:t>
                      </a:r>
                      <a:endParaRPr lang="en-US" sz="1800" kern="1100" dirty="0">
                        <a:effectLst/>
                        <a:latin typeface="Times New Roman"/>
                        <a:ea typeface="Times New Roman"/>
                      </a:endParaRPr>
                    </a:p>
                  </a:txBody>
                  <a:tcPr marL="68580" marR="68580" marT="0" marB="0"/>
                </a:tc>
                <a:extLst>
                  <a:ext uri="{0D108BD9-81ED-4DB2-BD59-A6C34878D82A}">
                    <a16:rowId xmlns:a16="http://schemas.microsoft.com/office/drawing/2014/main" val="10006"/>
                  </a:ext>
                </a:extLst>
              </a:tr>
            </a:tbl>
          </a:graphicData>
        </a:graphic>
      </p:graphicFrame>
      <p:sp>
        <p:nvSpPr>
          <p:cNvPr id="8" name="Date Placeholder 7">
            <a:extLst>
              <a:ext uri="{FF2B5EF4-FFF2-40B4-BE49-F238E27FC236}">
                <a16:creationId xmlns:a16="http://schemas.microsoft.com/office/drawing/2014/main" id="{2C0F0B3D-2E9B-414B-AD5C-7B75C4CAB8F0}"/>
              </a:ext>
            </a:extLst>
          </p:cNvPr>
          <p:cNvSpPr>
            <a:spLocks noGrp="1"/>
          </p:cNvSpPr>
          <p:nvPr>
            <p:ph type="dt" sz="half" idx="12"/>
          </p:nvPr>
        </p:nvSpPr>
        <p:spPr/>
        <p:txBody>
          <a:bodyPr/>
          <a:lstStyle/>
          <a:p>
            <a:r>
              <a:rPr lang="en-US"/>
              <a:t>Auguts 1, 2026</a:t>
            </a:r>
          </a:p>
        </p:txBody>
      </p:sp>
      <p:sp>
        <p:nvSpPr>
          <p:cNvPr id="9" name="Slide Number Placeholder 8">
            <a:extLst>
              <a:ext uri="{FF2B5EF4-FFF2-40B4-BE49-F238E27FC236}">
                <a16:creationId xmlns:a16="http://schemas.microsoft.com/office/drawing/2014/main" id="{8EFD5BF0-209F-45B8-B163-1D7DD67FCA2E}"/>
              </a:ext>
            </a:extLst>
          </p:cNvPr>
          <p:cNvSpPr>
            <a:spLocks noGrp="1"/>
          </p:cNvSpPr>
          <p:nvPr>
            <p:ph type="sldNum" sz="quarter" idx="14"/>
          </p:nvPr>
        </p:nvSpPr>
        <p:spPr/>
        <p:txBody>
          <a:bodyPr/>
          <a:lstStyle/>
          <a:p>
            <a:fld id="{BC8D7E44-7D4F-4942-A8C9-2DF6BF8399E8}" type="slidenum">
              <a:rPr lang="en-US" smtClean="0"/>
              <a:pPr/>
              <a:t>130</a:t>
            </a:fld>
            <a:endParaRPr lang="en-US" dirty="0"/>
          </a:p>
        </p:txBody>
      </p:sp>
      <p:sp>
        <p:nvSpPr>
          <p:cNvPr id="10" name="Title 1">
            <a:extLst>
              <a:ext uri="{FF2B5EF4-FFF2-40B4-BE49-F238E27FC236}">
                <a16:creationId xmlns:a16="http://schemas.microsoft.com/office/drawing/2014/main" id="{5C2578ED-C126-1713-387D-14B22E0C2A30}"/>
              </a:ext>
            </a:extLst>
          </p:cNvPr>
          <p:cNvSpPr>
            <a:spLocks noGrp="1"/>
          </p:cNvSpPr>
          <p:nvPr>
            <p:ph sz="quarter" idx="10"/>
          </p:nvPr>
        </p:nvSpPr>
        <p:spPr>
          <a:xfrm>
            <a:off x="304800" y="152400"/>
            <a:ext cx="6324600" cy="1143000"/>
          </a:xfrm>
        </p:spPr>
        <p:txBody>
          <a:bodyPr/>
          <a:lstStyle/>
          <a:p>
            <a:r>
              <a:rPr lang="en-US" dirty="0"/>
              <a:t>Modifiability General Scenario</a:t>
            </a:r>
          </a:p>
        </p:txBody>
      </p:sp>
    </p:spTree>
    <p:extLst>
      <p:ext uri="{BB962C8B-B14F-4D97-AF65-F5344CB8AC3E}">
        <p14:creationId xmlns:p14="http://schemas.microsoft.com/office/powerpoint/2010/main" val="2780988342"/>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The developer wishes to change the user interface by modifying the code at design time. The modifications are made with no side effects within three hours.</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Date Placeholder 6">
            <a:extLst>
              <a:ext uri="{FF2B5EF4-FFF2-40B4-BE49-F238E27FC236}">
                <a16:creationId xmlns:a16="http://schemas.microsoft.com/office/drawing/2014/main" id="{89B28B89-FF90-47E2-893E-F17B246ABFA2}"/>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039EEAD1-84B7-40C8-B483-9536086E2AF4}"/>
              </a:ext>
            </a:extLst>
          </p:cNvPr>
          <p:cNvSpPr>
            <a:spLocks noGrp="1"/>
          </p:cNvSpPr>
          <p:nvPr>
            <p:ph type="sldNum" sz="quarter" idx="14"/>
          </p:nvPr>
        </p:nvSpPr>
        <p:spPr/>
        <p:txBody>
          <a:bodyPr/>
          <a:lstStyle/>
          <a:p>
            <a:fld id="{BC8D7E44-7D4F-4942-A8C9-2DF6BF8399E8}" type="slidenum">
              <a:rPr lang="en-US" smtClean="0"/>
              <a:pPr/>
              <a:t>131</a:t>
            </a:fld>
            <a:endParaRPr lang="en-US" dirty="0"/>
          </a:p>
        </p:txBody>
      </p:sp>
      <p:sp>
        <p:nvSpPr>
          <p:cNvPr id="9" name="Title 1">
            <a:extLst>
              <a:ext uri="{FF2B5EF4-FFF2-40B4-BE49-F238E27FC236}">
                <a16:creationId xmlns:a16="http://schemas.microsoft.com/office/drawing/2014/main" id="{10840829-4B9F-97B1-E606-9EB9EBFEDF8B}"/>
              </a:ext>
            </a:extLst>
          </p:cNvPr>
          <p:cNvSpPr>
            <a:spLocks noGrp="1"/>
          </p:cNvSpPr>
          <p:nvPr>
            <p:ph sz="quarter" idx="10"/>
          </p:nvPr>
        </p:nvSpPr>
        <p:spPr>
          <a:xfrm>
            <a:off x="304800" y="152400"/>
            <a:ext cx="6324600" cy="1143000"/>
          </a:xfrm>
        </p:spPr>
        <p:txBody>
          <a:bodyPr>
            <a:normAutofit fontScale="97500"/>
          </a:bodyPr>
          <a:lstStyle/>
          <a:p>
            <a:r>
              <a:rPr lang="en-US" dirty="0"/>
              <a:t>Sample Concrete Modifiability Scenario</a:t>
            </a:r>
          </a:p>
        </p:txBody>
      </p:sp>
    </p:spTree>
    <p:extLst>
      <p:ext uri="{BB962C8B-B14F-4D97-AF65-F5344CB8AC3E}">
        <p14:creationId xmlns:p14="http://schemas.microsoft.com/office/powerpoint/2010/main" val="2077795163"/>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Tactics to control modifiability have as their goal controlling the complexity of making changes, as well as the time and cost to make changes.</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Date Placeholder 6">
            <a:extLst>
              <a:ext uri="{FF2B5EF4-FFF2-40B4-BE49-F238E27FC236}">
                <a16:creationId xmlns:a16="http://schemas.microsoft.com/office/drawing/2014/main" id="{5E7AE882-2EA5-4137-94C3-61ECD36E4AA1}"/>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CF5DF120-28A3-40C6-8640-4D3B81D1A932}"/>
              </a:ext>
            </a:extLst>
          </p:cNvPr>
          <p:cNvSpPr>
            <a:spLocks noGrp="1"/>
          </p:cNvSpPr>
          <p:nvPr>
            <p:ph type="sldNum" sz="quarter" idx="14"/>
          </p:nvPr>
        </p:nvSpPr>
        <p:spPr/>
        <p:txBody>
          <a:bodyPr/>
          <a:lstStyle/>
          <a:p>
            <a:fld id="{BC8D7E44-7D4F-4942-A8C9-2DF6BF8399E8}" type="slidenum">
              <a:rPr lang="en-US" smtClean="0"/>
              <a:pPr/>
              <a:t>132</a:t>
            </a:fld>
            <a:endParaRPr lang="en-US" dirty="0"/>
          </a:p>
        </p:txBody>
      </p:sp>
      <p:sp>
        <p:nvSpPr>
          <p:cNvPr id="9" name="Title 1">
            <a:extLst>
              <a:ext uri="{FF2B5EF4-FFF2-40B4-BE49-F238E27FC236}">
                <a16:creationId xmlns:a16="http://schemas.microsoft.com/office/drawing/2014/main" id="{7C188690-92D2-61FC-C953-117EBE3C8211}"/>
              </a:ext>
            </a:extLst>
          </p:cNvPr>
          <p:cNvSpPr>
            <a:spLocks noGrp="1"/>
          </p:cNvSpPr>
          <p:nvPr>
            <p:ph sz="quarter" idx="10"/>
          </p:nvPr>
        </p:nvSpPr>
        <p:spPr>
          <a:xfrm>
            <a:off x="304800" y="152400"/>
            <a:ext cx="6324600" cy="1143000"/>
          </a:xfrm>
        </p:spPr>
        <p:txBody>
          <a:bodyPr/>
          <a:lstStyle/>
          <a:p>
            <a:r>
              <a:rPr lang="en-US" dirty="0"/>
              <a:t>Goal of Modifiability Tactics</a:t>
            </a:r>
          </a:p>
        </p:txBody>
      </p:sp>
    </p:spTree>
    <p:extLst>
      <p:ext uri="{BB962C8B-B14F-4D97-AF65-F5344CB8AC3E}">
        <p14:creationId xmlns:p14="http://schemas.microsoft.com/office/powerpoint/2010/main" val="3135093724"/>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EE73AB9-6E00-4E53-A22B-F7976213D51C}"/>
              </a:ext>
            </a:extLst>
          </p:cNvPr>
          <p:cNvSpPr>
            <a:spLocks noGrp="1"/>
          </p:cNvSpPr>
          <p:nvPr>
            <p:ph idx="1"/>
          </p:nvPr>
        </p:nvSpPr>
        <p:spPr/>
        <p:txBody>
          <a:bodyPr/>
          <a:lstStyle/>
          <a:p>
            <a:endParaRPr lang="en-IN"/>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pic>
        <p:nvPicPr>
          <p:cNvPr id="6" name="Picture 5"/>
          <p:cNvPicPr/>
          <p:nvPr/>
        </p:nvPicPr>
        <p:blipFill>
          <a:blip r:embed="rId2" cstate="print"/>
          <a:srcRect/>
          <a:stretch>
            <a:fillRect/>
          </a:stretch>
        </p:blipFill>
        <p:spPr bwMode="auto">
          <a:xfrm>
            <a:off x="899592" y="2060848"/>
            <a:ext cx="7200800" cy="2448272"/>
          </a:xfrm>
          <a:prstGeom prst="rect">
            <a:avLst/>
          </a:prstGeom>
          <a:noFill/>
          <a:ln w="9525">
            <a:noFill/>
            <a:miter lim="800000"/>
            <a:headEnd/>
            <a:tailEnd/>
          </a:ln>
        </p:spPr>
      </p:pic>
      <p:sp>
        <p:nvSpPr>
          <p:cNvPr id="8" name="Date Placeholder 7">
            <a:extLst>
              <a:ext uri="{FF2B5EF4-FFF2-40B4-BE49-F238E27FC236}">
                <a16:creationId xmlns:a16="http://schemas.microsoft.com/office/drawing/2014/main" id="{D864A047-4B08-4B76-81C7-A5B2D1046213}"/>
              </a:ext>
            </a:extLst>
          </p:cNvPr>
          <p:cNvSpPr>
            <a:spLocks noGrp="1"/>
          </p:cNvSpPr>
          <p:nvPr>
            <p:ph type="dt" sz="half" idx="12"/>
          </p:nvPr>
        </p:nvSpPr>
        <p:spPr/>
        <p:txBody>
          <a:bodyPr/>
          <a:lstStyle/>
          <a:p>
            <a:r>
              <a:rPr lang="en-US"/>
              <a:t>Auguts 1, 2026</a:t>
            </a:r>
          </a:p>
        </p:txBody>
      </p:sp>
      <p:sp>
        <p:nvSpPr>
          <p:cNvPr id="9" name="Slide Number Placeholder 8">
            <a:extLst>
              <a:ext uri="{FF2B5EF4-FFF2-40B4-BE49-F238E27FC236}">
                <a16:creationId xmlns:a16="http://schemas.microsoft.com/office/drawing/2014/main" id="{A0CA2960-D2F8-4A83-9148-458C84669568}"/>
              </a:ext>
            </a:extLst>
          </p:cNvPr>
          <p:cNvSpPr>
            <a:spLocks noGrp="1"/>
          </p:cNvSpPr>
          <p:nvPr>
            <p:ph type="sldNum" sz="quarter" idx="14"/>
          </p:nvPr>
        </p:nvSpPr>
        <p:spPr/>
        <p:txBody>
          <a:bodyPr/>
          <a:lstStyle/>
          <a:p>
            <a:fld id="{BC8D7E44-7D4F-4942-A8C9-2DF6BF8399E8}" type="slidenum">
              <a:rPr lang="en-US" smtClean="0"/>
              <a:pPr/>
              <a:t>133</a:t>
            </a:fld>
            <a:endParaRPr lang="en-US" dirty="0"/>
          </a:p>
        </p:txBody>
      </p:sp>
      <p:sp>
        <p:nvSpPr>
          <p:cNvPr id="10" name="Title 1">
            <a:extLst>
              <a:ext uri="{FF2B5EF4-FFF2-40B4-BE49-F238E27FC236}">
                <a16:creationId xmlns:a16="http://schemas.microsoft.com/office/drawing/2014/main" id="{B9017ACF-DFF0-D154-0D01-D16F8A22A894}"/>
              </a:ext>
            </a:extLst>
          </p:cNvPr>
          <p:cNvSpPr>
            <a:spLocks noGrp="1"/>
          </p:cNvSpPr>
          <p:nvPr>
            <p:ph sz="quarter" idx="10"/>
          </p:nvPr>
        </p:nvSpPr>
        <p:spPr>
          <a:xfrm>
            <a:off x="304800" y="152400"/>
            <a:ext cx="6324600" cy="1143000"/>
          </a:xfrm>
        </p:spPr>
        <p:txBody>
          <a:bodyPr/>
          <a:lstStyle/>
          <a:p>
            <a:r>
              <a:rPr lang="en-US" dirty="0"/>
              <a:t>Goal of Modifiability Tactics</a:t>
            </a:r>
          </a:p>
        </p:txBody>
      </p:sp>
    </p:spTree>
    <p:extLst>
      <p:ext uri="{BB962C8B-B14F-4D97-AF65-F5344CB8AC3E}">
        <p14:creationId xmlns:p14="http://schemas.microsoft.com/office/powerpoint/2010/main" val="3393954533"/>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dirty="0"/>
              <a:t>Split Module: If the module being modified includes a great deal of capability, the modification costs will likely be high. Refining the module into several smaller modules should reduce the average cost of future changes. </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Date Placeholder 6">
            <a:extLst>
              <a:ext uri="{FF2B5EF4-FFF2-40B4-BE49-F238E27FC236}">
                <a16:creationId xmlns:a16="http://schemas.microsoft.com/office/drawing/2014/main" id="{32FCE390-3F99-4BE5-9A4E-75888C870D13}"/>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117C7F93-7DD5-4AF8-A9B7-D0B6004498E1}"/>
              </a:ext>
            </a:extLst>
          </p:cNvPr>
          <p:cNvSpPr>
            <a:spLocks noGrp="1"/>
          </p:cNvSpPr>
          <p:nvPr>
            <p:ph type="sldNum" sz="quarter" idx="14"/>
          </p:nvPr>
        </p:nvSpPr>
        <p:spPr/>
        <p:txBody>
          <a:bodyPr/>
          <a:lstStyle/>
          <a:p>
            <a:fld id="{BC8D7E44-7D4F-4942-A8C9-2DF6BF8399E8}" type="slidenum">
              <a:rPr lang="en-US" smtClean="0"/>
              <a:pPr/>
              <a:t>134</a:t>
            </a:fld>
            <a:endParaRPr lang="en-US" dirty="0"/>
          </a:p>
        </p:txBody>
      </p:sp>
      <p:sp>
        <p:nvSpPr>
          <p:cNvPr id="9" name="Title 1">
            <a:extLst>
              <a:ext uri="{FF2B5EF4-FFF2-40B4-BE49-F238E27FC236}">
                <a16:creationId xmlns:a16="http://schemas.microsoft.com/office/drawing/2014/main" id="{1A28B718-C460-2809-65D9-D206C4FCEF78}"/>
              </a:ext>
            </a:extLst>
          </p:cNvPr>
          <p:cNvSpPr>
            <a:spLocks noGrp="1"/>
          </p:cNvSpPr>
          <p:nvPr>
            <p:ph sz="quarter" idx="10"/>
          </p:nvPr>
        </p:nvSpPr>
        <p:spPr>
          <a:xfrm>
            <a:off x="304800" y="152400"/>
            <a:ext cx="6324600" cy="1143000"/>
          </a:xfrm>
        </p:spPr>
        <p:txBody>
          <a:bodyPr>
            <a:normAutofit/>
          </a:bodyPr>
          <a:lstStyle/>
          <a:p>
            <a:r>
              <a:rPr lang="en-US" dirty="0"/>
              <a:t>Reduce Size of a Module</a:t>
            </a:r>
          </a:p>
        </p:txBody>
      </p:sp>
    </p:spTree>
    <p:extLst>
      <p:ext uri="{BB962C8B-B14F-4D97-AF65-F5344CB8AC3E}">
        <p14:creationId xmlns:p14="http://schemas.microsoft.com/office/powerpoint/2010/main" val="3310423855"/>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Increase Semantic Coherence: If the responsibilities A and B in a module do not serve the same purpose, they should be placed in different modules. This may involve creating a new module or it may involve moving a responsibility to an existing module. </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Date Placeholder 6">
            <a:extLst>
              <a:ext uri="{FF2B5EF4-FFF2-40B4-BE49-F238E27FC236}">
                <a16:creationId xmlns:a16="http://schemas.microsoft.com/office/drawing/2014/main" id="{C044B72D-6D1B-422D-AE1E-71D4662A28BF}"/>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CCE201FF-65D4-4D9C-83EC-2E4052E21B4E}"/>
              </a:ext>
            </a:extLst>
          </p:cNvPr>
          <p:cNvSpPr>
            <a:spLocks noGrp="1"/>
          </p:cNvSpPr>
          <p:nvPr>
            <p:ph type="sldNum" sz="quarter" idx="14"/>
          </p:nvPr>
        </p:nvSpPr>
        <p:spPr/>
        <p:txBody>
          <a:bodyPr/>
          <a:lstStyle/>
          <a:p>
            <a:fld id="{BC8D7E44-7D4F-4942-A8C9-2DF6BF8399E8}" type="slidenum">
              <a:rPr lang="en-US" smtClean="0"/>
              <a:pPr/>
              <a:t>135</a:t>
            </a:fld>
            <a:endParaRPr lang="en-US" dirty="0"/>
          </a:p>
        </p:txBody>
      </p:sp>
      <p:sp>
        <p:nvSpPr>
          <p:cNvPr id="9" name="Title 1">
            <a:extLst>
              <a:ext uri="{FF2B5EF4-FFF2-40B4-BE49-F238E27FC236}">
                <a16:creationId xmlns:a16="http://schemas.microsoft.com/office/drawing/2014/main" id="{BCE1CBE0-7675-2952-4BD8-8A62A7D67763}"/>
              </a:ext>
            </a:extLst>
          </p:cNvPr>
          <p:cNvSpPr>
            <a:spLocks noGrp="1"/>
          </p:cNvSpPr>
          <p:nvPr>
            <p:ph sz="quarter" idx="10"/>
          </p:nvPr>
        </p:nvSpPr>
        <p:spPr>
          <a:xfrm>
            <a:off x="304800" y="152400"/>
            <a:ext cx="6324600" cy="1143000"/>
          </a:xfrm>
        </p:spPr>
        <p:txBody>
          <a:bodyPr>
            <a:normAutofit/>
          </a:bodyPr>
          <a:lstStyle/>
          <a:p>
            <a:r>
              <a:rPr lang="en-US" dirty="0"/>
              <a:t>Increase Cohesion</a:t>
            </a:r>
          </a:p>
        </p:txBody>
      </p:sp>
    </p:spTree>
    <p:extLst>
      <p:ext uri="{BB962C8B-B14F-4D97-AF65-F5344CB8AC3E}">
        <p14:creationId xmlns:p14="http://schemas.microsoft.com/office/powerpoint/2010/main" val="812470820"/>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Encapsulate: Encapsulation introduces an explicit interface to a module. This interface includes an API and its associated responsibilities, such as “perform a syntactic transformation on an input parameter to an internal representation.”</a:t>
            </a:r>
          </a:p>
          <a:p>
            <a:r>
              <a:rPr lang="en-US" dirty="0"/>
              <a:t>Use an Intermediary: Given a dependency between responsibility A and responsibility B (for example, carrying out A first requires carrying out B), the dependency can be broken by using an intermediary. </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Date Placeholder 6">
            <a:extLst>
              <a:ext uri="{FF2B5EF4-FFF2-40B4-BE49-F238E27FC236}">
                <a16:creationId xmlns:a16="http://schemas.microsoft.com/office/drawing/2014/main" id="{687C7E93-ED35-462D-9151-A027BB4C44C4}"/>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BDF6220B-8A38-4B4C-ADAC-13D38D71AF14}"/>
              </a:ext>
            </a:extLst>
          </p:cNvPr>
          <p:cNvSpPr>
            <a:spLocks noGrp="1"/>
          </p:cNvSpPr>
          <p:nvPr>
            <p:ph type="sldNum" sz="quarter" idx="14"/>
          </p:nvPr>
        </p:nvSpPr>
        <p:spPr/>
        <p:txBody>
          <a:bodyPr/>
          <a:lstStyle/>
          <a:p>
            <a:fld id="{BC8D7E44-7D4F-4942-A8C9-2DF6BF8399E8}" type="slidenum">
              <a:rPr lang="en-US" smtClean="0"/>
              <a:pPr/>
              <a:t>136</a:t>
            </a:fld>
            <a:endParaRPr lang="en-US" dirty="0"/>
          </a:p>
        </p:txBody>
      </p:sp>
      <p:sp>
        <p:nvSpPr>
          <p:cNvPr id="9" name="Title 1">
            <a:extLst>
              <a:ext uri="{FF2B5EF4-FFF2-40B4-BE49-F238E27FC236}">
                <a16:creationId xmlns:a16="http://schemas.microsoft.com/office/drawing/2014/main" id="{25079C97-783E-FB9D-51F3-45AB9741F5C5}"/>
              </a:ext>
            </a:extLst>
          </p:cNvPr>
          <p:cNvSpPr>
            <a:spLocks noGrp="1"/>
          </p:cNvSpPr>
          <p:nvPr>
            <p:ph sz="quarter" idx="10"/>
          </p:nvPr>
        </p:nvSpPr>
        <p:spPr>
          <a:xfrm>
            <a:off x="304800" y="152400"/>
            <a:ext cx="6324600" cy="1143000"/>
          </a:xfrm>
        </p:spPr>
        <p:txBody>
          <a:bodyPr>
            <a:normAutofit/>
          </a:bodyPr>
          <a:lstStyle/>
          <a:p>
            <a:r>
              <a:rPr lang="en-US" dirty="0"/>
              <a:t>Reduce Coupling</a:t>
            </a:r>
          </a:p>
        </p:txBody>
      </p:sp>
    </p:spTree>
    <p:extLst>
      <p:ext uri="{BB962C8B-B14F-4D97-AF65-F5344CB8AC3E}">
        <p14:creationId xmlns:p14="http://schemas.microsoft.com/office/powerpoint/2010/main" val="3773278581"/>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Restrict Dependencies: restricts the modules which a given module interacts with or depends on. </a:t>
            </a:r>
          </a:p>
          <a:p>
            <a:r>
              <a:rPr lang="en-US" dirty="0"/>
              <a:t>Refactor: undertaken when two modules are affected by the same change because they are (at least partial) duplicates of each other. </a:t>
            </a:r>
          </a:p>
          <a:p>
            <a:r>
              <a:rPr lang="en-US" dirty="0"/>
              <a:t>Abstract Common Services: where two modules provide not-quite-the-same but similar services, it may be cost-effective to implement the services just once in a more general (abstract) form. </a:t>
            </a:r>
          </a:p>
          <a:p>
            <a:endParaRPr lang="en-US"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Date Placeholder 6">
            <a:extLst>
              <a:ext uri="{FF2B5EF4-FFF2-40B4-BE49-F238E27FC236}">
                <a16:creationId xmlns:a16="http://schemas.microsoft.com/office/drawing/2014/main" id="{255FD518-9DA8-469F-A4DD-BFFB74E05D6B}"/>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EF5E84EC-6521-4BDF-A8AE-8C57875A7B43}"/>
              </a:ext>
            </a:extLst>
          </p:cNvPr>
          <p:cNvSpPr>
            <a:spLocks noGrp="1"/>
          </p:cNvSpPr>
          <p:nvPr>
            <p:ph type="sldNum" sz="quarter" idx="14"/>
          </p:nvPr>
        </p:nvSpPr>
        <p:spPr/>
        <p:txBody>
          <a:bodyPr/>
          <a:lstStyle/>
          <a:p>
            <a:fld id="{BC8D7E44-7D4F-4942-A8C9-2DF6BF8399E8}" type="slidenum">
              <a:rPr lang="en-US" smtClean="0"/>
              <a:pPr/>
              <a:t>137</a:t>
            </a:fld>
            <a:endParaRPr lang="en-US" dirty="0"/>
          </a:p>
        </p:txBody>
      </p:sp>
      <p:sp>
        <p:nvSpPr>
          <p:cNvPr id="9" name="Title 1">
            <a:extLst>
              <a:ext uri="{FF2B5EF4-FFF2-40B4-BE49-F238E27FC236}">
                <a16:creationId xmlns:a16="http://schemas.microsoft.com/office/drawing/2014/main" id="{7397F484-A362-86C8-C6CA-622AF27E4531}"/>
              </a:ext>
            </a:extLst>
          </p:cNvPr>
          <p:cNvSpPr>
            <a:spLocks noGrp="1"/>
          </p:cNvSpPr>
          <p:nvPr>
            <p:ph sz="quarter" idx="10"/>
          </p:nvPr>
        </p:nvSpPr>
        <p:spPr>
          <a:xfrm>
            <a:off x="304800" y="152400"/>
            <a:ext cx="6324600" cy="1143000"/>
          </a:xfrm>
        </p:spPr>
        <p:txBody>
          <a:bodyPr>
            <a:normAutofit/>
          </a:bodyPr>
          <a:lstStyle/>
          <a:p>
            <a:r>
              <a:rPr lang="en-US" dirty="0"/>
              <a:t>Reduce Coupling</a:t>
            </a:r>
          </a:p>
        </p:txBody>
      </p:sp>
    </p:spTree>
    <p:extLst>
      <p:ext uri="{BB962C8B-B14F-4D97-AF65-F5344CB8AC3E}">
        <p14:creationId xmlns:p14="http://schemas.microsoft.com/office/powerpoint/2010/main" val="3299853090"/>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In general, the later in the life cycle we can bind values, the better.  </a:t>
            </a:r>
          </a:p>
          <a:p>
            <a:r>
              <a:rPr lang="en-US" dirty="0"/>
              <a:t>If we design artifacts with built-in flexibility, then exercising that flexibility is usually cheaper than hand-coding a specific change.</a:t>
            </a:r>
          </a:p>
          <a:p>
            <a:r>
              <a:rPr lang="en-US" dirty="0"/>
              <a:t>However, putting the mechanisms in place to facilitate that late binding tends to be more expensive.</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Date Placeholder 6">
            <a:extLst>
              <a:ext uri="{FF2B5EF4-FFF2-40B4-BE49-F238E27FC236}">
                <a16:creationId xmlns:a16="http://schemas.microsoft.com/office/drawing/2014/main" id="{EE2CB21D-3581-4C51-876C-10AAE79DCD63}"/>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60B5528E-40DB-45B8-8430-EE3747A6ABAE}"/>
              </a:ext>
            </a:extLst>
          </p:cNvPr>
          <p:cNvSpPr>
            <a:spLocks noGrp="1"/>
          </p:cNvSpPr>
          <p:nvPr>
            <p:ph type="sldNum" sz="quarter" idx="14"/>
          </p:nvPr>
        </p:nvSpPr>
        <p:spPr/>
        <p:txBody>
          <a:bodyPr/>
          <a:lstStyle/>
          <a:p>
            <a:fld id="{BC8D7E44-7D4F-4942-A8C9-2DF6BF8399E8}" type="slidenum">
              <a:rPr lang="en-US" smtClean="0"/>
              <a:pPr/>
              <a:t>138</a:t>
            </a:fld>
            <a:endParaRPr lang="en-US" dirty="0"/>
          </a:p>
        </p:txBody>
      </p:sp>
      <p:sp>
        <p:nvSpPr>
          <p:cNvPr id="9" name="Title 1">
            <a:extLst>
              <a:ext uri="{FF2B5EF4-FFF2-40B4-BE49-F238E27FC236}">
                <a16:creationId xmlns:a16="http://schemas.microsoft.com/office/drawing/2014/main" id="{2C8DFC6C-697F-BF34-9BD0-578B2EB8DA98}"/>
              </a:ext>
            </a:extLst>
          </p:cNvPr>
          <p:cNvSpPr>
            <a:spLocks noGrp="1"/>
          </p:cNvSpPr>
          <p:nvPr>
            <p:ph sz="quarter" idx="10"/>
          </p:nvPr>
        </p:nvSpPr>
        <p:spPr>
          <a:xfrm>
            <a:off x="304800" y="152400"/>
            <a:ext cx="6324600" cy="1143000"/>
          </a:xfrm>
        </p:spPr>
        <p:txBody>
          <a:bodyPr>
            <a:normAutofit/>
          </a:bodyPr>
          <a:lstStyle/>
          <a:p>
            <a:r>
              <a:rPr lang="en-US" dirty="0"/>
              <a:t>Defer Binding</a:t>
            </a:r>
          </a:p>
        </p:txBody>
      </p:sp>
    </p:spTree>
    <p:extLst>
      <p:ext uri="{BB962C8B-B14F-4D97-AF65-F5344CB8AC3E}">
        <p14:creationId xmlns:p14="http://schemas.microsoft.com/office/powerpoint/2010/main" val="4227934716"/>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8" name="Date Placeholder 7">
            <a:extLst>
              <a:ext uri="{FF2B5EF4-FFF2-40B4-BE49-F238E27FC236}">
                <a16:creationId xmlns:a16="http://schemas.microsoft.com/office/drawing/2014/main" id="{D150A541-B6A1-4FAD-A3CD-C84117AB89AC}"/>
              </a:ext>
            </a:extLst>
          </p:cNvPr>
          <p:cNvSpPr>
            <a:spLocks noGrp="1"/>
          </p:cNvSpPr>
          <p:nvPr>
            <p:ph type="dt" sz="half" idx="12"/>
          </p:nvPr>
        </p:nvSpPr>
        <p:spPr/>
        <p:txBody>
          <a:bodyPr/>
          <a:lstStyle/>
          <a:p>
            <a:r>
              <a:rPr lang="en-US"/>
              <a:t>Auguts 1, 2026</a:t>
            </a:r>
          </a:p>
        </p:txBody>
      </p:sp>
      <p:sp>
        <p:nvSpPr>
          <p:cNvPr id="9" name="Slide Number Placeholder 8">
            <a:extLst>
              <a:ext uri="{FF2B5EF4-FFF2-40B4-BE49-F238E27FC236}">
                <a16:creationId xmlns:a16="http://schemas.microsoft.com/office/drawing/2014/main" id="{229ED8F1-7C0B-4B55-BD82-FA6DE5557F3A}"/>
              </a:ext>
            </a:extLst>
          </p:cNvPr>
          <p:cNvSpPr>
            <a:spLocks noGrp="1"/>
          </p:cNvSpPr>
          <p:nvPr>
            <p:ph type="sldNum" sz="quarter" idx="14"/>
          </p:nvPr>
        </p:nvSpPr>
        <p:spPr/>
        <p:txBody>
          <a:bodyPr/>
          <a:lstStyle/>
          <a:p>
            <a:fld id="{BC8D7E44-7D4F-4942-A8C9-2DF6BF8399E8}" type="slidenum">
              <a:rPr lang="en-US" smtClean="0"/>
              <a:pPr/>
              <a:t>139</a:t>
            </a:fld>
            <a:endParaRPr lang="en-US" dirty="0"/>
          </a:p>
        </p:txBody>
      </p:sp>
      <p:sp>
        <p:nvSpPr>
          <p:cNvPr id="10" name="Title 1">
            <a:extLst>
              <a:ext uri="{FF2B5EF4-FFF2-40B4-BE49-F238E27FC236}">
                <a16:creationId xmlns:a16="http://schemas.microsoft.com/office/drawing/2014/main" id="{DA3D2254-BFDC-55C3-B32D-A13D5B219BB0}"/>
              </a:ext>
            </a:extLst>
          </p:cNvPr>
          <p:cNvSpPr>
            <a:spLocks noGrp="1"/>
          </p:cNvSpPr>
          <p:nvPr>
            <p:ph sz="quarter" idx="10"/>
          </p:nvPr>
        </p:nvSpPr>
        <p:spPr>
          <a:xfrm>
            <a:off x="304800" y="152400"/>
            <a:ext cx="6324600" cy="1143000"/>
          </a:xfrm>
        </p:spPr>
        <p:txBody>
          <a:bodyPr>
            <a:normAutofit/>
          </a:bodyPr>
          <a:lstStyle/>
          <a:p>
            <a:r>
              <a:rPr lang="en-US" dirty="0"/>
              <a:t>Design Checklist for Modifiability</a:t>
            </a:r>
          </a:p>
        </p:txBody>
      </p:sp>
      <p:graphicFrame>
        <p:nvGraphicFramePr>
          <p:cNvPr id="11" name="Content Placeholder 10">
            <a:extLst>
              <a:ext uri="{FF2B5EF4-FFF2-40B4-BE49-F238E27FC236}">
                <a16:creationId xmlns:a16="http://schemas.microsoft.com/office/drawing/2014/main" id="{C36CFD3D-24CA-FEA6-4CDD-584B8B0D0303}"/>
              </a:ext>
            </a:extLst>
          </p:cNvPr>
          <p:cNvGraphicFramePr>
            <a:graphicFrameLocks noGrp="1"/>
          </p:cNvGraphicFramePr>
          <p:nvPr>
            <p:ph idx="1"/>
          </p:nvPr>
        </p:nvGraphicFramePr>
        <p:xfrm>
          <a:off x="304800" y="1493838"/>
          <a:ext cx="8686800" cy="4449762"/>
        </p:xfrm>
        <a:graphic>
          <a:graphicData uri="http://schemas.openxmlformats.org/drawingml/2006/table">
            <a:tbl>
              <a:tblPr firstRow="1" firstCol="1" bandRow="1">
                <a:tableStyleId>{5C22544A-7EE6-4342-B048-85BDC9FD1C3A}</a:tableStyleId>
              </a:tblPr>
              <a:tblGrid>
                <a:gridCol w="1974272">
                  <a:extLst>
                    <a:ext uri="{9D8B030D-6E8A-4147-A177-3AD203B41FA5}">
                      <a16:colId xmlns:a16="http://schemas.microsoft.com/office/drawing/2014/main" val="20000"/>
                    </a:ext>
                  </a:extLst>
                </a:gridCol>
                <a:gridCol w="6712528">
                  <a:extLst>
                    <a:ext uri="{9D8B030D-6E8A-4147-A177-3AD203B41FA5}">
                      <a16:colId xmlns:a16="http://schemas.microsoft.com/office/drawing/2014/main" val="20001"/>
                    </a:ext>
                  </a:extLst>
                </a:gridCol>
              </a:tblGrid>
              <a:tr h="4449762">
                <a:tc>
                  <a:txBody>
                    <a:bodyPr/>
                    <a:lstStyle/>
                    <a:p>
                      <a:pPr marL="0" marR="0">
                        <a:lnSpc>
                          <a:spcPct val="80000"/>
                        </a:lnSpc>
                        <a:spcBef>
                          <a:spcPts val="400"/>
                        </a:spcBef>
                        <a:spcAft>
                          <a:spcPts val="400"/>
                        </a:spcAft>
                      </a:pPr>
                      <a:r>
                        <a:rPr lang="en-US" sz="2000" dirty="0">
                          <a:effectLst/>
                        </a:rPr>
                        <a:t>Allocation of Responsibilities</a:t>
                      </a:r>
                      <a:endParaRPr lang="en-US" sz="2000" dirty="0">
                        <a:solidFill>
                          <a:srgbClr val="000080"/>
                        </a:solidFill>
                        <a:effectLst/>
                        <a:latin typeface="Times"/>
                        <a:ea typeface="Times New Roman"/>
                        <a:cs typeface="Times New Roman"/>
                      </a:endParaRPr>
                    </a:p>
                  </a:txBody>
                  <a:tcPr marL="68580" marR="68580" marT="0" marB="0"/>
                </a:tc>
                <a:tc>
                  <a:txBody>
                    <a:bodyPr/>
                    <a:lstStyle/>
                    <a:p>
                      <a:pPr marL="0" marR="0">
                        <a:lnSpc>
                          <a:spcPct val="80000"/>
                        </a:lnSpc>
                        <a:spcBef>
                          <a:spcPts val="400"/>
                        </a:spcBef>
                        <a:spcAft>
                          <a:spcPts val="400"/>
                        </a:spcAft>
                        <a:tabLst>
                          <a:tab pos="1388745" algn="l"/>
                        </a:tabLst>
                      </a:pPr>
                      <a:r>
                        <a:rPr lang="en-US" sz="2000" dirty="0">
                          <a:effectLst/>
                        </a:rPr>
                        <a:t>Determine which changes or categories of changes are likely to occur through consideration of changes in technical, legal, social, business, and customer forces. For each potential change or category of changes </a:t>
                      </a:r>
                    </a:p>
                    <a:p>
                      <a:pPr marL="342900" marR="0" lvl="0" indent="-342900">
                        <a:lnSpc>
                          <a:spcPct val="80000"/>
                        </a:lnSpc>
                        <a:spcBef>
                          <a:spcPts val="100"/>
                        </a:spcBef>
                        <a:spcAft>
                          <a:spcPts val="300"/>
                        </a:spcAft>
                        <a:buSzPts val="800"/>
                        <a:buFont typeface="Symbol"/>
                        <a:buChar char=""/>
                        <a:tabLst>
                          <a:tab pos="228600" algn="l"/>
                          <a:tab pos="274320" algn="l"/>
                        </a:tabLst>
                      </a:pPr>
                      <a:r>
                        <a:rPr lang="en-US" sz="2000" kern="1100" dirty="0">
                          <a:effectLst/>
                        </a:rPr>
                        <a:t>Determine the responsibilities that would need to be added, modified, or deleted to make the change. </a:t>
                      </a:r>
                    </a:p>
                    <a:p>
                      <a:pPr marL="342900" marR="0" lvl="0" indent="-342900">
                        <a:lnSpc>
                          <a:spcPct val="80000"/>
                        </a:lnSpc>
                        <a:spcBef>
                          <a:spcPts val="100"/>
                        </a:spcBef>
                        <a:spcAft>
                          <a:spcPts val="300"/>
                        </a:spcAft>
                        <a:buSzPts val="800"/>
                        <a:buFont typeface="Symbol"/>
                        <a:buChar char=""/>
                        <a:tabLst>
                          <a:tab pos="228600" algn="l"/>
                          <a:tab pos="274320" algn="l"/>
                        </a:tabLst>
                      </a:pPr>
                      <a:r>
                        <a:rPr lang="en-US" sz="2000" kern="1100" dirty="0">
                          <a:effectLst/>
                        </a:rPr>
                        <a:t>Determine what other responsibilities are impacted by the change.</a:t>
                      </a:r>
                    </a:p>
                    <a:p>
                      <a:pPr marL="342900" marR="0" lvl="0" indent="-342900">
                        <a:lnSpc>
                          <a:spcPct val="80000"/>
                        </a:lnSpc>
                        <a:spcBef>
                          <a:spcPts val="100"/>
                        </a:spcBef>
                        <a:spcAft>
                          <a:spcPts val="300"/>
                        </a:spcAft>
                        <a:buSzPts val="800"/>
                        <a:buFont typeface="Symbol"/>
                        <a:buChar char=""/>
                        <a:tabLst>
                          <a:tab pos="228600" algn="l"/>
                          <a:tab pos="274320" algn="l"/>
                        </a:tabLst>
                      </a:pPr>
                      <a:r>
                        <a:rPr lang="en-US" sz="2000" kern="1100" dirty="0">
                          <a:effectLst/>
                        </a:rPr>
                        <a:t>Determine an allocation of responsibilities to modules that places, as much as possible, responsibilities that will be changed (or impacted by the change) together in the same module, and places responsibilities that will be changed at different times in separate modules.</a:t>
                      </a:r>
                      <a:endParaRPr lang="en-US" sz="2000" kern="1100" dirty="0">
                        <a:solidFill>
                          <a:srgbClr val="000080"/>
                        </a:solidFill>
                        <a:effectLst/>
                        <a:latin typeface="Times New Roman"/>
                        <a:ea typeface="Times New Roman"/>
                      </a:endParaRPr>
                    </a:p>
                  </a:txBody>
                  <a:tcPr marL="68580" marR="68580" marT="0" marB="0"/>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1127614941"/>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8" name="Date Placeholder 7">
            <a:extLst>
              <a:ext uri="{FF2B5EF4-FFF2-40B4-BE49-F238E27FC236}">
                <a16:creationId xmlns:a16="http://schemas.microsoft.com/office/drawing/2014/main" id="{891FD88F-3F66-4DC2-B6DB-A9C10A3818D1}"/>
              </a:ext>
            </a:extLst>
          </p:cNvPr>
          <p:cNvSpPr>
            <a:spLocks noGrp="1"/>
          </p:cNvSpPr>
          <p:nvPr>
            <p:ph type="dt" sz="half" idx="12"/>
          </p:nvPr>
        </p:nvSpPr>
        <p:spPr/>
        <p:txBody>
          <a:bodyPr/>
          <a:lstStyle/>
          <a:p>
            <a:r>
              <a:rPr lang="en-US"/>
              <a:t>Auguts 1, 2026</a:t>
            </a:r>
          </a:p>
        </p:txBody>
      </p:sp>
      <p:sp>
        <p:nvSpPr>
          <p:cNvPr id="9" name="Slide Number Placeholder 8">
            <a:extLst>
              <a:ext uri="{FF2B5EF4-FFF2-40B4-BE49-F238E27FC236}">
                <a16:creationId xmlns:a16="http://schemas.microsoft.com/office/drawing/2014/main" id="{86458BCA-F12B-413B-AC48-76DD2CA5A12C}"/>
              </a:ext>
            </a:extLst>
          </p:cNvPr>
          <p:cNvSpPr>
            <a:spLocks noGrp="1"/>
          </p:cNvSpPr>
          <p:nvPr>
            <p:ph type="sldNum" sz="quarter" idx="14"/>
          </p:nvPr>
        </p:nvSpPr>
        <p:spPr/>
        <p:txBody>
          <a:bodyPr/>
          <a:lstStyle/>
          <a:p>
            <a:fld id="{BC8D7E44-7D4F-4942-A8C9-2DF6BF8399E8}" type="slidenum">
              <a:rPr lang="en-US" smtClean="0"/>
              <a:pPr/>
              <a:t>140</a:t>
            </a:fld>
            <a:endParaRPr lang="en-US" dirty="0"/>
          </a:p>
        </p:txBody>
      </p:sp>
      <p:graphicFrame>
        <p:nvGraphicFramePr>
          <p:cNvPr id="10" name="Content Placeholder 9">
            <a:extLst>
              <a:ext uri="{FF2B5EF4-FFF2-40B4-BE49-F238E27FC236}">
                <a16:creationId xmlns:a16="http://schemas.microsoft.com/office/drawing/2014/main" id="{EAA70A48-8351-BCA3-1471-260C428C2792}"/>
              </a:ext>
            </a:extLst>
          </p:cNvPr>
          <p:cNvGraphicFramePr>
            <a:graphicFrameLocks noGrp="1"/>
          </p:cNvGraphicFramePr>
          <p:nvPr>
            <p:ph idx="1"/>
          </p:nvPr>
        </p:nvGraphicFramePr>
        <p:xfrm>
          <a:off x="304800" y="1493838"/>
          <a:ext cx="8534400" cy="4305846"/>
        </p:xfrm>
        <a:graphic>
          <a:graphicData uri="http://schemas.openxmlformats.org/drawingml/2006/table">
            <a:tbl>
              <a:tblPr firstRow="1" firstCol="1" bandRow="1">
                <a:tableStyleId>{5C22544A-7EE6-4342-B048-85BDC9FD1C3A}</a:tableStyleId>
              </a:tblPr>
              <a:tblGrid>
                <a:gridCol w="1691502">
                  <a:extLst>
                    <a:ext uri="{9D8B030D-6E8A-4147-A177-3AD203B41FA5}">
                      <a16:colId xmlns:a16="http://schemas.microsoft.com/office/drawing/2014/main" val="20000"/>
                    </a:ext>
                  </a:extLst>
                </a:gridCol>
                <a:gridCol w="6842898">
                  <a:extLst>
                    <a:ext uri="{9D8B030D-6E8A-4147-A177-3AD203B41FA5}">
                      <a16:colId xmlns:a16="http://schemas.microsoft.com/office/drawing/2014/main" val="20001"/>
                    </a:ext>
                  </a:extLst>
                </a:gridCol>
              </a:tblGrid>
              <a:tr h="4305846">
                <a:tc>
                  <a:txBody>
                    <a:bodyPr/>
                    <a:lstStyle/>
                    <a:p>
                      <a:pPr marL="0" marR="0">
                        <a:lnSpc>
                          <a:spcPct val="80000"/>
                        </a:lnSpc>
                        <a:spcBef>
                          <a:spcPts val="400"/>
                        </a:spcBef>
                        <a:spcAft>
                          <a:spcPts val="400"/>
                        </a:spcAft>
                      </a:pPr>
                      <a:r>
                        <a:rPr lang="en-US" sz="2000" dirty="0">
                          <a:effectLst/>
                        </a:rPr>
                        <a:t>Coordination Model</a:t>
                      </a:r>
                      <a:endParaRPr lang="en-US" sz="2000" dirty="0">
                        <a:solidFill>
                          <a:srgbClr val="000080"/>
                        </a:solidFill>
                        <a:effectLst/>
                        <a:latin typeface="Times"/>
                        <a:ea typeface="Times New Roman"/>
                        <a:cs typeface="Times New Roman"/>
                      </a:endParaRPr>
                    </a:p>
                  </a:txBody>
                  <a:tcPr marL="68580" marR="68580" marT="0" marB="0"/>
                </a:tc>
                <a:tc>
                  <a:txBody>
                    <a:bodyPr/>
                    <a:lstStyle/>
                    <a:p>
                      <a:pPr marL="0" marR="0">
                        <a:lnSpc>
                          <a:spcPct val="80000"/>
                        </a:lnSpc>
                        <a:spcBef>
                          <a:spcPts val="400"/>
                        </a:spcBef>
                        <a:spcAft>
                          <a:spcPts val="400"/>
                        </a:spcAft>
                      </a:pPr>
                      <a:r>
                        <a:rPr lang="en-US" sz="2000" dirty="0">
                          <a:effectLst/>
                        </a:rPr>
                        <a:t>Determine which functionality or quality attribute can change at runtime and how this affects coordination; for example, will the information being communicated change at run-time, or will the communication protocol change at run-time? If so, ensure that such changes affect a small number set of modules.</a:t>
                      </a:r>
                    </a:p>
                    <a:p>
                      <a:pPr marL="0" marR="0">
                        <a:lnSpc>
                          <a:spcPct val="80000"/>
                        </a:lnSpc>
                        <a:spcBef>
                          <a:spcPts val="400"/>
                        </a:spcBef>
                        <a:spcAft>
                          <a:spcPts val="400"/>
                        </a:spcAft>
                      </a:pPr>
                      <a:r>
                        <a:rPr lang="en-US" sz="2000" dirty="0">
                          <a:effectLst/>
                        </a:rPr>
                        <a:t>Determine which devices, protocols, and communication paths used for coordination are likely to change. For those devices, protocols, and communication paths, ensure that the impact of changes will be limited to a small set of modules.</a:t>
                      </a:r>
                    </a:p>
                    <a:p>
                      <a:pPr marL="0" marR="0">
                        <a:lnSpc>
                          <a:spcPct val="80000"/>
                        </a:lnSpc>
                        <a:spcBef>
                          <a:spcPts val="400"/>
                        </a:spcBef>
                        <a:spcAft>
                          <a:spcPts val="400"/>
                        </a:spcAft>
                      </a:pPr>
                      <a:r>
                        <a:rPr lang="en-US" sz="2000" dirty="0">
                          <a:effectLst/>
                        </a:rPr>
                        <a:t>For those elements for which modifiability is a concern, use a coordination model that reduces coupling such as publish/subscribe, defers bindings such as enterprise service bus, or restricts dependencies such as broadcast.</a:t>
                      </a:r>
                      <a:endParaRPr lang="en-US" sz="2000" dirty="0">
                        <a:solidFill>
                          <a:srgbClr val="000080"/>
                        </a:solidFill>
                        <a:effectLst/>
                        <a:latin typeface="Times"/>
                        <a:ea typeface="Times New Roman"/>
                        <a:cs typeface="Times New Roman"/>
                      </a:endParaRPr>
                    </a:p>
                  </a:txBody>
                  <a:tcPr marL="68580" marR="68580" marT="0" marB="0"/>
                </a:tc>
                <a:extLst>
                  <a:ext uri="{0D108BD9-81ED-4DB2-BD59-A6C34878D82A}">
                    <a16:rowId xmlns:a16="http://schemas.microsoft.com/office/drawing/2014/main" val="10000"/>
                  </a:ext>
                </a:extLst>
              </a:tr>
            </a:tbl>
          </a:graphicData>
        </a:graphic>
      </p:graphicFrame>
      <p:sp>
        <p:nvSpPr>
          <p:cNvPr id="11" name="Title 1">
            <a:extLst>
              <a:ext uri="{FF2B5EF4-FFF2-40B4-BE49-F238E27FC236}">
                <a16:creationId xmlns:a16="http://schemas.microsoft.com/office/drawing/2014/main" id="{601D887A-F880-9746-869B-539BB2820744}"/>
              </a:ext>
            </a:extLst>
          </p:cNvPr>
          <p:cNvSpPr>
            <a:spLocks noGrp="1"/>
          </p:cNvSpPr>
          <p:nvPr>
            <p:ph sz="quarter" idx="10"/>
          </p:nvPr>
        </p:nvSpPr>
        <p:spPr>
          <a:xfrm>
            <a:off x="304800" y="152400"/>
            <a:ext cx="6324600" cy="1143000"/>
          </a:xfrm>
        </p:spPr>
        <p:txBody>
          <a:bodyPr>
            <a:normAutofit/>
          </a:bodyPr>
          <a:lstStyle/>
          <a:p>
            <a:r>
              <a:rPr lang="en-US" dirty="0"/>
              <a:t>Design Checklist for Modifiability</a:t>
            </a:r>
          </a:p>
        </p:txBody>
      </p:sp>
    </p:spTree>
    <p:extLst>
      <p:ext uri="{BB962C8B-B14F-4D97-AF65-F5344CB8AC3E}">
        <p14:creationId xmlns:p14="http://schemas.microsoft.com/office/powerpoint/2010/main" val="5404180"/>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8" name="Date Placeholder 7">
            <a:extLst>
              <a:ext uri="{FF2B5EF4-FFF2-40B4-BE49-F238E27FC236}">
                <a16:creationId xmlns:a16="http://schemas.microsoft.com/office/drawing/2014/main" id="{8229E382-13BC-4538-A2E5-8E9B28134977}"/>
              </a:ext>
            </a:extLst>
          </p:cNvPr>
          <p:cNvSpPr>
            <a:spLocks noGrp="1"/>
          </p:cNvSpPr>
          <p:nvPr>
            <p:ph type="dt" sz="half" idx="12"/>
          </p:nvPr>
        </p:nvSpPr>
        <p:spPr/>
        <p:txBody>
          <a:bodyPr/>
          <a:lstStyle/>
          <a:p>
            <a:r>
              <a:rPr lang="en-US"/>
              <a:t>Auguts 1, 2026</a:t>
            </a:r>
          </a:p>
        </p:txBody>
      </p:sp>
      <p:sp>
        <p:nvSpPr>
          <p:cNvPr id="9" name="Slide Number Placeholder 8">
            <a:extLst>
              <a:ext uri="{FF2B5EF4-FFF2-40B4-BE49-F238E27FC236}">
                <a16:creationId xmlns:a16="http://schemas.microsoft.com/office/drawing/2014/main" id="{19FA29CA-62F1-425D-A0AB-3431194FC69A}"/>
              </a:ext>
            </a:extLst>
          </p:cNvPr>
          <p:cNvSpPr>
            <a:spLocks noGrp="1"/>
          </p:cNvSpPr>
          <p:nvPr>
            <p:ph type="sldNum" sz="quarter" idx="14"/>
          </p:nvPr>
        </p:nvSpPr>
        <p:spPr/>
        <p:txBody>
          <a:bodyPr/>
          <a:lstStyle/>
          <a:p>
            <a:fld id="{BC8D7E44-7D4F-4942-A8C9-2DF6BF8399E8}" type="slidenum">
              <a:rPr lang="en-US" smtClean="0"/>
              <a:pPr/>
              <a:t>141</a:t>
            </a:fld>
            <a:endParaRPr lang="en-US" dirty="0"/>
          </a:p>
        </p:txBody>
      </p:sp>
      <p:sp>
        <p:nvSpPr>
          <p:cNvPr id="10" name="Title 1">
            <a:extLst>
              <a:ext uri="{FF2B5EF4-FFF2-40B4-BE49-F238E27FC236}">
                <a16:creationId xmlns:a16="http://schemas.microsoft.com/office/drawing/2014/main" id="{9B676247-FECD-BD70-A59F-E964371A565C}"/>
              </a:ext>
            </a:extLst>
          </p:cNvPr>
          <p:cNvSpPr>
            <a:spLocks noGrp="1"/>
          </p:cNvSpPr>
          <p:nvPr>
            <p:ph sz="quarter" idx="10"/>
          </p:nvPr>
        </p:nvSpPr>
        <p:spPr>
          <a:xfrm>
            <a:off x="304800" y="152400"/>
            <a:ext cx="6324600" cy="1143000"/>
          </a:xfrm>
        </p:spPr>
        <p:txBody>
          <a:bodyPr>
            <a:normAutofit/>
          </a:bodyPr>
          <a:lstStyle/>
          <a:p>
            <a:r>
              <a:rPr lang="en-US" dirty="0"/>
              <a:t>Design Checklist for Modifiability</a:t>
            </a:r>
          </a:p>
        </p:txBody>
      </p:sp>
      <p:graphicFrame>
        <p:nvGraphicFramePr>
          <p:cNvPr id="14" name="Content Placeholder 10">
            <a:extLst>
              <a:ext uri="{FF2B5EF4-FFF2-40B4-BE49-F238E27FC236}">
                <a16:creationId xmlns:a16="http://schemas.microsoft.com/office/drawing/2014/main" id="{AF7D67D5-EC2E-7514-1622-93278D4A14E6}"/>
              </a:ext>
            </a:extLst>
          </p:cNvPr>
          <p:cNvGraphicFramePr>
            <a:graphicFrameLocks noGrp="1"/>
          </p:cNvGraphicFramePr>
          <p:nvPr>
            <p:ph idx="1"/>
          </p:nvPr>
        </p:nvGraphicFramePr>
        <p:xfrm>
          <a:off x="304800" y="1403667"/>
          <a:ext cx="8610600" cy="5301933"/>
        </p:xfrm>
        <a:graphic>
          <a:graphicData uri="http://schemas.openxmlformats.org/drawingml/2006/table">
            <a:tbl>
              <a:tblPr firstRow="1" firstCol="1" bandRow="1">
                <a:tableStyleId>{5C22544A-7EE6-4342-B048-85BDC9FD1C3A}</a:tableStyleId>
              </a:tblPr>
              <a:tblGrid>
                <a:gridCol w="816523">
                  <a:extLst>
                    <a:ext uri="{9D8B030D-6E8A-4147-A177-3AD203B41FA5}">
                      <a16:colId xmlns:a16="http://schemas.microsoft.com/office/drawing/2014/main" val="20000"/>
                    </a:ext>
                  </a:extLst>
                </a:gridCol>
                <a:gridCol w="7794077">
                  <a:extLst>
                    <a:ext uri="{9D8B030D-6E8A-4147-A177-3AD203B41FA5}">
                      <a16:colId xmlns:a16="http://schemas.microsoft.com/office/drawing/2014/main" val="20001"/>
                    </a:ext>
                  </a:extLst>
                </a:gridCol>
              </a:tblGrid>
              <a:tr h="3763961">
                <a:tc>
                  <a:txBody>
                    <a:bodyPr/>
                    <a:lstStyle/>
                    <a:p>
                      <a:pPr marL="0" marR="0">
                        <a:lnSpc>
                          <a:spcPct val="80000"/>
                        </a:lnSpc>
                        <a:spcBef>
                          <a:spcPts val="400"/>
                        </a:spcBef>
                        <a:spcAft>
                          <a:spcPts val="400"/>
                        </a:spcAft>
                      </a:pPr>
                      <a:r>
                        <a:rPr lang="en-US" sz="1800" dirty="0">
                          <a:effectLst/>
                        </a:rPr>
                        <a:t>Data Model</a:t>
                      </a:r>
                      <a:endParaRPr lang="en-US" sz="1800" dirty="0">
                        <a:solidFill>
                          <a:srgbClr val="000080"/>
                        </a:solidFill>
                        <a:effectLst/>
                        <a:latin typeface="Times"/>
                        <a:ea typeface="Times New Roman"/>
                        <a:cs typeface="Times New Roman"/>
                      </a:endParaRPr>
                    </a:p>
                  </a:txBody>
                  <a:tcPr marL="52255" marR="52255" marT="0" marB="0"/>
                </a:tc>
                <a:tc>
                  <a:txBody>
                    <a:bodyPr/>
                    <a:lstStyle/>
                    <a:p>
                      <a:pPr marL="0" marR="0">
                        <a:lnSpc>
                          <a:spcPct val="80000"/>
                        </a:lnSpc>
                        <a:spcBef>
                          <a:spcPts val="400"/>
                        </a:spcBef>
                        <a:spcAft>
                          <a:spcPts val="400"/>
                        </a:spcAft>
                      </a:pPr>
                      <a:r>
                        <a:rPr lang="en-US" sz="1800" dirty="0">
                          <a:effectLst/>
                        </a:rPr>
                        <a:t>Determine which changes (or categories of changes) to the data abstractions, their operations, or their properties are likely to occur.  Also determine which changes or categories of changes to these data abstractions will involve their creation, initialization, persistence, manipulation, translation, or destruction.</a:t>
                      </a:r>
                    </a:p>
                    <a:p>
                      <a:pPr marL="0" marR="0">
                        <a:lnSpc>
                          <a:spcPct val="80000"/>
                        </a:lnSpc>
                        <a:spcBef>
                          <a:spcPts val="400"/>
                        </a:spcBef>
                        <a:spcAft>
                          <a:spcPts val="400"/>
                        </a:spcAft>
                      </a:pPr>
                      <a:r>
                        <a:rPr lang="en-US" sz="1800" dirty="0">
                          <a:effectLst/>
                        </a:rPr>
                        <a:t>For each change or category of change, determine if the changes will be made by an end user, system administrator, or developer. For those changes made by an end user or administrator, ensure that the necessary attributes are visible to that user and that the user has the correct privileges to modify the data, its operations, or its properties.</a:t>
                      </a:r>
                    </a:p>
                    <a:p>
                      <a:pPr marL="0" marR="0">
                        <a:lnSpc>
                          <a:spcPct val="80000"/>
                        </a:lnSpc>
                        <a:spcBef>
                          <a:spcPts val="400"/>
                        </a:spcBef>
                        <a:spcAft>
                          <a:spcPts val="400"/>
                        </a:spcAft>
                      </a:pPr>
                      <a:r>
                        <a:rPr lang="en-US" sz="1800" dirty="0">
                          <a:effectLst/>
                        </a:rPr>
                        <a:t>For each potential change or category of change	</a:t>
                      </a:r>
                    </a:p>
                    <a:p>
                      <a:pPr marL="342900" marR="0" lvl="0" indent="-342900">
                        <a:lnSpc>
                          <a:spcPct val="80000"/>
                        </a:lnSpc>
                        <a:spcBef>
                          <a:spcPts val="100"/>
                        </a:spcBef>
                        <a:spcAft>
                          <a:spcPts val="300"/>
                        </a:spcAft>
                        <a:buSzPts val="800"/>
                        <a:buFont typeface="Symbol"/>
                        <a:buChar char=""/>
                        <a:tabLst>
                          <a:tab pos="228600" algn="l"/>
                          <a:tab pos="274320" algn="l"/>
                        </a:tabLst>
                      </a:pPr>
                      <a:r>
                        <a:rPr lang="en-US" sz="1800" kern="1100" dirty="0">
                          <a:effectLst/>
                        </a:rPr>
                        <a:t>determine which data abstractions need to be added, modified, or deleted</a:t>
                      </a:r>
                    </a:p>
                    <a:p>
                      <a:pPr marL="342900" marR="0" lvl="0" indent="-342900">
                        <a:lnSpc>
                          <a:spcPct val="80000"/>
                        </a:lnSpc>
                        <a:spcBef>
                          <a:spcPts val="100"/>
                        </a:spcBef>
                        <a:spcAft>
                          <a:spcPts val="300"/>
                        </a:spcAft>
                        <a:buSzPts val="800"/>
                        <a:buFont typeface="Symbol"/>
                        <a:buChar char=""/>
                        <a:tabLst>
                          <a:tab pos="228600" algn="l"/>
                          <a:tab pos="274320" algn="l"/>
                        </a:tabLst>
                      </a:pPr>
                      <a:r>
                        <a:rPr lang="en-US" sz="1800" kern="1100" dirty="0">
                          <a:effectLst/>
                        </a:rPr>
                        <a:t>determine whether there would be any changes to the creation, initialization, persistence, manipulation, translation, or destruction of these data abstractions</a:t>
                      </a:r>
                    </a:p>
                    <a:p>
                      <a:pPr marL="342900" marR="0" lvl="0" indent="-342900">
                        <a:lnSpc>
                          <a:spcPct val="80000"/>
                        </a:lnSpc>
                        <a:spcBef>
                          <a:spcPts val="100"/>
                        </a:spcBef>
                        <a:spcAft>
                          <a:spcPts val="300"/>
                        </a:spcAft>
                        <a:buSzPts val="800"/>
                        <a:buFont typeface="Symbol"/>
                        <a:buChar char=""/>
                        <a:tabLst>
                          <a:tab pos="228600" algn="l"/>
                          <a:tab pos="274320" algn="l"/>
                        </a:tabLst>
                      </a:pPr>
                      <a:r>
                        <a:rPr lang="en-US" sz="1800" kern="1100" dirty="0">
                          <a:effectLst/>
                        </a:rPr>
                        <a:t>determine which other data abstractions are impacted by the change. For these additional abstractions, determine whether the impact would be on their operations, properties, creation, initialization, persistence, manipulation, translation, or destruction.</a:t>
                      </a:r>
                    </a:p>
                    <a:p>
                      <a:pPr marL="342900" marR="0" lvl="0" indent="-342900">
                        <a:lnSpc>
                          <a:spcPct val="80000"/>
                        </a:lnSpc>
                        <a:spcBef>
                          <a:spcPts val="100"/>
                        </a:spcBef>
                        <a:spcAft>
                          <a:spcPts val="300"/>
                        </a:spcAft>
                        <a:buSzPts val="800"/>
                        <a:buFont typeface="Symbol"/>
                        <a:buChar char=""/>
                        <a:tabLst>
                          <a:tab pos="228600" algn="l"/>
                          <a:tab pos="274320" algn="l"/>
                        </a:tabLst>
                      </a:pPr>
                      <a:r>
                        <a:rPr lang="en-US" sz="1800" kern="1100" dirty="0">
                          <a:effectLst/>
                        </a:rPr>
                        <a:t>ensure an allocation of data abstractions that minimizes the number and severity of modifications to the abstractions by the potential changes</a:t>
                      </a:r>
                    </a:p>
                    <a:p>
                      <a:pPr marL="0" marR="0" indent="0">
                        <a:lnSpc>
                          <a:spcPct val="80000"/>
                        </a:lnSpc>
                        <a:spcBef>
                          <a:spcPts val="100"/>
                        </a:spcBef>
                        <a:spcAft>
                          <a:spcPts val="300"/>
                        </a:spcAft>
                        <a:tabLst>
                          <a:tab pos="228600" algn="l"/>
                          <a:tab pos="274320" algn="l"/>
                          <a:tab pos="274320" algn="l"/>
                        </a:tabLst>
                      </a:pPr>
                      <a:r>
                        <a:rPr lang="en-US" sz="1800" kern="1100" dirty="0">
                          <a:effectLst/>
                        </a:rPr>
                        <a:t>Design your data model so that items allocated to each element of the data model are likely to change together.</a:t>
                      </a:r>
                      <a:endParaRPr lang="en-US" sz="1800" kern="1100" dirty="0">
                        <a:solidFill>
                          <a:srgbClr val="000080"/>
                        </a:solidFill>
                        <a:effectLst/>
                        <a:latin typeface="Times New Roman"/>
                        <a:ea typeface="Times New Roman"/>
                      </a:endParaRPr>
                    </a:p>
                  </a:txBody>
                  <a:tcPr marL="52255" marR="52255" marT="0" marB="0"/>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2071888735"/>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8" name="Date Placeholder 7">
            <a:extLst>
              <a:ext uri="{FF2B5EF4-FFF2-40B4-BE49-F238E27FC236}">
                <a16:creationId xmlns:a16="http://schemas.microsoft.com/office/drawing/2014/main" id="{CFBE0EA8-68D0-4CA8-969D-6CD63937981A}"/>
              </a:ext>
            </a:extLst>
          </p:cNvPr>
          <p:cNvSpPr>
            <a:spLocks noGrp="1"/>
          </p:cNvSpPr>
          <p:nvPr>
            <p:ph type="dt" sz="half" idx="12"/>
          </p:nvPr>
        </p:nvSpPr>
        <p:spPr/>
        <p:txBody>
          <a:bodyPr/>
          <a:lstStyle/>
          <a:p>
            <a:r>
              <a:rPr lang="en-US"/>
              <a:t>Auguts 1, 2026</a:t>
            </a:r>
          </a:p>
        </p:txBody>
      </p:sp>
      <p:sp>
        <p:nvSpPr>
          <p:cNvPr id="9" name="Slide Number Placeholder 8">
            <a:extLst>
              <a:ext uri="{FF2B5EF4-FFF2-40B4-BE49-F238E27FC236}">
                <a16:creationId xmlns:a16="http://schemas.microsoft.com/office/drawing/2014/main" id="{58983EB7-33BD-4A11-9D64-916D892DC7AA}"/>
              </a:ext>
            </a:extLst>
          </p:cNvPr>
          <p:cNvSpPr>
            <a:spLocks noGrp="1"/>
          </p:cNvSpPr>
          <p:nvPr>
            <p:ph type="sldNum" sz="quarter" idx="14"/>
          </p:nvPr>
        </p:nvSpPr>
        <p:spPr/>
        <p:txBody>
          <a:bodyPr/>
          <a:lstStyle/>
          <a:p>
            <a:fld id="{BC8D7E44-7D4F-4942-A8C9-2DF6BF8399E8}" type="slidenum">
              <a:rPr lang="en-US" smtClean="0"/>
              <a:pPr/>
              <a:t>142</a:t>
            </a:fld>
            <a:endParaRPr lang="en-US" dirty="0"/>
          </a:p>
        </p:txBody>
      </p:sp>
      <p:graphicFrame>
        <p:nvGraphicFramePr>
          <p:cNvPr id="10" name="Content Placeholder 9">
            <a:extLst>
              <a:ext uri="{FF2B5EF4-FFF2-40B4-BE49-F238E27FC236}">
                <a16:creationId xmlns:a16="http://schemas.microsoft.com/office/drawing/2014/main" id="{CEFAAC1A-3D67-EF83-46C2-73C448B4DCBF}"/>
              </a:ext>
            </a:extLst>
          </p:cNvPr>
          <p:cNvGraphicFramePr>
            <a:graphicFrameLocks noGrp="1"/>
          </p:cNvGraphicFramePr>
          <p:nvPr>
            <p:ph idx="1"/>
          </p:nvPr>
        </p:nvGraphicFramePr>
        <p:xfrm>
          <a:off x="304800" y="1493838"/>
          <a:ext cx="8534400" cy="4449762"/>
        </p:xfrm>
        <a:graphic>
          <a:graphicData uri="http://schemas.openxmlformats.org/drawingml/2006/table">
            <a:tbl>
              <a:tblPr firstRow="1" firstCol="1" bandRow="1">
                <a:tableStyleId>{5C22544A-7EE6-4342-B048-85BDC9FD1C3A}</a:tableStyleId>
              </a:tblPr>
              <a:tblGrid>
                <a:gridCol w="1784465">
                  <a:extLst>
                    <a:ext uri="{9D8B030D-6E8A-4147-A177-3AD203B41FA5}">
                      <a16:colId xmlns:a16="http://schemas.microsoft.com/office/drawing/2014/main" val="20000"/>
                    </a:ext>
                  </a:extLst>
                </a:gridCol>
                <a:gridCol w="6749935">
                  <a:extLst>
                    <a:ext uri="{9D8B030D-6E8A-4147-A177-3AD203B41FA5}">
                      <a16:colId xmlns:a16="http://schemas.microsoft.com/office/drawing/2014/main" val="20001"/>
                    </a:ext>
                  </a:extLst>
                </a:gridCol>
              </a:tblGrid>
              <a:tr h="4449762">
                <a:tc>
                  <a:txBody>
                    <a:bodyPr/>
                    <a:lstStyle/>
                    <a:p>
                      <a:pPr marL="0" marR="0">
                        <a:lnSpc>
                          <a:spcPct val="80000"/>
                        </a:lnSpc>
                        <a:spcBef>
                          <a:spcPts val="400"/>
                        </a:spcBef>
                        <a:spcAft>
                          <a:spcPts val="400"/>
                        </a:spcAft>
                      </a:pPr>
                      <a:r>
                        <a:rPr lang="en-US" sz="2000">
                          <a:effectLst/>
                        </a:rPr>
                        <a:t>Mapping Among Architectural Elements</a:t>
                      </a:r>
                      <a:endParaRPr lang="en-US" sz="2000">
                        <a:solidFill>
                          <a:srgbClr val="000080"/>
                        </a:solidFill>
                        <a:effectLst/>
                        <a:latin typeface="Times"/>
                        <a:ea typeface="Times New Roman"/>
                        <a:cs typeface="Times New Roman"/>
                      </a:endParaRPr>
                    </a:p>
                  </a:txBody>
                  <a:tcPr marL="68580" marR="68580" marT="0" marB="0"/>
                </a:tc>
                <a:tc>
                  <a:txBody>
                    <a:bodyPr/>
                    <a:lstStyle/>
                    <a:p>
                      <a:pPr marL="0" marR="0">
                        <a:lnSpc>
                          <a:spcPct val="80000"/>
                        </a:lnSpc>
                        <a:spcBef>
                          <a:spcPts val="400"/>
                        </a:spcBef>
                        <a:spcAft>
                          <a:spcPts val="400"/>
                        </a:spcAft>
                      </a:pPr>
                      <a:r>
                        <a:rPr lang="en-US" sz="2000" dirty="0">
                          <a:effectLst/>
                        </a:rPr>
                        <a:t>Determine if it is desirable to change the way in which functionality is mapped to computational elements (e.g. processes, threads, processors) at runtime, compile time, design time, or build time.</a:t>
                      </a:r>
                    </a:p>
                    <a:p>
                      <a:pPr marL="0" marR="0">
                        <a:lnSpc>
                          <a:spcPct val="80000"/>
                        </a:lnSpc>
                        <a:spcBef>
                          <a:spcPts val="400"/>
                        </a:spcBef>
                        <a:spcAft>
                          <a:spcPts val="400"/>
                        </a:spcAft>
                      </a:pPr>
                      <a:r>
                        <a:rPr lang="en-US" sz="2000" dirty="0">
                          <a:effectLst/>
                        </a:rPr>
                        <a:t>Determine the extent of modifications necessary to accommodate the addition, deletion, or modification of a function or a quality attribute.  This might involve a determination of, for example:</a:t>
                      </a:r>
                    </a:p>
                    <a:p>
                      <a:pPr marL="342900" marR="0" lvl="0" indent="-342900">
                        <a:lnSpc>
                          <a:spcPct val="80000"/>
                        </a:lnSpc>
                        <a:spcBef>
                          <a:spcPts val="100"/>
                        </a:spcBef>
                        <a:spcAft>
                          <a:spcPts val="300"/>
                        </a:spcAft>
                        <a:buSzPts val="800"/>
                        <a:buFont typeface="Symbol"/>
                        <a:buChar char=""/>
                        <a:tabLst>
                          <a:tab pos="228600" algn="l"/>
                          <a:tab pos="274320" algn="l"/>
                        </a:tabLst>
                      </a:pPr>
                      <a:r>
                        <a:rPr lang="en-US" sz="2000" kern="1100" dirty="0">
                          <a:effectLst/>
                        </a:rPr>
                        <a:t>execution dependencies</a:t>
                      </a:r>
                    </a:p>
                    <a:p>
                      <a:pPr marL="342900" marR="0" lvl="0" indent="-342900">
                        <a:lnSpc>
                          <a:spcPct val="80000"/>
                        </a:lnSpc>
                        <a:spcBef>
                          <a:spcPts val="100"/>
                        </a:spcBef>
                        <a:spcAft>
                          <a:spcPts val="300"/>
                        </a:spcAft>
                        <a:buSzPts val="800"/>
                        <a:buFont typeface="Symbol"/>
                        <a:buChar char=""/>
                        <a:tabLst>
                          <a:tab pos="228600" algn="l"/>
                          <a:tab pos="274320" algn="l"/>
                        </a:tabLst>
                      </a:pPr>
                      <a:r>
                        <a:rPr lang="en-US" sz="2000" kern="1100" dirty="0">
                          <a:effectLst/>
                        </a:rPr>
                        <a:t>assignment of data to databases</a:t>
                      </a:r>
                    </a:p>
                    <a:p>
                      <a:pPr marL="342900" marR="0" lvl="0" indent="-342900">
                        <a:lnSpc>
                          <a:spcPct val="80000"/>
                        </a:lnSpc>
                        <a:spcBef>
                          <a:spcPts val="100"/>
                        </a:spcBef>
                        <a:spcAft>
                          <a:spcPts val="300"/>
                        </a:spcAft>
                        <a:buSzPts val="800"/>
                        <a:buFont typeface="Symbol"/>
                        <a:buChar char=""/>
                        <a:tabLst>
                          <a:tab pos="228600" algn="l"/>
                          <a:tab pos="274320" algn="l"/>
                        </a:tabLst>
                      </a:pPr>
                      <a:r>
                        <a:rPr lang="en-US" sz="2000" kern="1100" dirty="0">
                          <a:effectLst/>
                        </a:rPr>
                        <a:t>assignment of runtime elements to processes, threads, or processors</a:t>
                      </a:r>
                    </a:p>
                    <a:p>
                      <a:pPr marL="0" marR="0" indent="0">
                        <a:lnSpc>
                          <a:spcPct val="80000"/>
                        </a:lnSpc>
                        <a:spcBef>
                          <a:spcPts val="100"/>
                        </a:spcBef>
                        <a:spcAft>
                          <a:spcPts val="300"/>
                        </a:spcAft>
                        <a:tabLst>
                          <a:tab pos="228600" algn="l"/>
                          <a:tab pos="274320" algn="l"/>
                          <a:tab pos="274320" algn="l"/>
                        </a:tabLst>
                      </a:pPr>
                      <a:r>
                        <a:rPr lang="en-US" sz="2000" kern="1100" dirty="0">
                          <a:effectLst/>
                        </a:rPr>
                        <a:t>Ensure that such changes are performed with mechanisms that utilize deferred binding of mapping decisions.</a:t>
                      </a:r>
                      <a:endParaRPr lang="en-US" sz="2000" kern="1100" dirty="0">
                        <a:solidFill>
                          <a:srgbClr val="000080"/>
                        </a:solidFill>
                        <a:effectLst/>
                        <a:latin typeface="Times New Roman"/>
                        <a:ea typeface="Times New Roman"/>
                      </a:endParaRPr>
                    </a:p>
                  </a:txBody>
                  <a:tcPr marL="68580" marR="68580" marT="0" marB="0"/>
                </a:tc>
                <a:extLst>
                  <a:ext uri="{0D108BD9-81ED-4DB2-BD59-A6C34878D82A}">
                    <a16:rowId xmlns:a16="http://schemas.microsoft.com/office/drawing/2014/main" val="10000"/>
                  </a:ext>
                </a:extLst>
              </a:tr>
            </a:tbl>
          </a:graphicData>
        </a:graphic>
      </p:graphicFrame>
      <p:sp>
        <p:nvSpPr>
          <p:cNvPr id="11" name="Title 1">
            <a:extLst>
              <a:ext uri="{FF2B5EF4-FFF2-40B4-BE49-F238E27FC236}">
                <a16:creationId xmlns:a16="http://schemas.microsoft.com/office/drawing/2014/main" id="{46859196-59F8-68C9-77AB-FF11A58E68D6}"/>
              </a:ext>
            </a:extLst>
          </p:cNvPr>
          <p:cNvSpPr>
            <a:spLocks noGrp="1"/>
          </p:cNvSpPr>
          <p:nvPr>
            <p:ph sz="quarter" idx="10"/>
          </p:nvPr>
        </p:nvSpPr>
        <p:spPr>
          <a:xfrm>
            <a:off x="304800" y="152400"/>
            <a:ext cx="6324600" cy="1143000"/>
          </a:xfrm>
        </p:spPr>
        <p:txBody>
          <a:bodyPr>
            <a:normAutofit/>
          </a:bodyPr>
          <a:lstStyle/>
          <a:p>
            <a:r>
              <a:rPr lang="en-US" dirty="0"/>
              <a:t>Design Checklist for Modifiability</a:t>
            </a:r>
          </a:p>
        </p:txBody>
      </p:sp>
    </p:spTree>
    <p:extLst>
      <p:ext uri="{BB962C8B-B14F-4D97-AF65-F5344CB8AC3E}">
        <p14:creationId xmlns:p14="http://schemas.microsoft.com/office/powerpoint/2010/main" val="241646990"/>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8" name="Date Placeholder 7">
            <a:extLst>
              <a:ext uri="{FF2B5EF4-FFF2-40B4-BE49-F238E27FC236}">
                <a16:creationId xmlns:a16="http://schemas.microsoft.com/office/drawing/2014/main" id="{594F55D0-BA8C-4383-B2E6-61AA2B76E95C}"/>
              </a:ext>
            </a:extLst>
          </p:cNvPr>
          <p:cNvSpPr>
            <a:spLocks noGrp="1"/>
          </p:cNvSpPr>
          <p:nvPr>
            <p:ph type="dt" sz="half" idx="12"/>
          </p:nvPr>
        </p:nvSpPr>
        <p:spPr/>
        <p:txBody>
          <a:bodyPr/>
          <a:lstStyle/>
          <a:p>
            <a:r>
              <a:rPr lang="en-US"/>
              <a:t>Auguts 1, 2026</a:t>
            </a:r>
          </a:p>
        </p:txBody>
      </p:sp>
      <p:sp>
        <p:nvSpPr>
          <p:cNvPr id="9" name="Slide Number Placeholder 8">
            <a:extLst>
              <a:ext uri="{FF2B5EF4-FFF2-40B4-BE49-F238E27FC236}">
                <a16:creationId xmlns:a16="http://schemas.microsoft.com/office/drawing/2014/main" id="{BCEB866B-7976-4D69-8BDE-F89FF4FC8CC6}"/>
              </a:ext>
            </a:extLst>
          </p:cNvPr>
          <p:cNvSpPr>
            <a:spLocks noGrp="1"/>
          </p:cNvSpPr>
          <p:nvPr>
            <p:ph type="sldNum" sz="quarter" idx="14"/>
          </p:nvPr>
        </p:nvSpPr>
        <p:spPr/>
        <p:txBody>
          <a:bodyPr/>
          <a:lstStyle/>
          <a:p>
            <a:fld id="{BC8D7E44-7D4F-4942-A8C9-2DF6BF8399E8}" type="slidenum">
              <a:rPr lang="en-US" smtClean="0"/>
              <a:pPr/>
              <a:t>143</a:t>
            </a:fld>
            <a:endParaRPr lang="en-US" dirty="0"/>
          </a:p>
        </p:txBody>
      </p:sp>
      <p:graphicFrame>
        <p:nvGraphicFramePr>
          <p:cNvPr id="10" name="Content Placeholder 9">
            <a:extLst>
              <a:ext uri="{FF2B5EF4-FFF2-40B4-BE49-F238E27FC236}">
                <a16:creationId xmlns:a16="http://schemas.microsoft.com/office/drawing/2014/main" id="{D32ED65B-92FF-DD12-2F62-3D6B96070436}"/>
              </a:ext>
            </a:extLst>
          </p:cNvPr>
          <p:cNvGraphicFramePr>
            <a:graphicFrameLocks noGrp="1"/>
          </p:cNvGraphicFramePr>
          <p:nvPr>
            <p:ph idx="1"/>
          </p:nvPr>
        </p:nvGraphicFramePr>
        <p:xfrm>
          <a:off x="304800" y="1493838"/>
          <a:ext cx="7920880" cy="3600400"/>
        </p:xfrm>
        <a:graphic>
          <a:graphicData uri="http://schemas.openxmlformats.org/drawingml/2006/table">
            <a:tbl>
              <a:tblPr firstRow="1" firstCol="1" bandRow="1">
                <a:tableStyleId>{5C22544A-7EE6-4342-B048-85BDC9FD1C3A}</a:tableStyleId>
              </a:tblPr>
              <a:tblGrid>
                <a:gridCol w="1656184">
                  <a:extLst>
                    <a:ext uri="{9D8B030D-6E8A-4147-A177-3AD203B41FA5}">
                      <a16:colId xmlns:a16="http://schemas.microsoft.com/office/drawing/2014/main" val="20000"/>
                    </a:ext>
                  </a:extLst>
                </a:gridCol>
                <a:gridCol w="6264696">
                  <a:extLst>
                    <a:ext uri="{9D8B030D-6E8A-4147-A177-3AD203B41FA5}">
                      <a16:colId xmlns:a16="http://schemas.microsoft.com/office/drawing/2014/main" val="20001"/>
                    </a:ext>
                  </a:extLst>
                </a:gridCol>
              </a:tblGrid>
              <a:tr h="3600400">
                <a:tc>
                  <a:txBody>
                    <a:bodyPr/>
                    <a:lstStyle/>
                    <a:p>
                      <a:pPr marL="0" marR="0">
                        <a:lnSpc>
                          <a:spcPct val="80000"/>
                        </a:lnSpc>
                        <a:spcBef>
                          <a:spcPts val="400"/>
                        </a:spcBef>
                        <a:spcAft>
                          <a:spcPts val="400"/>
                        </a:spcAft>
                      </a:pPr>
                      <a:r>
                        <a:rPr lang="en-US" sz="2000">
                          <a:effectLst/>
                        </a:rPr>
                        <a:t>Resource Management</a:t>
                      </a:r>
                      <a:endParaRPr lang="en-US" sz="2000">
                        <a:solidFill>
                          <a:srgbClr val="000080"/>
                        </a:solidFill>
                        <a:effectLst/>
                        <a:latin typeface="Times"/>
                        <a:ea typeface="Times New Roman"/>
                        <a:cs typeface="Times New Roman"/>
                      </a:endParaRPr>
                    </a:p>
                  </a:txBody>
                  <a:tcPr marL="68580" marR="68580" marT="0" marB="0"/>
                </a:tc>
                <a:tc>
                  <a:txBody>
                    <a:bodyPr/>
                    <a:lstStyle/>
                    <a:p>
                      <a:pPr marL="0" marR="0">
                        <a:lnSpc>
                          <a:spcPct val="80000"/>
                        </a:lnSpc>
                        <a:spcBef>
                          <a:spcPts val="400"/>
                        </a:spcBef>
                        <a:spcAft>
                          <a:spcPts val="400"/>
                        </a:spcAft>
                      </a:pPr>
                      <a:r>
                        <a:rPr lang="en-US" sz="2000" dirty="0">
                          <a:effectLst/>
                        </a:rPr>
                        <a:t>Determine how the addition, deletion, or modification of a responsibility or quality attribute will affect resource usage.  This involves, for example,</a:t>
                      </a:r>
                    </a:p>
                    <a:p>
                      <a:pPr marL="342900" marR="0" lvl="0" indent="-342900">
                        <a:lnSpc>
                          <a:spcPct val="80000"/>
                        </a:lnSpc>
                        <a:spcBef>
                          <a:spcPts val="100"/>
                        </a:spcBef>
                        <a:spcAft>
                          <a:spcPts val="300"/>
                        </a:spcAft>
                        <a:buSzPts val="800"/>
                        <a:buFont typeface="Symbol"/>
                        <a:buChar char=""/>
                        <a:tabLst>
                          <a:tab pos="228600" algn="l"/>
                          <a:tab pos="274320" algn="l"/>
                        </a:tabLst>
                      </a:pPr>
                      <a:r>
                        <a:rPr lang="en-US" sz="2000" kern="1100" dirty="0">
                          <a:effectLst/>
                        </a:rPr>
                        <a:t>determining what changes might introduce new resources or remove old ones or affect existing resource usage.</a:t>
                      </a:r>
                    </a:p>
                    <a:p>
                      <a:pPr marL="342900" marR="0" lvl="0" indent="-342900">
                        <a:lnSpc>
                          <a:spcPct val="80000"/>
                        </a:lnSpc>
                        <a:spcBef>
                          <a:spcPts val="100"/>
                        </a:spcBef>
                        <a:spcAft>
                          <a:spcPts val="300"/>
                        </a:spcAft>
                        <a:buSzPts val="800"/>
                        <a:buFont typeface="Symbol"/>
                        <a:buChar char=""/>
                        <a:tabLst>
                          <a:tab pos="228600" algn="l"/>
                          <a:tab pos="274320" algn="l"/>
                        </a:tabLst>
                      </a:pPr>
                      <a:r>
                        <a:rPr lang="en-US" sz="2000" kern="1100" dirty="0">
                          <a:effectLst/>
                        </a:rPr>
                        <a:t>determining what resource limits will change and how</a:t>
                      </a:r>
                    </a:p>
                    <a:p>
                      <a:pPr marL="0" marR="0">
                        <a:lnSpc>
                          <a:spcPct val="80000"/>
                        </a:lnSpc>
                        <a:spcBef>
                          <a:spcPts val="400"/>
                        </a:spcBef>
                        <a:spcAft>
                          <a:spcPts val="400"/>
                        </a:spcAft>
                      </a:pPr>
                      <a:r>
                        <a:rPr lang="en-US" sz="2000" dirty="0">
                          <a:effectLst/>
                        </a:rPr>
                        <a:t>Ensure that the resources after the modification are sufficient to meet the system requirements.</a:t>
                      </a:r>
                    </a:p>
                    <a:p>
                      <a:pPr marL="0" marR="0">
                        <a:lnSpc>
                          <a:spcPct val="80000"/>
                        </a:lnSpc>
                        <a:spcBef>
                          <a:spcPts val="400"/>
                        </a:spcBef>
                        <a:spcAft>
                          <a:spcPts val="400"/>
                        </a:spcAft>
                      </a:pPr>
                      <a:r>
                        <a:rPr lang="en-US" sz="2000" dirty="0">
                          <a:effectLst/>
                        </a:rPr>
                        <a:t>Encapsulate all resource managers and ensure that the policies implemented by those resource managers utilize are themselves encapsulated and bindings are deferred to the extent possible.</a:t>
                      </a:r>
                      <a:endParaRPr lang="en-US" sz="2000" dirty="0">
                        <a:solidFill>
                          <a:srgbClr val="000080"/>
                        </a:solidFill>
                        <a:effectLst/>
                        <a:latin typeface="Times"/>
                        <a:ea typeface="Times New Roman"/>
                        <a:cs typeface="Times New Roman"/>
                      </a:endParaRPr>
                    </a:p>
                  </a:txBody>
                  <a:tcPr marL="68580" marR="68580" marT="0" marB="0"/>
                </a:tc>
                <a:extLst>
                  <a:ext uri="{0D108BD9-81ED-4DB2-BD59-A6C34878D82A}">
                    <a16:rowId xmlns:a16="http://schemas.microsoft.com/office/drawing/2014/main" val="10000"/>
                  </a:ext>
                </a:extLst>
              </a:tr>
            </a:tbl>
          </a:graphicData>
        </a:graphic>
      </p:graphicFrame>
      <p:sp>
        <p:nvSpPr>
          <p:cNvPr id="11" name="Title 1">
            <a:extLst>
              <a:ext uri="{FF2B5EF4-FFF2-40B4-BE49-F238E27FC236}">
                <a16:creationId xmlns:a16="http://schemas.microsoft.com/office/drawing/2014/main" id="{E1EF1C54-67A6-973D-8543-0B237116ECF9}"/>
              </a:ext>
            </a:extLst>
          </p:cNvPr>
          <p:cNvSpPr>
            <a:spLocks noGrp="1"/>
          </p:cNvSpPr>
          <p:nvPr>
            <p:ph sz="quarter" idx="10"/>
          </p:nvPr>
        </p:nvSpPr>
        <p:spPr>
          <a:xfrm>
            <a:off x="304800" y="152400"/>
            <a:ext cx="6324600" cy="1143000"/>
          </a:xfrm>
        </p:spPr>
        <p:txBody>
          <a:bodyPr>
            <a:normAutofit/>
          </a:bodyPr>
          <a:lstStyle/>
          <a:p>
            <a:r>
              <a:rPr lang="en-US" dirty="0"/>
              <a:t>Design Checklist for Modifiability</a:t>
            </a:r>
          </a:p>
        </p:txBody>
      </p:sp>
    </p:spTree>
    <p:extLst>
      <p:ext uri="{BB962C8B-B14F-4D97-AF65-F5344CB8AC3E}">
        <p14:creationId xmlns:p14="http://schemas.microsoft.com/office/powerpoint/2010/main" val="1668859578"/>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8" name="Date Placeholder 7">
            <a:extLst>
              <a:ext uri="{FF2B5EF4-FFF2-40B4-BE49-F238E27FC236}">
                <a16:creationId xmlns:a16="http://schemas.microsoft.com/office/drawing/2014/main" id="{F05A11F0-971A-4F37-88BD-57C6C7FE10C0}"/>
              </a:ext>
            </a:extLst>
          </p:cNvPr>
          <p:cNvSpPr>
            <a:spLocks noGrp="1"/>
          </p:cNvSpPr>
          <p:nvPr>
            <p:ph type="dt" sz="half" idx="12"/>
          </p:nvPr>
        </p:nvSpPr>
        <p:spPr/>
        <p:txBody>
          <a:bodyPr/>
          <a:lstStyle/>
          <a:p>
            <a:r>
              <a:rPr lang="en-US"/>
              <a:t>Auguts 1, 2026</a:t>
            </a:r>
          </a:p>
        </p:txBody>
      </p:sp>
      <p:sp>
        <p:nvSpPr>
          <p:cNvPr id="9" name="Slide Number Placeholder 8">
            <a:extLst>
              <a:ext uri="{FF2B5EF4-FFF2-40B4-BE49-F238E27FC236}">
                <a16:creationId xmlns:a16="http://schemas.microsoft.com/office/drawing/2014/main" id="{2C3B62C5-06AF-4B16-8B3F-0AA43776B256}"/>
              </a:ext>
            </a:extLst>
          </p:cNvPr>
          <p:cNvSpPr>
            <a:spLocks noGrp="1"/>
          </p:cNvSpPr>
          <p:nvPr>
            <p:ph type="sldNum" sz="quarter" idx="14"/>
          </p:nvPr>
        </p:nvSpPr>
        <p:spPr/>
        <p:txBody>
          <a:bodyPr/>
          <a:lstStyle/>
          <a:p>
            <a:fld id="{BC8D7E44-7D4F-4942-A8C9-2DF6BF8399E8}" type="slidenum">
              <a:rPr lang="en-US" smtClean="0"/>
              <a:pPr/>
              <a:t>144</a:t>
            </a:fld>
            <a:endParaRPr lang="en-US" dirty="0"/>
          </a:p>
        </p:txBody>
      </p:sp>
      <p:graphicFrame>
        <p:nvGraphicFramePr>
          <p:cNvPr id="10" name="Content Placeholder 9">
            <a:extLst>
              <a:ext uri="{FF2B5EF4-FFF2-40B4-BE49-F238E27FC236}">
                <a16:creationId xmlns:a16="http://schemas.microsoft.com/office/drawing/2014/main" id="{1467580E-11B4-51C7-1548-2D2BD809CA37}"/>
              </a:ext>
            </a:extLst>
          </p:cNvPr>
          <p:cNvGraphicFramePr>
            <a:graphicFrameLocks noGrp="1"/>
          </p:cNvGraphicFramePr>
          <p:nvPr>
            <p:ph idx="1"/>
          </p:nvPr>
        </p:nvGraphicFramePr>
        <p:xfrm>
          <a:off x="304800" y="1493838"/>
          <a:ext cx="8534400" cy="3763962"/>
        </p:xfrm>
        <a:graphic>
          <a:graphicData uri="http://schemas.openxmlformats.org/drawingml/2006/table">
            <a:tbl>
              <a:tblPr firstRow="1" firstCol="1" bandRow="1">
                <a:tableStyleId>{5C22544A-7EE6-4342-B048-85BDC9FD1C3A}</a:tableStyleId>
              </a:tblPr>
              <a:tblGrid>
                <a:gridCol w="1086196">
                  <a:extLst>
                    <a:ext uri="{9D8B030D-6E8A-4147-A177-3AD203B41FA5}">
                      <a16:colId xmlns:a16="http://schemas.microsoft.com/office/drawing/2014/main" val="20000"/>
                    </a:ext>
                  </a:extLst>
                </a:gridCol>
                <a:gridCol w="7448204">
                  <a:extLst>
                    <a:ext uri="{9D8B030D-6E8A-4147-A177-3AD203B41FA5}">
                      <a16:colId xmlns:a16="http://schemas.microsoft.com/office/drawing/2014/main" val="20001"/>
                    </a:ext>
                  </a:extLst>
                </a:gridCol>
              </a:tblGrid>
              <a:tr h="3763962">
                <a:tc>
                  <a:txBody>
                    <a:bodyPr/>
                    <a:lstStyle/>
                    <a:p>
                      <a:pPr marL="0" marR="0">
                        <a:lnSpc>
                          <a:spcPct val="80000"/>
                        </a:lnSpc>
                        <a:spcBef>
                          <a:spcPts val="400"/>
                        </a:spcBef>
                        <a:spcAft>
                          <a:spcPts val="400"/>
                        </a:spcAft>
                      </a:pPr>
                      <a:r>
                        <a:rPr lang="en-US" sz="2000">
                          <a:effectLst/>
                        </a:rPr>
                        <a:t>Binding Time</a:t>
                      </a:r>
                      <a:endParaRPr lang="en-US" sz="2000">
                        <a:solidFill>
                          <a:srgbClr val="000080"/>
                        </a:solidFill>
                        <a:effectLst/>
                        <a:latin typeface="Times"/>
                        <a:ea typeface="Times New Roman"/>
                        <a:cs typeface="Times New Roman"/>
                      </a:endParaRPr>
                    </a:p>
                  </a:txBody>
                  <a:tcPr marL="68580" marR="68580" marT="0" marB="0"/>
                </a:tc>
                <a:tc>
                  <a:txBody>
                    <a:bodyPr/>
                    <a:lstStyle/>
                    <a:p>
                      <a:pPr marL="0" marR="0">
                        <a:lnSpc>
                          <a:spcPct val="80000"/>
                        </a:lnSpc>
                        <a:spcBef>
                          <a:spcPts val="400"/>
                        </a:spcBef>
                        <a:spcAft>
                          <a:spcPts val="400"/>
                        </a:spcAft>
                      </a:pPr>
                      <a:r>
                        <a:rPr lang="en-US" sz="2000" dirty="0">
                          <a:effectLst/>
                        </a:rPr>
                        <a:t>For each change or category of change</a:t>
                      </a:r>
                    </a:p>
                    <a:p>
                      <a:pPr marL="342900" marR="0" lvl="0" indent="-342900">
                        <a:lnSpc>
                          <a:spcPct val="80000"/>
                        </a:lnSpc>
                        <a:spcBef>
                          <a:spcPts val="400"/>
                        </a:spcBef>
                        <a:spcAft>
                          <a:spcPts val="0"/>
                        </a:spcAft>
                        <a:buFont typeface="Symbol"/>
                        <a:buChar char=""/>
                      </a:pPr>
                      <a:r>
                        <a:rPr lang="en-US" sz="2000" dirty="0">
                          <a:effectLst/>
                        </a:rPr>
                        <a:t>Determine the latest time at which the change will need to be made.  </a:t>
                      </a:r>
                    </a:p>
                    <a:p>
                      <a:pPr marL="342900" marR="0" lvl="0" indent="-342900">
                        <a:lnSpc>
                          <a:spcPct val="80000"/>
                        </a:lnSpc>
                        <a:spcBef>
                          <a:spcPts val="0"/>
                        </a:spcBef>
                        <a:spcAft>
                          <a:spcPts val="0"/>
                        </a:spcAft>
                        <a:buFont typeface="Symbol"/>
                        <a:buChar char=""/>
                      </a:pPr>
                      <a:r>
                        <a:rPr lang="en-US" sz="2000" dirty="0">
                          <a:effectLst/>
                        </a:rPr>
                        <a:t>Choose a defer-binding mechanism (see Section 7.2.4) that delivers the appropriate capability at the time chosen.</a:t>
                      </a:r>
                    </a:p>
                    <a:p>
                      <a:pPr marL="342900" marR="0" lvl="0" indent="-342900">
                        <a:lnSpc>
                          <a:spcPct val="80000"/>
                        </a:lnSpc>
                        <a:spcBef>
                          <a:spcPts val="0"/>
                        </a:spcBef>
                        <a:spcAft>
                          <a:spcPts val="0"/>
                        </a:spcAft>
                        <a:buFont typeface="Symbol"/>
                        <a:buChar char=""/>
                      </a:pPr>
                      <a:r>
                        <a:rPr lang="en-US" sz="2000" dirty="0">
                          <a:effectLst/>
                        </a:rPr>
                        <a:t>Determine the cost of introducing the mechanism and the cost of making changes using the chosen mechanism</a:t>
                      </a:r>
                    </a:p>
                    <a:p>
                      <a:pPr marL="342900" marR="0" lvl="0" indent="-342900">
                        <a:lnSpc>
                          <a:spcPct val="80000"/>
                        </a:lnSpc>
                        <a:spcBef>
                          <a:spcPts val="0"/>
                        </a:spcBef>
                        <a:spcAft>
                          <a:spcPts val="400"/>
                        </a:spcAft>
                        <a:buFont typeface="Symbol"/>
                        <a:buChar char=""/>
                      </a:pPr>
                      <a:r>
                        <a:rPr lang="en-US" sz="2000" dirty="0">
                          <a:effectLst/>
                        </a:rPr>
                        <a:t>Do not introduce so many binding choices that change is impeded because the dependencies among the choices are complex and unknown. </a:t>
                      </a:r>
                      <a:endParaRPr lang="en-US" sz="2000" dirty="0">
                        <a:solidFill>
                          <a:srgbClr val="000080"/>
                        </a:solidFill>
                        <a:effectLst/>
                        <a:latin typeface="Times"/>
                        <a:ea typeface="SimSun"/>
                        <a:cs typeface="Times New Roman"/>
                      </a:endParaRPr>
                    </a:p>
                  </a:txBody>
                  <a:tcPr marL="68580" marR="68580" marT="0" marB="0"/>
                </a:tc>
                <a:extLst>
                  <a:ext uri="{0D108BD9-81ED-4DB2-BD59-A6C34878D82A}">
                    <a16:rowId xmlns:a16="http://schemas.microsoft.com/office/drawing/2014/main" val="10000"/>
                  </a:ext>
                </a:extLst>
              </a:tr>
            </a:tbl>
          </a:graphicData>
        </a:graphic>
      </p:graphicFrame>
      <p:sp>
        <p:nvSpPr>
          <p:cNvPr id="11" name="Title 1">
            <a:extLst>
              <a:ext uri="{FF2B5EF4-FFF2-40B4-BE49-F238E27FC236}">
                <a16:creationId xmlns:a16="http://schemas.microsoft.com/office/drawing/2014/main" id="{2EB398E4-5A59-6EE4-E8C2-E523CA00AD40}"/>
              </a:ext>
            </a:extLst>
          </p:cNvPr>
          <p:cNvSpPr>
            <a:spLocks noGrp="1"/>
          </p:cNvSpPr>
          <p:nvPr>
            <p:ph sz="quarter" idx="10"/>
          </p:nvPr>
        </p:nvSpPr>
        <p:spPr>
          <a:xfrm>
            <a:off x="304800" y="152400"/>
            <a:ext cx="6324600" cy="1143000"/>
          </a:xfrm>
        </p:spPr>
        <p:txBody>
          <a:bodyPr>
            <a:normAutofit/>
          </a:bodyPr>
          <a:lstStyle/>
          <a:p>
            <a:r>
              <a:rPr lang="en-US" dirty="0"/>
              <a:t>Design Checklist for Modifiability</a:t>
            </a:r>
          </a:p>
        </p:txBody>
      </p:sp>
    </p:spTree>
    <p:extLst>
      <p:ext uri="{BB962C8B-B14F-4D97-AF65-F5344CB8AC3E}">
        <p14:creationId xmlns:p14="http://schemas.microsoft.com/office/powerpoint/2010/main" val="1093825377"/>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8" name="Date Placeholder 7">
            <a:extLst>
              <a:ext uri="{FF2B5EF4-FFF2-40B4-BE49-F238E27FC236}">
                <a16:creationId xmlns:a16="http://schemas.microsoft.com/office/drawing/2014/main" id="{ECF3DFBD-EFC4-4F0D-B5C6-E8ECFA4564D9}"/>
              </a:ext>
            </a:extLst>
          </p:cNvPr>
          <p:cNvSpPr>
            <a:spLocks noGrp="1"/>
          </p:cNvSpPr>
          <p:nvPr>
            <p:ph type="dt" sz="half" idx="12"/>
          </p:nvPr>
        </p:nvSpPr>
        <p:spPr/>
        <p:txBody>
          <a:bodyPr/>
          <a:lstStyle/>
          <a:p>
            <a:r>
              <a:rPr lang="en-US"/>
              <a:t>Auguts 1, 2026</a:t>
            </a:r>
          </a:p>
        </p:txBody>
      </p:sp>
      <p:sp>
        <p:nvSpPr>
          <p:cNvPr id="9" name="Slide Number Placeholder 8">
            <a:extLst>
              <a:ext uri="{FF2B5EF4-FFF2-40B4-BE49-F238E27FC236}">
                <a16:creationId xmlns:a16="http://schemas.microsoft.com/office/drawing/2014/main" id="{3FB1497C-6972-492A-9B89-ED63E3FB4EAB}"/>
              </a:ext>
            </a:extLst>
          </p:cNvPr>
          <p:cNvSpPr>
            <a:spLocks noGrp="1"/>
          </p:cNvSpPr>
          <p:nvPr>
            <p:ph type="sldNum" sz="quarter" idx="14"/>
          </p:nvPr>
        </p:nvSpPr>
        <p:spPr/>
        <p:txBody>
          <a:bodyPr/>
          <a:lstStyle/>
          <a:p>
            <a:fld id="{BC8D7E44-7D4F-4942-A8C9-2DF6BF8399E8}" type="slidenum">
              <a:rPr lang="en-US" smtClean="0"/>
              <a:pPr/>
              <a:t>145</a:t>
            </a:fld>
            <a:endParaRPr lang="en-US" dirty="0"/>
          </a:p>
        </p:txBody>
      </p:sp>
      <p:sp>
        <p:nvSpPr>
          <p:cNvPr id="11" name="Title 1">
            <a:extLst>
              <a:ext uri="{FF2B5EF4-FFF2-40B4-BE49-F238E27FC236}">
                <a16:creationId xmlns:a16="http://schemas.microsoft.com/office/drawing/2014/main" id="{73A9013E-5F8A-CFE2-E0CA-5517969C7ACD}"/>
              </a:ext>
            </a:extLst>
          </p:cNvPr>
          <p:cNvSpPr>
            <a:spLocks noGrp="1"/>
          </p:cNvSpPr>
          <p:nvPr>
            <p:ph sz="quarter" idx="10"/>
          </p:nvPr>
        </p:nvSpPr>
        <p:spPr>
          <a:xfrm>
            <a:off x="304800" y="152400"/>
            <a:ext cx="6324600" cy="1143000"/>
          </a:xfrm>
        </p:spPr>
        <p:txBody>
          <a:bodyPr>
            <a:normAutofit/>
          </a:bodyPr>
          <a:lstStyle/>
          <a:p>
            <a:r>
              <a:rPr lang="en-US" dirty="0"/>
              <a:t>Design Checklist for Modifiability</a:t>
            </a:r>
          </a:p>
        </p:txBody>
      </p:sp>
      <p:graphicFrame>
        <p:nvGraphicFramePr>
          <p:cNvPr id="12" name="Content Placeholder 11">
            <a:extLst>
              <a:ext uri="{FF2B5EF4-FFF2-40B4-BE49-F238E27FC236}">
                <a16:creationId xmlns:a16="http://schemas.microsoft.com/office/drawing/2014/main" id="{C63350A2-B07C-C067-355B-6063C437874D}"/>
              </a:ext>
            </a:extLst>
          </p:cNvPr>
          <p:cNvGraphicFramePr>
            <a:graphicFrameLocks noGrp="1"/>
          </p:cNvGraphicFramePr>
          <p:nvPr>
            <p:ph idx="1"/>
          </p:nvPr>
        </p:nvGraphicFramePr>
        <p:xfrm>
          <a:off x="304800" y="1493838"/>
          <a:ext cx="8610600" cy="3763962"/>
        </p:xfrm>
        <a:graphic>
          <a:graphicData uri="http://schemas.openxmlformats.org/drawingml/2006/table">
            <a:tbl>
              <a:tblPr firstRow="1" firstCol="1" bandRow="1">
                <a:tableStyleId>{5C22544A-7EE6-4342-B048-85BDC9FD1C3A}</a:tableStyleId>
              </a:tblPr>
              <a:tblGrid>
                <a:gridCol w="1579927">
                  <a:extLst>
                    <a:ext uri="{9D8B030D-6E8A-4147-A177-3AD203B41FA5}">
                      <a16:colId xmlns:a16="http://schemas.microsoft.com/office/drawing/2014/main" val="20000"/>
                    </a:ext>
                  </a:extLst>
                </a:gridCol>
                <a:gridCol w="7030673">
                  <a:extLst>
                    <a:ext uri="{9D8B030D-6E8A-4147-A177-3AD203B41FA5}">
                      <a16:colId xmlns:a16="http://schemas.microsoft.com/office/drawing/2014/main" val="20001"/>
                    </a:ext>
                  </a:extLst>
                </a:gridCol>
              </a:tblGrid>
              <a:tr h="3763962">
                <a:tc>
                  <a:txBody>
                    <a:bodyPr/>
                    <a:lstStyle/>
                    <a:p>
                      <a:pPr marL="0" marR="0">
                        <a:lnSpc>
                          <a:spcPct val="80000"/>
                        </a:lnSpc>
                        <a:spcBef>
                          <a:spcPts val="400"/>
                        </a:spcBef>
                        <a:spcAft>
                          <a:spcPts val="400"/>
                        </a:spcAft>
                      </a:pPr>
                      <a:r>
                        <a:rPr lang="en-US" sz="2000">
                          <a:effectLst/>
                        </a:rPr>
                        <a:t>Choice of Technology</a:t>
                      </a:r>
                      <a:endParaRPr lang="en-US" sz="2000">
                        <a:solidFill>
                          <a:srgbClr val="000080"/>
                        </a:solidFill>
                        <a:effectLst/>
                        <a:latin typeface="Times"/>
                        <a:ea typeface="Times New Roman"/>
                        <a:cs typeface="Times New Roman"/>
                      </a:endParaRPr>
                    </a:p>
                  </a:txBody>
                  <a:tcPr marL="68580" marR="68580" marT="0" marB="0"/>
                </a:tc>
                <a:tc>
                  <a:txBody>
                    <a:bodyPr/>
                    <a:lstStyle/>
                    <a:p>
                      <a:pPr marL="0" marR="0">
                        <a:lnSpc>
                          <a:spcPct val="80000"/>
                        </a:lnSpc>
                        <a:spcBef>
                          <a:spcPts val="400"/>
                        </a:spcBef>
                        <a:spcAft>
                          <a:spcPts val="400"/>
                        </a:spcAft>
                      </a:pPr>
                      <a:r>
                        <a:rPr lang="en-US" sz="2000" dirty="0">
                          <a:effectLst/>
                        </a:rPr>
                        <a:t>Determine what modifications are made easier or harder by your technology choices. </a:t>
                      </a:r>
                    </a:p>
                    <a:p>
                      <a:pPr marL="342900" marR="0" lvl="0" indent="-342900">
                        <a:lnSpc>
                          <a:spcPct val="80000"/>
                        </a:lnSpc>
                        <a:spcBef>
                          <a:spcPts val="100"/>
                        </a:spcBef>
                        <a:spcAft>
                          <a:spcPts val="300"/>
                        </a:spcAft>
                        <a:buSzPts val="800"/>
                        <a:buFont typeface="Symbol"/>
                        <a:buChar char=""/>
                        <a:tabLst>
                          <a:tab pos="228600" algn="l"/>
                          <a:tab pos="274320" algn="l"/>
                        </a:tabLst>
                      </a:pPr>
                      <a:r>
                        <a:rPr lang="en-US" sz="2000" kern="1100" dirty="0">
                          <a:effectLst/>
                        </a:rPr>
                        <a:t>Will your technology choices help to make, test, and deploy modifications?</a:t>
                      </a:r>
                    </a:p>
                    <a:p>
                      <a:pPr marL="342900" marR="0" lvl="0" indent="-342900">
                        <a:lnSpc>
                          <a:spcPct val="80000"/>
                        </a:lnSpc>
                        <a:spcBef>
                          <a:spcPts val="100"/>
                        </a:spcBef>
                        <a:spcAft>
                          <a:spcPts val="300"/>
                        </a:spcAft>
                        <a:buSzPts val="800"/>
                        <a:buFont typeface="Symbol"/>
                        <a:buChar char=""/>
                        <a:tabLst>
                          <a:tab pos="228600" algn="l"/>
                          <a:tab pos="274320" algn="l"/>
                        </a:tabLst>
                      </a:pPr>
                      <a:r>
                        <a:rPr lang="en-US" sz="2000" kern="1100" dirty="0">
                          <a:effectLst/>
                        </a:rPr>
                        <a:t>How easy is it to modify your choice of technologies itself (in case some of these technologies change or become obsolete)?</a:t>
                      </a:r>
                    </a:p>
                    <a:p>
                      <a:pPr marL="0" marR="0">
                        <a:lnSpc>
                          <a:spcPct val="80000"/>
                        </a:lnSpc>
                        <a:spcBef>
                          <a:spcPts val="400"/>
                        </a:spcBef>
                        <a:spcAft>
                          <a:spcPts val="400"/>
                        </a:spcAft>
                      </a:pPr>
                      <a:r>
                        <a:rPr lang="en-US" sz="2000" dirty="0">
                          <a:effectLst/>
                        </a:rPr>
                        <a:t>Choose your technologies to support the most likely modifications. For example, an Enterprise Service Bus makes it easier to change how elements are connected but may introduce vendor lock in.</a:t>
                      </a:r>
                      <a:endParaRPr lang="en-US" sz="2000" dirty="0">
                        <a:solidFill>
                          <a:srgbClr val="000080"/>
                        </a:solidFill>
                        <a:effectLst/>
                        <a:latin typeface="Times"/>
                        <a:ea typeface="Times New Roman"/>
                        <a:cs typeface="Times New Roman"/>
                      </a:endParaRPr>
                    </a:p>
                  </a:txBody>
                  <a:tcPr marL="68580" marR="68580" marT="0" marB="0"/>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1483913526"/>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Modifiability deals with change and the cost in time or money of making a change, including the extent to which this modification affects other functions or quality attributes. </a:t>
            </a:r>
          </a:p>
          <a:p>
            <a:r>
              <a:rPr lang="en-US" dirty="0"/>
              <a:t>Tactics to reduce the cost of making a change include making modules smaller, increasing cohesion, and reducing coupling. </a:t>
            </a:r>
            <a:r>
              <a:rPr lang="en-US"/>
              <a:t>Deferring binding will also reduce the cost of making a change.</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Date Placeholder 6">
            <a:extLst>
              <a:ext uri="{FF2B5EF4-FFF2-40B4-BE49-F238E27FC236}">
                <a16:creationId xmlns:a16="http://schemas.microsoft.com/office/drawing/2014/main" id="{3E9F3466-C1D4-46F4-B77F-9AB87FEE2814}"/>
              </a:ext>
            </a:extLst>
          </p:cNvPr>
          <p:cNvSpPr>
            <a:spLocks noGrp="1"/>
          </p:cNvSpPr>
          <p:nvPr>
            <p:ph type="dt" sz="half" idx="12"/>
          </p:nvPr>
        </p:nvSpPr>
        <p:spPr/>
        <p:txBody>
          <a:bodyPr/>
          <a:lstStyle/>
          <a:p>
            <a:r>
              <a:rPr lang="en-US"/>
              <a:t>Auguts 1, 2026</a:t>
            </a:r>
          </a:p>
        </p:txBody>
      </p:sp>
      <p:sp>
        <p:nvSpPr>
          <p:cNvPr id="8" name="Slide Number Placeholder 7">
            <a:extLst>
              <a:ext uri="{FF2B5EF4-FFF2-40B4-BE49-F238E27FC236}">
                <a16:creationId xmlns:a16="http://schemas.microsoft.com/office/drawing/2014/main" id="{9CD30123-22B0-4A41-AD96-D16639279520}"/>
              </a:ext>
            </a:extLst>
          </p:cNvPr>
          <p:cNvSpPr>
            <a:spLocks noGrp="1"/>
          </p:cNvSpPr>
          <p:nvPr>
            <p:ph type="sldNum" sz="quarter" idx="14"/>
          </p:nvPr>
        </p:nvSpPr>
        <p:spPr/>
        <p:txBody>
          <a:bodyPr/>
          <a:lstStyle/>
          <a:p>
            <a:fld id="{BC8D7E44-7D4F-4942-A8C9-2DF6BF8399E8}" type="slidenum">
              <a:rPr lang="en-US" smtClean="0"/>
              <a:pPr/>
              <a:t>146</a:t>
            </a:fld>
            <a:endParaRPr lang="en-US" dirty="0"/>
          </a:p>
        </p:txBody>
      </p:sp>
      <p:sp>
        <p:nvSpPr>
          <p:cNvPr id="9" name="Title 1">
            <a:extLst>
              <a:ext uri="{FF2B5EF4-FFF2-40B4-BE49-F238E27FC236}">
                <a16:creationId xmlns:a16="http://schemas.microsoft.com/office/drawing/2014/main" id="{6B23F6BA-3B18-A22D-B334-97638A2A2FD3}"/>
              </a:ext>
            </a:extLst>
          </p:cNvPr>
          <p:cNvSpPr>
            <a:spLocks noGrp="1"/>
          </p:cNvSpPr>
          <p:nvPr>
            <p:ph sz="quarter" idx="10"/>
          </p:nvPr>
        </p:nvSpPr>
        <p:spPr>
          <a:xfrm>
            <a:off x="304800" y="152400"/>
            <a:ext cx="6324600" cy="1143000"/>
          </a:xfrm>
        </p:spPr>
        <p:txBody>
          <a:bodyPr/>
          <a:lstStyle/>
          <a:p>
            <a:r>
              <a:rPr lang="en-US" dirty="0"/>
              <a:t>Summary</a:t>
            </a:r>
          </a:p>
        </p:txBody>
      </p:sp>
    </p:spTree>
    <p:extLst>
      <p:ext uri="{BB962C8B-B14F-4D97-AF65-F5344CB8AC3E}">
        <p14:creationId xmlns:p14="http://schemas.microsoft.com/office/powerpoint/2010/main" val="25004063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507BA72441AEE45A3CAE1ADD5070980" ma:contentTypeVersion="7" ma:contentTypeDescription="Create a new document." ma:contentTypeScope="" ma:versionID="257639c9bae52cceea61322fecbfd23b">
  <xsd:schema xmlns:xsd="http://www.w3.org/2001/XMLSchema" xmlns:xs="http://www.w3.org/2001/XMLSchema" xmlns:p="http://schemas.microsoft.com/office/2006/metadata/properties" xmlns:ns2="2723f1bc-7802-4c44-b827-a549654b530e" targetNamespace="http://schemas.microsoft.com/office/2006/metadata/properties" ma:root="true" ma:fieldsID="146ed545e40a9bf03aef0bb26930a53e" ns2:_="">
    <xsd:import namespace="2723f1bc-7802-4c44-b827-a549654b530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723f1bc-7802-4c44-b827-a549654b530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A497CEA-3DD4-4577-B465-FC0C9D1CF117}"/>
</file>

<file path=customXml/itemProps2.xml><?xml version="1.0" encoding="utf-8"?>
<ds:datastoreItem xmlns:ds="http://schemas.openxmlformats.org/officeDocument/2006/customXml" ds:itemID="{E0F210FF-0156-4873-BD8C-69753231506E}"/>
</file>

<file path=customXml/itemProps3.xml><?xml version="1.0" encoding="utf-8"?>
<ds:datastoreItem xmlns:ds="http://schemas.openxmlformats.org/officeDocument/2006/customXml" ds:itemID="{FC9D1471-E4B6-4460-8F68-674D3C90BE25}"/>
</file>

<file path=docProps/app.xml><?xml version="1.0" encoding="utf-8"?>
<Properties xmlns="http://schemas.openxmlformats.org/officeDocument/2006/extended-properties" xmlns:vt="http://schemas.openxmlformats.org/officeDocument/2006/docPropsVTypes">
  <Template/>
  <TotalTime>105</TotalTime>
  <Words>12377</Words>
  <Application>Microsoft Office PowerPoint</Application>
  <PresentationFormat>On-screen Show (4:3)</PresentationFormat>
  <Paragraphs>1257</Paragraphs>
  <Slides>146</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146</vt:i4>
      </vt:variant>
    </vt:vector>
  </HeadingPairs>
  <TitlesOfParts>
    <vt:vector size="152" baseType="lpstr">
      <vt:lpstr>Arial</vt:lpstr>
      <vt:lpstr>Calibri</vt:lpstr>
      <vt:lpstr>Symbol</vt:lpstr>
      <vt:lpstr>Times</vt:lpstr>
      <vt:lpstr>Times New Roman</vt:lpstr>
      <vt:lpstr>Office Theme</vt:lpstr>
      <vt:lpstr>SEZG651/ SSZG653  Software Architectures  CS02 Quality Attributes 1 of 2</vt:lpstr>
      <vt:lpstr>PowerPoint Presentation</vt:lpstr>
      <vt:lpstr>Understanding Quality Attributes Module 2 – L1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Availability Module 2 – L2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Performance Module 2 – L3</vt:lpstr>
      <vt:lpstr>PowerPoint Presentation</vt:lpstr>
      <vt:lpstr>PowerPoint Presentation</vt:lpstr>
      <vt:lpstr>PowerPoint Presentation</vt:lpstr>
      <vt:lpstr>Sample Concrete Performance Scenario</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Usability Module 2 – L4</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Security Module 2 – L5</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Modifiability Module 2 – L6</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Harvinder Jabbal</dc:creator>
  <cp:lastModifiedBy>Harvinder Jabbal</cp:lastModifiedBy>
  <cp:revision>16</cp:revision>
  <dcterms:created xsi:type="dcterms:W3CDTF">2025-07-25T12:09:13Z</dcterms:created>
  <dcterms:modified xsi:type="dcterms:W3CDTF">2026-08-01T02:41:31Z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0x0101008507BA72441AEE45A3CAE1ADD5070980</vt:lpwstr>
  </property>
</Properties>
</file>