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diagrams/colors4.xml" ContentType="application/vnd.openxmlformats-officedocument.drawingml.diagramColors+xml"/>
  <Override PartName="/ppt/theme/theme1.xml" ContentType="application/vnd.openxmlformats-officedocument.theme+xml"/>
  <Override PartName="/ppt/diagrams/drawing3.xml" ContentType="application/vnd.ms-office.drawingml.diagramDrawing+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layout3.xml" ContentType="application/vnd.openxmlformats-officedocument.drawingml.diagramLayout+xml"/>
  <Override PartName="/ppt/diagrams/colors3.xml" ContentType="application/vnd.openxmlformats-officedocument.drawingml.diagramColors+xml"/>
  <Override PartName="/ppt/diagrams/drawing4.xml" ContentType="application/vnd.ms-office.drawingml.diagramDrawing+xml"/>
  <Override PartName="/ppt/diagrams/quickStyle4.xml" ContentType="application/vnd.openxmlformats-officedocument.drawingml.diagramStyle+xml"/>
  <Override PartName="/ppt/diagrams/quickStyle3.xml" ContentType="application/vnd.openxmlformats-officedocument.drawingml.diagramStyle+xml"/>
  <Override PartName="/ppt/diagrams/layout5.xml" ContentType="application/vnd.openxmlformats-officedocument.drawingml.diagramLayout+xml"/>
  <Override PartName="/ppt/diagrams/layout4.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sldIdLst>
    <p:sldId id="260" r:id="rId2"/>
    <p:sldId id="315" r:id="rId3"/>
    <p:sldId id="262" r:id="rId4"/>
    <p:sldId id="263" r:id="rId5"/>
    <p:sldId id="341" r:id="rId6"/>
    <p:sldId id="344" r:id="rId7"/>
    <p:sldId id="300" r:id="rId8"/>
    <p:sldId id="301" r:id="rId9"/>
    <p:sldId id="302" r:id="rId10"/>
    <p:sldId id="303" r:id="rId11"/>
    <p:sldId id="304" r:id="rId12"/>
    <p:sldId id="305" r:id="rId13"/>
    <p:sldId id="306" r:id="rId14"/>
    <p:sldId id="307" r:id="rId15"/>
    <p:sldId id="308" r:id="rId16"/>
    <p:sldId id="309" r:id="rId17"/>
    <p:sldId id="310" r:id="rId18"/>
    <p:sldId id="311" r:id="rId19"/>
    <p:sldId id="312" r:id="rId20"/>
    <p:sldId id="313" r:id="rId21"/>
    <p:sldId id="314" r:id="rId22"/>
    <p:sldId id="316" r:id="rId23"/>
    <p:sldId id="318" r:id="rId24"/>
    <p:sldId id="264" r:id="rId25"/>
    <p:sldId id="265" r:id="rId26"/>
    <p:sldId id="266" r:id="rId27"/>
    <p:sldId id="267" r:id="rId28"/>
    <p:sldId id="268" r:id="rId29"/>
    <p:sldId id="269" r:id="rId30"/>
    <p:sldId id="270" r:id="rId31"/>
    <p:sldId id="271" r:id="rId32"/>
    <p:sldId id="272" r:id="rId33"/>
    <p:sldId id="273" r:id="rId34"/>
    <p:sldId id="275" r:id="rId35"/>
    <p:sldId id="274" r:id="rId36"/>
    <p:sldId id="276" r:id="rId37"/>
    <p:sldId id="277" r:id="rId38"/>
    <p:sldId id="278" r:id="rId39"/>
    <p:sldId id="279" r:id="rId40"/>
    <p:sldId id="280" r:id="rId41"/>
    <p:sldId id="281" r:id="rId42"/>
    <p:sldId id="282" r:id="rId43"/>
    <p:sldId id="283" r:id="rId44"/>
    <p:sldId id="319" r:id="rId45"/>
    <p:sldId id="261" r:id="rId46"/>
    <p:sldId id="320" r:id="rId47"/>
    <p:sldId id="340" r:id="rId48"/>
    <p:sldId id="321" r:id="rId49"/>
    <p:sldId id="322" r:id="rId50"/>
    <p:sldId id="342" r:id="rId51"/>
    <p:sldId id="323" r:id="rId52"/>
    <p:sldId id="324" r:id="rId53"/>
    <p:sldId id="325" r:id="rId54"/>
    <p:sldId id="326" r:id="rId55"/>
    <p:sldId id="327" r:id="rId56"/>
    <p:sldId id="328" r:id="rId57"/>
    <p:sldId id="329" r:id="rId58"/>
    <p:sldId id="330" r:id="rId59"/>
    <p:sldId id="331" r:id="rId60"/>
    <p:sldId id="332" r:id="rId61"/>
    <p:sldId id="333" r:id="rId62"/>
    <p:sldId id="334" r:id="rId63"/>
    <p:sldId id="335" r:id="rId64"/>
    <p:sldId id="336" r:id="rId65"/>
    <p:sldId id="337" r:id="rId66"/>
    <p:sldId id="338" r:id="rId67"/>
    <p:sldId id="339" r:id="rId68"/>
    <p:sldId id="284" r:id="rId69"/>
    <p:sldId id="285" r:id="rId70"/>
    <p:sldId id="286" r:id="rId71"/>
    <p:sldId id="287" r:id="rId72"/>
    <p:sldId id="288" r:id="rId73"/>
    <p:sldId id="289" r:id="rId74"/>
    <p:sldId id="290" r:id="rId75"/>
    <p:sldId id="291" r:id="rId76"/>
    <p:sldId id="292" r:id="rId77"/>
    <p:sldId id="293" r:id="rId78"/>
    <p:sldId id="294" r:id="rId79"/>
    <p:sldId id="343" r:id="rId80"/>
    <p:sldId id="295" r:id="rId81"/>
    <p:sldId id="296" r:id="rId82"/>
    <p:sldId id="297" r:id="rId83"/>
    <p:sldId id="298" r:id="rId84"/>
    <p:sldId id="299" r:id="rId8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41" autoAdjust="0"/>
  </p:normalViewPr>
  <p:slideViewPr>
    <p:cSldViewPr>
      <p:cViewPr varScale="1">
        <p:scale>
          <a:sx n="75" d="100"/>
          <a:sy n="75" d="100"/>
        </p:scale>
        <p:origin x="159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9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ustomXml" Target="../customXml/item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1350EC-F43B-413D-9721-849B643FF22C}"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IN"/>
        </a:p>
      </dgm:t>
    </dgm:pt>
    <dgm:pt modelId="{3BD3D35E-C588-4B60-A682-54F1C4424D8D}">
      <dgm:prSet phldrT="[Text]"/>
      <dgm:spPr/>
      <dgm:t>
        <a:bodyPr/>
        <a:lstStyle/>
        <a:p>
          <a:pPr>
            <a:buFont typeface="+mj-lt"/>
            <a:buAutoNum type="arabicPeriod"/>
          </a:pPr>
          <a:endParaRPr lang="en-IN" dirty="0"/>
        </a:p>
      </dgm:t>
    </dgm:pt>
    <dgm:pt modelId="{FEBE2C3F-C217-4A5E-B371-8E24703102E6}" type="parTrans" cxnId="{0D3D4C4D-4D70-45B1-B992-57C526F18B65}">
      <dgm:prSet/>
      <dgm:spPr/>
      <dgm:t>
        <a:bodyPr/>
        <a:lstStyle/>
        <a:p>
          <a:endParaRPr lang="en-IN"/>
        </a:p>
      </dgm:t>
    </dgm:pt>
    <dgm:pt modelId="{B904D039-11D7-44A8-B550-66A7627CD226}" type="sibTrans" cxnId="{0D3D4C4D-4D70-45B1-B992-57C526F18B65}">
      <dgm:prSet/>
      <dgm:spPr/>
      <dgm:t>
        <a:bodyPr/>
        <a:lstStyle/>
        <a:p>
          <a:endParaRPr lang="en-IN"/>
        </a:p>
      </dgm:t>
    </dgm:pt>
    <dgm:pt modelId="{AAFF8111-049A-4053-A0A9-8C828EC93EA4}">
      <dgm:prSet/>
      <dgm:spPr/>
      <dgm:t>
        <a:bodyPr/>
        <a:lstStyle/>
        <a:p>
          <a:pPr>
            <a:buFont typeface="+mj-lt"/>
            <a:buAutoNum type="arabicPeriod"/>
          </a:pPr>
          <a:endParaRPr lang="en-IN" dirty="0"/>
        </a:p>
      </dgm:t>
    </dgm:pt>
    <dgm:pt modelId="{7D0D338B-7A84-419C-97AB-92EE4DDD8916}" type="parTrans" cxnId="{1BB91178-308B-4B02-B46A-0DE0DC811BFA}">
      <dgm:prSet/>
      <dgm:spPr/>
      <dgm:t>
        <a:bodyPr/>
        <a:lstStyle/>
        <a:p>
          <a:endParaRPr lang="en-IN"/>
        </a:p>
      </dgm:t>
    </dgm:pt>
    <dgm:pt modelId="{7B35EA36-3183-48A3-8974-2EFDC944546F}" type="sibTrans" cxnId="{1BB91178-308B-4B02-B46A-0DE0DC811BFA}">
      <dgm:prSet/>
      <dgm:spPr/>
      <dgm:t>
        <a:bodyPr/>
        <a:lstStyle/>
        <a:p>
          <a:endParaRPr lang="en-IN"/>
        </a:p>
      </dgm:t>
    </dgm:pt>
    <dgm:pt modelId="{0C09C7A1-A2B1-4D00-B76E-6BB18B86E724}">
      <dgm:prSet/>
      <dgm:spPr/>
      <dgm:t>
        <a:bodyPr/>
        <a:lstStyle/>
        <a:p>
          <a:pPr>
            <a:buFont typeface="+mj-lt"/>
            <a:buAutoNum type="arabicPeriod"/>
          </a:pPr>
          <a:endParaRPr lang="en-IN" dirty="0"/>
        </a:p>
      </dgm:t>
    </dgm:pt>
    <dgm:pt modelId="{F260D781-8522-4811-BA6A-451E3E7D7131}" type="parTrans" cxnId="{5E1587C6-54E2-4AA0-9524-89BCDD739D8B}">
      <dgm:prSet/>
      <dgm:spPr/>
      <dgm:t>
        <a:bodyPr/>
        <a:lstStyle/>
        <a:p>
          <a:endParaRPr lang="en-IN"/>
        </a:p>
      </dgm:t>
    </dgm:pt>
    <dgm:pt modelId="{49082E5E-1CF9-490E-96DF-B8394C0ECB4F}" type="sibTrans" cxnId="{5E1587C6-54E2-4AA0-9524-89BCDD739D8B}">
      <dgm:prSet/>
      <dgm:spPr/>
      <dgm:t>
        <a:bodyPr/>
        <a:lstStyle/>
        <a:p>
          <a:endParaRPr lang="en-IN"/>
        </a:p>
      </dgm:t>
    </dgm:pt>
    <dgm:pt modelId="{FC805384-9C8E-4104-B44D-A8ACE1739642}">
      <dgm:prSet/>
      <dgm:spPr/>
      <dgm:t>
        <a:bodyPr/>
        <a:lstStyle/>
        <a:p>
          <a:pPr>
            <a:buFont typeface="+mj-lt"/>
            <a:buAutoNum type="arabicPeriod"/>
          </a:pPr>
          <a:endParaRPr lang="en-IN" dirty="0"/>
        </a:p>
      </dgm:t>
    </dgm:pt>
    <dgm:pt modelId="{70E0D411-A3A2-4081-A623-8C6FF324ED88}" type="parTrans" cxnId="{5B47A1C3-B1C4-4432-8346-7BC3CD223535}">
      <dgm:prSet/>
      <dgm:spPr/>
      <dgm:t>
        <a:bodyPr/>
        <a:lstStyle/>
        <a:p>
          <a:endParaRPr lang="en-IN"/>
        </a:p>
      </dgm:t>
    </dgm:pt>
    <dgm:pt modelId="{D1DF4FD4-E6D0-4D03-B8CB-11B44451125F}" type="sibTrans" cxnId="{5B47A1C3-B1C4-4432-8346-7BC3CD223535}">
      <dgm:prSet/>
      <dgm:spPr/>
      <dgm:t>
        <a:bodyPr/>
        <a:lstStyle/>
        <a:p>
          <a:endParaRPr lang="en-IN"/>
        </a:p>
      </dgm:t>
    </dgm:pt>
    <dgm:pt modelId="{C86DC238-142A-4F62-990D-C0C7D01358C2}">
      <dgm:prSet/>
      <dgm:spPr/>
      <dgm:t>
        <a:bodyPr/>
        <a:lstStyle/>
        <a:p>
          <a:pPr>
            <a:buFont typeface="+mj-lt"/>
            <a:buAutoNum type="arabicPeriod"/>
          </a:pPr>
          <a:endParaRPr lang="en-IN" dirty="0"/>
        </a:p>
      </dgm:t>
    </dgm:pt>
    <dgm:pt modelId="{BFEF36D9-345D-4596-AAB2-BBC32AFA2A4B}" type="parTrans" cxnId="{B2AFC666-5AC9-44E0-9C9A-E80A379CC3FB}">
      <dgm:prSet/>
      <dgm:spPr/>
      <dgm:t>
        <a:bodyPr/>
        <a:lstStyle/>
        <a:p>
          <a:endParaRPr lang="en-IN"/>
        </a:p>
      </dgm:t>
    </dgm:pt>
    <dgm:pt modelId="{9EC3D675-BAA2-4ED3-B5EC-2300CA4B5D8E}" type="sibTrans" cxnId="{B2AFC666-5AC9-44E0-9C9A-E80A379CC3FB}">
      <dgm:prSet/>
      <dgm:spPr/>
      <dgm:t>
        <a:bodyPr/>
        <a:lstStyle/>
        <a:p>
          <a:endParaRPr lang="en-IN"/>
        </a:p>
      </dgm:t>
    </dgm:pt>
    <dgm:pt modelId="{DAA82EB3-C80E-4964-A668-178FB95032A4}">
      <dgm:prSet/>
      <dgm:spPr/>
      <dgm:t>
        <a:bodyPr/>
        <a:lstStyle/>
        <a:p>
          <a:pPr>
            <a:buFont typeface="+mj-lt"/>
            <a:buAutoNum type="arabicPeriod"/>
          </a:pPr>
          <a:endParaRPr lang="en-IN" dirty="0"/>
        </a:p>
      </dgm:t>
    </dgm:pt>
    <dgm:pt modelId="{426468AD-2C17-438F-8E27-C93F95B4F96F}" type="parTrans" cxnId="{5D1DB092-6660-4DFB-A837-608681227A8B}">
      <dgm:prSet/>
      <dgm:spPr/>
      <dgm:t>
        <a:bodyPr/>
        <a:lstStyle/>
        <a:p>
          <a:endParaRPr lang="en-IN"/>
        </a:p>
      </dgm:t>
    </dgm:pt>
    <dgm:pt modelId="{DC39A4AF-F67B-4EFF-9ABC-A3D1E09CF779}" type="sibTrans" cxnId="{5D1DB092-6660-4DFB-A837-608681227A8B}">
      <dgm:prSet/>
      <dgm:spPr/>
      <dgm:t>
        <a:bodyPr/>
        <a:lstStyle/>
        <a:p>
          <a:endParaRPr lang="en-IN"/>
        </a:p>
      </dgm:t>
    </dgm:pt>
    <dgm:pt modelId="{0C47AEFB-240F-4319-AE10-99AE954D9C17}">
      <dgm:prSet/>
      <dgm:spPr/>
      <dgm:t>
        <a:bodyPr/>
        <a:lstStyle/>
        <a:p>
          <a:pPr>
            <a:buFont typeface="+mj-lt"/>
            <a:buAutoNum type="arabicPeriod"/>
          </a:pPr>
          <a:endParaRPr lang="en-IN" dirty="0"/>
        </a:p>
      </dgm:t>
    </dgm:pt>
    <dgm:pt modelId="{49AF72BD-9950-44A0-BE07-397E87CDE8D7}" type="parTrans" cxnId="{A7D97FBC-DB94-4F6E-A964-25323FF5466D}">
      <dgm:prSet/>
      <dgm:spPr/>
      <dgm:t>
        <a:bodyPr/>
        <a:lstStyle/>
        <a:p>
          <a:endParaRPr lang="en-IN"/>
        </a:p>
      </dgm:t>
    </dgm:pt>
    <dgm:pt modelId="{3CF704A9-5742-43FE-BCE2-EF7320126C8B}" type="sibTrans" cxnId="{A7D97FBC-DB94-4F6E-A964-25323FF5466D}">
      <dgm:prSet/>
      <dgm:spPr/>
      <dgm:t>
        <a:bodyPr/>
        <a:lstStyle/>
        <a:p>
          <a:endParaRPr lang="en-IN"/>
        </a:p>
      </dgm:t>
    </dgm:pt>
    <dgm:pt modelId="{1A9FD45E-C5AA-4079-B595-20A8FBE55593}">
      <dgm:prSet/>
      <dgm:spPr/>
      <dgm:t>
        <a:bodyPr/>
        <a:lstStyle/>
        <a:p>
          <a:pPr>
            <a:buFont typeface="+mj-lt"/>
            <a:buAutoNum type="arabicPeriod"/>
          </a:pPr>
          <a:endParaRPr lang="en-IN" dirty="0"/>
        </a:p>
      </dgm:t>
    </dgm:pt>
    <dgm:pt modelId="{84345BD9-2471-4D77-9B05-7B1930507C7D}" type="parTrans" cxnId="{FE8E8BBB-FD74-4838-A82F-63073FE5B326}">
      <dgm:prSet/>
      <dgm:spPr/>
      <dgm:t>
        <a:bodyPr/>
        <a:lstStyle/>
        <a:p>
          <a:endParaRPr lang="en-IN"/>
        </a:p>
      </dgm:t>
    </dgm:pt>
    <dgm:pt modelId="{0426B25C-14F1-4142-A16B-2A02894A076C}" type="sibTrans" cxnId="{FE8E8BBB-FD74-4838-A82F-63073FE5B326}">
      <dgm:prSet/>
      <dgm:spPr/>
      <dgm:t>
        <a:bodyPr/>
        <a:lstStyle/>
        <a:p>
          <a:endParaRPr lang="en-IN"/>
        </a:p>
      </dgm:t>
    </dgm:pt>
    <dgm:pt modelId="{C6D3A7D4-1631-4CB6-83AF-32BED333CE6A}">
      <dgm:prSet/>
      <dgm:spPr/>
      <dgm:t>
        <a:bodyPr/>
        <a:lstStyle/>
        <a:p>
          <a:pPr>
            <a:buFont typeface="+mj-lt"/>
            <a:buAutoNum type="arabicPeriod"/>
          </a:pPr>
          <a:endParaRPr lang="en-IN" dirty="0"/>
        </a:p>
      </dgm:t>
    </dgm:pt>
    <dgm:pt modelId="{8B29EC11-9611-438E-BD01-275AD9F504A7}" type="parTrans" cxnId="{03E69003-22B4-4303-AB6B-B4C2BCB04A07}">
      <dgm:prSet/>
      <dgm:spPr/>
      <dgm:t>
        <a:bodyPr/>
        <a:lstStyle/>
        <a:p>
          <a:endParaRPr lang="en-IN"/>
        </a:p>
      </dgm:t>
    </dgm:pt>
    <dgm:pt modelId="{04B90885-E56C-44F8-B733-A9997F304954}" type="sibTrans" cxnId="{03E69003-22B4-4303-AB6B-B4C2BCB04A07}">
      <dgm:prSet/>
      <dgm:spPr/>
      <dgm:t>
        <a:bodyPr/>
        <a:lstStyle/>
        <a:p>
          <a:endParaRPr lang="en-IN"/>
        </a:p>
      </dgm:t>
    </dgm:pt>
    <dgm:pt modelId="{434610D0-E9FF-4C1D-AE11-4E0D45FA3BC2}">
      <dgm:prSet/>
      <dgm:spPr/>
      <dgm:t>
        <a:bodyPr/>
        <a:lstStyle/>
        <a:p>
          <a:pPr>
            <a:buFont typeface="+mj-lt"/>
            <a:buAutoNum type="arabicPeriod"/>
          </a:pPr>
          <a:endParaRPr lang="en-IN" dirty="0"/>
        </a:p>
      </dgm:t>
    </dgm:pt>
    <dgm:pt modelId="{0EFF3C74-9127-4A74-98C0-24F8993110B8}" type="parTrans" cxnId="{F447514C-9C49-41C2-9D21-9B96DB50AA45}">
      <dgm:prSet/>
      <dgm:spPr/>
      <dgm:t>
        <a:bodyPr/>
        <a:lstStyle/>
        <a:p>
          <a:endParaRPr lang="en-IN"/>
        </a:p>
      </dgm:t>
    </dgm:pt>
    <dgm:pt modelId="{11E30EAD-12EB-4CA2-A521-4E43D0321F49}" type="sibTrans" cxnId="{F447514C-9C49-41C2-9D21-9B96DB50AA45}">
      <dgm:prSet/>
      <dgm:spPr/>
      <dgm:t>
        <a:bodyPr/>
        <a:lstStyle/>
        <a:p>
          <a:endParaRPr lang="en-IN"/>
        </a:p>
      </dgm:t>
    </dgm:pt>
    <dgm:pt modelId="{4B731551-62D5-4E4D-B3CF-6619AA2CC9BF}">
      <dgm:prSet/>
      <dgm:spPr/>
      <dgm:t>
        <a:bodyPr/>
        <a:lstStyle/>
        <a:p>
          <a:pPr>
            <a:buFont typeface="+mj-lt"/>
            <a:buAutoNum type="arabicPeriod"/>
          </a:pPr>
          <a:endParaRPr lang="en-IN" dirty="0"/>
        </a:p>
      </dgm:t>
    </dgm:pt>
    <dgm:pt modelId="{90220717-5C20-4F9D-A91B-CB819FDE2477}" type="parTrans" cxnId="{CE617DDF-9F59-4EB5-96C4-79C002CF755E}">
      <dgm:prSet/>
      <dgm:spPr/>
      <dgm:t>
        <a:bodyPr/>
        <a:lstStyle/>
        <a:p>
          <a:endParaRPr lang="en-IN"/>
        </a:p>
      </dgm:t>
    </dgm:pt>
    <dgm:pt modelId="{B4F30A87-82D7-4FA2-BB86-5824CA6F752B}" type="sibTrans" cxnId="{CE617DDF-9F59-4EB5-96C4-79C002CF755E}">
      <dgm:prSet/>
      <dgm:spPr/>
      <dgm:t>
        <a:bodyPr/>
        <a:lstStyle/>
        <a:p>
          <a:endParaRPr lang="en-IN"/>
        </a:p>
      </dgm:t>
    </dgm:pt>
    <dgm:pt modelId="{CF59B1DE-B4FD-4FD8-8B83-789B830CE2D6}">
      <dgm:prSet/>
      <dgm:spPr/>
      <dgm:t>
        <a:bodyPr/>
        <a:lstStyle/>
        <a:p>
          <a:pPr>
            <a:buFont typeface="+mj-lt"/>
            <a:buAutoNum type="arabicPeriod"/>
          </a:pPr>
          <a:endParaRPr lang="en-IN" dirty="0"/>
        </a:p>
      </dgm:t>
    </dgm:pt>
    <dgm:pt modelId="{E882512E-D256-4D59-82C1-C93B39C9A31A}" type="parTrans" cxnId="{A8621C0B-FCF2-404F-ADA2-6AD79C536530}">
      <dgm:prSet/>
      <dgm:spPr/>
      <dgm:t>
        <a:bodyPr/>
        <a:lstStyle/>
        <a:p>
          <a:endParaRPr lang="en-IN"/>
        </a:p>
      </dgm:t>
    </dgm:pt>
    <dgm:pt modelId="{15A74D5C-7C84-4ECE-943B-177BA8232D7B}" type="sibTrans" cxnId="{A8621C0B-FCF2-404F-ADA2-6AD79C536530}">
      <dgm:prSet/>
      <dgm:spPr/>
      <dgm:t>
        <a:bodyPr/>
        <a:lstStyle/>
        <a:p>
          <a:endParaRPr lang="en-IN"/>
        </a:p>
      </dgm:t>
    </dgm:pt>
    <dgm:pt modelId="{66C4CAFC-91D8-40C7-BC20-61F89A9E3652}">
      <dgm:prSet/>
      <dgm:spPr/>
      <dgm:t>
        <a:bodyPr/>
        <a:lstStyle/>
        <a:p>
          <a:pPr>
            <a:buFont typeface="+mj-lt"/>
            <a:buAutoNum type="arabicPeriod"/>
          </a:pPr>
          <a:endParaRPr lang="en-IN" dirty="0"/>
        </a:p>
      </dgm:t>
    </dgm:pt>
    <dgm:pt modelId="{88FF5E67-396D-4C47-9F7B-CABFB67DB952}" type="parTrans" cxnId="{1EEF165A-D795-4C89-B6BD-80E331C5606B}">
      <dgm:prSet/>
      <dgm:spPr/>
      <dgm:t>
        <a:bodyPr/>
        <a:lstStyle/>
        <a:p>
          <a:endParaRPr lang="en-IN"/>
        </a:p>
      </dgm:t>
    </dgm:pt>
    <dgm:pt modelId="{2F8BF678-5022-4976-8B04-BEAE2041A1CD}" type="sibTrans" cxnId="{1EEF165A-D795-4C89-B6BD-80E331C5606B}">
      <dgm:prSet/>
      <dgm:spPr/>
      <dgm:t>
        <a:bodyPr/>
        <a:lstStyle/>
        <a:p>
          <a:endParaRPr lang="en-IN"/>
        </a:p>
      </dgm:t>
    </dgm:pt>
    <dgm:pt modelId="{BF183769-43E4-4794-A2DE-AB01FFB04213}">
      <dgm:prSet phldrT="[Text]"/>
      <dgm:spPr/>
      <dgm:t>
        <a:bodyPr/>
        <a:lstStyle/>
        <a:p>
          <a:pPr>
            <a:buFont typeface="+mj-lt"/>
            <a:buAutoNum type="arabicPeriod"/>
          </a:pPr>
          <a:r>
            <a:rPr lang="en-IN" dirty="0"/>
            <a:t>Inhibiting or enabling quality attributes.</a:t>
          </a:r>
        </a:p>
      </dgm:t>
    </dgm:pt>
    <dgm:pt modelId="{34655AD5-98EE-4CF1-A150-F5B4FB15A28E}" type="parTrans" cxnId="{ADE8999E-CF40-42E1-A0FF-28D467AFB507}">
      <dgm:prSet/>
      <dgm:spPr/>
      <dgm:t>
        <a:bodyPr/>
        <a:lstStyle/>
        <a:p>
          <a:endParaRPr lang="en-IN"/>
        </a:p>
      </dgm:t>
    </dgm:pt>
    <dgm:pt modelId="{58DA9E23-4199-4F93-A007-E3D25AC04CF5}" type="sibTrans" cxnId="{ADE8999E-CF40-42E1-A0FF-28D467AFB507}">
      <dgm:prSet/>
      <dgm:spPr/>
      <dgm:t>
        <a:bodyPr/>
        <a:lstStyle/>
        <a:p>
          <a:endParaRPr lang="en-IN"/>
        </a:p>
      </dgm:t>
    </dgm:pt>
    <dgm:pt modelId="{AF0C0F1C-0E8A-4202-BB5D-E415FCD9BD7F}">
      <dgm:prSet/>
      <dgm:spPr/>
      <dgm:t>
        <a:bodyPr/>
        <a:lstStyle/>
        <a:p>
          <a:pPr>
            <a:buFont typeface="+mj-lt"/>
            <a:buAutoNum type="arabicPeriod"/>
          </a:pPr>
          <a:r>
            <a:rPr lang="en-IN" dirty="0"/>
            <a:t>Reasoning about and managing change.</a:t>
          </a:r>
        </a:p>
      </dgm:t>
    </dgm:pt>
    <dgm:pt modelId="{EEC33697-22B1-4FFB-9668-E313BE8D8822}" type="parTrans" cxnId="{4B01F468-A37B-49C8-B7B7-CA9CBCC4495B}">
      <dgm:prSet/>
      <dgm:spPr/>
      <dgm:t>
        <a:bodyPr/>
        <a:lstStyle/>
        <a:p>
          <a:endParaRPr lang="en-IN"/>
        </a:p>
      </dgm:t>
    </dgm:pt>
    <dgm:pt modelId="{82683352-F1C5-47DF-A377-1A42B1780F4C}" type="sibTrans" cxnId="{4B01F468-A37B-49C8-B7B7-CA9CBCC4495B}">
      <dgm:prSet/>
      <dgm:spPr/>
      <dgm:t>
        <a:bodyPr/>
        <a:lstStyle/>
        <a:p>
          <a:endParaRPr lang="en-IN"/>
        </a:p>
      </dgm:t>
    </dgm:pt>
    <dgm:pt modelId="{C3175CA1-4477-49BE-AE6D-29B3F9A5A5B0}">
      <dgm:prSet/>
      <dgm:spPr/>
      <dgm:t>
        <a:bodyPr/>
        <a:lstStyle/>
        <a:p>
          <a:pPr>
            <a:buFont typeface="+mj-lt"/>
            <a:buAutoNum type="arabicPeriod"/>
          </a:pPr>
          <a:r>
            <a:rPr lang="en-IN" dirty="0"/>
            <a:t>Predicting system qualities.</a:t>
          </a:r>
        </a:p>
      </dgm:t>
    </dgm:pt>
    <dgm:pt modelId="{8E6F7B3F-8C5F-4871-9D14-A7DA9D55BDEF}" type="parTrans" cxnId="{5DD47BB5-D11D-4BDD-AE37-CE7AC2C69CDC}">
      <dgm:prSet/>
      <dgm:spPr/>
      <dgm:t>
        <a:bodyPr/>
        <a:lstStyle/>
        <a:p>
          <a:endParaRPr lang="en-IN"/>
        </a:p>
      </dgm:t>
    </dgm:pt>
    <dgm:pt modelId="{CED9903B-DCB8-4A68-8C64-F6988817903C}" type="sibTrans" cxnId="{5DD47BB5-D11D-4BDD-AE37-CE7AC2C69CDC}">
      <dgm:prSet/>
      <dgm:spPr/>
      <dgm:t>
        <a:bodyPr/>
        <a:lstStyle/>
        <a:p>
          <a:endParaRPr lang="en-IN"/>
        </a:p>
      </dgm:t>
    </dgm:pt>
    <dgm:pt modelId="{8C6F59F6-3CAF-4957-85A9-A958805F6B2A}">
      <dgm:prSet/>
      <dgm:spPr/>
      <dgm:t>
        <a:bodyPr/>
        <a:lstStyle/>
        <a:p>
          <a:pPr>
            <a:buFont typeface="+mj-lt"/>
            <a:buAutoNum type="arabicPeriod"/>
          </a:pPr>
          <a:r>
            <a:rPr lang="en-IN" dirty="0"/>
            <a:t>Communication among stakeholders.</a:t>
          </a:r>
        </a:p>
      </dgm:t>
    </dgm:pt>
    <dgm:pt modelId="{A9AF20D1-FC20-41A6-9620-10843FEB8B19}" type="parTrans" cxnId="{93342D0F-1C66-41F2-AA0A-5EEA9D167F12}">
      <dgm:prSet/>
      <dgm:spPr/>
      <dgm:t>
        <a:bodyPr/>
        <a:lstStyle/>
        <a:p>
          <a:endParaRPr lang="en-IN"/>
        </a:p>
      </dgm:t>
    </dgm:pt>
    <dgm:pt modelId="{C08C0DA8-7315-422E-9E59-BFD206ADA71C}" type="sibTrans" cxnId="{93342D0F-1C66-41F2-AA0A-5EEA9D167F12}">
      <dgm:prSet/>
      <dgm:spPr/>
      <dgm:t>
        <a:bodyPr/>
        <a:lstStyle/>
        <a:p>
          <a:endParaRPr lang="en-IN"/>
        </a:p>
      </dgm:t>
    </dgm:pt>
    <dgm:pt modelId="{963834F7-1AD7-48E1-A3E8-462CBBD4610A}">
      <dgm:prSet/>
      <dgm:spPr/>
      <dgm:t>
        <a:bodyPr/>
        <a:lstStyle/>
        <a:p>
          <a:pPr>
            <a:buFont typeface="+mj-lt"/>
            <a:buAutoNum type="arabicPeriod"/>
          </a:pPr>
          <a:r>
            <a:rPr lang="en-IN" dirty="0"/>
            <a:t>Carrying early design decisions.</a:t>
          </a:r>
        </a:p>
      </dgm:t>
    </dgm:pt>
    <dgm:pt modelId="{6813BBCB-410F-4918-9990-D15936E63CA4}" type="parTrans" cxnId="{364F559C-BE78-47F2-A53F-F101D9B434A0}">
      <dgm:prSet/>
      <dgm:spPr/>
      <dgm:t>
        <a:bodyPr/>
        <a:lstStyle/>
        <a:p>
          <a:endParaRPr lang="en-IN"/>
        </a:p>
      </dgm:t>
    </dgm:pt>
    <dgm:pt modelId="{B1CE1321-4472-44CC-BD0D-F0BBDC14D106}" type="sibTrans" cxnId="{364F559C-BE78-47F2-A53F-F101D9B434A0}">
      <dgm:prSet/>
      <dgm:spPr/>
      <dgm:t>
        <a:bodyPr/>
        <a:lstStyle/>
        <a:p>
          <a:endParaRPr lang="en-IN"/>
        </a:p>
      </dgm:t>
    </dgm:pt>
    <dgm:pt modelId="{F1F58A32-D8B8-4113-A6D2-C10C423AB5B6}">
      <dgm:prSet/>
      <dgm:spPr/>
      <dgm:t>
        <a:bodyPr/>
        <a:lstStyle/>
        <a:p>
          <a:pPr>
            <a:buFont typeface="+mj-lt"/>
            <a:buAutoNum type="arabicPeriod"/>
          </a:pPr>
          <a:r>
            <a:rPr lang="en-IN" dirty="0"/>
            <a:t>Defining constraints on implementation.</a:t>
          </a:r>
        </a:p>
      </dgm:t>
    </dgm:pt>
    <dgm:pt modelId="{3F7A484E-FD34-4686-9F9C-60613CA7255E}" type="parTrans" cxnId="{5FACB851-456D-4E47-AE2F-6DCCFFDBD278}">
      <dgm:prSet/>
      <dgm:spPr/>
      <dgm:t>
        <a:bodyPr/>
        <a:lstStyle/>
        <a:p>
          <a:endParaRPr lang="en-IN"/>
        </a:p>
      </dgm:t>
    </dgm:pt>
    <dgm:pt modelId="{6BD42428-0735-4C82-A438-C281573E3DCE}" type="sibTrans" cxnId="{5FACB851-456D-4E47-AE2F-6DCCFFDBD278}">
      <dgm:prSet/>
      <dgm:spPr/>
      <dgm:t>
        <a:bodyPr/>
        <a:lstStyle/>
        <a:p>
          <a:endParaRPr lang="en-IN"/>
        </a:p>
      </dgm:t>
    </dgm:pt>
    <dgm:pt modelId="{59639849-66FA-4545-8BC9-AB426DFFA9C3}">
      <dgm:prSet/>
      <dgm:spPr/>
      <dgm:t>
        <a:bodyPr/>
        <a:lstStyle/>
        <a:p>
          <a:pPr>
            <a:buFont typeface="+mj-lt"/>
            <a:buAutoNum type="arabicPeriod"/>
          </a:pPr>
          <a:r>
            <a:rPr lang="en-IN" dirty="0"/>
            <a:t>Influencing organizational structure (Conway’s Law).</a:t>
          </a:r>
        </a:p>
      </dgm:t>
    </dgm:pt>
    <dgm:pt modelId="{507A4835-7982-4827-AEE7-5C162EFC854A}" type="parTrans" cxnId="{6EAF2313-E207-4A9D-A782-678BA48189D9}">
      <dgm:prSet/>
      <dgm:spPr/>
      <dgm:t>
        <a:bodyPr/>
        <a:lstStyle/>
        <a:p>
          <a:endParaRPr lang="en-IN"/>
        </a:p>
      </dgm:t>
    </dgm:pt>
    <dgm:pt modelId="{92F234CC-7E02-4859-B470-6874897A11EE}" type="sibTrans" cxnId="{6EAF2313-E207-4A9D-A782-678BA48189D9}">
      <dgm:prSet/>
      <dgm:spPr/>
      <dgm:t>
        <a:bodyPr/>
        <a:lstStyle/>
        <a:p>
          <a:endParaRPr lang="en-IN"/>
        </a:p>
      </dgm:t>
    </dgm:pt>
    <dgm:pt modelId="{05DB4755-E34F-4487-BE23-87D1F7424A7B}">
      <dgm:prSet/>
      <dgm:spPr/>
      <dgm:t>
        <a:bodyPr/>
        <a:lstStyle/>
        <a:p>
          <a:pPr>
            <a:buFont typeface="+mj-lt"/>
            <a:buAutoNum type="arabicPeriod"/>
          </a:pPr>
          <a:r>
            <a:rPr lang="en-IN" dirty="0"/>
            <a:t>Enabling incremental development.</a:t>
          </a:r>
        </a:p>
      </dgm:t>
    </dgm:pt>
    <dgm:pt modelId="{01C2141B-A486-4D0F-AC15-C4B6E7A1C30B}" type="parTrans" cxnId="{7DB3AFA5-C4DA-4262-A5E5-A4EBF277D654}">
      <dgm:prSet/>
      <dgm:spPr/>
      <dgm:t>
        <a:bodyPr/>
        <a:lstStyle/>
        <a:p>
          <a:endParaRPr lang="en-IN"/>
        </a:p>
      </dgm:t>
    </dgm:pt>
    <dgm:pt modelId="{3420DFF8-58A5-46C5-8114-EEC2816E78DE}" type="sibTrans" cxnId="{7DB3AFA5-C4DA-4262-A5E5-A4EBF277D654}">
      <dgm:prSet/>
      <dgm:spPr/>
      <dgm:t>
        <a:bodyPr/>
        <a:lstStyle/>
        <a:p>
          <a:endParaRPr lang="en-IN"/>
        </a:p>
      </dgm:t>
    </dgm:pt>
    <dgm:pt modelId="{102E6ACA-EEA2-4EE3-94F8-13BF2861AF8C}">
      <dgm:prSet/>
      <dgm:spPr/>
      <dgm:t>
        <a:bodyPr/>
        <a:lstStyle/>
        <a:p>
          <a:pPr>
            <a:buFont typeface="+mj-lt"/>
            <a:buAutoNum type="arabicPeriod"/>
          </a:pPr>
          <a:r>
            <a:rPr lang="en-IN" dirty="0"/>
            <a:t>Improving cost and schedule estimates.</a:t>
          </a:r>
        </a:p>
      </dgm:t>
    </dgm:pt>
    <dgm:pt modelId="{F2841A4A-2179-4C8F-BCD9-DC0F6E05489E}" type="parTrans" cxnId="{CE55B9DE-1A19-43EA-BB81-63770CEFDE10}">
      <dgm:prSet/>
      <dgm:spPr/>
      <dgm:t>
        <a:bodyPr/>
        <a:lstStyle/>
        <a:p>
          <a:endParaRPr lang="en-IN"/>
        </a:p>
      </dgm:t>
    </dgm:pt>
    <dgm:pt modelId="{8E3E2033-7B37-4D6A-89D0-8C5EDE3B41DD}" type="sibTrans" cxnId="{CE55B9DE-1A19-43EA-BB81-63770CEFDE10}">
      <dgm:prSet/>
      <dgm:spPr/>
      <dgm:t>
        <a:bodyPr/>
        <a:lstStyle/>
        <a:p>
          <a:endParaRPr lang="en-IN"/>
        </a:p>
      </dgm:t>
    </dgm:pt>
    <dgm:pt modelId="{CE2BA4DF-1889-483D-9EE2-7EA08015C99C}">
      <dgm:prSet/>
      <dgm:spPr/>
      <dgm:t>
        <a:bodyPr/>
        <a:lstStyle/>
        <a:p>
          <a:pPr>
            <a:buFont typeface="+mj-lt"/>
            <a:buAutoNum type="arabicPeriod"/>
          </a:pPr>
          <a:r>
            <a:rPr lang="en-IN" dirty="0"/>
            <a:t>Supplying a transferable, reusable model.</a:t>
          </a:r>
        </a:p>
      </dgm:t>
    </dgm:pt>
    <dgm:pt modelId="{A294D750-6FE9-4D65-8628-3407739A1DB9}" type="parTrans" cxnId="{D4E3CA65-D2F1-4CE0-BF16-7008FE8D74F7}">
      <dgm:prSet/>
      <dgm:spPr/>
      <dgm:t>
        <a:bodyPr/>
        <a:lstStyle/>
        <a:p>
          <a:endParaRPr lang="en-IN"/>
        </a:p>
      </dgm:t>
    </dgm:pt>
    <dgm:pt modelId="{196C1715-A0EE-4D63-8A73-C39CF4620590}" type="sibTrans" cxnId="{D4E3CA65-D2F1-4CE0-BF16-7008FE8D74F7}">
      <dgm:prSet/>
      <dgm:spPr/>
      <dgm:t>
        <a:bodyPr/>
        <a:lstStyle/>
        <a:p>
          <a:endParaRPr lang="en-IN"/>
        </a:p>
      </dgm:t>
    </dgm:pt>
    <dgm:pt modelId="{CAC3AD66-0982-491F-AA0E-83E296669C9C}">
      <dgm:prSet/>
      <dgm:spPr/>
      <dgm:t>
        <a:bodyPr/>
        <a:lstStyle/>
        <a:p>
          <a:pPr>
            <a:buFont typeface="+mj-lt"/>
            <a:buAutoNum type="arabicPeriod"/>
          </a:pPr>
          <a:r>
            <a:rPr lang="en-IN" dirty="0"/>
            <a:t>Allowing incorporation of independently developed elements.</a:t>
          </a:r>
        </a:p>
      </dgm:t>
    </dgm:pt>
    <dgm:pt modelId="{142DC5A2-938E-475B-A379-DFC93A30091D}" type="parTrans" cxnId="{314A4E5D-DE55-471A-BCAC-36A82EB94F37}">
      <dgm:prSet/>
      <dgm:spPr/>
      <dgm:t>
        <a:bodyPr/>
        <a:lstStyle/>
        <a:p>
          <a:endParaRPr lang="en-IN"/>
        </a:p>
      </dgm:t>
    </dgm:pt>
    <dgm:pt modelId="{5766A9E0-E8FC-489B-8967-B8569E6342C4}" type="sibTrans" cxnId="{314A4E5D-DE55-471A-BCAC-36A82EB94F37}">
      <dgm:prSet/>
      <dgm:spPr/>
      <dgm:t>
        <a:bodyPr/>
        <a:lstStyle/>
        <a:p>
          <a:endParaRPr lang="en-IN"/>
        </a:p>
      </dgm:t>
    </dgm:pt>
    <dgm:pt modelId="{E31E8DFD-AF73-416D-9744-6A356DC03BF4}">
      <dgm:prSet/>
      <dgm:spPr/>
      <dgm:t>
        <a:bodyPr/>
        <a:lstStyle/>
        <a:p>
          <a:pPr>
            <a:buFont typeface="+mj-lt"/>
            <a:buAutoNum type="arabicPeriod"/>
          </a:pPr>
          <a:r>
            <a:rPr lang="en-IN" dirty="0"/>
            <a:t>Restricting the vocabulary of design alternatives.</a:t>
          </a:r>
        </a:p>
      </dgm:t>
    </dgm:pt>
    <dgm:pt modelId="{A334D871-C3AE-4558-B823-E6E6D0DAD6B1}" type="parTrans" cxnId="{AC4F9228-D34B-4B9F-9CAE-A38B2226B01C}">
      <dgm:prSet/>
      <dgm:spPr/>
      <dgm:t>
        <a:bodyPr/>
        <a:lstStyle/>
        <a:p>
          <a:endParaRPr lang="en-IN"/>
        </a:p>
      </dgm:t>
    </dgm:pt>
    <dgm:pt modelId="{ECDF2610-8001-492D-9BEE-246B2D4593D6}" type="sibTrans" cxnId="{AC4F9228-D34B-4B9F-9CAE-A38B2226B01C}">
      <dgm:prSet/>
      <dgm:spPr/>
      <dgm:t>
        <a:bodyPr/>
        <a:lstStyle/>
        <a:p>
          <a:endParaRPr lang="en-IN"/>
        </a:p>
      </dgm:t>
    </dgm:pt>
    <dgm:pt modelId="{C908A799-D28F-4972-A53E-4D66B5CF7673}">
      <dgm:prSet/>
      <dgm:spPr/>
      <dgm:t>
        <a:bodyPr/>
        <a:lstStyle/>
        <a:p>
          <a:pPr>
            <a:buFont typeface="+mj-lt"/>
            <a:buAutoNum type="arabicPeriod"/>
          </a:pPr>
          <a:r>
            <a:rPr lang="en-IN" dirty="0"/>
            <a:t>Providing a basis for training.</a:t>
          </a:r>
        </a:p>
      </dgm:t>
    </dgm:pt>
    <dgm:pt modelId="{93737554-278F-4A7F-840E-F88313843BB6}" type="parTrans" cxnId="{8321ADCC-3C08-4DF8-B820-BBF302C2BDE1}">
      <dgm:prSet/>
      <dgm:spPr/>
      <dgm:t>
        <a:bodyPr/>
        <a:lstStyle/>
        <a:p>
          <a:endParaRPr lang="en-IN"/>
        </a:p>
      </dgm:t>
    </dgm:pt>
    <dgm:pt modelId="{C6A5CDA8-E860-484A-99F1-AEC0ADCFAA9F}" type="sibTrans" cxnId="{8321ADCC-3C08-4DF8-B820-BBF302C2BDE1}">
      <dgm:prSet/>
      <dgm:spPr/>
      <dgm:t>
        <a:bodyPr/>
        <a:lstStyle/>
        <a:p>
          <a:endParaRPr lang="en-IN"/>
        </a:p>
      </dgm:t>
    </dgm:pt>
    <dgm:pt modelId="{8F810236-759B-4D53-B3D6-1C2F3C1CDCA9}" type="pres">
      <dgm:prSet presAssocID="{871350EC-F43B-413D-9721-849B643FF22C}" presName="Name0" presStyleCnt="0">
        <dgm:presLayoutVars>
          <dgm:chMax/>
          <dgm:chPref val="3"/>
          <dgm:dir/>
          <dgm:animOne val="branch"/>
          <dgm:animLvl val="lvl"/>
        </dgm:presLayoutVars>
      </dgm:prSet>
      <dgm:spPr/>
    </dgm:pt>
    <dgm:pt modelId="{8ED8FCBE-EFC1-4AF8-A81A-F67C0B413369}" type="pres">
      <dgm:prSet presAssocID="{3BD3D35E-C588-4B60-A682-54F1C4424D8D}" presName="composite" presStyleCnt="0"/>
      <dgm:spPr/>
    </dgm:pt>
    <dgm:pt modelId="{64089E3C-23A9-4DFB-9358-C6FC88563BA9}" type="pres">
      <dgm:prSet presAssocID="{3BD3D35E-C588-4B60-A682-54F1C4424D8D}" presName="FirstChild" presStyleLbl="revTx" presStyleIdx="0" presStyleCnt="13">
        <dgm:presLayoutVars>
          <dgm:chMax val="0"/>
          <dgm:chPref val="0"/>
          <dgm:bulletEnabled val="1"/>
        </dgm:presLayoutVars>
      </dgm:prSet>
      <dgm:spPr/>
    </dgm:pt>
    <dgm:pt modelId="{28A2A817-B6A5-439F-9A4C-D832E99F9070}" type="pres">
      <dgm:prSet presAssocID="{3BD3D35E-C588-4B60-A682-54F1C4424D8D}" presName="Parent" presStyleLbl="alignNode1" presStyleIdx="0" presStyleCnt="13">
        <dgm:presLayoutVars>
          <dgm:chMax val="3"/>
          <dgm:chPref val="3"/>
          <dgm:bulletEnabled val="1"/>
        </dgm:presLayoutVars>
      </dgm:prSet>
      <dgm:spPr/>
    </dgm:pt>
    <dgm:pt modelId="{DA53E811-08F8-4B84-97A4-3A11EABC7A05}" type="pres">
      <dgm:prSet presAssocID="{3BD3D35E-C588-4B60-A682-54F1C4424D8D}" presName="Accent" presStyleLbl="parChTrans1D1" presStyleIdx="0" presStyleCnt="13"/>
      <dgm:spPr/>
    </dgm:pt>
    <dgm:pt modelId="{64DDC7C9-E60E-4843-A1EB-4EA82F7C69C6}" type="pres">
      <dgm:prSet presAssocID="{B904D039-11D7-44A8-B550-66A7627CD226}" presName="sibTrans" presStyleCnt="0"/>
      <dgm:spPr/>
    </dgm:pt>
    <dgm:pt modelId="{590D4A9C-2F9A-490B-9451-7AD09C734A2A}" type="pres">
      <dgm:prSet presAssocID="{AAFF8111-049A-4053-A0A9-8C828EC93EA4}" presName="composite" presStyleCnt="0"/>
      <dgm:spPr/>
    </dgm:pt>
    <dgm:pt modelId="{F54692E8-F235-4E21-94E3-DE76387F223C}" type="pres">
      <dgm:prSet presAssocID="{AAFF8111-049A-4053-A0A9-8C828EC93EA4}" presName="FirstChild" presStyleLbl="revTx" presStyleIdx="1" presStyleCnt="13">
        <dgm:presLayoutVars>
          <dgm:chMax val="0"/>
          <dgm:chPref val="0"/>
          <dgm:bulletEnabled val="1"/>
        </dgm:presLayoutVars>
      </dgm:prSet>
      <dgm:spPr/>
    </dgm:pt>
    <dgm:pt modelId="{BB4EE594-2110-49B7-82E4-FC2C9EA0C76D}" type="pres">
      <dgm:prSet presAssocID="{AAFF8111-049A-4053-A0A9-8C828EC93EA4}" presName="Parent" presStyleLbl="alignNode1" presStyleIdx="1" presStyleCnt="13">
        <dgm:presLayoutVars>
          <dgm:chMax val="3"/>
          <dgm:chPref val="3"/>
          <dgm:bulletEnabled val="1"/>
        </dgm:presLayoutVars>
      </dgm:prSet>
      <dgm:spPr/>
    </dgm:pt>
    <dgm:pt modelId="{1EF3AD28-DC12-45A5-A1F5-CA623D92548F}" type="pres">
      <dgm:prSet presAssocID="{AAFF8111-049A-4053-A0A9-8C828EC93EA4}" presName="Accent" presStyleLbl="parChTrans1D1" presStyleIdx="1" presStyleCnt="13"/>
      <dgm:spPr/>
    </dgm:pt>
    <dgm:pt modelId="{BC690FF0-CEBF-4C27-AF6C-4FF75AD7FA74}" type="pres">
      <dgm:prSet presAssocID="{7B35EA36-3183-48A3-8974-2EFDC944546F}" presName="sibTrans" presStyleCnt="0"/>
      <dgm:spPr/>
    </dgm:pt>
    <dgm:pt modelId="{4968E07B-2E11-491E-AC64-3CB93395886C}" type="pres">
      <dgm:prSet presAssocID="{0C09C7A1-A2B1-4D00-B76E-6BB18B86E724}" presName="composite" presStyleCnt="0"/>
      <dgm:spPr/>
    </dgm:pt>
    <dgm:pt modelId="{D450599E-FE12-403C-8C3F-3D73FA40FB5F}" type="pres">
      <dgm:prSet presAssocID="{0C09C7A1-A2B1-4D00-B76E-6BB18B86E724}" presName="FirstChild" presStyleLbl="revTx" presStyleIdx="2" presStyleCnt="13">
        <dgm:presLayoutVars>
          <dgm:chMax val="0"/>
          <dgm:chPref val="0"/>
          <dgm:bulletEnabled val="1"/>
        </dgm:presLayoutVars>
      </dgm:prSet>
      <dgm:spPr/>
    </dgm:pt>
    <dgm:pt modelId="{CE67D8D9-B445-47DA-B288-F26E53AC3C3A}" type="pres">
      <dgm:prSet presAssocID="{0C09C7A1-A2B1-4D00-B76E-6BB18B86E724}" presName="Parent" presStyleLbl="alignNode1" presStyleIdx="2" presStyleCnt="13">
        <dgm:presLayoutVars>
          <dgm:chMax val="3"/>
          <dgm:chPref val="3"/>
          <dgm:bulletEnabled val="1"/>
        </dgm:presLayoutVars>
      </dgm:prSet>
      <dgm:spPr/>
    </dgm:pt>
    <dgm:pt modelId="{54D89B7C-2984-4405-B39E-3BFEE2AC08A5}" type="pres">
      <dgm:prSet presAssocID="{0C09C7A1-A2B1-4D00-B76E-6BB18B86E724}" presName="Accent" presStyleLbl="parChTrans1D1" presStyleIdx="2" presStyleCnt="13"/>
      <dgm:spPr/>
    </dgm:pt>
    <dgm:pt modelId="{2A43D274-E8C8-4ABD-B09E-F7B738914B26}" type="pres">
      <dgm:prSet presAssocID="{49082E5E-1CF9-490E-96DF-B8394C0ECB4F}" presName="sibTrans" presStyleCnt="0"/>
      <dgm:spPr/>
    </dgm:pt>
    <dgm:pt modelId="{9F35AB9F-BB96-4721-8F3E-4E3F2BA870A3}" type="pres">
      <dgm:prSet presAssocID="{FC805384-9C8E-4104-B44D-A8ACE1739642}" presName="composite" presStyleCnt="0"/>
      <dgm:spPr/>
    </dgm:pt>
    <dgm:pt modelId="{0BCC5BC9-C8A6-488E-86D6-2A9438401A2C}" type="pres">
      <dgm:prSet presAssocID="{FC805384-9C8E-4104-B44D-A8ACE1739642}" presName="FirstChild" presStyleLbl="revTx" presStyleIdx="3" presStyleCnt="13">
        <dgm:presLayoutVars>
          <dgm:chMax val="0"/>
          <dgm:chPref val="0"/>
          <dgm:bulletEnabled val="1"/>
        </dgm:presLayoutVars>
      </dgm:prSet>
      <dgm:spPr/>
    </dgm:pt>
    <dgm:pt modelId="{BAF13732-569E-4A6F-8477-3FC2F29D221B}" type="pres">
      <dgm:prSet presAssocID="{FC805384-9C8E-4104-B44D-A8ACE1739642}" presName="Parent" presStyleLbl="alignNode1" presStyleIdx="3" presStyleCnt="13">
        <dgm:presLayoutVars>
          <dgm:chMax val="3"/>
          <dgm:chPref val="3"/>
          <dgm:bulletEnabled val="1"/>
        </dgm:presLayoutVars>
      </dgm:prSet>
      <dgm:spPr/>
    </dgm:pt>
    <dgm:pt modelId="{9101C0DD-5682-45DE-8430-6BD42271563D}" type="pres">
      <dgm:prSet presAssocID="{FC805384-9C8E-4104-B44D-A8ACE1739642}" presName="Accent" presStyleLbl="parChTrans1D1" presStyleIdx="3" presStyleCnt="13"/>
      <dgm:spPr/>
    </dgm:pt>
    <dgm:pt modelId="{DD9F770E-CC59-48FD-B728-BDF1D1C0FF54}" type="pres">
      <dgm:prSet presAssocID="{D1DF4FD4-E6D0-4D03-B8CB-11B44451125F}" presName="sibTrans" presStyleCnt="0"/>
      <dgm:spPr/>
    </dgm:pt>
    <dgm:pt modelId="{362468CA-672A-4593-BC94-003999C64325}" type="pres">
      <dgm:prSet presAssocID="{C86DC238-142A-4F62-990D-C0C7D01358C2}" presName="composite" presStyleCnt="0"/>
      <dgm:spPr/>
    </dgm:pt>
    <dgm:pt modelId="{3FBAA7DA-212C-4BC0-BA85-2BDFAA714819}" type="pres">
      <dgm:prSet presAssocID="{C86DC238-142A-4F62-990D-C0C7D01358C2}" presName="FirstChild" presStyleLbl="revTx" presStyleIdx="4" presStyleCnt="13">
        <dgm:presLayoutVars>
          <dgm:chMax val="0"/>
          <dgm:chPref val="0"/>
          <dgm:bulletEnabled val="1"/>
        </dgm:presLayoutVars>
      </dgm:prSet>
      <dgm:spPr/>
    </dgm:pt>
    <dgm:pt modelId="{FE806735-9956-4237-AA40-407E3C7811C6}" type="pres">
      <dgm:prSet presAssocID="{C86DC238-142A-4F62-990D-C0C7D01358C2}" presName="Parent" presStyleLbl="alignNode1" presStyleIdx="4" presStyleCnt="13">
        <dgm:presLayoutVars>
          <dgm:chMax val="3"/>
          <dgm:chPref val="3"/>
          <dgm:bulletEnabled val="1"/>
        </dgm:presLayoutVars>
      </dgm:prSet>
      <dgm:spPr/>
    </dgm:pt>
    <dgm:pt modelId="{443C4E8D-2B1F-4E78-B116-70610C908A89}" type="pres">
      <dgm:prSet presAssocID="{C86DC238-142A-4F62-990D-C0C7D01358C2}" presName="Accent" presStyleLbl="parChTrans1D1" presStyleIdx="4" presStyleCnt="13"/>
      <dgm:spPr/>
    </dgm:pt>
    <dgm:pt modelId="{A1A97793-C813-4BD4-8B55-FAB9D6E073B9}" type="pres">
      <dgm:prSet presAssocID="{9EC3D675-BAA2-4ED3-B5EC-2300CA4B5D8E}" presName="sibTrans" presStyleCnt="0"/>
      <dgm:spPr/>
    </dgm:pt>
    <dgm:pt modelId="{B3256F1C-0D20-4E26-BF66-FAA3BCCE7F00}" type="pres">
      <dgm:prSet presAssocID="{DAA82EB3-C80E-4964-A668-178FB95032A4}" presName="composite" presStyleCnt="0"/>
      <dgm:spPr/>
    </dgm:pt>
    <dgm:pt modelId="{49FB716A-B4CA-4EA0-843F-C6B25569BAD9}" type="pres">
      <dgm:prSet presAssocID="{DAA82EB3-C80E-4964-A668-178FB95032A4}" presName="FirstChild" presStyleLbl="revTx" presStyleIdx="5" presStyleCnt="13">
        <dgm:presLayoutVars>
          <dgm:chMax val="0"/>
          <dgm:chPref val="0"/>
          <dgm:bulletEnabled val="1"/>
        </dgm:presLayoutVars>
      </dgm:prSet>
      <dgm:spPr/>
    </dgm:pt>
    <dgm:pt modelId="{A4B2F9B9-6D4F-479E-9407-6419120F8BFE}" type="pres">
      <dgm:prSet presAssocID="{DAA82EB3-C80E-4964-A668-178FB95032A4}" presName="Parent" presStyleLbl="alignNode1" presStyleIdx="5" presStyleCnt="13">
        <dgm:presLayoutVars>
          <dgm:chMax val="3"/>
          <dgm:chPref val="3"/>
          <dgm:bulletEnabled val="1"/>
        </dgm:presLayoutVars>
      </dgm:prSet>
      <dgm:spPr/>
    </dgm:pt>
    <dgm:pt modelId="{F8A486B8-E922-47A6-8615-D47AA9F63051}" type="pres">
      <dgm:prSet presAssocID="{DAA82EB3-C80E-4964-A668-178FB95032A4}" presName="Accent" presStyleLbl="parChTrans1D1" presStyleIdx="5" presStyleCnt="13"/>
      <dgm:spPr/>
    </dgm:pt>
    <dgm:pt modelId="{EDD8F926-4308-471F-8B97-037A1F769EF3}" type="pres">
      <dgm:prSet presAssocID="{DC39A4AF-F67B-4EFF-9ABC-A3D1E09CF779}" presName="sibTrans" presStyleCnt="0"/>
      <dgm:spPr/>
    </dgm:pt>
    <dgm:pt modelId="{CA4FC552-2528-4DCE-B58F-35300EE17ED0}" type="pres">
      <dgm:prSet presAssocID="{0C47AEFB-240F-4319-AE10-99AE954D9C17}" presName="composite" presStyleCnt="0"/>
      <dgm:spPr/>
    </dgm:pt>
    <dgm:pt modelId="{93E09017-B549-4B73-B18A-DD7B04BF153A}" type="pres">
      <dgm:prSet presAssocID="{0C47AEFB-240F-4319-AE10-99AE954D9C17}" presName="FirstChild" presStyleLbl="revTx" presStyleIdx="6" presStyleCnt="13">
        <dgm:presLayoutVars>
          <dgm:chMax val="0"/>
          <dgm:chPref val="0"/>
          <dgm:bulletEnabled val="1"/>
        </dgm:presLayoutVars>
      </dgm:prSet>
      <dgm:spPr/>
    </dgm:pt>
    <dgm:pt modelId="{CDF9E33F-475E-4D8F-9B64-175BFEF99A6B}" type="pres">
      <dgm:prSet presAssocID="{0C47AEFB-240F-4319-AE10-99AE954D9C17}" presName="Parent" presStyleLbl="alignNode1" presStyleIdx="6" presStyleCnt="13">
        <dgm:presLayoutVars>
          <dgm:chMax val="3"/>
          <dgm:chPref val="3"/>
          <dgm:bulletEnabled val="1"/>
        </dgm:presLayoutVars>
      </dgm:prSet>
      <dgm:spPr/>
    </dgm:pt>
    <dgm:pt modelId="{0D0CB655-1FCE-4D7A-842D-553DD9D9C99C}" type="pres">
      <dgm:prSet presAssocID="{0C47AEFB-240F-4319-AE10-99AE954D9C17}" presName="Accent" presStyleLbl="parChTrans1D1" presStyleIdx="6" presStyleCnt="13"/>
      <dgm:spPr/>
    </dgm:pt>
    <dgm:pt modelId="{88D23DCB-AF31-4EEE-AE5B-F32A6EE9BFA5}" type="pres">
      <dgm:prSet presAssocID="{3CF704A9-5742-43FE-BCE2-EF7320126C8B}" presName="sibTrans" presStyleCnt="0"/>
      <dgm:spPr/>
    </dgm:pt>
    <dgm:pt modelId="{86C3114C-1483-46A9-9652-FEE8C70E1FD4}" type="pres">
      <dgm:prSet presAssocID="{1A9FD45E-C5AA-4079-B595-20A8FBE55593}" presName="composite" presStyleCnt="0"/>
      <dgm:spPr/>
    </dgm:pt>
    <dgm:pt modelId="{00227A01-2115-4092-BE5F-77518CD3171D}" type="pres">
      <dgm:prSet presAssocID="{1A9FD45E-C5AA-4079-B595-20A8FBE55593}" presName="FirstChild" presStyleLbl="revTx" presStyleIdx="7" presStyleCnt="13">
        <dgm:presLayoutVars>
          <dgm:chMax val="0"/>
          <dgm:chPref val="0"/>
          <dgm:bulletEnabled val="1"/>
        </dgm:presLayoutVars>
      </dgm:prSet>
      <dgm:spPr/>
    </dgm:pt>
    <dgm:pt modelId="{4C1452CF-FCC8-49BF-89A8-8DC4BDE2C462}" type="pres">
      <dgm:prSet presAssocID="{1A9FD45E-C5AA-4079-B595-20A8FBE55593}" presName="Parent" presStyleLbl="alignNode1" presStyleIdx="7" presStyleCnt="13">
        <dgm:presLayoutVars>
          <dgm:chMax val="3"/>
          <dgm:chPref val="3"/>
          <dgm:bulletEnabled val="1"/>
        </dgm:presLayoutVars>
      </dgm:prSet>
      <dgm:spPr/>
    </dgm:pt>
    <dgm:pt modelId="{E72E348B-EDB8-4A44-A36D-E3CEC1688476}" type="pres">
      <dgm:prSet presAssocID="{1A9FD45E-C5AA-4079-B595-20A8FBE55593}" presName="Accent" presStyleLbl="parChTrans1D1" presStyleIdx="7" presStyleCnt="13"/>
      <dgm:spPr/>
    </dgm:pt>
    <dgm:pt modelId="{098614D7-2D3D-405C-B8C6-2BDE0BAF7574}" type="pres">
      <dgm:prSet presAssocID="{0426B25C-14F1-4142-A16B-2A02894A076C}" presName="sibTrans" presStyleCnt="0"/>
      <dgm:spPr/>
    </dgm:pt>
    <dgm:pt modelId="{D6429372-D528-477A-9B0F-B7A15592AA42}" type="pres">
      <dgm:prSet presAssocID="{C6D3A7D4-1631-4CB6-83AF-32BED333CE6A}" presName="composite" presStyleCnt="0"/>
      <dgm:spPr/>
    </dgm:pt>
    <dgm:pt modelId="{97E615B6-DC53-48E2-8885-413F6E46EF53}" type="pres">
      <dgm:prSet presAssocID="{C6D3A7D4-1631-4CB6-83AF-32BED333CE6A}" presName="FirstChild" presStyleLbl="revTx" presStyleIdx="8" presStyleCnt="13">
        <dgm:presLayoutVars>
          <dgm:chMax val="0"/>
          <dgm:chPref val="0"/>
          <dgm:bulletEnabled val="1"/>
        </dgm:presLayoutVars>
      </dgm:prSet>
      <dgm:spPr/>
    </dgm:pt>
    <dgm:pt modelId="{C0C7B359-DA33-48DA-8E0D-6CC0F51AB9E9}" type="pres">
      <dgm:prSet presAssocID="{C6D3A7D4-1631-4CB6-83AF-32BED333CE6A}" presName="Parent" presStyleLbl="alignNode1" presStyleIdx="8" presStyleCnt="13">
        <dgm:presLayoutVars>
          <dgm:chMax val="3"/>
          <dgm:chPref val="3"/>
          <dgm:bulletEnabled val="1"/>
        </dgm:presLayoutVars>
      </dgm:prSet>
      <dgm:spPr/>
    </dgm:pt>
    <dgm:pt modelId="{125FC08A-082D-449A-9E57-6F728531F771}" type="pres">
      <dgm:prSet presAssocID="{C6D3A7D4-1631-4CB6-83AF-32BED333CE6A}" presName="Accent" presStyleLbl="parChTrans1D1" presStyleIdx="8" presStyleCnt="13"/>
      <dgm:spPr/>
    </dgm:pt>
    <dgm:pt modelId="{70458CF7-75F0-4449-8BAB-E08A74CCA108}" type="pres">
      <dgm:prSet presAssocID="{04B90885-E56C-44F8-B733-A9997F304954}" presName="sibTrans" presStyleCnt="0"/>
      <dgm:spPr/>
    </dgm:pt>
    <dgm:pt modelId="{298123B2-DFA3-46B3-A207-DC92FBB3A972}" type="pres">
      <dgm:prSet presAssocID="{434610D0-E9FF-4C1D-AE11-4E0D45FA3BC2}" presName="composite" presStyleCnt="0"/>
      <dgm:spPr/>
    </dgm:pt>
    <dgm:pt modelId="{B3550355-47EC-498D-8264-E72F239F9726}" type="pres">
      <dgm:prSet presAssocID="{434610D0-E9FF-4C1D-AE11-4E0D45FA3BC2}" presName="FirstChild" presStyleLbl="revTx" presStyleIdx="9" presStyleCnt="13">
        <dgm:presLayoutVars>
          <dgm:chMax val="0"/>
          <dgm:chPref val="0"/>
          <dgm:bulletEnabled val="1"/>
        </dgm:presLayoutVars>
      </dgm:prSet>
      <dgm:spPr/>
    </dgm:pt>
    <dgm:pt modelId="{1BA75E55-AB15-46EC-9F82-7EE5458EF8BD}" type="pres">
      <dgm:prSet presAssocID="{434610D0-E9FF-4C1D-AE11-4E0D45FA3BC2}" presName="Parent" presStyleLbl="alignNode1" presStyleIdx="9" presStyleCnt="13">
        <dgm:presLayoutVars>
          <dgm:chMax val="3"/>
          <dgm:chPref val="3"/>
          <dgm:bulletEnabled val="1"/>
        </dgm:presLayoutVars>
      </dgm:prSet>
      <dgm:spPr/>
    </dgm:pt>
    <dgm:pt modelId="{CD1F6E5B-C691-4AC9-BD37-AF68F46ACB54}" type="pres">
      <dgm:prSet presAssocID="{434610D0-E9FF-4C1D-AE11-4E0D45FA3BC2}" presName="Accent" presStyleLbl="parChTrans1D1" presStyleIdx="9" presStyleCnt="13"/>
      <dgm:spPr/>
    </dgm:pt>
    <dgm:pt modelId="{71AD4B85-1504-44B7-882C-F6B6417E8F6F}" type="pres">
      <dgm:prSet presAssocID="{11E30EAD-12EB-4CA2-A521-4E43D0321F49}" presName="sibTrans" presStyleCnt="0"/>
      <dgm:spPr/>
    </dgm:pt>
    <dgm:pt modelId="{14A65CC4-B790-4205-95DB-67E9D2D1E345}" type="pres">
      <dgm:prSet presAssocID="{4B731551-62D5-4E4D-B3CF-6619AA2CC9BF}" presName="composite" presStyleCnt="0"/>
      <dgm:spPr/>
    </dgm:pt>
    <dgm:pt modelId="{1B40C81C-62FC-40D5-9FDB-E1130DC05B4A}" type="pres">
      <dgm:prSet presAssocID="{4B731551-62D5-4E4D-B3CF-6619AA2CC9BF}" presName="FirstChild" presStyleLbl="revTx" presStyleIdx="10" presStyleCnt="13">
        <dgm:presLayoutVars>
          <dgm:chMax val="0"/>
          <dgm:chPref val="0"/>
          <dgm:bulletEnabled val="1"/>
        </dgm:presLayoutVars>
      </dgm:prSet>
      <dgm:spPr/>
    </dgm:pt>
    <dgm:pt modelId="{205B82B8-ED27-47C4-A263-BE2725557930}" type="pres">
      <dgm:prSet presAssocID="{4B731551-62D5-4E4D-B3CF-6619AA2CC9BF}" presName="Parent" presStyleLbl="alignNode1" presStyleIdx="10" presStyleCnt="13">
        <dgm:presLayoutVars>
          <dgm:chMax val="3"/>
          <dgm:chPref val="3"/>
          <dgm:bulletEnabled val="1"/>
        </dgm:presLayoutVars>
      </dgm:prSet>
      <dgm:spPr/>
    </dgm:pt>
    <dgm:pt modelId="{912F35FA-AEC3-4370-9DD9-39DBF2E0C342}" type="pres">
      <dgm:prSet presAssocID="{4B731551-62D5-4E4D-B3CF-6619AA2CC9BF}" presName="Accent" presStyleLbl="parChTrans1D1" presStyleIdx="10" presStyleCnt="13"/>
      <dgm:spPr/>
    </dgm:pt>
    <dgm:pt modelId="{8B84B5A1-81A0-468F-B6B1-85550CF65A68}" type="pres">
      <dgm:prSet presAssocID="{B4F30A87-82D7-4FA2-BB86-5824CA6F752B}" presName="sibTrans" presStyleCnt="0"/>
      <dgm:spPr/>
    </dgm:pt>
    <dgm:pt modelId="{62DFBCF8-EFBC-47EE-9591-AF42F8A5D661}" type="pres">
      <dgm:prSet presAssocID="{CF59B1DE-B4FD-4FD8-8B83-789B830CE2D6}" presName="composite" presStyleCnt="0"/>
      <dgm:spPr/>
    </dgm:pt>
    <dgm:pt modelId="{F167E4DC-53BF-4C0B-ACC4-541C38621F70}" type="pres">
      <dgm:prSet presAssocID="{CF59B1DE-B4FD-4FD8-8B83-789B830CE2D6}" presName="FirstChild" presStyleLbl="revTx" presStyleIdx="11" presStyleCnt="13">
        <dgm:presLayoutVars>
          <dgm:chMax val="0"/>
          <dgm:chPref val="0"/>
          <dgm:bulletEnabled val="1"/>
        </dgm:presLayoutVars>
      </dgm:prSet>
      <dgm:spPr/>
    </dgm:pt>
    <dgm:pt modelId="{4D9F24F7-F8FB-40CF-BA77-1CD76A5F0683}" type="pres">
      <dgm:prSet presAssocID="{CF59B1DE-B4FD-4FD8-8B83-789B830CE2D6}" presName="Parent" presStyleLbl="alignNode1" presStyleIdx="11" presStyleCnt="13">
        <dgm:presLayoutVars>
          <dgm:chMax val="3"/>
          <dgm:chPref val="3"/>
          <dgm:bulletEnabled val="1"/>
        </dgm:presLayoutVars>
      </dgm:prSet>
      <dgm:spPr/>
    </dgm:pt>
    <dgm:pt modelId="{E58C95B0-85A7-4C89-9A52-B5C24DFB9B10}" type="pres">
      <dgm:prSet presAssocID="{CF59B1DE-B4FD-4FD8-8B83-789B830CE2D6}" presName="Accent" presStyleLbl="parChTrans1D1" presStyleIdx="11" presStyleCnt="13"/>
      <dgm:spPr/>
    </dgm:pt>
    <dgm:pt modelId="{88924B1F-4BCA-4853-B565-56697E34EC77}" type="pres">
      <dgm:prSet presAssocID="{15A74D5C-7C84-4ECE-943B-177BA8232D7B}" presName="sibTrans" presStyleCnt="0"/>
      <dgm:spPr/>
    </dgm:pt>
    <dgm:pt modelId="{E61EB799-D270-4FC7-981B-8186ABCC73A3}" type="pres">
      <dgm:prSet presAssocID="{66C4CAFC-91D8-40C7-BC20-61F89A9E3652}" presName="composite" presStyleCnt="0"/>
      <dgm:spPr/>
    </dgm:pt>
    <dgm:pt modelId="{F1788DC4-3298-49DE-A0D8-1449F5D21BB4}" type="pres">
      <dgm:prSet presAssocID="{66C4CAFC-91D8-40C7-BC20-61F89A9E3652}" presName="FirstChild" presStyleLbl="revTx" presStyleIdx="12" presStyleCnt="13">
        <dgm:presLayoutVars>
          <dgm:chMax val="0"/>
          <dgm:chPref val="0"/>
          <dgm:bulletEnabled val="1"/>
        </dgm:presLayoutVars>
      </dgm:prSet>
      <dgm:spPr/>
    </dgm:pt>
    <dgm:pt modelId="{EF932C99-3C2A-4D38-8CD7-64EEB4D5CE20}" type="pres">
      <dgm:prSet presAssocID="{66C4CAFC-91D8-40C7-BC20-61F89A9E3652}" presName="Parent" presStyleLbl="alignNode1" presStyleIdx="12" presStyleCnt="13">
        <dgm:presLayoutVars>
          <dgm:chMax val="3"/>
          <dgm:chPref val="3"/>
          <dgm:bulletEnabled val="1"/>
        </dgm:presLayoutVars>
      </dgm:prSet>
      <dgm:spPr/>
    </dgm:pt>
    <dgm:pt modelId="{67F4640C-BB82-43FA-BE7A-FDCDECA2FCA5}" type="pres">
      <dgm:prSet presAssocID="{66C4CAFC-91D8-40C7-BC20-61F89A9E3652}" presName="Accent" presStyleLbl="parChTrans1D1" presStyleIdx="12" presStyleCnt="13"/>
      <dgm:spPr/>
    </dgm:pt>
  </dgm:ptLst>
  <dgm:cxnLst>
    <dgm:cxn modelId="{03E69003-22B4-4303-AB6B-B4C2BCB04A07}" srcId="{871350EC-F43B-413D-9721-849B643FF22C}" destId="{C6D3A7D4-1631-4CB6-83AF-32BED333CE6A}" srcOrd="8" destOrd="0" parTransId="{8B29EC11-9611-438E-BD01-275AD9F504A7}" sibTransId="{04B90885-E56C-44F8-B733-A9997F304954}"/>
    <dgm:cxn modelId="{A8621C0B-FCF2-404F-ADA2-6AD79C536530}" srcId="{871350EC-F43B-413D-9721-849B643FF22C}" destId="{CF59B1DE-B4FD-4FD8-8B83-789B830CE2D6}" srcOrd="11" destOrd="0" parTransId="{E882512E-D256-4D59-82C1-C93B39C9A31A}" sibTransId="{15A74D5C-7C84-4ECE-943B-177BA8232D7B}"/>
    <dgm:cxn modelId="{93342D0F-1C66-41F2-AA0A-5EEA9D167F12}" srcId="{FC805384-9C8E-4104-B44D-A8ACE1739642}" destId="{8C6F59F6-3CAF-4957-85A9-A958805F6B2A}" srcOrd="0" destOrd="0" parTransId="{A9AF20D1-FC20-41A6-9620-10843FEB8B19}" sibTransId="{C08C0DA8-7315-422E-9E59-BFD206ADA71C}"/>
    <dgm:cxn modelId="{6EAF2313-E207-4A9D-A782-678BA48189D9}" srcId="{0C47AEFB-240F-4319-AE10-99AE954D9C17}" destId="{59639849-66FA-4545-8BC9-AB426DFFA9C3}" srcOrd="0" destOrd="0" parTransId="{507A4835-7982-4827-AEE7-5C162EFC854A}" sibTransId="{92F234CC-7E02-4859-B470-6874897A11EE}"/>
    <dgm:cxn modelId="{AC4F9228-D34B-4B9F-9CAE-A38B2226B01C}" srcId="{CF59B1DE-B4FD-4FD8-8B83-789B830CE2D6}" destId="{E31E8DFD-AF73-416D-9744-6A356DC03BF4}" srcOrd="0" destOrd="0" parTransId="{A334D871-C3AE-4558-B823-E6E6D0DAD6B1}" sibTransId="{ECDF2610-8001-492D-9BEE-246B2D4593D6}"/>
    <dgm:cxn modelId="{FA10CD32-E2D2-4DDA-A4BC-AAB64E44DD4F}" type="presOf" srcId="{871350EC-F43B-413D-9721-849B643FF22C}" destId="{8F810236-759B-4D53-B3D6-1C2F3C1CDCA9}" srcOrd="0" destOrd="0" presId="urn:microsoft.com/office/officeart/2011/layout/TabList"/>
    <dgm:cxn modelId="{AE61E75B-0767-4CBA-98D9-32897E2DB8EE}" type="presOf" srcId="{8C6F59F6-3CAF-4957-85A9-A958805F6B2A}" destId="{0BCC5BC9-C8A6-488E-86D6-2A9438401A2C}" srcOrd="0" destOrd="0" presId="urn:microsoft.com/office/officeart/2011/layout/TabList"/>
    <dgm:cxn modelId="{314A4E5D-DE55-471A-BCAC-36A82EB94F37}" srcId="{4B731551-62D5-4E4D-B3CF-6619AA2CC9BF}" destId="{CAC3AD66-0982-491F-AA0E-83E296669C9C}" srcOrd="0" destOrd="0" parTransId="{142DC5A2-938E-475B-A379-DFC93A30091D}" sibTransId="{5766A9E0-E8FC-489B-8967-B8569E6342C4}"/>
    <dgm:cxn modelId="{A8C8C960-FA36-4290-A8EC-AE88796A0EB2}" type="presOf" srcId="{963834F7-1AD7-48E1-A3E8-462CBBD4610A}" destId="{3FBAA7DA-212C-4BC0-BA85-2BDFAA714819}" srcOrd="0" destOrd="0" presId="urn:microsoft.com/office/officeart/2011/layout/TabList"/>
    <dgm:cxn modelId="{D4E3CA65-D2F1-4CE0-BF16-7008FE8D74F7}" srcId="{434610D0-E9FF-4C1D-AE11-4E0D45FA3BC2}" destId="{CE2BA4DF-1889-483D-9EE2-7EA08015C99C}" srcOrd="0" destOrd="0" parTransId="{A294D750-6FE9-4D65-8628-3407739A1DB9}" sibTransId="{196C1715-A0EE-4D63-8A73-C39CF4620590}"/>
    <dgm:cxn modelId="{B2AFC666-5AC9-44E0-9C9A-E80A379CC3FB}" srcId="{871350EC-F43B-413D-9721-849B643FF22C}" destId="{C86DC238-142A-4F62-990D-C0C7D01358C2}" srcOrd="4" destOrd="0" parTransId="{BFEF36D9-345D-4596-AAB2-BBC32AFA2A4B}" sibTransId="{9EC3D675-BAA2-4ED3-B5EC-2300CA4B5D8E}"/>
    <dgm:cxn modelId="{A0EE2D48-E540-49D1-B29E-1D4A3A7695A1}" type="presOf" srcId="{AF0C0F1C-0E8A-4202-BB5D-E415FCD9BD7F}" destId="{F54692E8-F235-4E21-94E3-DE76387F223C}" srcOrd="0" destOrd="0" presId="urn:microsoft.com/office/officeart/2011/layout/TabList"/>
    <dgm:cxn modelId="{4B01F468-A37B-49C8-B7B7-CA9CBCC4495B}" srcId="{AAFF8111-049A-4053-A0A9-8C828EC93EA4}" destId="{AF0C0F1C-0E8A-4202-BB5D-E415FCD9BD7F}" srcOrd="0" destOrd="0" parTransId="{EEC33697-22B1-4FFB-9668-E313BE8D8822}" sibTransId="{82683352-F1C5-47DF-A377-1A42B1780F4C}"/>
    <dgm:cxn modelId="{7720326A-1CC8-467E-B99C-1428A97B07CF}" type="presOf" srcId="{C908A799-D28F-4972-A53E-4D66B5CF7673}" destId="{F1788DC4-3298-49DE-A0D8-1449F5D21BB4}" srcOrd="0" destOrd="0" presId="urn:microsoft.com/office/officeart/2011/layout/TabList"/>
    <dgm:cxn modelId="{08EF7C4B-60B8-435E-AA94-4A5463DBE928}" type="presOf" srcId="{1A9FD45E-C5AA-4079-B595-20A8FBE55593}" destId="{4C1452CF-FCC8-49BF-89A8-8DC4BDE2C462}" srcOrd="0" destOrd="0" presId="urn:microsoft.com/office/officeart/2011/layout/TabList"/>
    <dgm:cxn modelId="{F447514C-9C49-41C2-9D21-9B96DB50AA45}" srcId="{871350EC-F43B-413D-9721-849B643FF22C}" destId="{434610D0-E9FF-4C1D-AE11-4E0D45FA3BC2}" srcOrd="9" destOrd="0" parTransId="{0EFF3C74-9127-4A74-98C0-24F8993110B8}" sibTransId="{11E30EAD-12EB-4CA2-A521-4E43D0321F49}"/>
    <dgm:cxn modelId="{0D3D4C4D-4D70-45B1-B992-57C526F18B65}" srcId="{871350EC-F43B-413D-9721-849B643FF22C}" destId="{3BD3D35E-C588-4B60-A682-54F1C4424D8D}" srcOrd="0" destOrd="0" parTransId="{FEBE2C3F-C217-4A5E-B371-8E24703102E6}" sibTransId="{B904D039-11D7-44A8-B550-66A7627CD226}"/>
    <dgm:cxn modelId="{758F716F-EC48-4575-89AC-814F17F9B0C7}" type="presOf" srcId="{C6D3A7D4-1631-4CB6-83AF-32BED333CE6A}" destId="{C0C7B359-DA33-48DA-8E0D-6CC0F51AB9E9}" srcOrd="0" destOrd="0" presId="urn:microsoft.com/office/officeart/2011/layout/TabList"/>
    <dgm:cxn modelId="{5FACB851-456D-4E47-AE2F-6DCCFFDBD278}" srcId="{DAA82EB3-C80E-4964-A668-178FB95032A4}" destId="{F1F58A32-D8B8-4113-A6D2-C10C423AB5B6}" srcOrd="0" destOrd="0" parTransId="{3F7A484E-FD34-4686-9F9C-60613CA7255E}" sibTransId="{6BD42428-0735-4C82-A438-C281573E3DCE}"/>
    <dgm:cxn modelId="{40655077-4BF5-4888-9CEC-2187C5275FDC}" type="presOf" srcId="{FC805384-9C8E-4104-B44D-A8ACE1739642}" destId="{BAF13732-569E-4A6F-8477-3FC2F29D221B}" srcOrd="0" destOrd="0" presId="urn:microsoft.com/office/officeart/2011/layout/TabList"/>
    <dgm:cxn modelId="{1BB91178-308B-4B02-B46A-0DE0DC811BFA}" srcId="{871350EC-F43B-413D-9721-849B643FF22C}" destId="{AAFF8111-049A-4053-A0A9-8C828EC93EA4}" srcOrd="1" destOrd="0" parTransId="{7D0D338B-7A84-419C-97AB-92EE4DDD8916}" sibTransId="{7B35EA36-3183-48A3-8974-2EFDC944546F}"/>
    <dgm:cxn modelId="{1EEF165A-D795-4C89-B6BD-80E331C5606B}" srcId="{871350EC-F43B-413D-9721-849B643FF22C}" destId="{66C4CAFC-91D8-40C7-BC20-61F89A9E3652}" srcOrd="12" destOrd="0" parTransId="{88FF5E67-396D-4C47-9F7B-CABFB67DB952}" sibTransId="{2F8BF678-5022-4976-8B04-BEAE2041A1CD}"/>
    <dgm:cxn modelId="{FCA2437A-1EB9-4287-BF0D-0EE7C04FFE9C}" type="presOf" srcId="{DAA82EB3-C80E-4964-A668-178FB95032A4}" destId="{A4B2F9B9-6D4F-479E-9407-6419120F8BFE}" srcOrd="0" destOrd="0" presId="urn:microsoft.com/office/officeart/2011/layout/TabList"/>
    <dgm:cxn modelId="{5AB66882-10FA-4DE5-BEAE-473BBAD55E77}" type="presOf" srcId="{4B731551-62D5-4E4D-B3CF-6619AA2CC9BF}" destId="{205B82B8-ED27-47C4-A263-BE2725557930}" srcOrd="0" destOrd="0" presId="urn:microsoft.com/office/officeart/2011/layout/TabList"/>
    <dgm:cxn modelId="{5676A289-7F5D-441D-9940-2DB25B260E74}" type="presOf" srcId="{CAC3AD66-0982-491F-AA0E-83E296669C9C}" destId="{1B40C81C-62FC-40D5-9FDB-E1130DC05B4A}" srcOrd="0" destOrd="0" presId="urn:microsoft.com/office/officeart/2011/layout/TabList"/>
    <dgm:cxn modelId="{5D1DB092-6660-4DFB-A837-608681227A8B}" srcId="{871350EC-F43B-413D-9721-849B643FF22C}" destId="{DAA82EB3-C80E-4964-A668-178FB95032A4}" srcOrd="5" destOrd="0" parTransId="{426468AD-2C17-438F-8E27-C93F95B4F96F}" sibTransId="{DC39A4AF-F67B-4EFF-9ABC-A3D1E09CF779}"/>
    <dgm:cxn modelId="{42DAB897-D0CD-4B6C-BA26-7E7E6CC40735}" type="presOf" srcId="{C86DC238-142A-4F62-990D-C0C7D01358C2}" destId="{FE806735-9956-4237-AA40-407E3C7811C6}" srcOrd="0" destOrd="0" presId="urn:microsoft.com/office/officeart/2011/layout/TabList"/>
    <dgm:cxn modelId="{364F559C-BE78-47F2-A53F-F101D9B434A0}" srcId="{C86DC238-142A-4F62-990D-C0C7D01358C2}" destId="{963834F7-1AD7-48E1-A3E8-462CBBD4610A}" srcOrd="0" destOrd="0" parTransId="{6813BBCB-410F-4918-9990-D15936E63CA4}" sibTransId="{B1CE1321-4472-44CC-BD0D-F0BBDC14D106}"/>
    <dgm:cxn modelId="{ADE8999E-CF40-42E1-A0FF-28D467AFB507}" srcId="{3BD3D35E-C588-4B60-A682-54F1C4424D8D}" destId="{BF183769-43E4-4794-A2DE-AB01FFB04213}" srcOrd="0" destOrd="0" parTransId="{34655AD5-98EE-4CF1-A150-F5B4FB15A28E}" sibTransId="{58DA9E23-4199-4F93-A007-E3D25AC04CF5}"/>
    <dgm:cxn modelId="{2B0E48A0-A1C4-4DBF-B391-8078CF805722}" type="presOf" srcId="{F1F58A32-D8B8-4113-A6D2-C10C423AB5B6}" destId="{49FB716A-B4CA-4EA0-843F-C6B25569BAD9}" srcOrd="0" destOrd="0" presId="urn:microsoft.com/office/officeart/2011/layout/TabList"/>
    <dgm:cxn modelId="{C999C1A0-2AB7-4A1B-B839-4A15ED8FAB72}" type="presOf" srcId="{0C47AEFB-240F-4319-AE10-99AE954D9C17}" destId="{CDF9E33F-475E-4D8F-9B64-175BFEF99A6B}" srcOrd="0" destOrd="0" presId="urn:microsoft.com/office/officeart/2011/layout/TabList"/>
    <dgm:cxn modelId="{30A6A7A2-AEA8-4DEA-9920-82A04FD111E4}" type="presOf" srcId="{BF183769-43E4-4794-A2DE-AB01FFB04213}" destId="{64089E3C-23A9-4DFB-9358-C6FC88563BA9}" srcOrd="0" destOrd="0" presId="urn:microsoft.com/office/officeart/2011/layout/TabList"/>
    <dgm:cxn modelId="{7DB3AFA5-C4DA-4262-A5E5-A4EBF277D654}" srcId="{1A9FD45E-C5AA-4079-B595-20A8FBE55593}" destId="{05DB4755-E34F-4487-BE23-87D1F7424A7B}" srcOrd="0" destOrd="0" parTransId="{01C2141B-A486-4D0F-AC15-C4B6E7A1C30B}" sibTransId="{3420DFF8-58A5-46C5-8114-EEC2816E78DE}"/>
    <dgm:cxn modelId="{FDB1E5AE-27EA-438D-8BBF-FE6B62AA7B1B}" type="presOf" srcId="{102E6ACA-EEA2-4EE3-94F8-13BF2861AF8C}" destId="{97E615B6-DC53-48E2-8885-413F6E46EF53}" srcOrd="0" destOrd="0" presId="urn:microsoft.com/office/officeart/2011/layout/TabList"/>
    <dgm:cxn modelId="{60984CB3-470B-408D-A12B-A7AED009E637}" type="presOf" srcId="{E31E8DFD-AF73-416D-9744-6A356DC03BF4}" destId="{F167E4DC-53BF-4C0B-ACC4-541C38621F70}" srcOrd="0" destOrd="0" presId="urn:microsoft.com/office/officeart/2011/layout/TabList"/>
    <dgm:cxn modelId="{5DD47BB5-D11D-4BDD-AE37-CE7AC2C69CDC}" srcId="{0C09C7A1-A2B1-4D00-B76E-6BB18B86E724}" destId="{C3175CA1-4477-49BE-AE6D-29B3F9A5A5B0}" srcOrd="0" destOrd="0" parTransId="{8E6F7B3F-8C5F-4871-9D14-A7DA9D55BDEF}" sibTransId="{CED9903B-DCB8-4A68-8C64-F6988817903C}"/>
    <dgm:cxn modelId="{896D84B5-2ED2-4018-8491-10337087504A}" type="presOf" srcId="{05DB4755-E34F-4487-BE23-87D1F7424A7B}" destId="{00227A01-2115-4092-BE5F-77518CD3171D}" srcOrd="0" destOrd="0" presId="urn:microsoft.com/office/officeart/2011/layout/TabList"/>
    <dgm:cxn modelId="{FE8E8BBB-FD74-4838-A82F-63073FE5B326}" srcId="{871350EC-F43B-413D-9721-849B643FF22C}" destId="{1A9FD45E-C5AA-4079-B595-20A8FBE55593}" srcOrd="7" destOrd="0" parTransId="{84345BD9-2471-4D77-9B05-7B1930507C7D}" sibTransId="{0426B25C-14F1-4142-A16B-2A02894A076C}"/>
    <dgm:cxn modelId="{A7D97FBC-DB94-4F6E-A964-25323FF5466D}" srcId="{871350EC-F43B-413D-9721-849B643FF22C}" destId="{0C47AEFB-240F-4319-AE10-99AE954D9C17}" srcOrd="6" destOrd="0" parTransId="{49AF72BD-9950-44A0-BE07-397E87CDE8D7}" sibTransId="{3CF704A9-5742-43FE-BCE2-EF7320126C8B}"/>
    <dgm:cxn modelId="{5B47A1C3-B1C4-4432-8346-7BC3CD223535}" srcId="{871350EC-F43B-413D-9721-849B643FF22C}" destId="{FC805384-9C8E-4104-B44D-A8ACE1739642}" srcOrd="3" destOrd="0" parTransId="{70E0D411-A3A2-4081-A623-8C6FF324ED88}" sibTransId="{D1DF4FD4-E6D0-4D03-B8CB-11B44451125F}"/>
    <dgm:cxn modelId="{5E1587C6-54E2-4AA0-9524-89BCDD739D8B}" srcId="{871350EC-F43B-413D-9721-849B643FF22C}" destId="{0C09C7A1-A2B1-4D00-B76E-6BB18B86E724}" srcOrd="2" destOrd="0" parTransId="{F260D781-8522-4811-BA6A-451E3E7D7131}" sibTransId="{49082E5E-1CF9-490E-96DF-B8394C0ECB4F}"/>
    <dgm:cxn modelId="{8321ADCC-3C08-4DF8-B820-BBF302C2BDE1}" srcId="{66C4CAFC-91D8-40C7-BC20-61F89A9E3652}" destId="{C908A799-D28F-4972-A53E-4D66B5CF7673}" srcOrd="0" destOrd="0" parTransId="{93737554-278F-4A7F-840E-F88313843BB6}" sibTransId="{C6A5CDA8-E860-484A-99F1-AEC0ADCFAA9F}"/>
    <dgm:cxn modelId="{7CA6D0D2-BF8D-4BD8-B4F3-8D77911C99F3}" type="presOf" srcId="{AAFF8111-049A-4053-A0A9-8C828EC93EA4}" destId="{BB4EE594-2110-49B7-82E4-FC2C9EA0C76D}" srcOrd="0" destOrd="0" presId="urn:microsoft.com/office/officeart/2011/layout/TabList"/>
    <dgm:cxn modelId="{D4B92ED3-BE34-4E9B-9132-568F6173386D}" type="presOf" srcId="{66C4CAFC-91D8-40C7-BC20-61F89A9E3652}" destId="{EF932C99-3C2A-4D38-8CD7-64EEB4D5CE20}" srcOrd="0" destOrd="0" presId="urn:microsoft.com/office/officeart/2011/layout/TabList"/>
    <dgm:cxn modelId="{536359D3-7DB0-4E6F-AC4E-C8B2522D2F3E}" type="presOf" srcId="{0C09C7A1-A2B1-4D00-B76E-6BB18B86E724}" destId="{CE67D8D9-B445-47DA-B288-F26E53AC3C3A}" srcOrd="0" destOrd="0" presId="urn:microsoft.com/office/officeart/2011/layout/TabList"/>
    <dgm:cxn modelId="{DBB867D5-7EE7-4A02-9B6D-33F9AC3E16D8}" type="presOf" srcId="{CF59B1DE-B4FD-4FD8-8B83-789B830CE2D6}" destId="{4D9F24F7-F8FB-40CF-BA77-1CD76A5F0683}" srcOrd="0" destOrd="0" presId="urn:microsoft.com/office/officeart/2011/layout/TabList"/>
    <dgm:cxn modelId="{7A7115D7-D3B5-40DB-8EF0-A00B74FC612C}" type="presOf" srcId="{C3175CA1-4477-49BE-AE6D-29B3F9A5A5B0}" destId="{D450599E-FE12-403C-8C3F-3D73FA40FB5F}" srcOrd="0" destOrd="0" presId="urn:microsoft.com/office/officeart/2011/layout/TabList"/>
    <dgm:cxn modelId="{CE55B9DE-1A19-43EA-BB81-63770CEFDE10}" srcId="{C6D3A7D4-1631-4CB6-83AF-32BED333CE6A}" destId="{102E6ACA-EEA2-4EE3-94F8-13BF2861AF8C}" srcOrd="0" destOrd="0" parTransId="{F2841A4A-2179-4C8F-BCD9-DC0F6E05489E}" sibTransId="{8E3E2033-7B37-4D6A-89D0-8C5EDE3B41DD}"/>
    <dgm:cxn modelId="{CE617DDF-9F59-4EB5-96C4-79C002CF755E}" srcId="{871350EC-F43B-413D-9721-849B643FF22C}" destId="{4B731551-62D5-4E4D-B3CF-6619AA2CC9BF}" srcOrd="10" destOrd="0" parTransId="{90220717-5C20-4F9D-A91B-CB819FDE2477}" sibTransId="{B4F30A87-82D7-4FA2-BB86-5824CA6F752B}"/>
    <dgm:cxn modelId="{C47BC1E6-54EF-46DD-B484-992BBC341C84}" type="presOf" srcId="{434610D0-E9FF-4C1D-AE11-4E0D45FA3BC2}" destId="{1BA75E55-AB15-46EC-9F82-7EE5458EF8BD}" srcOrd="0" destOrd="0" presId="urn:microsoft.com/office/officeart/2011/layout/TabList"/>
    <dgm:cxn modelId="{B246D8E6-AD58-4C45-8E11-C7A7BE371697}" type="presOf" srcId="{3BD3D35E-C588-4B60-A682-54F1C4424D8D}" destId="{28A2A817-B6A5-439F-9A4C-D832E99F9070}" srcOrd="0" destOrd="0" presId="urn:microsoft.com/office/officeart/2011/layout/TabList"/>
    <dgm:cxn modelId="{72C7B9EE-E561-4511-BA05-29AADACA4EC1}" type="presOf" srcId="{CE2BA4DF-1889-483D-9EE2-7EA08015C99C}" destId="{B3550355-47EC-498D-8264-E72F239F9726}" srcOrd="0" destOrd="0" presId="urn:microsoft.com/office/officeart/2011/layout/TabList"/>
    <dgm:cxn modelId="{53218AF6-D726-435C-AAA0-BCF1C6418CE6}" type="presOf" srcId="{59639849-66FA-4545-8BC9-AB426DFFA9C3}" destId="{93E09017-B549-4B73-B18A-DD7B04BF153A}" srcOrd="0" destOrd="0" presId="urn:microsoft.com/office/officeart/2011/layout/TabList"/>
    <dgm:cxn modelId="{4F7662EB-C211-481D-88D6-970E23879DFA}" type="presParOf" srcId="{8F810236-759B-4D53-B3D6-1C2F3C1CDCA9}" destId="{8ED8FCBE-EFC1-4AF8-A81A-F67C0B413369}" srcOrd="0" destOrd="0" presId="urn:microsoft.com/office/officeart/2011/layout/TabList"/>
    <dgm:cxn modelId="{50A1174F-3405-44B7-83C9-1A721CF1655D}" type="presParOf" srcId="{8ED8FCBE-EFC1-4AF8-A81A-F67C0B413369}" destId="{64089E3C-23A9-4DFB-9358-C6FC88563BA9}" srcOrd="0" destOrd="0" presId="urn:microsoft.com/office/officeart/2011/layout/TabList"/>
    <dgm:cxn modelId="{3F7A93A3-1B69-4C07-83D5-658C65852D60}" type="presParOf" srcId="{8ED8FCBE-EFC1-4AF8-A81A-F67C0B413369}" destId="{28A2A817-B6A5-439F-9A4C-D832E99F9070}" srcOrd="1" destOrd="0" presId="urn:microsoft.com/office/officeart/2011/layout/TabList"/>
    <dgm:cxn modelId="{67935F31-DC3F-4B3F-95A3-FD10F67C0728}" type="presParOf" srcId="{8ED8FCBE-EFC1-4AF8-A81A-F67C0B413369}" destId="{DA53E811-08F8-4B84-97A4-3A11EABC7A05}" srcOrd="2" destOrd="0" presId="urn:microsoft.com/office/officeart/2011/layout/TabList"/>
    <dgm:cxn modelId="{7D9595A1-A49F-463A-8478-961552020152}" type="presParOf" srcId="{8F810236-759B-4D53-B3D6-1C2F3C1CDCA9}" destId="{64DDC7C9-E60E-4843-A1EB-4EA82F7C69C6}" srcOrd="1" destOrd="0" presId="urn:microsoft.com/office/officeart/2011/layout/TabList"/>
    <dgm:cxn modelId="{DF36897D-A66F-4216-8793-BEB893B3EE4E}" type="presParOf" srcId="{8F810236-759B-4D53-B3D6-1C2F3C1CDCA9}" destId="{590D4A9C-2F9A-490B-9451-7AD09C734A2A}" srcOrd="2" destOrd="0" presId="urn:microsoft.com/office/officeart/2011/layout/TabList"/>
    <dgm:cxn modelId="{E168F4AC-779F-4C7A-8AA5-08DAD993134D}" type="presParOf" srcId="{590D4A9C-2F9A-490B-9451-7AD09C734A2A}" destId="{F54692E8-F235-4E21-94E3-DE76387F223C}" srcOrd="0" destOrd="0" presId="urn:microsoft.com/office/officeart/2011/layout/TabList"/>
    <dgm:cxn modelId="{6672EFC3-99DF-4EDC-BF23-8CAE07F2DD9C}" type="presParOf" srcId="{590D4A9C-2F9A-490B-9451-7AD09C734A2A}" destId="{BB4EE594-2110-49B7-82E4-FC2C9EA0C76D}" srcOrd="1" destOrd="0" presId="urn:microsoft.com/office/officeart/2011/layout/TabList"/>
    <dgm:cxn modelId="{9DBCE9AB-E10C-470C-886C-F584BE4CA46E}" type="presParOf" srcId="{590D4A9C-2F9A-490B-9451-7AD09C734A2A}" destId="{1EF3AD28-DC12-45A5-A1F5-CA623D92548F}" srcOrd="2" destOrd="0" presId="urn:microsoft.com/office/officeart/2011/layout/TabList"/>
    <dgm:cxn modelId="{84AE89C2-3915-4C58-AB5A-AC6487C42F03}" type="presParOf" srcId="{8F810236-759B-4D53-B3D6-1C2F3C1CDCA9}" destId="{BC690FF0-CEBF-4C27-AF6C-4FF75AD7FA74}" srcOrd="3" destOrd="0" presId="urn:microsoft.com/office/officeart/2011/layout/TabList"/>
    <dgm:cxn modelId="{903B1919-A0A0-4545-9334-280057CA9F23}" type="presParOf" srcId="{8F810236-759B-4D53-B3D6-1C2F3C1CDCA9}" destId="{4968E07B-2E11-491E-AC64-3CB93395886C}" srcOrd="4" destOrd="0" presId="urn:microsoft.com/office/officeart/2011/layout/TabList"/>
    <dgm:cxn modelId="{5F81D70A-B51B-4F1E-813E-D8BA7E228CF5}" type="presParOf" srcId="{4968E07B-2E11-491E-AC64-3CB93395886C}" destId="{D450599E-FE12-403C-8C3F-3D73FA40FB5F}" srcOrd="0" destOrd="0" presId="urn:microsoft.com/office/officeart/2011/layout/TabList"/>
    <dgm:cxn modelId="{D8F56D7E-5A7D-4F55-BDDB-1762E9C42CC2}" type="presParOf" srcId="{4968E07B-2E11-491E-AC64-3CB93395886C}" destId="{CE67D8D9-B445-47DA-B288-F26E53AC3C3A}" srcOrd="1" destOrd="0" presId="urn:microsoft.com/office/officeart/2011/layout/TabList"/>
    <dgm:cxn modelId="{BA4DC172-A801-41E5-8DDE-38112F537AE1}" type="presParOf" srcId="{4968E07B-2E11-491E-AC64-3CB93395886C}" destId="{54D89B7C-2984-4405-B39E-3BFEE2AC08A5}" srcOrd="2" destOrd="0" presId="urn:microsoft.com/office/officeart/2011/layout/TabList"/>
    <dgm:cxn modelId="{0F112E21-4B60-4CE7-A1C2-3DD9401BDE23}" type="presParOf" srcId="{8F810236-759B-4D53-B3D6-1C2F3C1CDCA9}" destId="{2A43D274-E8C8-4ABD-B09E-F7B738914B26}" srcOrd="5" destOrd="0" presId="urn:microsoft.com/office/officeart/2011/layout/TabList"/>
    <dgm:cxn modelId="{E6BE7C65-B7EB-4004-B6C8-D6D2BB4D3777}" type="presParOf" srcId="{8F810236-759B-4D53-B3D6-1C2F3C1CDCA9}" destId="{9F35AB9F-BB96-4721-8F3E-4E3F2BA870A3}" srcOrd="6" destOrd="0" presId="urn:microsoft.com/office/officeart/2011/layout/TabList"/>
    <dgm:cxn modelId="{58B8F629-A54F-499B-B6BA-54512F5F2EE0}" type="presParOf" srcId="{9F35AB9F-BB96-4721-8F3E-4E3F2BA870A3}" destId="{0BCC5BC9-C8A6-488E-86D6-2A9438401A2C}" srcOrd="0" destOrd="0" presId="urn:microsoft.com/office/officeart/2011/layout/TabList"/>
    <dgm:cxn modelId="{0E9622AD-B38E-427B-BDFD-4412A5C3A4B1}" type="presParOf" srcId="{9F35AB9F-BB96-4721-8F3E-4E3F2BA870A3}" destId="{BAF13732-569E-4A6F-8477-3FC2F29D221B}" srcOrd="1" destOrd="0" presId="urn:microsoft.com/office/officeart/2011/layout/TabList"/>
    <dgm:cxn modelId="{D4272C68-674B-430C-84E7-C0BB6433E5CA}" type="presParOf" srcId="{9F35AB9F-BB96-4721-8F3E-4E3F2BA870A3}" destId="{9101C0DD-5682-45DE-8430-6BD42271563D}" srcOrd="2" destOrd="0" presId="urn:microsoft.com/office/officeart/2011/layout/TabList"/>
    <dgm:cxn modelId="{DB0715CD-11BE-4B98-9FF7-5F50FA88AE70}" type="presParOf" srcId="{8F810236-759B-4D53-B3D6-1C2F3C1CDCA9}" destId="{DD9F770E-CC59-48FD-B728-BDF1D1C0FF54}" srcOrd="7" destOrd="0" presId="urn:microsoft.com/office/officeart/2011/layout/TabList"/>
    <dgm:cxn modelId="{CD51F6D0-0F6A-4F9B-B8B4-B2C083EAD164}" type="presParOf" srcId="{8F810236-759B-4D53-B3D6-1C2F3C1CDCA9}" destId="{362468CA-672A-4593-BC94-003999C64325}" srcOrd="8" destOrd="0" presId="urn:microsoft.com/office/officeart/2011/layout/TabList"/>
    <dgm:cxn modelId="{F0808460-6C14-4A2B-BDE8-6F975F28FB2E}" type="presParOf" srcId="{362468CA-672A-4593-BC94-003999C64325}" destId="{3FBAA7DA-212C-4BC0-BA85-2BDFAA714819}" srcOrd="0" destOrd="0" presId="urn:microsoft.com/office/officeart/2011/layout/TabList"/>
    <dgm:cxn modelId="{20F0BE90-1C64-4378-8735-852FCA447418}" type="presParOf" srcId="{362468CA-672A-4593-BC94-003999C64325}" destId="{FE806735-9956-4237-AA40-407E3C7811C6}" srcOrd="1" destOrd="0" presId="urn:microsoft.com/office/officeart/2011/layout/TabList"/>
    <dgm:cxn modelId="{AE9D76DB-896F-4096-915A-BF6106963D3D}" type="presParOf" srcId="{362468CA-672A-4593-BC94-003999C64325}" destId="{443C4E8D-2B1F-4E78-B116-70610C908A89}" srcOrd="2" destOrd="0" presId="urn:microsoft.com/office/officeart/2011/layout/TabList"/>
    <dgm:cxn modelId="{AF9274BF-8E09-4A66-B5F0-11E8C00578EA}" type="presParOf" srcId="{8F810236-759B-4D53-B3D6-1C2F3C1CDCA9}" destId="{A1A97793-C813-4BD4-8B55-FAB9D6E073B9}" srcOrd="9" destOrd="0" presId="urn:microsoft.com/office/officeart/2011/layout/TabList"/>
    <dgm:cxn modelId="{CFBD72E1-783A-44C8-8F68-66F5B7EED658}" type="presParOf" srcId="{8F810236-759B-4D53-B3D6-1C2F3C1CDCA9}" destId="{B3256F1C-0D20-4E26-BF66-FAA3BCCE7F00}" srcOrd="10" destOrd="0" presId="urn:microsoft.com/office/officeart/2011/layout/TabList"/>
    <dgm:cxn modelId="{8460856F-AFE8-487A-BE7F-49216B72DFBC}" type="presParOf" srcId="{B3256F1C-0D20-4E26-BF66-FAA3BCCE7F00}" destId="{49FB716A-B4CA-4EA0-843F-C6B25569BAD9}" srcOrd="0" destOrd="0" presId="urn:microsoft.com/office/officeart/2011/layout/TabList"/>
    <dgm:cxn modelId="{078805EA-EB87-4DB2-8040-6EE6FFB32AD3}" type="presParOf" srcId="{B3256F1C-0D20-4E26-BF66-FAA3BCCE7F00}" destId="{A4B2F9B9-6D4F-479E-9407-6419120F8BFE}" srcOrd="1" destOrd="0" presId="urn:microsoft.com/office/officeart/2011/layout/TabList"/>
    <dgm:cxn modelId="{93295D74-1DDB-4BE9-8C51-1EBB1C89E07C}" type="presParOf" srcId="{B3256F1C-0D20-4E26-BF66-FAA3BCCE7F00}" destId="{F8A486B8-E922-47A6-8615-D47AA9F63051}" srcOrd="2" destOrd="0" presId="urn:microsoft.com/office/officeart/2011/layout/TabList"/>
    <dgm:cxn modelId="{16899046-8C3C-4EEA-B713-88E48EA1D5E1}" type="presParOf" srcId="{8F810236-759B-4D53-B3D6-1C2F3C1CDCA9}" destId="{EDD8F926-4308-471F-8B97-037A1F769EF3}" srcOrd="11" destOrd="0" presId="urn:microsoft.com/office/officeart/2011/layout/TabList"/>
    <dgm:cxn modelId="{D66481E2-C8E0-4B1C-92BF-D35F787031AF}" type="presParOf" srcId="{8F810236-759B-4D53-B3D6-1C2F3C1CDCA9}" destId="{CA4FC552-2528-4DCE-B58F-35300EE17ED0}" srcOrd="12" destOrd="0" presId="urn:microsoft.com/office/officeart/2011/layout/TabList"/>
    <dgm:cxn modelId="{296E004C-504C-44DF-A1DD-C49321BADF76}" type="presParOf" srcId="{CA4FC552-2528-4DCE-B58F-35300EE17ED0}" destId="{93E09017-B549-4B73-B18A-DD7B04BF153A}" srcOrd="0" destOrd="0" presId="urn:microsoft.com/office/officeart/2011/layout/TabList"/>
    <dgm:cxn modelId="{F2F8A018-7786-4042-9C81-F1014245032E}" type="presParOf" srcId="{CA4FC552-2528-4DCE-B58F-35300EE17ED0}" destId="{CDF9E33F-475E-4D8F-9B64-175BFEF99A6B}" srcOrd="1" destOrd="0" presId="urn:microsoft.com/office/officeart/2011/layout/TabList"/>
    <dgm:cxn modelId="{4B699E34-7C68-465B-AAC0-048B1C90520D}" type="presParOf" srcId="{CA4FC552-2528-4DCE-B58F-35300EE17ED0}" destId="{0D0CB655-1FCE-4D7A-842D-553DD9D9C99C}" srcOrd="2" destOrd="0" presId="urn:microsoft.com/office/officeart/2011/layout/TabList"/>
    <dgm:cxn modelId="{A468729C-8B61-4851-9470-933A4B60A246}" type="presParOf" srcId="{8F810236-759B-4D53-B3D6-1C2F3C1CDCA9}" destId="{88D23DCB-AF31-4EEE-AE5B-F32A6EE9BFA5}" srcOrd="13" destOrd="0" presId="urn:microsoft.com/office/officeart/2011/layout/TabList"/>
    <dgm:cxn modelId="{6831A4E9-A575-4A69-A103-25544B443279}" type="presParOf" srcId="{8F810236-759B-4D53-B3D6-1C2F3C1CDCA9}" destId="{86C3114C-1483-46A9-9652-FEE8C70E1FD4}" srcOrd="14" destOrd="0" presId="urn:microsoft.com/office/officeart/2011/layout/TabList"/>
    <dgm:cxn modelId="{29BA4280-C56F-4A6D-8243-74EC02EEFD00}" type="presParOf" srcId="{86C3114C-1483-46A9-9652-FEE8C70E1FD4}" destId="{00227A01-2115-4092-BE5F-77518CD3171D}" srcOrd="0" destOrd="0" presId="urn:microsoft.com/office/officeart/2011/layout/TabList"/>
    <dgm:cxn modelId="{753C5723-7593-4F2B-8AC1-91AFCEF869ED}" type="presParOf" srcId="{86C3114C-1483-46A9-9652-FEE8C70E1FD4}" destId="{4C1452CF-FCC8-49BF-89A8-8DC4BDE2C462}" srcOrd="1" destOrd="0" presId="urn:microsoft.com/office/officeart/2011/layout/TabList"/>
    <dgm:cxn modelId="{442C1CD3-011C-415C-87B2-9B8DF96E8767}" type="presParOf" srcId="{86C3114C-1483-46A9-9652-FEE8C70E1FD4}" destId="{E72E348B-EDB8-4A44-A36D-E3CEC1688476}" srcOrd="2" destOrd="0" presId="urn:microsoft.com/office/officeart/2011/layout/TabList"/>
    <dgm:cxn modelId="{7BB730B1-6840-4410-8AB4-72F339EAA704}" type="presParOf" srcId="{8F810236-759B-4D53-B3D6-1C2F3C1CDCA9}" destId="{098614D7-2D3D-405C-B8C6-2BDE0BAF7574}" srcOrd="15" destOrd="0" presId="urn:microsoft.com/office/officeart/2011/layout/TabList"/>
    <dgm:cxn modelId="{70C58ED5-E290-438F-8899-13F0DD9AD4D1}" type="presParOf" srcId="{8F810236-759B-4D53-B3D6-1C2F3C1CDCA9}" destId="{D6429372-D528-477A-9B0F-B7A15592AA42}" srcOrd="16" destOrd="0" presId="urn:microsoft.com/office/officeart/2011/layout/TabList"/>
    <dgm:cxn modelId="{D666E076-7CF1-4365-8257-7335437AA1EC}" type="presParOf" srcId="{D6429372-D528-477A-9B0F-B7A15592AA42}" destId="{97E615B6-DC53-48E2-8885-413F6E46EF53}" srcOrd="0" destOrd="0" presId="urn:microsoft.com/office/officeart/2011/layout/TabList"/>
    <dgm:cxn modelId="{F067A955-F4AA-4B85-8D1A-C86D78A8818F}" type="presParOf" srcId="{D6429372-D528-477A-9B0F-B7A15592AA42}" destId="{C0C7B359-DA33-48DA-8E0D-6CC0F51AB9E9}" srcOrd="1" destOrd="0" presId="urn:microsoft.com/office/officeart/2011/layout/TabList"/>
    <dgm:cxn modelId="{4AD5EC76-D09A-4734-A7B8-57076739C70F}" type="presParOf" srcId="{D6429372-D528-477A-9B0F-B7A15592AA42}" destId="{125FC08A-082D-449A-9E57-6F728531F771}" srcOrd="2" destOrd="0" presId="urn:microsoft.com/office/officeart/2011/layout/TabList"/>
    <dgm:cxn modelId="{C2591ECC-BFA9-4EEA-92FC-9BA4396BCF9D}" type="presParOf" srcId="{8F810236-759B-4D53-B3D6-1C2F3C1CDCA9}" destId="{70458CF7-75F0-4449-8BAB-E08A74CCA108}" srcOrd="17" destOrd="0" presId="urn:microsoft.com/office/officeart/2011/layout/TabList"/>
    <dgm:cxn modelId="{D56C069F-4A50-4BCD-9344-4483E2D8B9AC}" type="presParOf" srcId="{8F810236-759B-4D53-B3D6-1C2F3C1CDCA9}" destId="{298123B2-DFA3-46B3-A207-DC92FBB3A972}" srcOrd="18" destOrd="0" presId="urn:microsoft.com/office/officeart/2011/layout/TabList"/>
    <dgm:cxn modelId="{62597F5C-DCD5-4E45-A98E-280655B55966}" type="presParOf" srcId="{298123B2-DFA3-46B3-A207-DC92FBB3A972}" destId="{B3550355-47EC-498D-8264-E72F239F9726}" srcOrd="0" destOrd="0" presId="urn:microsoft.com/office/officeart/2011/layout/TabList"/>
    <dgm:cxn modelId="{D96D7657-E5DF-4EFA-AD3E-E65994B68E3A}" type="presParOf" srcId="{298123B2-DFA3-46B3-A207-DC92FBB3A972}" destId="{1BA75E55-AB15-46EC-9F82-7EE5458EF8BD}" srcOrd="1" destOrd="0" presId="urn:microsoft.com/office/officeart/2011/layout/TabList"/>
    <dgm:cxn modelId="{134EEB97-7D75-4DFD-AC3E-1208CE0E1663}" type="presParOf" srcId="{298123B2-DFA3-46B3-A207-DC92FBB3A972}" destId="{CD1F6E5B-C691-4AC9-BD37-AF68F46ACB54}" srcOrd="2" destOrd="0" presId="urn:microsoft.com/office/officeart/2011/layout/TabList"/>
    <dgm:cxn modelId="{396AF120-BC82-4AB6-AF02-FE6D7274A1BC}" type="presParOf" srcId="{8F810236-759B-4D53-B3D6-1C2F3C1CDCA9}" destId="{71AD4B85-1504-44B7-882C-F6B6417E8F6F}" srcOrd="19" destOrd="0" presId="urn:microsoft.com/office/officeart/2011/layout/TabList"/>
    <dgm:cxn modelId="{5D3F5DBD-9DA9-4C7B-8B68-D7A7538CA7DD}" type="presParOf" srcId="{8F810236-759B-4D53-B3D6-1C2F3C1CDCA9}" destId="{14A65CC4-B790-4205-95DB-67E9D2D1E345}" srcOrd="20" destOrd="0" presId="urn:microsoft.com/office/officeart/2011/layout/TabList"/>
    <dgm:cxn modelId="{B9EA3D04-90ED-4EC9-95B2-B5C3F3F12B88}" type="presParOf" srcId="{14A65CC4-B790-4205-95DB-67E9D2D1E345}" destId="{1B40C81C-62FC-40D5-9FDB-E1130DC05B4A}" srcOrd="0" destOrd="0" presId="urn:microsoft.com/office/officeart/2011/layout/TabList"/>
    <dgm:cxn modelId="{D92E0D6A-3AD1-4E28-A404-643478517756}" type="presParOf" srcId="{14A65CC4-B790-4205-95DB-67E9D2D1E345}" destId="{205B82B8-ED27-47C4-A263-BE2725557930}" srcOrd="1" destOrd="0" presId="urn:microsoft.com/office/officeart/2011/layout/TabList"/>
    <dgm:cxn modelId="{E84C7ABB-6E0A-4CBB-9877-4AA99E6069D8}" type="presParOf" srcId="{14A65CC4-B790-4205-95DB-67E9D2D1E345}" destId="{912F35FA-AEC3-4370-9DD9-39DBF2E0C342}" srcOrd="2" destOrd="0" presId="urn:microsoft.com/office/officeart/2011/layout/TabList"/>
    <dgm:cxn modelId="{ABFED76E-A612-422F-8A7D-089189CA6EDD}" type="presParOf" srcId="{8F810236-759B-4D53-B3D6-1C2F3C1CDCA9}" destId="{8B84B5A1-81A0-468F-B6B1-85550CF65A68}" srcOrd="21" destOrd="0" presId="urn:microsoft.com/office/officeart/2011/layout/TabList"/>
    <dgm:cxn modelId="{6B726115-7297-4E4D-9831-E86BCE662387}" type="presParOf" srcId="{8F810236-759B-4D53-B3D6-1C2F3C1CDCA9}" destId="{62DFBCF8-EFBC-47EE-9591-AF42F8A5D661}" srcOrd="22" destOrd="0" presId="urn:microsoft.com/office/officeart/2011/layout/TabList"/>
    <dgm:cxn modelId="{2A0884D9-E392-400E-B724-9F878F510F51}" type="presParOf" srcId="{62DFBCF8-EFBC-47EE-9591-AF42F8A5D661}" destId="{F167E4DC-53BF-4C0B-ACC4-541C38621F70}" srcOrd="0" destOrd="0" presId="urn:microsoft.com/office/officeart/2011/layout/TabList"/>
    <dgm:cxn modelId="{4F349819-8A0F-4BD0-9756-006D32BB16B3}" type="presParOf" srcId="{62DFBCF8-EFBC-47EE-9591-AF42F8A5D661}" destId="{4D9F24F7-F8FB-40CF-BA77-1CD76A5F0683}" srcOrd="1" destOrd="0" presId="urn:microsoft.com/office/officeart/2011/layout/TabList"/>
    <dgm:cxn modelId="{CA5835D4-3D88-4178-B278-3991579087B3}" type="presParOf" srcId="{62DFBCF8-EFBC-47EE-9591-AF42F8A5D661}" destId="{E58C95B0-85A7-4C89-9A52-B5C24DFB9B10}" srcOrd="2" destOrd="0" presId="urn:microsoft.com/office/officeart/2011/layout/TabList"/>
    <dgm:cxn modelId="{E272889B-E916-47AB-A4C4-CECD0AE33D3B}" type="presParOf" srcId="{8F810236-759B-4D53-B3D6-1C2F3C1CDCA9}" destId="{88924B1F-4BCA-4853-B565-56697E34EC77}" srcOrd="23" destOrd="0" presId="urn:microsoft.com/office/officeart/2011/layout/TabList"/>
    <dgm:cxn modelId="{4765DA4E-FED5-4665-8958-E248E86BE35B}" type="presParOf" srcId="{8F810236-759B-4D53-B3D6-1C2F3C1CDCA9}" destId="{E61EB799-D270-4FC7-981B-8186ABCC73A3}" srcOrd="24" destOrd="0" presId="urn:microsoft.com/office/officeart/2011/layout/TabList"/>
    <dgm:cxn modelId="{730342A0-856B-47A7-97E9-31E51F766D51}" type="presParOf" srcId="{E61EB799-D270-4FC7-981B-8186ABCC73A3}" destId="{F1788DC4-3298-49DE-A0D8-1449F5D21BB4}" srcOrd="0" destOrd="0" presId="urn:microsoft.com/office/officeart/2011/layout/TabList"/>
    <dgm:cxn modelId="{62889006-744F-4E1B-B404-BF7351694B42}" type="presParOf" srcId="{E61EB799-D270-4FC7-981B-8186ABCC73A3}" destId="{EF932C99-3C2A-4D38-8CD7-64EEB4D5CE20}" srcOrd="1" destOrd="0" presId="urn:microsoft.com/office/officeart/2011/layout/TabList"/>
    <dgm:cxn modelId="{F70B0990-D085-4CAE-B2AC-F57A0E26CFF6}" type="presParOf" srcId="{E61EB799-D270-4FC7-981B-8186ABCC73A3}" destId="{67F4640C-BB82-43FA-BE7A-FDCDECA2FCA5}" srcOrd="2"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CF61C8-0F5D-43D5-A186-2C826C5D7C10}" type="doc">
      <dgm:prSet loTypeId="urn:diagrams.loki3.com/BracketList" loCatId="list" qsTypeId="urn:microsoft.com/office/officeart/2005/8/quickstyle/simple1" qsCatId="simple" csTypeId="urn:microsoft.com/office/officeart/2005/8/colors/accent1_2" csCatId="accent1" phldr="1"/>
      <dgm:spPr/>
      <dgm:t>
        <a:bodyPr/>
        <a:lstStyle/>
        <a:p>
          <a:endParaRPr lang="en-IN"/>
        </a:p>
      </dgm:t>
    </dgm:pt>
    <dgm:pt modelId="{9DA33BCF-4190-460A-B76E-9C5485741C85}">
      <dgm:prSet phldrT="[Text]"/>
      <dgm:spPr/>
      <dgm:t>
        <a:bodyPr/>
        <a:lstStyle/>
        <a:p>
          <a:pPr>
            <a:buSzPts val="1000"/>
            <a:buFont typeface="Courier New" panose="02070309020205020404" pitchFamily="49" charset="0"/>
            <a:buChar char="o"/>
          </a:pPr>
          <a:r>
            <a:rPr lang="en-IN" b="1" dirty="0"/>
            <a:t>Individual Competence:</a:t>
          </a:r>
          <a:endParaRPr lang="en-IN" dirty="0"/>
        </a:p>
      </dgm:t>
    </dgm:pt>
    <dgm:pt modelId="{7B9BF6AC-AD34-4442-8E16-ED782EA40C06}" type="parTrans" cxnId="{742593A8-B264-4FFF-A66D-34082DBA98F0}">
      <dgm:prSet/>
      <dgm:spPr/>
      <dgm:t>
        <a:bodyPr/>
        <a:lstStyle/>
        <a:p>
          <a:endParaRPr lang="en-IN"/>
        </a:p>
      </dgm:t>
    </dgm:pt>
    <dgm:pt modelId="{27A15D7C-1FF2-4F90-A3AD-2D35119A86EE}" type="sibTrans" cxnId="{742593A8-B264-4FFF-A66D-34082DBA98F0}">
      <dgm:prSet/>
      <dgm:spPr/>
      <dgm:t>
        <a:bodyPr/>
        <a:lstStyle/>
        <a:p>
          <a:endParaRPr lang="en-IN"/>
        </a:p>
      </dgm:t>
    </dgm:pt>
    <dgm:pt modelId="{F10B022D-76E1-476F-9624-C1BF9B3CF9BE}">
      <dgm:prSet/>
      <dgm:spPr/>
      <dgm:t>
        <a:bodyPr/>
        <a:lstStyle/>
        <a:p>
          <a:pPr>
            <a:buSzPts val="1000"/>
            <a:buFont typeface="Courier New" panose="02070309020205020404" pitchFamily="49" charset="0"/>
            <a:buChar char="o"/>
          </a:pPr>
          <a:r>
            <a:rPr lang="en-IN" b="1" dirty="0"/>
            <a:t>Organizational Competence:</a:t>
          </a:r>
          <a:endParaRPr lang="en-IN" dirty="0"/>
        </a:p>
      </dgm:t>
    </dgm:pt>
    <dgm:pt modelId="{B2FB23FB-D1F9-40A6-8BAE-E066BA78CE0F}" type="parTrans" cxnId="{ABBF8F30-F251-4226-9832-466FF6EB75BF}">
      <dgm:prSet/>
      <dgm:spPr/>
      <dgm:t>
        <a:bodyPr/>
        <a:lstStyle/>
        <a:p>
          <a:endParaRPr lang="en-IN"/>
        </a:p>
      </dgm:t>
    </dgm:pt>
    <dgm:pt modelId="{B0B42460-BBE5-443F-BB09-1EE1E88F80AD}" type="sibTrans" cxnId="{ABBF8F30-F251-4226-9832-466FF6EB75BF}">
      <dgm:prSet/>
      <dgm:spPr/>
      <dgm:t>
        <a:bodyPr/>
        <a:lstStyle/>
        <a:p>
          <a:endParaRPr lang="en-IN"/>
        </a:p>
      </dgm:t>
    </dgm:pt>
    <dgm:pt modelId="{A9636795-ED1C-437A-9F11-4C4203553982}">
      <dgm:prSet/>
      <dgm:spPr/>
      <dgm:t>
        <a:bodyPr/>
        <a:lstStyle/>
        <a:p>
          <a:pPr>
            <a:buSzPts val="1000"/>
            <a:buFont typeface="Courier New" panose="02070309020205020404" pitchFamily="49" charset="0"/>
            <a:buChar char="o"/>
          </a:pPr>
          <a:r>
            <a:rPr lang="en-IN" b="1" dirty="0"/>
            <a:t>Competence Framework:</a:t>
          </a:r>
          <a:endParaRPr lang="en-IN" dirty="0"/>
        </a:p>
      </dgm:t>
    </dgm:pt>
    <dgm:pt modelId="{9D32359B-5396-4FE7-980E-6006CB00ADD1}" type="parTrans" cxnId="{C455EB09-A6E0-47BC-8255-9DB849280563}">
      <dgm:prSet/>
      <dgm:spPr/>
      <dgm:t>
        <a:bodyPr/>
        <a:lstStyle/>
        <a:p>
          <a:endParaRPr lang="en-IN"/>
        </a:p>
      </dgm:t>
    </dgm:pt>
    <dgm:pt modelId="{60586CC1-723B-498B-A792-4815EA950EAB}" type="sibTrans" cxnId="{C455EB09-A6E0-47BC-8255-9DB849280563}">
      <dgm:prSet/>
      <dgm:spPr/>
      <dgm:t>
        <a:bodyPr/>
        <a:lstStyle/>
        <a:p>
          <a:endParaRPr lang="en-IN"/>
        </a:p>
      </dgm:t>
    </dgm:pt>
    <dgm:pt modelId="{4B673A36-7776-4137-85DF-8281C729BA01}">
      <dgm:prSet phldrT="[Text]"/>
      <dgm:spPr/>
      <dgm:t>
        <a:bodyPr/>
        <a:lstStyle/>
        <a:p>
          <a:pPr>
            <a:buSzPts val="1000"/>
            <a:buFont typeface="Courier New" panose="02070309020205020404" pitchFamily="49" charset="0"/>
            <a:buChar char="o"/>
          </a:pPr>
          <a:r>
            <a:rPr lang="en-IN" dirty="0"/>
            <a:t>Combines technical knowledge, business knowledge, and "soft skills" like leadership and negotiation.</a:t>
          </a:r>
        </a:p>
      </dgm:t>
    </dgm:pt>
    <dgm:pt modelId="{1C91A53A-F5AD-4BA5-A687-E783E7FBB305}" type="parTrans" cxnId="{D24E044E-3A57-49C4-B8F0-D0BFD7669621}">
      <dgm:prSet/>
      <dgm:spPr/>
      <dgm:t>
        <a:bodyPr/>
        <a:lstStyle/>
        <a:p>
          <a:endParaRPr lang="en-IN"/>
        </a:p>
      </dgm:t>
    </dgm:pt>
    <dgm:pt modelId="{1DE4D1DB-128E-4137-8013-90ABED50994B}" type="sibTrans" cxnId="{D24E044E-3A57-49C4-B8F0-D0BFD7669621}">
      <dgm:prSet/>
      <dgm:spPr/>
      <dgm:t>
        <a:bodyPr/>
        <a:lstStyle/>
        <a:p>
          <a:endParaRPr lang="en-IN"/>
        </a:p>
      </dgm:t>
    </dgm:pt>
    <dgm:pt modelId="{164C91B2-83E0-4088-A830-CD3B16A18E79}">
      <dgm:prSet/>
      <dgm:spPr/>
      <dgm:t>
        <a:bodyPr/>
        <a:lstStyle/>
        <a:p>
          <a:pPr>
            <a:buSzPts val="1000"/>
            <a:buFont typeface="Courier New" panose="02070309020205020404" pitchFamily="49" charset="0"/>
            <a:buChar char="o"/>
          </a:pPr>
          <a:r>
            <a:rPr lang="en-IN" dirty="0"/>
            <a:t> How an organization facilitates good architecture through standardized processes, career paths for architects, and governance.</a:t>
          </a:r>
        </a:p>
      </dgm:t>
    </dgm:pt>
    <dgm:pt modelId="{05811079-66AE-4D02-ACC1-88DD086BB776}" type="parTrans" cxnId="{A8419D1A-061C-44B4-9EAE-FB871A42E214}">
      <dgm:prSet/>
      <dgm:spPr/>
      <dgm:t>
        <a:bodyPr/>
        <a:lstStyle/>
        <a:p>
          <a:endParaRPr lang="en-IN"/>
        </a:p>
      </dgm:t>
    </dgm:pt>
    <dgm:pt modelId="{642B7444-0ACA-476B-A837-812B3DC6D937}" type="sibTrans" cxnId="{A8419D1A-061C-44B4-9EAE-FB871A42E214}">
      <dgm:prSet/>
      <dgm:spPr/>
      <dgm:t>
        <a:bodyPr/>
        <a:lstStyle/>
        <a:p>
          <a:endParaRPr lang="en-IN"/>
        </a:p>
      </dgm:t>
    </dgm:pt>
    <dgm:pt modelId="{7875AE2B-3C39-4826-9977-F6F0CC698A1C}">
      <dgm:prSet/>
      <dgm:spPr/>
      <dgm:t>
        <a:bodyPr/>
        <a:lstStyle/>
        <a:p>
          <a:pPr>
            <a:buSzPts val="1000"/>
            <a:buFont typeface="Courier New" panose="02070309020205020404" pitchFamily="49" charset="0"/>
            <a:buChar char="o"/>
          </a:pPr>
          <a:r>
            <a:rPr lang="en-IN"/>
            <a:t>Use the SEI framework which categorizes competence into </a:t>
          </a:r>
          <a:r>
            <a:rPr lang="en-IN" i="1"/>
            <a:t>Duties, Skills, and Knowledge</a:t>
          </a:r>
          <a:r>
            <a:rPr lang="en-IN"/>
            <a:t>.</a:t>
          </a:r>
          <a:endParaRPr lang="en-IN" dirty="0"/>
        </a:p>
      </dgm:t>
    </dgm:pt>
    <dgm:pt modelId="{C720E6F2-6C7E-4D3C-8CF3-593D1BBC015D}" type="parTrans" cxnId="{572257AC-2F26-4529-9B16-BAA4069CFAE0}">
      <dgm:prSet/>
      <dgm:spPr/>
      <dgm:t>
        <a:bodyPr/>
        <a:lstStyle/>
        <a:p>
          <a:endParaRPr lang="en-IN"/>
        </a:p>
      </dgm:t>
    </dgm:pt>
    <dgm:pt modelId="{724503BE-896A-498E-8578-5F0ACB219DAF}" type="sibTrans" cxnId="{572257AC-2F26-4529-9B16-BAA4069CFAE0}">
      <dgm:prSet/>
      <dgm:spPr/>
      <dgm:t>
        <a:bodyPr/>
        <a:lstStyle/>
        <a:p>
          <a:endParaRPr lang="en-IN"/>
        </a:p>
      </dgm:t>
    </dgm:pt>
    <dgm:pt modelId="{A293D826-9694-4E7F-9F54-7B31182F46CF}" type="pres">
      <dgm:prSet presAssocID="{69CF61C8-0F5D-43D5-A186-2C826C5D7C10}" presName="Name0" presStyleCnt="0">
        <dgm:presLayoutVars>
          <dgm:dir/>
          <dgm:animLvl val="lvl"/>
          <dgm:resizeHandles val="exact"/>
        </dgm:presLayoutVars>
      </dgm:prSet>
      <dgm:spPr/>
    </dgm:pt>
    <dgm:pt modelId="{16E56C2A-87F1-4FB4-A0FC-DDDB486E20B9}" type="pres">
      <dgm:prSet presAssocID="{9DA33BCF-4190-460A-B76E-9C5485741C85}" presName="linNode" presStyleCnt="0"/>
      <dgm:spPr/>
    </dgm:pt>
    <dgm:pt modelId="{7BE55208-DD4A-4EB7-A62D-DF8DB7FBA1AC}" type="pres">
      <dgm:prSet presAssocID="{9DA33BCF-4190-460A-B76E-9C5485741C85}" presName="parTx" presStyleLbl="revTx" presStyleIdx="0" presStyleCnt="3">
        <dgm:presLayoutVars>
          <dgm:chMax val="1"/>
          <dgm:bulletEnabled val="1"/>
        </dgm:presLayoutVars>
      </dgm:prSet>
      <dgm:spPr/>
    </dgm:pt>
    <dgm:pt modelId="{9D7DFA4C-4F8B-4728-A121-FA82E0163865}" type="pres">
      <dgm:prSet presAssocID="{9DA33BCF-4190-460A-B76E-9C5485741C85}" presName="bracket" presStyleLbl="parChTrans1D1" presStyleIdx="0" presStyleCnt="3"/>
      <dgm:spPr/>
    </dgm:pt>
    <dgm:pt modelId="{9455C582-011C-47D6-A8F8-6AEBB45F7E8C}" type="pres">
      <dgm:prSet presAssocID="{9DA33BCF-4190-460A-B76E-9C5485741C85}" presName="spH" presStyleCnt="0"/>
      <dgm:spPr/>
    </dgm:pt>
    <dgm:pt modelId="{F1EC5919-44C7-4D2D-BE67-154C80082001}" type="pres">
      <dgm:prSet presAssocID="{9DA33BCF-4190-460A-B76E-9C5485741C85}" presName="desTx" presStyleLbl="node1" presStyleIdx="0" presStyleCnt="3">
        <dgm:presLayoutVars>
          <dgm:bulletEnabled val="1"/>
        </dgm:presLayoutVars>
      </dgm:prSet>
      <dgm:spPr/>
    </dgm:pt>
    <dgm:pt modelId="{9D0AF2EC-9880-4550-8639-B753FD33FF58}" type="pres">
      <dgm:prSet presAssocID="{27A15D7C-1FF2-4F90-A3AD-2D35119A86EE}" presName="spV" presStyleCnt="0"/>
      <dgm:spPr/>
    </dgm:pt>
    <dgm:pt modelId="{D3451F03-C610-417F-BFFC-7DB62C34644D}" type="pres">
      <dgm:prSet presAssocID="{F10B022D-76E1-476F-9624-C1BF9B3CF9BE}" presName="linNode" presStyleCnt="0"/>
      <dgm:spPr/>
    </dgm:pt>
    <dgm:pt modelId="{393A00C7-1E0E-46D8-AC33-4C5EEB637FA3}" type="pres">
      <dgm:prSet presAssocID="{F10B022D-76E1-476F-9624-C1BF9B3CF9BE}" presName="parTx" presStyleLbl="revTx" presStyleIdx="1" presStyleCnt="3">
        <dgm:presLayoutVars>
          <dgm:chMax val="1"/>
          <dgm:bulletEnabled val="1"/>
        </dgm:presLayoutVars>
      </dgm:prSet>
      <dgm:spPr/>
    </dgm:pt>
    <dgm:pt modelId="{F63B2170-9776-482A-8382-4520FF3677B6}" type="pres">
      <dgm:prSet presAssocID="{F10B022D-76E1-476F-9624-C1BF9B3CF9BE}" presName="bracket" presStyleLbl="parChTrans1D1" presStyleIdx="1" presStyleCnt="3"/>
      <dgm:spPr/>
    </dgm:pt>
    <dgm:pt modelId="{F9FA1E64-8CEA-4906-930F-F72DF68EF46C}" type="pres">
      <dgm:prSet presAssocID="{F10B022D-76E1-476F-9624-C1BF9B3CF9BE}" presName="spH" presStyleCnt="0"/>
      <dgm:spPr/>
    </dgm:pt>
    <dgm:pt modelId="{5EC051C6-EFC5-410F-BA97-A4CF1ECEDC6A}" type="pres">
      <dgm:prSet presAssocID="{F10B022D-76E1-476F-9624-C1BF9B3CF9BE}" presName="desTx" presStyleLbl="node1" presStyleIdx="1" presStyleCnt="3">
        <dgm:presLayoutVars>
          <dgm:bulletEnabled val="1"/>
        </dgm:presLayoutVars>
      </dgm:prSet>
      <dgm:spPr/>
    </dgm:pt>
    <dgm:pt modelId="{B8284109-D555-4A55-BE63-B831C8095D05}" type="pres">
      <dgm:prSet presAssocID="{B0B42460-BBE5-443F-BB09-1EE1E88F80AD}" presName="spV" presStyleCnt="0"/>
      <dgm:spPr/>
    </dgm:pt>
    <dgm:pt modelId="{A860A7C7-CBB5-4626-A9E7-7F1BE5A61039}" type="pres">
      <dgm:prSet presAssocID="{A9636795-ED1C-437A-9F11-4C4203553982}" presName="linNode" presStyleCnt="0"/>
      <dgm:spPr/>
    </dgm:pt>
    <dgm:pt modelId="{91018A01-DB8B-4A32-A0B0-D3BF8C8C2C10}" type="pres">
      <dgm:prSet presAssocID="{A9636795-ED1C-437A-9F11-4C4203553982}" presName="parTx" presStyleLbl="revTx" presStyleIdx="2" presStyleCnt="3">
        <dgm:presLayoutVars>
          <dgm:chMax val="1"/>
          <dgm:bulletEnabled val="1"/>
        </dgm:presLayoutVars>
      </dgm:prSet>
      <dgm:spPr/>
    </dgm:pt>
    <dgm:pt modelId="{AF0CF82D-C902-4B54-BE07-22E3DA507937}" type="pres">
      <dgm:prSet presAssocID="{A9636795-ED1C-437A-9F11-4C4203553982}" presName="bracket" presStyleLbl="parChTrans1D1" presStyleIdx="2" presStyleCnt="3"/>
      <dgm:spPr/>
    </dgm:pt>
    <dgm:pt modelId="{7CA08A85-1D2D-4BD4-922C-1F7E7539F25E}" type="pres">
      <dgm:prSet presAssocID="{A9636795-ED1C-437A-9F11-4C4203553982}" presName="spH" presStyleCnt="0"/>
      <dgm:spPr/>
    </dgm:pt>
    <dgm:pt modelId="{0D23E484-7444-4583-81E1-57CC261C3159}" type="pres">
      <dgm:prSet presAssocID="{A9636795-ED1C-437A-9F11-4C4203553982}" presName="desTx" presStyleLbl="node1" presStyleIdx="2" presStyleCnt="3">
        <dgm:presLayoutVars>
          <dgm:bulletEnabled val="1"/>
        </dgm:presLayoutVars>
      </dgm:prSet>
      <dgm:spPr/>
    </dgm:pt>
  </dgm:ptLst>
  <dgm:cxnLst>
    <dgm:cxn modelId="{C455EB09-A6E0-47BC-8255-9DB849280563}" srcId="{69CF61C8-0F5D-43D5-A186-2C826C5D7C10}" destId="{A9636795-ED1C-437A-9F11-4C4203553982}" srcOrd="2" destOrd="0" parTransId="{9D32359B-5396-4FE7-980E-6006CB00ADD1}" sibTransId="{60586CC1-723B-498B-A792-4815EA950EAB}"/>
    <dgm:cxn modelId="{A8419D1A-061C-44B4-9EAE-FB871A42E214}" srcId="{F10B022D-76E1-476F-9624-C1BF9B3CF9BE}" destId="{164C91B2-83E0-4088-A830-CD3B16A18E79}" srcOrd="0" destOrd="0" parTransId="{05811079-66AE-4D02-ACC1-88DD086BB776}" sibTransId="{642B7444-0ACA-476B-A837-812B3DC6D937}"/>
    <dgm:cxn modelId="{ABBF8F30-F251-4226-9832-466FF6EB75BF}" srcId="{69CF61C8-0F5D-43D5-A186-2C826C5D7C10}" destId="{F10B022D-76E1-476F-9624-C1BF9B3CF9BE}" srcOrd="1" destOrd="0" parTransId="{B2FB23FB-D1F9-40A6-8BAE-E066BA78CE0F}" sibTransId="{B0B42460-BBE5-443F-BB09-1EE1E88F80AD}"/>
    <dgm:cxn modelId="{7F5A3733-9B2A-48D3-9072-3CD29B131EFC}" type="presOf" srcId="{9DA33BCF-4190-460A-B76E-9C5485741C85}" destId="{7BE55208-DD4A-4EB7-A62D-DF8DB7FBA1AC}" srcOrd="0" destOrd="0" presId="urn:diagrams.loki3.com/BracketList"/>
    <dgm:cxn modelId="{D24E044E-3A57-49C4-B8F0-D0BFD7669621}" srcId="{9DA33BCF-4190-460A-B76E-9C5485741C85}" destId="{4B673A36-7776-4137-85DF-8281C729BA01}" srcOrd="0" destOrd="0" parTransId="{1C91A53A-F5AD-4BA5-A687-E783E7FBB305}" sibTransId="{1DE4D1DB-128E-4137-8013-90ABED50994B}"/>
    <dgm:cxn modelId="{11293D8B-4DDF-4615-A8A4-F934CC14AE8F}" type="presOf" srcId="{4B673A36-7776-4137-85DF-8281C729BA01}" destId="{F1EC5919-44C7-4D2D-BE67-154C80082001}" srcOrd="0" destOrd="0" presId="urn:diagrams.loki3.com/BracketList"/>
    <dgm:cxn modelId="{961F5593-44ED-4996-A7A9-75FAD75DC094}" type="presOf" srcId="{F10B022D-76E1-476F-9624-C1BF9B3CF9BE}" destId="{393A00C7-1E0E-46D8-AC33-4C5EEB637FA3}" srcOrd="0" destOrd="0" presId="urn:diagrams.loki3.com/BracketList"/>
    <dgm:cxn modelId="{16931B9A-5542-42C1-90AF-E1211447B6B2}" type="presOf" srcId="{A9636795-ED1C-437A-9F11-4C4203553982}" destId="{91018A01-DB8B-4A32-A0B0-D3BF8C8C2C10}" srcOrd="0" destOrd="0" presId="urn:diagrams.loki3.com/BracketList"/>
    <dgm:cxn modelId="{742593A8-B264-4FFF-A66D-34082DBA98F0}" srcId="{69CF61C8-0F5D-43D5-A186-2C826C5D7C10}" destId="{9DA33BCF-4190-460A-B76E-9C5485741C85}" srcOrd="0" destOrd="0" parTransId="{7B9BF6AC-AD34-4442-8E16-ED782EA40C06}" sibTransId="{27A15D7C-1FF2-4F90-A3AD-2D35119A86EE}"/>
    <dgm:cxn modelId="{572257AC-2F26-4529-9B16-BAA4069CFAE0}" srcId="{A9636795-ED1C-437A-9F11-4C4203553982}" destId="{7875AE2B-3C39-4826-9977-F6F0CC698A1C}" srcOrd="0" destOrd="0" parTransId="{C720E6F2-6C7E-4D3C-8CF3-593D1BBC015D}" sibTransId="{724503BE-896A-498E-8578-5F0ACB219DAF}"/>
    <dgm:cxn modelId="{705E76D0-E818-47FA-841C-108081163A1D}" type="presOf" srcId="{7875AE2B-3C39-4826-9977-F6F0CC698A1C}" destId="{0D23E484-7444-4583-81E1-57CC261C3159}" srcOrd="0" destOrd="0" presId="urn:diagrams.loki3.com/BracketList"/>
    <dgm:cxn modelId="{621A86D6-5795-496B-A330-207394884F7C}" type="presOf" srcId="{69CF61C8-0F5D-43D5-A186-2C826C5D7C10}" destId="{A293D826-9694-4E7F-9F54-7B31182F46CF}" srcOrd="0" destOrd="0" presId="urn:diagrams.loki3.com/BracketList"/>
    <dgm:cxn modelId="{D0D3D2FF-0168-47AC-8144-CFC185D1B6E9}" type="presOf" srcId="{164C91B2-83E0-4088-A830-CD3B16A18E79}" destId="{5EC051C6-EFC5-410F-BA97-A4CF1ECEDC6A}" srcOrd="0" destOrd="0" presId="urn:diagrams.loki3.com/BracketList"/>
    <dgm:cxn modelId="{A213E514-1E0A-480D-A297-93CAF069FAD0}" type="presParOf" srcId="{A293D826-9694-4E7F-9F54-7B31182F46CF}" destId="{16E56C2A-87F1-4FB4-A0FC-DDDB486E20B9}" srcOrd="0" destOrd="0" presId="urn:diagrams.loki3.com/BracketList"/>
    <dgm:cxn modelId="{41FC0D61-0207-4FE9-A4CF-46B7536943AA}" type="presParOf" srcId="{16E56C2A-87F1-4FB4-A0FC-DDDB486E20B9}" destId="{7BE55208-DD4A-4EB7-A62D-DF8DB7FBA1AC}" srcOrd="0" destOrd="0" presId="urn:diagrams.loki3.com/BracketList"/>
    <dgm:cxn modelId="{39650809-1F11-4440-8080-5FF0178665EC}" type="presParOf" srcId="{16E56C2A-87F1-4FB4-A0FC-DDDB486E20B9}" destId="{9D7DFA4C-4F8B-4728-A121-FA82E0163865}" srcOrd="1" destOrd="0" presId="urn:diagrams.loki3.com/BracketList"/>
    <dgm:cxn modelId="{1519142E-A47F-4736-89CF-90E751701CDF}" type="presParOf" srcId="{16E56C2A-87F1-4FB4-A0FC-DDDB486E20B9}" destId="{9455C582-011C-47D6-A8F8-6AEBB45F7E8C}" srcOrd="2" destOrd="0" presId="urn:diagrams.loki3.com/BracketList"/>
    <dgm:cxn modelId="{9B721809-27DC-4765-968A-8F536C31F1B8}" type="presParOf" srcId="{16E56C2A-87F1-4FB4-A0FC-DDDB486E20B9}" destId="{F1EC5919-44C7-4D2D-BE67-154C80082001}" srcOrd="3" destOrd="0" presId="urn:diagrams.loki3.com/BracketList"/>
    <dgm:cxn modelId="{87937F1B-B96B-48CB-B06F-492C3F79E2EE}" type="presParOf" srcId="{A293D826-9694-4E7F-9F54-7B31182F46CF}" destId="{9D0AF2EC-9880-4550-8639-B753FD33FF58}" srcOrd="1" destOrd="0" presId="urn:diagrams.loki3.com/BracketList"/>
    <dgm:cxn modelId="{264A8E20-2015-425A-9A1E-BF9A1625EA3C}" type="presParOf" srcId="{A293D826-9694-4E7F-9F54-7B31182F46CF}" destId="{D3451F03-C610-417F-BFFC-7DB62C34644D}" srcOrd="2" destOrd="0" presId="urn:diagrams.loki3.com/BracketList"/>
    <dgm:cxn modelId="{CF2B7431-19F6-488C-BD2C-39C08EB1FB67}" type="presParOf" srcId="{D3451F03-C610-417F-BFFC-7DB62C34644D}" destId="{393A00C7-1E0E-46D8-AC33-4C5EEB637FA3}" srcOrd="0" destOrd="0" presId="urn:diagrams.loki3.com/BracketList"/>
    <dgm:cxn modelId="{4A95040E-2127-4B07-99BD-AF41E812CEE0}" type="presParOf" srcId="{D3451F03-C610-417F-BFFC-7DB62C34644D}" destId="{F63B2170-9776-482A-8382-4520FF3677B6}" srcOrd="1" destOrd="0" presId="urn:diagrams.loki3.com/BracketList"/>
    <dgm:cxn modelId="{D5FCCE2B-92B1-4202-9694-1B6F072B08C8}" type="presParOf" srcId="{D3451F03-C610-417F-BFFC-7DB62C34644D}" destId="{F9FA1E64-8CEA-4906-930F-F72DF68EF46C}" srcOrd="2" destOrd="0" presId="urn:diagrams.loki3.com/BracketList"/>
    <dgm:cxn modelId="{546838FD-601F-461D-9F56-BEBE701EDC7D}" type="presParOf" srcId="{D3451F03-C610-417F-BFFC-7DB62C34644D}" destId="{5EC051C6-EFC5-410F-BA97-A4CF1ECEDC6A}" srcOrd="3" destOrd="0" presId="urn:diagrams.loki3.com/BracketList"/>
    <dgm:cxn modelId="{374395A4-4080-4749-B226-4CF4371509F5}" type="presParOf" srcId="{A293D826-9694-4E7F-9F54-7B31182F46CF}" destId="{B8284109-D555-4A55-BE63-B831C8095D05}" srcOrd="3" destOrd="0" presId="urn:diagrams.loki3.com/BracketList"/>
    <dgm:cxn modelId="{6B703AB8-F525-4782-BB11-C42DF7FE84CA}" type="presParOf" srcId="{A293D826-9694-4E7F-9F54-7B31182F46CF}" destId="{A860A7C7-CBB5-4626-A9E7-7F1BE5A61039}" srcOrd="4" destOrd="0" presId="urn:diagrams.loki3.com/BracketList"/>
    <dgm:cxn modelId="{16DE5BAD-F87A-4F9F-9AED-D34FEA70202B}" type="presParOf" srcId="{A860A7C7-CBB5-4626-A9E7-7F1BE5A61039}" destId="{91018A01-DB8B-4A32-A0B0-D3BF8C8C2C10}" srcOrd="0" destOrd="0" presId="urn:diagrams.loki3.com/BracketList"/>
    <dgm:cxn modelId="{4FC51435-8AF8-4CD8-B9A5-B5B838619B23}" type="presParOf" srcId="{A860A7C7-CBB5-4626-A9E7-7F1BE5A61039}" destId="{AF0CF82D-C902-4B54-BE07-22E3DA507937}" srcOrd="1" destOrd="0" presId="urn:diagrams.loki3.com/BracketList"/>
    <dgm:cxn modelId="{26888915-E1DD-4A2D-B877-16B18B01504D}" type="presParOf" srcId="{A860A7C7-CBB5-4626-A9E7-7F1BE5A61039}" destId="{7CA08A85-1D2D-4BD4-922C-1F7E7539F25E}" srcOrd="2" destOrd="0" presId="urn:diagrams.loki3.com/BracketList"/>
    <dgm:cxn modelId="{3DE8A285-8125-4939-9717-DEE60AB9120B}" type="presParOf" srcId="{A860A7C7-CBB5-4626-A9E7-7F1BE5A61039}" destId="{0D23E484-7444-4583-81E1-57CC261C3159}"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72AD8D8-1EEE-43B1-B62E-0126DCFE1AC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D4DFE117-413A-414A-A0D8-13E90CF4AEAE}">
      <dgm:prSet phldrT="[Text]"/>
      <dgm:spPr/>
      <dgm:t>
        <a:bodyPr/>
        <a:lstStyle/>
        <a:p>
          <a:pPr>
            <a:buSzPts val="1000"/>
            <a:buFont typeface="Courier New" panose="02070309020205020404" pitchFamily="49" charset="0"/>
            <a:buChar char="o"/>
          </a:pPr>
          <a:r>
            <a:rPr lang="en-IN" b="1" dirty="0"/>
            <a:t>Architecture is an abstraction:</a:t>
          </a:r>
          <a:endParaRPr lang="en-IN" dirty="0"/>
        </a:p>
      </dgm:t>
    </dgm:pt>
    <dgm:pt modelId="{1AFC3C4D-8DF9-4846-AAE2-6CFC25DB2A7B}" type="parTrans" cxnId="{393AB0F5-CAD5-48A9-9C13-FE6CEE345534}">
      <dgm:prSet/>
      <dgm:spPr/>
      <dgm:t>
        <a:bodyPr/>
        <a:lstStyle/>
        <a:p>
          <a:endParaRPr lang="en-IN"/>
        </a:p>
      </dgm:t>
    </dgm:pt>
    <dgm:pt modelId="{3C977014-DB95-48F3-BCD8-4C54B58D3FDB}" type="sibTrans" cxnId="{393AB0F5-CAD5-48A9-9C13-FE6CEE345534}">
      <dgm:prSet/>
      <dgm:spPr/>
      <dgm:t>
        <a:bodyPr/>
        <a:lstStyle/>
        <a:p>
          <a:endParaRPr lang="en-IN"/>
        </a:p>
      </dgm:t>
    </dgm:pt>
    <dgm:pt modelId="{02D77FD7-90AD-495F-B8C2-2470B083130A}">
      <dgm:prSet/>
      <dgm:spPr/>
      <dgm:t>
        <a:bodyPr/>
        <a:lstStyle/>
        <a:p>
          <a:pPr>
            <a:buSzPts val="1000"/>
            <a:buFont typeface="Courier New" panose="02070309020205020404" pitchFamily="49" charset="0"/>
            <a:buChar char="o"/>
          </a:pPr>
          <a:r>
            <a:rPr lang="en-IN" b="1" dirty="0"/>
            <a:t>Every system has an architecture:</a:t>
          </a:r>
          <a:endParaRPr lang="en-IN" dirty="0"/>
        </a:p>
      </dgm:t>
    </dgm:pt>
    <dgm:pt modelId="{8F2E9066-23A1-488B-ABC4-A57E9A2DD6FE}" type="parTrans" cxnId="{6817E01A-B8D5-418B-9A1D-4E2102945CBE}">
      <dgm:prSet/>
      <dgm:spPr/>
      <dgm:t>
        <a:bodyPr/>
        <a:lstStyle/>
        <a:p>
          <a:endParaRPr lang="en-IN"/>
        </a:p>
      </dgm:t>
    </dgm:pt>
    <dgm:pt modelId="{5E5912A2-841A-4205-9EF1-3E9666199055}" type="sibTrans" cxnId="{6817E01A-B8D5-418B-9A1D-4E2102945CBE}">
      <dgm:prSet/>
      <dgm:spPr/>
      <dgm:t>
        <a:bodyPr/>
        <a:lstStyle/>
        <a:p>
          <a:endParaRPr lang="en-IN"/>
        </a:p>
      </dgm:t>
    </dgm:pt>
    <dgm:pt modelId="{DE3B8BFB-0633-46B4-BE47-4944E2706984}">
      <dgm:prSet/>
      <dgm:spPr/>
      <dgm:t>
        <a:bodyPr/>
        <a:lstStyle/>
        <a:p>
          <a:pPr>
            <a:buSzPts val="1000"/>
            <a:buFont typeface="Courier New" panose="02070309020205020404" pitchFamily="49" charset="0"/>
            <a:buChar char="o"/>
          </a:pPr>
          <a:r>
            <a:rPr lang="en-IN" b="1" dirty="0" err="1"/>
            <a:t>Behavior</a:t>
          </a:r>
          <a:r>
            <a:rPr lang="en-IN" b="1" dirty="0"/>
            <a:t> is part of architecture:</a:t>
          </a:r>
          <a:endParaRPr lang="en-IN" dirty="0"/>
        </a:p>
      </dgm:t>
    </dgm:pt>
    <dgm:pt modelId="{91363D1D-EF73-418E-9302-BB654650AC70}" type="parTrans" cxnId="{6C431BB8-53E3-4DBF-8CED-ACC2452D2B74}">
      <dgm:prSet/>
      <dgm:spPr/>
      <dgm:t>
        <a:bodyPr/>
        <a:lstStyle/>
        <a:p>
          <a:endParaRPr lang="en-IN"/>
        </a:p>
      </dgm:t>
    </dgm:pt>
    <dgm:pt modelId="{C3BF91CB-A45B-40E6-97B8-B288CCA46D9E}" type="sibTrans" cxnId="{6C431BB8-53E3-4DBF-8CED-ACC2452D2B74}">
      <dgm:prSet/>
      <dgm:spPr/>
      <dgm:t>
        <a:bodyPr/>
        <a:lstStyle/>
        <a:p>
          <a:endParaRPr lang="en-IN"/>
        </a:p>
      </dgm:t>
    </dgm:pt>
    <dgm:pt modelId="{FCE75E6A-FD95-4C97-A96F-9F46BABA45B4}">
      <dgm:prSet phldrT="[Text]"/>
      <dgm:spPr/>
      <dgm:t>
        <a:bodyPr/>
        <a:lstStyle/>
        <a:p>
          <a:pPr>
            <a:buSzPts val="1000"/>
            <a:buFont typeface="Courier New" panose="02070309020205020404" pitchFamily="49" charset="0"/>
            <a:buChar char="o"/>
          </a:pPr>
          <a:r>
            <a:rPr lang="en-IN" dirty="0"/>
            <a:t>It omits information that has no ramifications outside of a single element.</a:t>
          </a:r>
        </a:p>
      </dgm:t>
    </dgm:pt>
    <dgm:pt modelId="{BFDA1281-07AE-42FD-8B7A-D22DFE5D3406}" type="parTrans" cxnId="{AAC8440D-9700-4177-8C5B-9357B44BD61E}">
      <dgm:prSet/>
      <dgm:spPr/>
      <dgm:t>
        <a:bodyPr/>
        <a:lstStyle/>
        <a:p>
          <a:endParaRPr lang="en-IN"/>
        </a:p>
      </dgm:t>
    </dgm:pt>
    <dgm:pt modelId="{9BF53E9D-32B6-4F02-8B5F-073EF1061992}" type="sibTrans" cxnId="{AAC8440D-9700-4177-8C5B-9357B44BD61E}">
      <dgm:prSet/>
      <dgm:spPr/>
      <dgm:t>
        <a:bodyPr/>
        <a:lstStyle/>
        <a:p>
          <a:endParaRPr lang="en-IN"/>
        </a:p>
      </dgm:t>
    </dgm:pt>
    <dgm:pt modelId="{A5750A36-7DB9-45BE-951A-9139ABC67B65}">
      <dgm:prSet/>
      <dgm:spPr/>
      <dgm:t>
        <a:bodyPr/>
        <a:lstStyle/>
        <a:p>
          <a:pPr>
            <a:buSzPts val="1000"/>
            <a:buFont typeface="Courier New" panose="02070309020205020404" pitchFamily="49" charset="0"/>
            <a:buChar char="o"/>
          </a:pPr>
          <a:r>
            <a:rPr lang="en-IN" dirty="0"/>
            <a:t> Even if it's not documented or is poorly designed.</a:t>
          </a:r>
        </a:p>
      </dgm:t>
    </dgm:pt>
    <dgm:pt modelId="{950BC977-DA91-408B-8A3B-D4F7FC75382F}" type="parTrans" cxnId="{9E3DF146-881E-4F95-8D63-DDB1B247FCAA}">
      <dgm:prSet/>
      <dgm:spPr/>
      <dgm:t>
        <a:bodyPr/>
        <a:lstStyle/>
        <a:p>
          <a:endParaRPr lang="en-IN"/>
        </a:p>
      </dgm:t>
    </dgm:pt>
    <dgm:pt modelId="{0DDE32E4-9872-48DE-A694-E9478DC07989}" type="sibTrans" cxnId="{9E3DF146-881E-4F95-8D63-DDB1B247FCAA}">
      <dgm:prSet/>
      <dgm:spPr/>
      <dgm:t>
        <a:bodyPr/>
        <a:lstStyle/>
        <a:p>
          <a:endParaRPr lang="en-IN"/>
        </a:p>
      </dgm:t>
    </dgm:pt>
    <dgm:pt modelId="{9AF74768-EEE7-41F3-9042-39057E113350}">
      <dgm:prSet/>
      <dgm:spPr/>
      <dgm:t>
        <a:bodyPr/>
        <a:lstStyle/>
        <a:p>
          <a:pPr>
            <a:buSzPts val="1000"/>
            <a:buFont typeface="Courier New" panose="02070309020205020404" pitchFamily="49" charset="0"/>
            <a:buChar char="o"/>
          </a:pPr>
          <a:r>
            <a:rPr lang="en-IN"/>
            <a:t>The definition includes "properties of both," which encompasses how elements interact at runtime.</a:t>
          </a:r>
          <a:endParaRPr lang="en-IN" dirty="0"/>
        </a:p>
      </dgm:t>
    </dgm:pt>
    <dgm:pt modelId="{6C346E01-2134-403F-96CD-F0D3CC8A4BD0}" type="parTrans" cxnId="{655E95F6-885B-4289-92EC-51CAEBE3C1AC}">
      <dgm:prSet/>
      <dgm:spPr/>
      <dgm:t>
        <a:bodyPr/>
        <a:lstStyle/>
        <a:p>
          <a:endParaRPr lang="en-IN"/>
        </a:p>
      </dgm:t>
    </dgm:pt>
    <dgm:pt modelId="{E637CC08-0C87-4B9D-9CE7-9FD305E1CA5B}" type="sibTrans" cxnId="{655E95F6-885B-4289-92EC-51CAEBE3C1AC}">
      <dgm:prSet/>
      <dgm:spPr/>
      <dgm:t>
        <a:bodyPr/>
        <a:lstStyle/>
        <a:p>
          <a:endParaRPr lang="en-IN"/>
        </a:p>
      </dgm:t>
    </dgm:pt>
    <dgm:pt modelId="{1F0528DD-E106-4279-8A6E-4F965958DA16}" type="pres">
      <dgm:prSet presAssocID="{772AD8D8-1EEE-43B1-B62E-0126DCFE1AC1}" presName="linear" presStyleCnt="0">
        <dgm:presLayoutVars>
          <dgm:dir/>
          <dgm:animLvl val="lvl"/>
          <dgm:resizeHandles val="exact"/>
        </dgm:presLayoutVars>
      </dgm:prSet>
      <dgm:spPr/>
    </dgm:pt>
    <dgm:pt modelId="{1B8D8AAE-2011-471E-AA24-7BE6639397B5}" type="pres">
      <dgm:prSet presAssocID="{D4DFE117-413A-414A-A0D8-13E90CF4AEAE}" presName="parentLin" presStyleCnt="0"/>
      <dgm:spPr/>
    </dgm:pt>
    <dgm:pt modelId="{6A647C57-02D0-4B91-B3C5-50E675F9EA2B}" type="pres">
      <dgm:prSet presAssocID="{D4DFE117-413A-414A-A0D8-13E90CF4AEAE}" presName="parentLeftMargin" presStyleLbl="node1" presStyleIdx="0" presStyleCnt="3"/>
      <dgm:spPr/>
    </dgm:pt>
    <dgm:pt modelId="{73256573-328E-43C7-84C0-F915CE5C79E4}" type="pres">
      <dgm:prSet presAssocID="{D4DFE117-413A-414A-A0D8-13E90CF4AEAE}" presName="parentText" presStyleLbl="node1" presStyleIdx="0" presStyleCnt="3">
        <dgm:presLayoutVars>
          <dgm:chMax val="0"/>
          <dgm:bulletEnabled val="1"/>
        </dgm:presLayoutVars>
      </dgm:prSet>
      <dgm:spPr/>
    </dgm:pt>
    <dgm:pt modelId="{6EC66F64-D6E5-41A4-83BF-2740CCD3AFE7}" type="pres">
      <dgm:prSet presAssocID="{D4DFE117-413A-414A-A0D8-13E90CF4AEAE}" presName="negativeSpace" presStyleCnt="0"/>
      <dgm:spPr/>
    </dgm:pt>
    <dgm:pt modelId="{C713112E-75D8-4CF8-8AAB-C2E913B61755}" type="pres">
      <dgm:prSet presAssocID="{D4DFE117-413A-414A-A0D8-13E90CF4AEAE}" presName="childText" presStyleLbl="conFgAcc1" presStyleIdx="0" presStyleCnt="3">
        <dgm:presLayoutVars>
          <dgm:bulletEnabled val="1"/>
        </dgm:presLayoutVars>
      </dgm:prSet>
      <dgm:spPr/>
    </dgm:pt>
    <dgm:pt modelId="{C8CD57BB-9353-4147-8750-34C52957CEB6}" type="pres">
      <dgm:prSet presAssocID="{3C977014-DB95-48F3-BCD8-4C54B58D3FDB}" presName="spaceBetweenRectangles" presStyleCnt="0"/>
      <dgm:spPr/>
    </dgm:pt>
    <dgm:pt modelId="{13E9E593-57C9-4EC6-8430-4F5AB71BA5CB}" type="pres">
      <dgm:prSet presAssocID="{02D77FD7-90AD-495F-B8C2-2470B083130A}" presName="parentLin" presStyleCnt="0"/>
      <dgm:spPr/>
    </dgm:pt>
    <dgm:pt modelId="{3710E84C-63F3-4D6D-BD8B-F3DF3ACAAE98}" type="pres">
      <dgm:prSet presAssocID="{02D77FD7-90AD-495F-B8C2-2470B083130A}" presName="parentLeftMargin" presStyleLbl="node1" presStyleIdx="0" presStyleCnt="3"/>
      <dgm:spPr/>
    </dgm:pt>
    <dgm:pt modelId="{F3D7DA2D-49A3-4075-A686-5704A0E78F78}" type="pres">
      <dgm:prSet presAssocID="{02D77FD7-90AD-495F-B8C2-2470B083130A}" presName="parentText" presStyleLbl="node1" presStyleIdx="1" presStyleCnt="3">
        <dgm:presLayoutVars>
          <dgm:chMax val="0"/>
          <dgm:bulletEnabled val="1"/>
        </dgm:presLayoutVars>
      </dgm:prSet>
      <dgm:spPr/>
    </dgm:pt>
    <dgm:pt modelId="{28949E04-3C96-4CDD-85E3-B2059C1605E9}" type="pres">
      <dgm:prSet presAssocID="{02D77FD7-90AD-495F-B8C2-2470B083130A}" presName="negativeSpace" presStyleCnt="0"/>
      <dgm:spPr/>
    </dgm:pt>
    <dgm:pt modelId="{5C2533B5-A452-48F5-8310-B3DFF3680AE3}" type="pres">
      <dgm:prSet presAssocID="{02D77FD7-90AD-495F-B8C2-2470B083130A}" presName="childText" presStyleLbl="conFgAcc1" presStyleIdx="1" presStyleCnt="3">
        <dgm:presLayoutVars>
          <dgm:bulletEnabled val="1"/>
        </dgm:presLayoutVars>
      </dgm:prSet>
      <dgm:spPr/>
    </dgm:pt>
    <dgm:pt modelId="{7A3231BA-9B84-449D-A25C-036FFD94BE59}" type="pres">
      <dgm:prSet presAssocID="{5E5912A2-841A-4205-9EF1-3E9666199055}" presName="spaceBetweenRectangles" presStyleCnt="0"/>
      <dgm:spPr/>
    </dgm:pt>
    <dgm:pt modelId="{7D1DFFE5-EB70-470C-9BB6-22CF6946B4D7}" type="pres">
      <dgm:prSet presAssocID="{DE3B8BFB-0633-46B4-BE47-4944E2706984}" presName="parentLin" presStyleCnt="0"/>
      <dgm:spPr/>
    </dgm:pt>
    <dgm:pt modelId="{A0340096-8802-43B1-8CCD-08BBC9D9778F}" type="pres">
      <dgm:prSet presAssocID="{DE3B8BFB-0633-46B4-BE47-4944E2706984}" presName="parentLeftMargin" presStyleLbl="node1" presStyleIdx="1" presStyleCnt="3"/>
      <dgm:spPr/>
    </dgm:pt>
    <dgm:pt modelId="{BCE17EAD-F6D2-4EA4-A6E6-825FA68E19AE}" type="pres">
      <dgm:prSet presAssocID="{DE3B8BFB-0633-46B4-BE47-4944E2706984}" presName="parentText" presStyleLbl="node1" presStyleIdx="2" presStyleCnt="3">
        <dgm:presLayoutVars>
          <dgm:chMax val="0"/>
          <dgm:bulletEnabled val="1"/>
        </dgm:presLayoutVars>
      </dgm:prSet>
      <dgm:spPr/>
    </dgm:pt>
    <dgm:pt modelId="{23E542CC-36A0-4C8B-9617-16D6355BB500}" type="pres">
      <dgm:prSet presAssocID="{DE3B8BFB-0633-46B4-BE47-4944E2706984}" presName="negativeSpace" presStyleCnt="0"/>
      <dgm:spPr/>
    </dgm:pt>
    <dgm:pt modelId="{36AB4FD7-5E4E-474E-8300-B5B3F4E220AC}" type="pres">
      <dgm:prSet presAssocID="{DE3B8BFB-0633-46B4-BE47-4944E2706984}" presName="childText" presStyleLbl="conFgAcc1" presStyleIdx="2" presStyleCnt="3">
        <dgm:presLayoutVars>
          <dgm:bulletEnabled val="1"/>
        </dgm:presLayoutVars>
      </dgm:prSet>
      <dgm:spPr/>
    </dgm:pt>
  </dgm:ptLst>
  <dgm:cxnLst>
    <dgm:cxn modelId="{AAC8440D-9700-4177-8C5B-9357B44BD61E}" srcId="{D4DFE117-413A-414A-A0D8-13E90CF4AEAE}" destId="{FCE75E6A-FD95-4C97-A96F-9F46BABA45B4}" srcOrd="0" destOrd="0" parTransId="{BFDA1281-07AE-42FD-8B7A-D22DFE5D3406}" sibTransId="{9BF53E9D-32B6-4F02-8B5F-073EF1061992}"/>
    <dgm:cxn modelId="{AA09F90F-B027-409E-9005-34C9DA36ADD9}" type="presOf" srcId="{DE3B8BFB-0633-46B4-BE47-4944E2706984}" destId="{BCE17EAD-F6D2-4EA4-A6E6-825FA68E19AE}" srcOrd="1" destOrd="0" presId="urn:microsoft.com/office/officeart/2005/8/layout/list1"/>
    <dgm:cxn modelId="{6817E01A-B8D5-418B-9A1D-4E2102945CBE}" srcId="{772AD8D8-1EEE-43B1-B62E-0126DCFE1AC1}" destId="{02D77FD7-90AD-495F-B8C2-2470B083130A}" srcOrd="1" destOrd="0" parTransId="{8F2E9066-23A1-488B-ABC4-A57E9A2DD6FE}" sibTransId="{5E5912A2-841A-4205-9EF1-3E9666199055}"/>
    <dgm:cxn modelId="{5E49E62B-EA2C-4E5A-901A-B4C4000B847A}" type="presOf" srcId="{FCE75E6A-FD95-4C97-A96F-9F46BABA45B4}" destId="{C713112E-75D8-4CF8-8AAB-C2E913B61755}" srcOrd="0" destOrd="0" presId="urn:microsoft.com/office/officeart/2005/8/layout/list1"/>
    <dgm:cxn modelId="{E2039B37-7D93-4886-8E24-BE2A3822906B}" type="presOf" srcId="{A5750A36-7DB9-45BE-951A-9139ABC67B65}" destId="{5C2533B5-A452-48F5-8310-B3DFF3680AE3}" srcOrd="0" destOrd="0" presId="urn:microsoft.com/office/officeart/2005/8/layout/list1"/>
    <dgm:cxn modelId="{1CCAA839-D4E9-4B6D-93F5-9A8F32CC10D5}" type="presOf" srcId="{DE3B8BFB-0633-46B4-BE47-4944E2706984}" destId="{A0340096-8802-43B1-8CCD-08BBC9D9778F}" srcOrd="0" destOrd="0" presId="urn:microsoft.com/office/officeart/2005/8/layout/list1"/>
    <dgm:cxn modelId="{9E3DF146-881E-4F95-8D63-DDB1B247FCAA}" srcId="{02D77FD7-90AD-495F-B8C2-2470B083130A}" destId="{A5750A36-7DB9-45BE-951A-9139ABC67B65}" srcOrd="0" destOrd="0" parTransId="{950BC977-DA91-408B-8A3B-D4F7FC75382F}" sibTransId="{0DDE32E4-9872-48DE-A694-E9478DC07989}"/>
    <dgm:cxn modelId="{4CFCC06C-9636-46EE-9923-9C510E150ACD}" type="presOf" srcId="{02D77FD7-90AD-495F-B8C2-2470B083130A}" destId="{3710E84C-63F3-4D6D-BD8B-F3DF3ACAAE98}" srcOrd="0" destOrd="0" presId="urn:microsoft.com/office/officeart/2005/8/layout/list1"/>
    <dgm:cxn modelId="{91E2E172-6DC6-4103-941B-AB40D222CDA7}" type="presOf" srcId="{772AD8D8-1EEE-43B1-B62E-0126DCFE1AC1}" destId="{1F0528DD-E106-4279-8A6E-4F965958DA16}" srcOrd="0" destOrd="0" presId="urn:microsoft.com/office/officeart/2005/8/layout/list1"/>
    <dgm:cxn modelId="{9EE0428B-6D03-4BF5-ACED-84C7531428B4}" type="presOf" srcId="{9AF74768-EEE7-41F3-9042-39057E113350}" destId="{36AB4FD7-5E4E-474E-8300-B5B3F4E220AC}" srcOrd="0" destOrd="0" presId="urn:microsoft.com/office/officeart/2005/8/layout/list1"/>
    <dgm:cxn modelId="{E26C1C8D-14B7-4AAC-95C6-6502814E069A}" type="presOf" srcId="{02D77FD7-90AD-495F-B8C2-2470B083130A}" destId="{F3D7DA2D-49A3-4075-A686-5704A0E78F78}" srcOrd="1" destOrd="0" presId="urn:microsoft.com/office/officeart/2005/8/layout/list1"/>
    <dgm:cxn modelId="{6C431BB8-53E3-4DBF-8CED-ACC2452D2B74}" srcId="{772AD8D8-1EEE-43B1-B62E-0126DCFE1AC1}" destId="{DE3B8BFB-0633-46B4-BE47-4944E2706984}" srcOrd="2" destOrd="0" parTransId="{91363D1D-EF73-418E-9302-BB654650AC70}" sibTransId="{C3BF91CB-A45B-40E6-97B8-B288CCA46D9E}"/>
    <dgm:cxn modelId="{A7B2E7EB-4941-4C63-98D6-7AE61156A7F5}" type="presOf" srcId="{D4DFE117-413A-414A-A0D8-13E90CF4AEAE}" destId="{6A647C57-02D0-4B91-B3C5-50E675F9EA2B}" srcOrd="0" destOrd="0" presId="urn:microsoft.com/office/officeart/2005/8/layout/list1"/>
    <dgm:cxn modelId="{393AB0F5-CAD5-48A9-9C13-FE6CEE345534}" srcId="{772AD8D8-1EEE-43B1-B62E-0126DCFE1AC1}" destId="{D4DFE117-413A-414A-A0D8-13E90CF4AEAE}" srcOrd="0" destOrd="0" parTransId="{1AFC3C4D-8DF9-4846-AAE2-6CFC25DB2A7B}" sibTransId="{3C977014-DB95-48F3-BCD8-4C54B58D3FDB}"/>
    <dgm:cxn modelId="{655E95F6-885B-4289-92EC-51CAEBE3C1AC}" srcId="{DE3B8BFB-0633-46B4-BE47-4944E2706984}" destId="{9AF74768-EEE7-41F3-9042-39057E113350}" srcOrd="0" destOrd="0" parTransId="{6C346E01-2134-403F-96CD-F0D3CC8A4BD0}" sibTransId="{E637CC08-0C87-4B9D-9CE7-9FD305E1CA5B}"/>
    <dgm:cxn modelId="{61F8FAFD-7D0B-4850-83B5-F48B4320059C}" type="presOf" srcId="{D4DFE117-413A-414A-A0D8-13E90CF4AEAE}" destId="{73256573-328E-43C7-84C0-F915CE5C79E4}" srcOrd="1" destOrd="0" presId="urn:microsoft.com/office/officeart/2005/8/layout/list1"/>
    <dgm:cxn modelId="{BEEEE06B-5EBC-4ECD-B731-A735B44BD24B}" type="presParOf" srcId="{1F0528DD-E106-4279-8A6E-4F965958DA16}" destId="{1B8D8AAE-2011-471E-AA24-7BE6639397B5}" srcOrd="0" destOrd="0" presId="urn:microsoft.com/office/officeart/2005/8/layout/list1"/>
    <dgm:cxn modelId="{4E7C4999-7269-4504-B56F-2279D1BC4C97}" type="presParOf" srcId="{1B8D8AAE-2011-471E-AA24-7BE6639397B5}" destId="{6A647C57-02D0-4B91-B3C5-50E675F9EA2B}" srcOrd="0" destOrd="0" presId="urn:microsoft.com/office/officeart/2005/8/layout/list1"/>
    <dgm:cxn modelId="{E6631601-907C-4AD4-82D1-590D7544BAF0}" type="presParOf" srcId="{1B8D8AAE-2011-471E-AA24-7BE6639397B5}" destId="{73256573-328E-43C7-84C0-F915CE5C79E4}" srcOrd="1" destOrd="0" presId="urn:microsoft.com/office/officeart/2005/8/layout/list1"/>
    <dgm:cxn modelId="{C27A5BC6-FC24-4903-AD79-1A90A4E29335}" type="presParOf" srcId="{1F0528DD-E106-4279-8A6E-4F965958DA16}" destId="{6EC66F64-D6E5-41A4-83BF-2740CCD3AFE7}" srcOrd="1" destOrd="0" presId="urn:microsoft.com/office/officeart/2005/8/layout/list1"/>
    <dgm:cxn modelId="{8C0A9DDA-225C-4057-A3A4-2FF67C0998F5}" type="presParOf" srcId="{1F0528DD-E106-4279-8A6E-4F965958DA16}" destId="{C713112E-75D8-4CF8-8AAB-C2E913B61755}" srcOrd="2" destOrd="0" presId="urn:microsoft.com/office/officeart/2005/8/layout/list1"/>
    <dgm:cxn modelId="{61AB0EAE-6DD1-4FCF-B9D8-402DE63984DB}" type="presParOf" srcId="{1F0528DD-E106-4279-8A6E-4F965958DA16}" destId="{C8CD57BB-9353-4147-8750-34C52957CEB6}" srcOrd="3" destOrd="0" presId="urn:microsoft.com/office/officeart/2005/8/layout/list1"/>
    <dgm:cxn modelId="{BA73FE27-0C8A-4B1A-89B4-5DA8C823B38E}" type="presParOf" srcId="{1F0528DD-E106-4279-8A6E-4F965958DA16}" destId="{13E9E593-57C9-4EC6-8430-4F5AB71BA5CB}" srcOrd="4" destOrd="0" presId="urn:microsoft.com/office/officeart/2005/8/layout/list1"/>
    <dgm:cxn modelId="{0D2C8794-4DC5-49B6-A219-0C613A9EE8E0}" type="presParOf" srcId="{13E9E593-57C9-4EC6-8430-4F5AB71BA5CB}" destId="{3710E84C-63F3-4D6D-BD8B-F3DF3ACAAE98}" srcOrd="0" destOrd="0" presId="urn:microsoft.com/office/officeart/2005/8/layout/list1"/>
    <dgm:cxn modelId="{4C7EBC20-C4D1-49C5-ADD6-D3E0011BD30A}" type="presParOf" srcId="{13E9E593-57C9-4EC6-8430-4F5AB71BA5CB}" destId="{F3D7DA2D-49A3-4075-A686-5704A0E78F78}" srcOrd="1" destOrd="0" presId="urn:microsoft.com/office/officeart/2005/8/layout/list1"/>
    <dgm:cxn modelId="{30C97D9F-2083-4F1B-A5F4-98A0E6702102}" type="presParOf" srcId="{1F0528DD-E106-4279-8A6E-4F965958DA16}" destId="{28949E04-3C96-4CDD-85E3-B2059C1605E9}" srcOrd="5" destOrd="0" presId="urn:microsoft.com/office/officeart/2005/8/layout/list1"/>
    <dgm:cxn modelId="{7B33BD2B-6405-405D-AFA9-F2A148E02B81}" type="presParOf" srcId="{1F0528DD-E106-4279-8A6E-4F965958DA16}" destId="{5C2533B5-A452-48F5-8310-B3DFF3680AE3}" srcOrd="6" destOrd="0" presId="urn:microsoft.com/office/officeart/2005/8/layout/list1"/>
    <dgm:cxn modelId="{847226F5-7C45-41BA-9DE2-E28982102ED6}" type="presParOf" srcId="{1F0528DD-E106-4279-8A6E-4F965958DA16}" destId="{7A3231BA-9B84-449D-A25C-036FFD94BE59}" srcOrd="7" destOrd="0" presId="urn:microsoft.com/office/officeart/2005/8/layout/list1"/>
    <dgm:cxn modelId="{C58CAC93-E774-41B7-8897-CC78B29F0158}" type="presParOf" srcId="{1F0528DD-E106-4279-8A6E-4F965958DA16}" destId="{7D1DFFE5-EB70-470C-9BB6-22CF6946B4D7}" srcOrd="8" destOrd="0" presId="urn:microsoft.com/office/officeart/2005/8/layout/list1"/>
    <dgm:cxn modelId="{C58F6A71-E7EF-4F79-8826-07A76B0A1799}" type="presParOf" srcId="{7D1DFFE5-EB70-470C-9BB6-22CF6946B4D7}" destId="{A0340096-8802-43B1-8CCD-08BBC9D9778F}" srcOrd="0" destOrd="0" presId="urn:microsoft.com/office/officeart/2005/8/layout/list1"/>
    <dgm:cxn modelId="{AE8D0F83-B8E9-429C-8E34-07D7E8570093}" type="presParOf" srcId="{7D1DFFE5-EB70-470C-9BB6-22CF6946B4D7}" destId="{BCE17EAD-F6D2-4EA4-A6E6-825FA68E19AE}" srcOrd="1" destOrd="0" presId="urn:microsoft.com/office/officeart/2005/8/layout/list1"/>
    <dgm:cxn modelId="{2E1EA9FA-1677-458C-91B8-91B58C7CD633}" type="presParOf" srcId="{1F0528DD-E106-4279-8A6E-4F965958DA16}" destId="{23E542CC-36A0-4C8B-9617-16D6355BB500}" srcOrd="9" destOrd="0" presId="urn:microsoft.com/office/officeart/2005/8/layout/list1"/>
    <dgm:cxn modelId="{37ED9F4B-1291-4006-9AC8-FC0922D96780}" type="presParOf" srcId="{1F0528DD-E106-4279-8A6E-4F965958DA16}" destId="{36AB4FD7-5E4E-474E-8300-B5B3F4E220AC}"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D8433C5-EE24-40D3-B364-9BA568CD6FC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1E68B5BB-BEF7-4A96-90D9-6DE4657B83BD}">
      <dgm:prSet phldrT="[Text]"/>
      <dgm:spPr/>
      <dgm:t>
        <a:bodyPr/>
        <a:lstStyle/>
        <a:p>
          <a:pPr>
            <a:buSzPts val="1000"/>
            <a:buFont typeface="Courier New" panose="02070309020205020404" pitchFamily="49" charset="0"/>
            <a:buChar char="o"/>
          </a:pPr>
          <a:r>
            <a:rPr lang="en-IN" b="1" dirty="0"/>
            <a:t>Module Structures:</a:t>
          </a:r>
          <a:endParaRPr lang="en-IN" dirty="0"/>
        </a:p>
      </dgm:t>
    </dgm:pt>
    <dgm:pt modelId="{028B1A7B-2F95-49A2-9A00-B994BC18424A}" type="parTrans" cxnId="{40CD9732-6CBF-4BB6-A1A6-41D2ABEA6DA9}">
      <dgm:prSet/>
      <dgm:spPr/>
      <dgm:t>
        <a:bodyPr/>
        <a:lstStyle/>
        <a:p>
          <a:endParaRPr lang="en-IN"/>
        </a:p>
      </dgm:t>
    </dgm:pt>
    <dgm:pt modelId="{11B4E9D2-25D0-47EF-AA43-652CE56FFC04}" type="sibTrans" cxnId="{40CD9732-6CBF-4BB6-A1A6-41D2ABEA6DA9}">
      <dgm:prSet/>
      <dgm:spPr/>
      <dgm:t>
        <a:bodyPr/>
        <a:lstStyle/>
        <a:p>
          <a:endParaRPr lang="en-IN"/>
        </a:p>
      </dgm:t>
    </dgm:pt>
    <dgm:pt modelId="{7BB39221-5EE1-473D-8885-71960270051C}">
      <dgm:prSet/>
      <dgm:spPr/>
      <dgm:t>
        <a:bodyPr/>
        <a:lstStyle/>
        <a:p>
          <a:pPr>
            <a:buSzPts val="1000"/>
            <a:buFont typeface="Courier New" panose="02070309020205020404" pitchFamily="49" charset="0"/>
            <a:buChar char="o"/>
          </a:pPr>
          <a:r>
            <a:rPr lang="en-IN" b="1" dirty="0"/>
            <a:t>Component-and-Connector (C&amp;C) Structures:</a:t>
          </a:r>
          <a:endParaRPr lang="en-IN" dirty="0"/>
        </a:p>
      </dgm:t>
    </dgm:pt>
    <dgm:pt modelId="{05A04174-3F2F-4032-87B3-2B6C0143B4F4}" type="parTrans" cxnId="{4D6D00DF-7279-4045-9EE1-146BC22AB449}">
      <dgm:prSet/>
      <dgm:spPr/>
      <dgm:t>
        <a:bodyPr/>
        <a:lstStyle/>
        <a:p>
          <a:endParaRPr lang="en-IN"/>
        </a:p>
      </dgm:t>
    </dgm:pt>
    <dgm:pt modelId="{6003CD94-2F7B-4D57-B444-C64F435B1335}" type="sibTrans" cxnId="{4D6D00DF-7279-4045-9EE1-146BC22AB449}">
      <dgm:prSet/>
      <dgm:spPr/>
      <dgm:t>
        <a:bodyPr/>
        <a:lstStyle/>
        <a:p>
          <a:endParaRPr lang="en-IN"/>
        </a:p>
      </dgm:t>
    </dgm:pt>
    <dgm:pt modelId="{42F3AEB9-37E9-45F3-80F6-CA56770CA077}">
      <dgm:prSet/>
      <dgm:spPr/>
      <dgm:t>
        <a:bodyPr/>
        <a:lstStyle/>
        <a:p>
          <a:pPr>
            <a:buNone/>
          </a:pPr>
          <a:r>
            <a:rPr lang="en-IN" b="1" dirty="0"/>
            <a:t>Allocation Structures:</a:t>
          </a:r>
          <a:endParaRPr lang="en-IN" dirty="0"/>
        </a:p>
      </dgm:t>
    </dgm:pt>
    <dgm:pt modelId="{CD9E615F-3814-4752-AAD5-EB33B54D205F}" type="parTrans" cxnId="{65393E34-3366-401D-A076-A6336E3BDC78}">
      <dgm:prSet/>
      <dgm:spPr/>
      <dgm:t>
        <a:bodyPr/>
        <a:lstStyle/>
        <a:p>
          <a:endParaRPr lang="en-IN"/>
        </a:p>
      </dgm:t>
    </dgm:pt>
    <dgm:pt modelId="{85DA0CA7-701C-45C4-807A-BB4995784A62}" type="sibTrans" cxnId="{65393E34-3366-401D-A076-A6336E3BDC78}">
      <dgm:prSet/>
      <dgm:spPr/>
      <dgm:t>
        <a:bodyPr/>
        <a:lstStyle/>
        <a:p>
          <a:endParaRPr lang="en-IN"/>
        </a:p>
      </dgm:t>
    </dgm:pt>
    <dgm:pt modelId="{B095493A-4774-491B-9A46-6EEF1D17F196}">
      <dgm:prSet phldrT="[Text]"/>
      <dgm:spPr/>
      <dgm:t>
        <a:bodyPr/>
        <a:lstStyle/>
        <a:p>
          <a:pPr>
            <a:buSzPts val="1000"/>
            <a:buFont typeface="Courier New" panose="02070309020205020404" pitchFamily="49" charset="0"/>
            <a:buChar char="o"/>
          </a:pPr>
          <a:r>
            <a:rPr lang="en-IN" dirty="0"/>
            <a:t> How the system is partitioned as a set of code or data units.</a:t>
          </a:r>
        </a:p>
      </dgm:t>
    </dgm:pt>
    <dgm:pt modelId="{E59C167B-26D8-4563-A3C8-E712836A5276}" type="parTrans" cxnId="{CA038D49-BF1F-4BE1-AEFE-F3A4F7B9A333}">
      <dgm:prSet/>
      <dgm:spPr/>
      <dgm:t>
        <a:bodyPr/>
        <a:lstStyle/>
        <a:p>
          <a:endParaRPr lang="en-IN"/>
        </a:p>
      </dgm:t>
    </dgm:pt>
    <dgm:pt modelId="{C44710F4-BB57-4C1B-BC5C-B6157266CDBE}" type="sibTrans" cxnId="{CA038D49-BF1F-4BE1-AEFE-F3A4F7B9A333}">
      <dgm:prSet/>
      <dgm:spPr/>
      <dgm:t>
        <a:bodyPr/>
        <a:lstStyle/>
        <a:p>
          <a:endParaRPr lang="en-IN"/>
        </a:p>
      </dgm:t>
    </dgm:pt>
    <dgm:pt modelId="{B7F2977A-0E74-4E33-916D-1534FF765C66}">
      <dgm:prSet/>
      <dgm:spPr/>
      <dgm:t>
        <a:bodyPr/>
        <a:lstStyle/>
        <a:p>
          <a:pPr>
            <a:buSzPts val="1000"/>
            <a:buFont typeface="Courier New" panose="02070309020205020404" pitchFamily="49" charset="0"/>
            <a:buChar char="o"/>
          </a:pPr>
          <a:r>
            <a:rPr lang="en-IN" dirty="0"/>
            <a:t>How the system is structured as a set of elements that have runtime </a:t>
          </a:r>
          <a:r>
            <a:rPr lang="en-IN" dirty="0" err="1"/>
            <a:t>behavior</a:t>
          </a:r>
          <a:r>
            <a:rPr lang="en-IN" dirty="0"/>
            <a:t> and interactions.</a:t>
          </a:r>
        </a:p>
      </dgm:t>
    </dgm:pt>
    <dgm:pt modelId="{C96354C1-ABB9-4DC2-B747-DECAFAED4778}" type="parTrans" cxnId="{2BF85E1F-4487-4E58-BAEA-B677D4741817}">
      <dgm:prSet/>
      <dgm:spPr/>
      <dgm:t>
        <a:bodyPr/>
        <a:lstStyle/>
        <a:p>
          <a:endParaRPr lang="en-IN"/>
        </a:p>
      </dgm:t>
    </dgm:pt>
    <dgm:pt modelId="{A043C8CA-ADEB-4A8D-BCD5-6A5877AA6056}" type="sibTrans" cxnId="{2BF85E1F-4487-4E58-BAEA-B677D4741817}">
      <dgm:prSet/>
      <dgm:spPr/>
      <dgm:t>
        <a:bodyPr/>
        <a:lstStyle/>
        <a:p>
          <a:endParaRPr lang="en-IN"/>
        </a:p>
      </dgm:t>
    </dgm:pt>
    <dgm:pt modelId="{ABA1BD4D-CAA7-4128-A275-4B56D90BE48C}">
      <dgm:prSet/>
      <dgm:spPr/>
      <dgm:t>
        <a:bodyPr/>
        <a:lstStyle/>
        <a:p>
          <a:pPr>
            <a:buNone/>
          </a:pPr>
          <a:r>
            <a:rPr lang="en-IN"/>
            <a:t>How the system relates to non-software structures (CPUs, file systems, teams).</a:t>
          </a:r>
          <a:endParaRPr lang="en-IN" dirty="0"/>
        </a:p>
      </dgm:t>
    </dgm:pt>
    <dgm:pt modelId="{25B845FE-419F-4BA6-93AE-8EF591016073}" type="parTrans" cxnId="{E187FC26-CE37-498B-AADF-18634087624A}">
      <dgm:prSet/>
      <dgm:spPr/>
      <dgm:t>
        <a:bodyPr/>
        <a:lstStyle/>
        <a:p>
          <a:endParaRPr lang="en-IN"/>
        </a:p>
      </dgm:t>
    </dgm:pt>
    <dgm:pt modelId="{EFBB20B3-A867-4CA4-B4EF-A1EB039CA0EB}" type="sibTrans" cxnId="{E187FC26-CE37-498B-AADF-18634087624A}">
      <dgm:prSet/>
      <dgm:spPr/>
      <dgm:t>
        <a:bodyPr/>
        <a:lstStyle/>
        <a:p>
          <a:endParaRPr lang="en-IN"/>
        </a:p>
      </dgm:t>
    </dgm:pt>
    <dgm:pt modelId="{3D302AC1-EE32-49A1-BBB3-E9599EEEA1B6}" type="pres">
      <dgm:prSet presAssocID="{2D8433C5-EE24-40D3-B364-9BA568CD6FC1}" presName="linear" presStyleCnt="0">
        <dgm:presLayoutVars>
          <dgm:dir/>
          <dgm:animLvl val="lvl"/>
          <dgm:resizeHandles val="exact"/>
        </dgm:presLayoutVars>
      </dgm:prSet>
      <dgm:spPr/>
    </dgm:pt>
    <dgm:pt modelId="{C01B041B-58B9-4204-9B30-E7A38C2181F8}" type="pres">
      <dgm:prSet presAssocID="{1E68B5BB-BEF7-4A96-90D9-6DE4657B83BD}" presName="parentLin" presStyleCnt="0"/>
      <dgm:spPr/>
    </dgm:pt>
    <dgm:pt modelId="{79974304-8152-4628-AC6D-8242D08E43A8}" type="pres">
      <dgm:prSet presAssocID="{1E68B5BB-BEF7-4A96-90D9-6DE4657B83BD}" presName="parentLeftMargin" presStyleLbl="node1" presStyleIdx="0" presStyleCnt="3"/>
      <dgm:spPr/>
    </dgm:pt>
    <dgm:pt modelId="{4E46E032-9FB3-4A11-8B9B-E06B77E34859}" type="pres">
      <dgm:prSet presAssocID="{1E68B5BB-BEF7-4A96-90D9-6DE4657B83BD}" presName="parentText" presStyleLbl="node1" presStyleIdx="0" presStyleCnt="3">
        <dgm:presLayoutVars>
          <dgm:chMax val="0"/>
          <dgm:bulletEnabled val="1"/>
        </dgm:presLayoutVars>
      </dgm:prSet>
      <dgm:spPr/>
    </dgm:pt>
    <dgm:pt modelId="{1841C763-B79F-48E2-80E7-8A6C656B8334}" type="pres">
      <dgm:prSet presAssocID="{1E68B5BB-BEF7-4A96-90D9-6DE4657B83BD}" presName="negativeSpace" presStyleCnt="0"/>
      <dgm:spPr/>
    </dgm:pt>
    <dgm:pt modelId="{DA79012F-28BE-4668-9087-4FC2E3288F6C}" type="pres">
      <dgm:prSet presAssocID="{1E68B5BB-BEF7-4A96-90D9-6DE4657B83BD}" presName="childText" presStyleLbl="conFgAcc1" presStyleIdx="0" presStyleCnt="3">
        <dgm:presLayoutVars>
          <dgm:bulletEnabled val="1"/>
        </dgm:presLayoutVars>
      </dgm:prSet>
      <dgm:spPr/>
    </dgm:pt>
    <dgm:pt modelId="{59DA0F87-D227-4004-8146-55EE285DC460}" type="pres">
      <dgm:prSet presAssocID="{11B4E9D2-25D0-47EF-AA43-652CE56FFC04}" presName="spaceBetweenRectangles" presStyleCnt="0"/>
      <dgm:spPr/>
    </dgm:pt>
    <dgm:pt modelId="{90226B99-29F3-45F1-AFE1-0845629FF560}" type="pres">
      <dgm:prSet presAssocID="{7BB39221-5EE1-473D-8885-71960270051C}" presName="parentLin" presStyleCnt="0"/>
      <dgm:spPr/>
    </dgm:pt>
    <dgm:pt modelId="{32E5537C-942D-46F3-9777-9035A2112D25}" type="pres">
      <dgm:prSet presAssocID="{7BB39221-5EE1-473D-8885-71960270051C}" presName="parentLeftMargin" presStyleLbl="node1" presStyleIdx="0" presStyleCnt="3"/>
      <dgm:spPr/>
    </dgm:pt>
    <dgm:pt modelId="{7DF3D49A-7168-45D5-A3C7-4F85CF31AE8B}" type="pres">
      <dgm:prSet presAssocID="{7BB39221-5EE1-473D-8885-71960270051C}" presName="parentText" presStyleLbl="node1" presStyleIdx="1" presStyleCnt="3">
        <dgm:presLayoutVars>
          <dgm:chMax val="0"/>
          <dgm:bulletEnabled val="1"/>
        </dgm:presLayoutVars>
      </dgm:prSet>
      <dgm:spPr/>
    </dgm:pt>
    <dgm:pt modelId="{4628962A-89C2-4972-B1D5-8530FBE1842B}" type="pres">
      <dgm:prSet presAssocID="{7BB39221-5EE1-473D-8885-71960270051C}" presName="negativeSpace" presStyleCnt="0"/>
      <dgm:spPr/>
    </dgm:pt>
    <dgm:pt modelId="{8BF90F94-0ADB-4C3C-9C4E-6CE63FB9D7D1}" type="pres">
      <dgm:prSet presAssocID="{7BB39221-5EE1-473D-8885-71960270051C}" presName="childText" presStyleLbl="conFgAcc1" presStyleIdx="1" presStyleCnt="3">
        <dgm:presLayoutVars>
          <dgm:bulletEnabled val="1"/>
        </dgm:presLayoutVars>
      </dgm:prSet>
      <dgm:spPr/>
    </dgm:pt>
    <dgm:pt modelId="{631B19E9-73A0-41B9-9874-5FF0DD1163A1}" type="pres">
      <dgm:prSet presAssocID="{6003CD94-2F7B-4D57-B444-C64F435B1335}" presName="spaceBetweenRectangles" presStyleCnt="0"/>
      <dgm:spPr/>
    </dgm:pt>
    <dgm:pt modelId="{82AE9E06-038E-4501-84BD-8D9AA0F30838}" type="pres">
      <dgm:prSet presAssocID="{42F3AEB9-37E9-45F3-80F6-CA56770CA077}" presName="parentLin" presStyleCnt="0"/>
      <dgm:spPr/>
    </dgm:pt>
    <dgm:pt modelId="{EA852227-1F54-4743-A15E-6EAC983E2AC7}" type="pres">
      <dgm:prSet presAssocID="{42F3AEB9-37E9-45F3-80F6-CA56770CA077}" presName="parentLeftMargin" presStyleLbl="node1" presStyleIdx="1" presStyleCnt="3"/>
      <dgm:spPr/>
    </dgm:pt>
    <dgm:pt modelId="{CBBDF8C5-4AB5-4AF9-91C2-B533917EC754}" type="pres">
      <dgm:prSet presAssocID="{42F3AEB9-37E9-45F3-80F6-CA56770CA077}" presName="parentText" presStyleLbl="node1" presStyleIdx="2" presStyleCnt="3">
        <dgm:presLayoutVars>
          <dgm:chMax val="0"/>
          <dgm:bulletEnabled val="1"/>
        </dgm:presLayoutVars>
      </dgm:prSet>
      <dgm:spPr/>
    </dgm:pt>
    <dgm:pt modelId="{7145CA41-5D94-41F0-90BF-21067CB790EE}" type="pres">
      <dgm:prSet presAssocID="{42F3AEB9-37E9-45F3-80F6-CA56770CA077}" presName="negativeSpace" presStyleCnt="0"/>
      <dgm:spPr/>
    </dgm:pt>
    <dgm:pt modelId="{B33004F7-EB29-4D04-B703-DEEED0EEB07C}" type="pres">
      <dgm:prSet presAssocID="{42F3AEB9-37E9-45F3-80F6-CA56770CA077}" presName="childText" presStyleLbl="conFgAcc1" presStyleIdx="2" presStyleCnt="3">
        <dgm:presLayoutVars>
          <dgm:bulletEnabled val="1"/>
        </dgm:presLayoutVars>
      </dgm:prSet>
      <dgm:spPr/>
    </dgm:pt>
  </dgm:ptLst>
  <dgm:cxnLst>
    <dgm:cxn modelId="{2BF85E1F-4487-4E58-BAEA-B677D4741817}" srcId="{7BB39221-5EE1-473D-8885-71960270051C}" destId="{B7F2977A-0E74-4E33-916D-1534FF765C66}" srcOrd="0" destOrd="0" parTransId="{C96354C1-ABB9-4DC2-B747-DECAFAED4778}" sibTransId="{A043C8CA-ADEB-4A8D-BCD5-6A5877AA6056}"/>
    <dgm:cxn modelId="{E187FC26-CE37-498B-AADF-18634087624A}" srcId="{42F3AEB9-37E9-45F3-80F6-CA56770CA077}" destId="{ABA1BD4D-CAA7-4128-A275-4B56D90BE48C}" srcOrd="0" destOrd="0" parTransId="{25B845FE-419F-4BA6-93AE-8EF591016073}" sibTransId="{EFBB20B3-A867-4CA4-B4EF-A1EB039CA0EB}"/>
    <dgm:cxn modelId="{40CD9732-6CBF-4BB6-A1A6-41D2ABEA6DA9}" srcId="{2D8433C5-EE24-40D3-B364-9BA568CD6FC1}" destId="{1E68B5BB-BEF7-4A96-90D9-6DE4657B83BD}" srcOrd="0" destOrd="0" parTransId="{028B1A7B-2F95-49A2-9A00-B994BC18424A}" sibTransId="{11B4E9D2-25D0-47EF-AA43-652CE56FFC04}"/>
    <dgm:cxn modelId="{65393E34-3366-401D-A076-A6336E3BDC78}" srcId="{2D8433C5-EE24-40D3-B364-9BA568CD6FC1}" destId="{42F3AEB9-37E9-45F3-80F6-CA56770CA077}" srcOrd="2" destOrd="0" parTransId="{CD9E615F-3814-4752-AAD5-EB33B54D205F}" sibTransId="{85DA0CA7-701C-45C4-807A-BB4995784A62}"/>
    <dgm:cxn modelId="{7B704334-7AAD-4431-A36F-8C0CA6FDE37C}" type="presOf" srcId="{2D8433C5-EE24-40D3-B364-9BA568CD6FC1}" destId="{3D302AC1-EE32-49A1-BBB3-E9599EEEA1B6}" srcOrd="0" destOrd="0" presId="urn:microsoft.com/office/officeart/2005/8/layout/list1"/>
    <dgm:cxn modelId="{1658EB60-F023-42D7-8B76-148B13AB16F6}" type="presOf" srcId="{B095493A-4774-491B-9A46-6EEF1D17F196}" destId="{DA79012F-28BE-4668-9087-4FC2E3288F6C}" srcOrd="0" destOrd="0" presId="urn:microsoft.com/office/officeart/2005/8/layout/list1"/>
    <dgm:cxn modelId="{7108DE44-7A02-4E32-8BCB-F45CA50E4974}" type="presOf" srcId="{42F3AEB9-37E9-45F3-80F6-CA56770CA077}" destId="{EA852227-1F54-4743-A15E-6EAC983E2AC7}" srcOrd="0" destOrd="0" presId="urn:microsoft.com/office/officeart/2005/8/layout/list1"/>
    <dgm:cxn modelId="{27E39C66-9556-43FC-8AE4-B7B390BE80E8}" type="presOf" srcId="{1E68B5BB-BEF7-4A96-90D9-6DE4657B83BD}" destId="{79974304-8152-4628-AC6D-8242D08E43A8}" srcOrd="0" destOrd="0" presId="urn:microsoft.com/office/officeart/2005/8/layout/list1"/>
    <dgm:cxn modelId="{CA038D49-BF1F-4BE1-AEFE-F3A4F7B9A333}" srcId="{1E68B5BB-BEF7-4A96-90D9-6DE4657B83BD}" destId="{B095493A-4774-491B-9A46-6EEF1D17F196}" srcOrd="0" destOrd="0" parTransId="{E59C167B-26D8-4563-A3C8-E712836A5276}" sibTransId="{C44710F4-BB57-4C1B-BC5C-B6157266CDBE}"/>
    <dgm:cxn modelId="{988FC293-0CE2-4846-AB46-CDFCE4D0F9CD}" type="presOf" srcId="{7BB39221-5EE1-473D-8885-71960270051C}" destId="{32E5537C-942D-46F3-9777-9035A2112D25}" srcOrd="0" destOrd="0" presId="urn:microsoft.com/office/officeart/2005/8/layout/list1"/>
    <dgm:cxn modelId="{62299F98-B2D6-4D96-8B7A-A2F47D28C51A}" type="presOf" srcId="{42F3AEB9-37E9-45F3-80F6-CA56770CA077}" destId="{CBBDF8C5-4AB5-4AF9-91C2-B533917EC754}" srcOrd="1" destOrd="0" presId="urn:microsoft.com/office/officeart/2005/8/layout/list1"/>
    <dgm:cxn modelId="{837169AA-32FD-4C77-B44B-9495A6CB64E4}" type="presOf" srcId="{1E68B5BB-BEF7-4A96-90D9-6DE4657B83BD}" destId="{4E46E032-9FB3-4A11-8B9B-E06B77E34859}" srcOrd="1" destOrd="0" presId="urn:microsoft.com/office/officeart/2005/8/layout/list1"/>
    <dgm:cxn modelId="{3F1E00BF-7D29-44BD-A31F-5CDEAD362A98}" type="presOf" srcId="{B7F2977A-0E74-4E33-916D-1534FF765C66}" destId="{8BF90F94-0ADB-4C3C-9C4E-6CE63FB9D7D1}" srcOrd="0" destOrd="0" presId="urn:microsoft.com/office/officeart/2005/8/layout/list1"/>
    <dgm:cxn modelId="{3B9726DC-4BDC-41A6-B1C9-67122C54A1BE}" type="presOf" srcId="{7BB39221-5EE1-473D-8885-71960270051C}" destId="{7DF3D49A-7168-45D5-A3C7-4F85CF31AE8B}" srcOrd="1" destOrd="0" presId="urn:microsoft.com/office/officeart/2005/8/layout/list1"/>
    <dgm:cxn modelId="{4D6D00DF-7279-4045-9EE1-146BC22AB449}" srcId="{2D8433C5-EE24-40D3-B364-9BA568CD6FC1}" destId="{7BB39221-5EE1-473D-8885-71960270051C}" srcOrd="1" destOrd="0" parTransId="{05A04174-3F2F-4032-87B3-2B6C0143B4F4}" sibTransId="{6003CD94-2F7B-4D57-B444-C64F435B1335}"/>
    <dgm:cxn modelId="{0816B6F2-1074-4466-9CCC-EF1B4EE13D1A}" type="presOf" srcId="{ABA1BD4D-CAA7-4128-A275-4B56D90BE48C}" destId="{B33004F7-EB29-4D04-B703-DEEED0EEB07C}" srcOrd="0" destOrd="0" presId="urn:microsoft.com/office/officeart/2005/8/layout/list1"/>
    <dgm:cxn modelId="{D7343561-63F0-47AF-AA78-065068AC7749}" type="presParOf" srcId="{3D302AC1-EE32-49A1-BBB3-E9599EEEA1B6}" destId="{C01B041B-58B9-4204-9B30-E7A38C2181F8}" srcOrd="0" destOrd="0" presId="urn:microsoft.com/office/officeart/2005/8/layout/list1"/>
    <dgm:cxn modelId="{54AD6615-AC61-4DA4-8505-8CC6E5AB3714}" type="presParOf" srcId="{C01B041B-58B9-4204-9B30-E7A38C2181F8}" destId="{79974304-8152-4628-AC6D-8242D08E43A8}" srcOrd="0" destOrd="0" presId="urn:microsoft.com/office/officeart/2005/8/layout/list1"/>
    <dgm:cxn modelId="{FAF228B7-51DD-4E2D-9A21-0C031CAA3213}" type="presParOf" srcId="{C01B041B-58B9-4204-9B30-E7A38C2181F8}" destId="{4E46E032-9FB3-4A11-8B9B-E06B77E34859}" srcOrd="1" destOrd="0" presId="urn:microsoft.com/office/officeart/2005/8/layout/list1"/>
    <dgm:cxn modelId="{7A57EF25-E0E2-4778-9DCE-717AD9668625}" type="presParOf" srcId="{3D302AC1-EE32-49A1-BBB3-E9599EEEA1B6}" destId="{1841C763-B79F-48E2-80E7-8A6C656B8334}" srcOrd="1" destOrd="0" presId="urn:microsoft.com/office/officeart/2005/8/layout/list1"/>
    <dgm:cxn modelId="{DBC8778B-777E-4FB2-9489-506083EEF418}" type="presParOf" srcId="{3D302AC1-EE32-49A1-BBB3-E9599EEEA1B6}" destId="{DA79012F-28BE-4668-9087-4FC2E3288F6C}" srcOrd="2" destOrd="0" presId="urn:microsoft.com/office/officeart/2005/8/layout/list1"/>
    <dgm:cxn modelId="{2D2935DA-FD42-42B7-8A95-1DF28BA406B2}" type="presParOf" srcId="{3D302AC1-EE32-49A1-BBB3-E9599EEEA1B6}" destId="{59DA0F87-D227-4004-8146-55EE285DC460}" srcOrd="3" destOrd="0" presId="urn:microsoft.com/office/officeart/2005/8/layout/list1"/>
    <dgm:cxn modelId="{12257089-45E1-44C4-9EC9-D10CDEDF0DCE}" type="presParOf" srcId="{3D302AC1-EE32-49A1-BBB3-E9599EEEA1B6}" destId="{90226B99-29F3-45F1-AFE1-0845629FF560}" srcOrd="4" destOrd="0" presId="urn:microsoft.com/office/officeart/2005/8/layout/list1"/>
    <dgm:cxn modelId="{E128EF5B-695F-48B9-B52E-B35374436320}" type="presParOf" srcId="{90226B99-29F3-45F1-AFE1-0845629FF560}" destId="{32E5537C-942D-46F3-9777-9035A2112D25}" srcOrd="0" destOrd="0" presId="urn:microsoft.com/office/officeart/2005/8/layout/list1"/>
    <dgm:cxn modelId="{5B85633C-A865-4DB6-894D-D4947B95757D}" type="presParOf" srcId="{90226B99-29F3-45F1-AFE1-0845629FF560}" destId="{7DF3D49A-7168-45D5-A3C7-4F85CF31AE8B}" srcOrd="1" destOrd="0" presId="urn:microsoft.com/office/officeart/2005/8/layout/list1"/>
    <dgm:cxn modelId="{74C938EA-8C15-43D3-A70B-978A90078D64}" type="presParOf" srcId="{3D302AC1-EE32-49A1-BBB3-E9599EEEA1B6}" destId="{4628962A-89C2-4972-B1D5-8530FBE1842B}" srcOrd="5" destOrd="0" presId="urn:microsoft.com/office/officeart/2005/8/layout/list1"/>
    <dgm:cxn modelId="{F85050B0-0DD4-4A45-8915-9F7B79B3DBB3}" type="presParOf" srcId="{3D302AC1-EE32-49A1-BBB3-E9599EEEA1B6}" destId="{8BF90F94-0ADB-4C3C-9C4E-6CE63FB9D7D1}" srcOrd="6" destOrd="0" presId="urn:microsoft.com/office/officeart/2005/8/layout/list1"/>
    <dgm:cxn modelId="{5EDEDC1A-3ABF-41FC-B8B5-9E3549D4B824}" type="presParOf" srcId="{3D302AC1-EE32-49A1-BBB3-E9599EEEA1B6}" destId="{631B19E9-73A0-41B9-9874-5FF0DD1163A1}" srcOrd="7" destOrd="0" presId="urn:microsoft.com/office/officeart/2005/8/layout/list1"/>
    <dgm:cxn modelId="{44795CF0-DD10-4D7D-8462-89582EFCC031}" type="presParOf" srcId="{3D302AC1-EE32-49A1-BBB3-E9599EEEA1B6}" destId="{82AE9E06-038E-4501-84BD-8D9AA0F30838}" srcOrd="8" destOrd="0" presId="urn:microsoft.com/office/officeart/2005/8/layout/list1"/>
    <dgm:cxn modelId="{DF2B98DA-4317-4EF8-BBAC-41A72BC25A7B}" type="presParOf" srcId="{82AE9E06-038E-4501-84BD-8D9AA0F30838}" destId="{EA852227-1F54-4743-A15E-6EAC983E2AC7}" srcOrd="0" destOrd="0" presId="urn:microsoft.com/office/officeart/2005/8/layout/list1"/>
    <dgm:cxn modelId="{88925062-3436-4652-8BF8-E5798D124810}" type="presParOf" srcId="{82AE9E06-038E-4501-84BD-8D9AA0F30838}" destId="{CBBDF8C5-4AB5-4AF9-91C2-B533917EC754}" srcOrd="1" destOrd="0" presId="urn:microsoft.com/office/officeart/2005/8/layout/list1"/>
    <dgm:cxn modelId="{3B5E48B7-5061-4384-98F3-363FD069E8AE}" type="presParOf" srcId="{3D302AC1-EE32-49A1-BBB3-E9599EEEA1B6}" destId="{7145CA41-5D94-41F0-90BF-21067CB790EE}" srcOrd="9" destOrd="0" presId="urn:microsoft.com/office/officeart/2005/8/layout/list1"/>
    <dgm:cxn modelId="{57CB1117-3458-4391-8626-8E243F391351}" type="presParOf" srcId="{3D302AC1-EE32-49A1-BBB3-E9599EEEA1B6}" destId="{B33004F7-EB29-4D04-B703-DEEED0EEB07C}"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89B5C6-AA30-4CC8-99B3-BF26AB397B1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CA3F7B82-AE84-44FB-8F9F-2240D1A9B47E}">
      <dgm:prSet phldrT="[Text]"/>
      <dgm:spPr/>
      <dgm:t>
        <a:bodyPr/>
        <a:lstStyle/>
        <a:p>
          <a:pPr>
            <a:buSzPts val="1000"/>
            <a:buFont typeface="Courier New" panose="02070309020205020404" pitchFamily="49" charset="0"/>
            <a:buChar char="o"/>
          </a:pPr>
          <a:r>
            <a:rPr lang="en-IN" b="1"/>
            <a:t>Process Rules:</a:t>
          </a:r>
          <a:endParaRPr lang="en-IN"/>
        </a:p>
      </dgm:t>
    </dgm:pt>
    <dgm:pt modelId="{47183FBC-4435-4E6E-AD13-66197BCED540}" type="parTrans" cxnId="{5F4F3C23-5B2E-4C19-BD60-C120E1F85034}">
      <dgm:prSet/>
      <dgm:spPr/>
      <dgm:t>
        <a:bodyPr/>
        <a:lstStyle/>
        <a:p>
          <a:endParaRPr lang="en-IN"/>
        </a:p>
      </dgm:t>
    </dgm:pt>
    <dgm:pt modelId="{17797258-0086-4DAF-89E8-49C4701DA5BD}" type="sibTrans" cxnId="{5F4F3C23-5B2E-4C19-BD60-C120E1F85034}">
      <dgm:prSet/>
      <dgm:spPr/>
      <dgm:t>
        <a:bodyPr/>
        <a:lstStyle/>
        <a:p>
          <a:endParaRPr lang="en-IN"/>
        </a:p>
      </dgm:t>
    </dgm:pt>
    <dgm:pt modelId="{17B35D67-B4B9-4DD3-9177-30792F771908}">
      <dgm:prSet/>
      <dgm:spPr/>
      <dgm:t>
        <a:bodyPr/>
        <a:lstStyle/>
        <a:p>
          <a:pPr>
            <a:buSzPts val="1000"/>
            <a:buFont typeface="Wingdings" panose="05000000000000000000" pitchFamily="2" charset="2"/>
            <a:buChar char=""/>
          </a:pPr>
          <a:r>
            <a:rPr lang="en-IN"/>
            <a:t>The architecture should be the product of a </a:t>
          </a:r>
          <a:r>
            <a:rPr lang="en-IN" b="1"/>
            <a:t>single architect</a:t>
          </a:r>
          <a:r>
            <a:rPr lang="en-IN"/>
            <a:t> or a small group with an identified leader.</a:t>
          </a:r>
        </a:p>
      </dgm:t>
    </dgm:pt>
    <dgm:pt modelId="{591DE3FC-F5C4-4017-8F11-D2DE4D0D9E9C}" type="parTrans" cxnId="{E7F0FAC1-3F1A-4738-8182-9340E70BE1E6}">
      <dgm:prSet/>
      <dgm:spPr/>
      <dgm:t>
        <a:bodyPr/>
        <a:lstStyle/>
        <a:p>
          <a:endParaRPr lang="en-IN"/>
        </a:p>
      </dgm:t>
    </dgm:pt>
    <dgm:pt modelId="{8561A6C4-AB06-4055-AF38-51221D66888D}" type="sibTrans" cxnId="{E7F0FAC1-3F1A-4738-8182-9340E70BE1E6}">
      <dgm:prSet/>
      <dgm:spPr/>
      <dgm:t>
        <a:bodyPr/>
        <a:lstStyle/>
        <a:p>
          <a:endParaRPr lang="en-IN"/>
        </a:p>
      </dgm:t>
    </dgm:pt>
    <dgm:pt modelId="{84E95488-2B2C-4414-A8EB-AD602946B935}">
      <dgm:prSet/>
      <dgm:spPr/>
      <dgm:t>
        <a:bodyPr/>
        <a:lstStyle/>
        <a:p>
          <a:pPr>
            <a:buSzPts val="1000"/>
            <a:buFont typeface="Wingdings" panose="05000000000000000000" pitchFamily="2" charset="2"/>
            <a:buChar char=""/>
          </a:pPr>
          <a:r>
            <a:rPr lang="en-IN"/>
            <a:t>The architect should have a prioritized list of </a:t>
          </a:r>
          <a:r>
            <a:rPr lang="en-IN" b="1"/>
            <a:t>quality attribute requirements</a:t>
          </a:r>
          <a:r>
            <a:rPr lang="en-IN"/>
            <a:t>.</a:t>
          </a:r>
        </a:p>
      </dgm:t>
    </dgm:pt>
    <dgm:pt modelId="{5A955E2A-35FE-4373-987B-ECB52D5B5DF7}" type="parTrans" cxnId="{B03A795E-5EFD-4E8A-BC87-75002901056E}">
      <dgm:prSet/>
      <dgm:spPr/>
      <dgm:t>
        <a:bodyPr/>
        <a:lstStyle/>
        <a:p>
          <a:endParaRPr lang="en-IN"/>
        </a:p>
      </dgm:t>
    </dgm:pt>
    <dgm:pt modelId="{EBD57D91-EB06-45AE-80DB-B9264FBE7AD4}" type="sibTrans" cxnId="{B03A795E-5EFD-4E8A-BC87-75002901056E}">
      <dgm:prSet/>
      <dgm:spPr/>
      <dgm:t>
        <a:bodyPr/>
        <a:lstStyle/>
        <a:p>
          <a:endParaRPr lang="en-IN"/>
        </a:p>
      </dgm:t>
    </dgm:pt>
    <dgm:pt modelId="{A139E012-DD3E-411C-9C38-3DE2F0D7E387}">
      <dgm:prSet/>
      <dgm:spPr/>
      <dgm:t>
        <a:bodyPr/>
        <a:lstStyle/>
        <a:p>
          <a:pPr>
            <a:buSzPts val="1000"/>
            <a:buFont typeface="Wingdings" panose="05000000000000000000" pitchFamily="2" charset="2"/>
            <a:buChar char=""/>
          </a:pPr>
          <a:r>
            <a:rPr lang="en-IN"/>
            <a:t>The architecture should be </a:t>
          </a:r>
          <a:r>
            <a:rPr lang="en-IN" b="1"/>
            <a:t>documented</a:t>
          </a:r>
          <a:r>
            <a:rPr lang="en-IN"/>
            <a:t> using views and </a:t>
          </a:r>
          <a:r>
            <a:rPr lang="en-IN" b="1"/>
            <a:t>evaluated</a:t>
          </a:r>
          <a:r>
            <a:rPr lang="en-IN"/>
            <a:t> using a formal method (like ATAM).</a:t>
          </a:r>
        </a:p>
      </dgm:t>
    </dgm:pt>
    <dgm:pt modelId="{4FC5A408-6E5C-4731-835A-7BBD3A8C44BF}" type="parTrans" cxnId="{54F87D29-58C7-4D6C-A82A-565B77394115}">
      <dgm:prSet/>
      <dgm:spPr/>
      <dgm:t>
        <a:bodyPr/>
        <a:lstStyle/>
        <a:p>
          <a:endParaRPr lang="en-IN"/>
        </a:p>
      </dgm:t>
    </dgm:pt>
    <dgm:pt modelId="{F69AF796-9EE5-475E-B0E9-74B65A16F421}" type="sibTrans" cxnId="{54F87D29-58C7-4D6C-A82A-565B77394115}">
      <dgm:prSet/>
      <dgm:spPr/>
      <dgm:t>
        <a:bodyPr/>
        <a:lstStyle/>
        <a:p>
          <a:endParaRPr lang="en-IN"/>
        </a:p>
      </dgm:t>
    </dgm:pt>
    <dgm:pt modelId="{5B5A1390-9C25-436A-912D-50B15B3429B9}">
      <dgm:prSet/>
      <dgm:spPr/>
      <dgm:t>
        <a:bodyPr/>
        <a:lstStyle/>
        <a:p>
          <a:pPr>
            <a:buSzPts val="1000"/>
            <a:buFont typeface="Courier New" panose="02070309020205020404" pitchFamily="49" charset="0"/>
            <a:buChar char="o"/>
          </a:pPr>
          <a:r>
            <a:rPr lang="en-IN" b="1"/>
            <a:t>Product Rules:</a:t>
          </a:r>
          <a:endParaRPr lang="en-IN"/>
        </a:p>
      </dgm:t>
    </dgm:pt>
    <dgm:pt modelId="{47530596-8548-43C6-A669-10507B503A59}" type="parTrans" cxnId="{02589B88-9B12-4B0F-A1E1-D5B23CDBBCD8}">
      <dgm:prSet/>
      <dgm:spPr/>
      <dgm:t>
        <a:bodyPr/>
        <a:lstStyle/>
        <a:p>
          <a:endParaRPr lang="en-IN"/>
        </a:p>
      </dgm:t>
    </dgm:pt>
    <dgm:pt modelId="{14DFA0EC-0753-4061-9ECD-819437C4F877}" type="sibTrans" cxnId="{02589B88-9B12-4B0F-A1E1-D5B23CDBBCD8}">
      <dgm:prSet/>
      <dgm:spPr/>
      <dgm:t>
        <a:bodyPr/>
        <a:lstStyle/>
        <a:p>
          <a:endParaRPr lang="en-IN"/>
        </a:p>
      </dgm:t>
    </dgm:pt>
    <dgm:pt modelId="{DF286820-AE5E-47D2-8F15-CC4176527208}">
      <dgm:prSet/>
      <dgm:spPr/>
      <dgm:t>
        <a:bodyPr/>
        <a:lstStyle/>
        <a:p>
          <a:pPr>
            <a:buSzPts val="1000"/>
            <a:buFont typeface="Wingdings" panose="05000000000000000000" pitchFamily="2" charset="2"/>
            <a:buChar char=""/>
          </a:pPr>
          <a:r>
            <a:rPr lang="en-IN"/>
            <a:t>Use </a:t>
          </a:r>
          <a:r>
            <a:rPr lang="en-IN" b="1"/>
            <a:t>information hiding</a:t>
          </a:r>
          <a:r>
            <a:rPr lang="en-IN"/>
            <a:t> and separation of concerns.</a:t>
          </a:r>
        </a:p>
      </dgm:t>
    </dgm:pt>
    <dgm:pt modelId="{D6EC4421-360B-4320-B91F-76F4141E94A4}" type="parTrans" cxnId="{B89B9DA4-BFDC-4699-B952-DBECB42198F4}">
      <dgm:prSet/>
      <dgm:spPr/>
      <dgm:t>
        <a:bodyPr/>
        <a:lstStyle/>
        <a:p>
          <a:endParaRPr lang="en-IN"/>
        </a:p>
      </dgm:t>
    </dgm:pt>
    <dgm:pt modelId="{D00885D7-2C48-4AC9-A5F6-95677D585B42}" type="sibTrans" cxnId="{B89B9DA4-BFDC-4699-B952-DBECB42198F4}">
      <dgm:prSet/>
      <dgm:spPr/>
      <dgm:t>
        <a:bodyPr/>
        <a:lstStyle/>
        <a:p>
          <a:endParaRPr lang="en-IN"/>
        </a:p>
      </dgm:t>
    </dgm:pt>
    <dgm:pt modelId="{F5045CA8-1BE0-449F-AD0B-732550248A0B}">
      <dgm:prSet/>
      <dgm:spPr/>
      <dgm:t>
        <a:bodyPr/>
        <a:lstStyle/>
        <a:p>
          <a:pPr>
            <a:buSzPts val="1000"/>
            <a:buFont typeface="Wingdings" panose="05000000000000000000" pitchFamily="2" charset="2"/>
            <a:buChar char=""/>
          </a:pPr>
          <a:r>
            <a:rPr lang="en-IN"/>
            <a:t>Achieve quality attributes using well-known </a:t>
          </a:r>
          <a:r>
            <a:rPr lang="en-IN" b="1"/>
            <a:t>tactics</a:t>
          </a:r>
          <a:r>
            <a:rPr lang="en-IN"/>
            <a:t>.</a:t>
          </a:r>
        </a:p>
      </dgm:t>
    </dgm:pt>
    <dgm:pt modelId="{DB27E0DF-5C03-4A49-B515-06172D37E04C}" type="parTrans" cxnId="{BB4B919C-028E-4E34-8E87-07AA6D605964}">
      <dgm:prSet/>
      <dgm:spPr/>
      <dgm:t>
        <a:bodyPr/>
        <a:lstStyle/>
        <a:p>
          <a:endParaRPr lang="en-IN"/>
        </a:p>
      </dgm:t>
    </dgm:pt>
    <dgm:pt modelId="{4339A119-FA8C-436A-BB62-25C975B6DCB7}" type="sibTrans" cxnId="{BB4B919C-028E-4E34-8E87-07AA6D605964}">
      <dgm:prSet/>
      <dgm:spPr/>
      <dgm:t>
        <a:bodyPr/>
        <a:lstStyle/>
        <a:p>
          <a:endParaRPr lang="en-IN"/>
        </a:p>
      </dgm:t>
    </dgm:pt>
    <dgm:pt modelId="{083F98BA-59D4-4FF4-BEAD-020C71858C5F}">
      <dgm:prSet/>
      <dgm:spPr/>
      <dgm:t>
        <a:bodyPr/>
        <a:lstStyle/>
        <a:p>
          <a:pPr>
            <a:buSzPts val="1000"/>
            <a:buFont typeface="Wingdings" panose="05000000000000000000" pitchFamily="2" charset="2"/>
            <a:buChar char=""/>
          </a:pPr>
          <a:r>
            <a:rPr lang="en-IN"/>
            <a:t>Never depend on a particular version of a commercial tool.</a:t>
          </a:r>
        </a:p>
      </dgm:t>
    </dgm:pt>
    <dgm:pt modelId="{7E2C5B96-785A-4E40-AB52-265293508704}" type="parTrans" cxnId="{48638D2F-D418-421F-953A-5F0FE5FBD63A}">
      <dgm:prSet/>
      <dgm:spPr/>
      <dgm:t>
        <a:bodyPr/>
        <a:lstStyle/>
        <a:p>
          <a:endParaRPr lang="en-IN"/>
        </a:p>
      </dgm:t>
    </dgm:pt>
    <dgm:pt modelId="{EEEBFAB2-8042-430B-8E86-B10375CD090D}" type="sibTrans" cxnId="{48638D2F-D418-421F-953A-5F0FE5FBD63A}">
      <dgm:prSet/>
      <dgm:spPr/>
      <dgm:t>
        <a:bodyPr/>
        <a:lstStyle/>
        <a:p>
          <a:endParaRPr lang="en-IN"/>
        </a:p>
      </dgm:t>
    </dgm:pt>
    <dgm:pt modelId="{FB8E4C91-1148-48BE-AACE-BE14DAF4A441}">
      <dgm:prSet/>
      <dgm:spPr/>
      <dgm:t>
        <a:bodyPr/>
        <a:lstStyle/>
        <a:p>
          <a:pPr>
            <a:buSzPts val="1000"/>
            <a:buFont typeface="Wingdings" panose="05000000000000000000" pitchFamily="2" charset="2"/>
            <a:buChar char=""/>
          </a:pPr>
          <a:r>
            <a:rPr lang="en-IN"/>
            <a:t>Minimize the number of ways components interact.</a:t>
          </a:r>
        </a:p>
      </dgm:t>
    </dgm:pt>
    <dgm:pt modelId="{14D27A0A-24ED-4407-A327-80FB6E676632}" type="parTrans" cxnId="{DF758984-F74C-4858-94D5-6A6FA7AE7328}">
      <dgm:prSet/>
      <dgm:spPr/>
      <dgm:t>
        <a:bodyPr/>
        <a:lstStyle/>
        <a:p>
          <a:endParaRPr lang="en-IN"/>
        </a:p>
      </dgm:t>
    </dgm:pt>
    <dgm:pt modelId="{375DBBBA-C002-48A2-BDCC-01CD5898F471}" type="sibTrans" cxnId="{DF758984-F74C-4858-94D5-6A6FA7AE7328}">
      <dgm:prSet/>
      <dgm:spPr/>
      <dgm:t>
        <a:bodyPr/>
        <a:lstStyle/>
        <a:p>
          <a:endParaRPr lang="en-IN"/>
        </a:p>
      </dgm:t>
    </dgm:pt>
    <dgm:pt modelId="{42DC498A-FA2C-44EB-9A32-AAF3BA549272}" type="pres">
      <dgm:prSet presAssocID="{1889B5C6-AA30-4CC8-99B3-BF26AB397B15}" presName="Name0" presStyleCnt="0">
        <dgm:presLayoutVars>
          <dgm:dir/>
          <dgm:animLvl val="lvl"/>
          <dgm:resizeHandles val="exact"/>
        </dgm:presLayoutVars>
      </dgm:prSet>
      <dgm:spPr/>
    </dgm:pt>
    <dgm:pt modelId="{CFC52BDF-788E-47B3-9083-DDD700A2A453}" type="pres">
      <dgm:prSet presAssocID="{CA3F7B82-AE84-44FB-8F9F-2240D1A9B47E}" presName="composite" presStyleCnt="0"/>
      <dgm:spPr/>
    </dgm:pt>
    <dgm:pt modelId="{937A3701-7EB8-4E6F-8954-E6F585EC1245}" type="pres">
      <dgm:prSet presAssocID="{CA3F7B82-AE84-44FB-8F9F-2240D1A9B47E}" presName="parTx" presStyleLbl="alignNode1" presStyleIdx="0" presStyleCnt="2">
        <dgm:presLayoutVars>
          <dgm:chMax val="0"/>
          <dgm:chPref val="0"/>
          <dgm:bulletEnabled val="1"/>
        </dgm:presLayoutVars>
      </dgm:prSet>
      <dgm:spPr/>
    </dgm:pt>
    <dgm:pt modelId="{B80DF024-E915-43D1-9DA1-9737634F0664}" type="pres">
      <dgm:prSet presAssocID="{CA3F7B82-AE84-44FB-8F9F-2240D1A9B47E}" presName="desTx" presStyleLbl="alignAccFollowNode1" presStyleIdx="0" presStyleCnt="2">
        <dgm:presLayoutVars>
          <dgm:bulletEnabled val="1"/>
        </dgm:presLayoutVars>
      </dgm:prSet>
      <dgm:spPr/>
    </dgm:pt>
    <dgm:pt modelId="{574E39BA-C7EC-497E-A838-EBF6EF4382D0}" type="pres">
      <dgm:prSet presAssocID="{17797258-0086-4DAF-89E8-49C4701DA5BD}" presName="space" presStyleCnt="0"/>
      <dgm:spPr/>
    </dgm:pt>
    <dgm:pt modelId="{951C3971-4C8F-4163-8703-DC9035DCF140}" type="pres">
      <dgm:prSet presAssocID="{5B5A1390-9C25-436A-912D-50B15B3429B9}" presName="composite" presStyleCnt="0"/>
      <dgm:spPr/>
    </dgm:pt>
    <dgm:pt modelId="{90AC0B39-9A0B-4E59-863B-A9F6D4D9A38E}" type="pres">
      <dgm:prSet presAssocID="{5B5A1390-9C25-436A-912D-50B15B3429B9}" presName="parTx" presStyleLbl="alignNode1" presStyleIdx="1" presStyleCnt="2">
        <dgm:presLayoutVars>
          <dgm:chMax val="0"/>
          <dgm:chPref val="0"/>
          <dgm:bulletEnabled val="1"/>
        </dgm:presLayoutVars>
      </dgm:prSet>
      <dgm:spPr/>
    </dgm:pt>
    <dgm:pt modelId="{C2B2D66C-7832-4050-A585-E0697A4188FD}" type="pres">
      <dgm:prSet presAssocID="{5B5A1390-9C25-436A-912D-50B15B3429B9}" presName="desTx" presStyleLbl="alignAccFollowNode1" presStyleIdx="1" presStyleCnt="2">
        <dgm:presLayoutVars>
          <dgm:bulletEnabled val="1"/>
        </dgm:presLayoutVars>
      </dgm:prSet>
      <dgm:spPr/>
    </dgm:pt>
  </dgm:ptLst>
  <dgm:cxnLst>
    <dgm:cxn modelId="{5F4F3C23-5B2E-4C19-BD60-C120E1F85034}" srcId="{1889B5C6-AA30-4CC8-99B3-BF26AB397B15}" destId="{CA3F7B82-AE84-44FB-8F9F-2240D1A9B47E}" srcOrd="0" destOrd="0" parTransId="{47183FBC-4435-4E6E-AD13-66197BCED540}" sibTransId="{17797258-0086-4DAF-89E8-49C4701DA5BD}"/>
    <dgm:cxn modelId="{54F87D29-58C7-4D6C-A82A-565B77394115}" srcId="{CA3F7B82-AE84-44FB-8F9F-2240D1A9B47E}" destId="{A139E012-DD3E-411C-9C38-3DE2F0D7E387}" srcOrd="2" destOrd="0" parTransId="{4FC5A408-6E5C-4731-835A-7BBD3A8C44BF}" sibTransId="{F69AF796-9EE5-475E-B0E9-74B65A16F421}"/>
    <dgm:cxn modelId="{48638D2F-D418-421F-953A-5F0FE5FBD63A}" srcId="{5B5A1390-9C25-436A-912D-50B15B3429B9}" destId="{083F98BA-59D4-4FF4-BEAD-020C71858C5F}" srcOrd="2" destOrd="0" parTransId="{7E2C5B96-785A-4E40-AB52-265293508704}" sibTransId="{EEEBFAB2-8042-430B-8E86-B10375CD090D}"/>
    <dgm:cxn modelId="{B03A795E-5EFD-4E8A-BC87-75002901056E}" srcId="{CA3F7B82-AE84-44FB-8F9F-2240D1A9B47E}" destId="{84E95488-2B2C-4414-A8EB-AD602946B935}" srcOrd="1" destOrd="0" parTransId="{5A955E2A-35FE-4373-987B-ECB52D5B5DF7}" sibTransId="{EBD57D91-EB06-45AE-80DB-B9264FBE7AD4}"/>
    <dgm:cxn modelId="{9A0A7D4C-F3D3-4767-B3F0-4D92CCDE7154}" type="presOf" srcId="{A139E012-DD3E-411C-9C38-3DE2F0D7E387}" destId="{B80DF024-E915-43D1-9DA1-9737634F0664}" srcOrd="0" destOrd="2" presId="urn:microsoft.com/office/officeart/2005/8/layout/hList1"/>
    <dgm:cxn modelId="{6450A752-EBC6-4F8E-ADFA-F15628E55CD3}" type="presOf" srcId="{1889B5C6-AA30-4CC8-99B3-BF26AB397B15}" destId="{42DC498A-FA2C-44EB-9A32-AAF3BA549272}" srcOrd="0" destOrd="0" presId="urn:microsoft.com/office/officeart/2005/8/layout/hList1"/>
    <dgm:cxn modelId="{9B0BC675-103E-4342-9B59-44FFDA5D0D99}" type="presOf" srcId="{CA3F7B82-AE84-44FB-8F9F-2240D1A9B47E}" destId="{937A3701-7EB8-4E6F-8954-E6F585EC1245}" srcOrd="0" destOrd="0" presId="urn:microsoft.com/office/officeart/2005/8/layout/hList1"/>
    <dgm:cxn modelId="{42DD0C7C-71AD-45C6-A4DE-DD13B35EE997}" type="presOf" srcId="{F5045CA8-1BE0-449F-AD0B-732550248A0B}" destId="{C2B2D66C-7832-4050-A585-E0697A4188FD}" srcOrd="0" destOrd="1" presId="urn:microsoft.com/office/officeart/2005/8/layout/hList1"/>
    <dgm:cxn modelId="{DF758984-F74C-4858-94D5-6A6FA7AE7328}" srcId="{5B5A1390-9C25-436A-912D-50B15B3429B9}" destId="{FB8E4C91-1148-48BE-AACE-BE14DAF4A441}" srcOrd="3" destOrd="0" parTransId="{14D27A0A-24ED-4407-A327-80FB6E676632}" sibTransId="{375DBBBA-C002-48A2-BDCC-01CD5898F471}"/>
    <dgm:cxn modelId="{02589B88-9B12-4B0F-A1E1-D5B23CDBBCD8}" srcId="{1889B5C6-AA30-4CC8-99B3-BF26AB397B15}" destId="{5B5A1390-9C25-436A-912D-50B15B3429B9}" srcOrd="1" destOrd="0" parTransId="{47530596-8548-43C6-A669-10507B503A59}" sibTransId="{14DFA0EC-0753-4061-9ECD-819437C4F877}"/>
    <dgm:cxn modelId="{F8ED0A92-8B44-4EB1-8E4B-59593BAFF286}" type="presOf" srcId="{DF286820-AE5E-47D2-8F15-CC4176527208}" destId="{C2B2D66C-7832-4050-A585-E0697A4188FD}" srcOrd="0" destOrd="0" presId="urn:microsoft.com/office/officeart/2005/8/layout/hList1"/>
    <dgm:cxn modelId="{BB4B919C-028E-4E34-8E87-07AA6D605964}" srcId="{5B5A1390-9C25-436A-912D-50B15B3429B9}" destId="{F5045CA8-1BE0-449F-AD0B-732550248A0B}" srcOrd="1" destOrd="0" parTransId="{DB27E0DF-5C03-4A49-B515-06172D37E04C}" sibTransId="{4339A119-FA8C-436A-BB62-25C975B6DCB7}"/>
    <dgm:cxn modelId="{08CE419E-92E4-4C54-9F48-FEE89E9D5D94}" type="presOf" srcId="{17B35D67-B4B9-4DD3-9177-30792F771908}" destId="{B80DF024-E915-43D1-9DA1-9737634F0664}" srcOrd="0" destOrd="0" presId="urn:microsoft.com/office/officeart/2005/8/layout/hList1"/>
    <dgm:cxn modelId="{B89B9DA4-BFDC-4699-B952-DBECB42198F4}" srcId="{5B5A1390-9C25-436A-912D-50B15B3429B9}" destId="{DF286820-AE5E-47D2-8F15-CC4176527208}" srcOrd="0" destOrd="0" parTransId="{D6EC4421-360B-4320-B91F-76F4141E94A4}" sibTransId="{D00885D7-2C48-4AC9-A5F6-95677D585B42}"/>
    <dgm:cxn modelId="{DA6E13BC-E6EB-4D1E-B7CD-0B31C4813977}" type="presOf" srcId="{083F98BA-59D4-4FF4-BEAD-020C71858C5F}" destId="{C2B2D66C-7832-4050-A585-E0697A4188FD}" srcOrd="0" destOrd="2" presId="urn:microsoft.com/office/officeart/2005/8/layout/hList1"/>
    <dgm:cxn modelId="{E7F0FAC1-3F1A-4738-8182-9340E70BE1E6}" srcId="{CA3F7B82-AE84-44FB-8F9F-2240D1A9B47E}" destId="{17B35D67-B4B9-4DD3-9177-30792F771908}" srcOrd="0" destOrd="0" parTransId="{591DE3FC-F5C4-4017-8F11-D2DE4D0D9E9C}" sibTransId="{8561A6C4-AB06-4055-AF38-51221D66888D}"/>
    <dgm:cxn modelId="{44CFB0F1-CF20-44DB-84E3-A8E9E21F465C}" type="presOf" srcId="{84E95488-2B2C-4414-A8EB-AD602946B935}" destId="{B80DF024-E915-43D1-9DA1-9737634F0664}" srcOrd="0" destOrd="1" presId="urn:microsoft.com/office/officeart/2005/8/layout/hList1"/>
    <dgm:cxn modelId="{915976F9-D0C3-4BE8-AFD6-42917F9C277D}" type="presOf" srcId="{FB8E4C91-1148-48BE-AACE-BE14DAF4A441}" destId="{C2B2D66C-7832-4050-A585-E0697A4188FD}" srcOrd="0" destOrd="3" presId="urn:microsoft.com/office/officeart/2005/8/layout/hList1"/>
    <dgm:cxn modelId="{585A0FFB-8B01-4510-9DDB-F78E9D0ED4DD}" type="presOf" srcId="{5B5A1390-9C25-436A-912D-50B15B3429B9}" destId="{90AC0B39-9A0B-4E59-863B-A9F6D4D9A38E}" srcOrd="0" destOrd="0" presId="urn:microsoft.com/office/officeart/2005/8/layout/hList1"/>
    <dgm:cxn modelId="{11ACCEB0-4096-4F9C-A83F-B51B859859E9}" type="presParOf" srcId="{42DC498A-FA2C-44EB-9A32-AAF3BA549272}" destId="{CFC52BDF-788E-47B3-9083-DDD700A2A453}" srcOrd="0" destOrd="0" presId="urn:microsoft.com/office/officeart/2005/8/layout/hList1"/>
    <dgm:cxn modelId="{E5602C3D-26D3-4B69-B79B-96CE0934EAF4}" type="presParOf" srcId="{CFC52BDF-788E-47B3-9083-DDD700A2A453}" destId="{937A3701-7EB8-4E6F-8954-E6F585EC1245}" srcOrd="0" destOrd="0" presId="urn:microsoft.com/office/officeart/2005/8/layout/hList1"/>
    <dgm:cxn modelId="{E1A680E4-A976-458A-9B0E-7F75761500B7}" type="presParOf" srcId="{CFC52BDF-788E-47B3-9083-DDD700A2A453}" destId="{B80DF024-E915-43D1-9DA1-9737634F0664}" srcOrd="1" destOrd="0" presId="urn:microsoft.com/office/officeart/2005/8/layout/hList1"/>
    <dgm:cxn modelId="{74977184-823B-40B3-B687-8E87E7635174}" type="presParOf" srcId="{42DC498A-FA2C-44EB-9A32-AAF3BA549272}" destId="{574E39BA-C7EC-497E-A838-EBF6EF4382D0}" srcOrd="1" destOrd="0" presId="urn:microsoft.com/office/officeart/2005/8/layout/hList1"/>
    <dgm:cxn modelId="{C543D3A1-20EE-4643-84A1-97C1E35A1296}" type="presParOf" srcId="{42DC498A-FA2C-44EB-9A32-AAF3BA549272}" destId="{951C3971-4C8F-4163-8703-DC9035DCF140}" srcOrd="2" destOrd="0" presId="urn:microsoft.com/office/officeart/2005/8/layout/hList1"/>
    <dgm:cxn modelId="{AF092EFD-BCB2-4F78-901C-FEC505B94E67}" type="presParOf" srcId="{951C3971-4C8F-4163-8703-DC9035DCF140}" destId="{90AC0B39-9A0B-4E59-863B-A9F6D4D9A38E}" srcOrd="0" destOrd="0" presId="urn:microsoft.com/office/officeart/2005/8/layout/hList1"/>
    <dgm:cxn modelId="{A0C48938-0187-4B47-A49E-6AF319CD0554}" type="presParOf" srcId="{951C3971-4C8F-4163-8703-DC9035DCF140}" destId="{C2B2D66C-7832-4050-A585-E0697A4188F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F4640C-BB82-43FA-BE7A-FDCDECA2FCA5}">
      <dsp:nvSpPr>
        <dsp:cNvPr id="0" name=""/>
        <dsp:cNvSpPr/>
      </dsp:nvSpPr>
      <dsp:spPr>
        <a:xfrm>
          <a:off x="0" y="4524409"/>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8C95B0-85A7-4C89-9A52-B5C24DFB9B10}">
      <dsp:nvSpPr>
        <dsp:cNvPr id="0" name=""/>
        <dsp:cNvSpPr/>
      </dsp:nvSpPr>
      <dsp:spPr>
        <a:xfrm>
          <a:off x="0" y="4175218"/>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2F35FA-AEC3-4370-9DD9-39DBF2E0C342}">
      <dsp:nvSpPr>
        <dsp:cNvPr id="0" name=""/>
        <dsp:cNvSpPr/>
      </dsp:nvSpPr>
      <dsp:spPr>
        <a:xfrm>
          <a:off x="0" y="3826027"/>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1F6E5B-C691-4AC9-BD37-AF68F46ACB54}">
      <dsp:nvSpPr>
        <dsp:cNvPr id="0" name=""/>
        <dsp:cNvSpPr/>
      </dsp:nvSpPr>
      <dsp:spPr>
        <a:xfrm>
          <a:off x="0" y="3476836"/>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5FC08A-082D-449A-9E57-6F728531F771}">
      <dsp:nvSpPr>
        <dsp:cNvPr id="0" name=""/>
        <dsp:cNvSpPr/>
      </dsp:nvSpPr>
      <dsp:spPr>
        <a:xfrm>
          <a:off x="0" y="3127644"/>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72E348B-EDB8-4A44-A36D-E3CEC1688476}">
      <dsp:nvSpPr>
        <dsp:cNvPr id="0" name=""/>
        <dsp:cNvSpPr/>
      </dsp:nvSpPr>
      <dsp:spPr>
        <a:xfrm>
          <a:off x="0" y="2778453"/>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0CB655-1FCE-4D7A-842D-553DD9D9C99C}">
      <dsp:nvSpPr>
        <dsp:cNvPr id="0" name=""/>
        <dsp:cNvSpPr/>
      </dsp:nvSpPr>
      <dsp:spPr>
        <a:xfrm>
          <a:off x="0" y="2429262"/>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8A486B8-E922-47A6-8615-D47AA9F63051}">
      <dsp:nvSpPr>
        <dsp:cNvPr id="0" name=""/>
        <dsp:cNvSpPr/>
      </dsp:nvSpPr>
      <dsp:spPr>
        <a:xfrm>
          <a:off x="0" y="2080071"/>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43C4E8D-2B1F-4E78-B116-70610C908A89}">
      <dsp:nvSpPr>
        <dsp:cNvPr id="0" name=""/>
        <dsp:cNvSpPr/>
      </dsp:nvSpPr>
      <dsp:spPr>
        <a:xfrm>
          <a:off x="0" y="1730880"/>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01C0DD-5682-45DE-8430-6BD42271563D}">
      <dsp:nvSpPr>
        <dsp:cNvPr id="0" name=""/>
        <dsp:cNvSpPr/>
      </dsp:nvSpPr>
      <dsp:spPr>
        <a:xfrm>
          <a:off x="0" y="1381688"/>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D89B7C-2984-4405-B39E-3BFEE2AC08A5}">
      <dsp:nvSpPr>
        <dsp:cNvPr id="0" name=""/>
        <dsp:cNvSpPr/>
      </dsp:nvSpPr>
      <dsp:spPr>
        <a:xfrm>
          <a:off x="0" y="1032497"/>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F3AD28-DC12-45A5-A1F5-CA623D92548F}">
      <dsp:nvSpPr>
        <dsp:cNvPr id="0" name=""/>
        <dsp:cNvSpPr/>
      </dsp:nvSpPr>
      <dsp:spPr>
        <a:xfrm>
          <a:off x="0" y="683306"/>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53E811-08F8-4B84-97A4-3A11EABC7A05}">
      <dsp:nvSpPr>
        <dsp:cNvPr id="0" name=""/>
        <dsp:cNvSpPr/>
      </dsp:nvSpPr>
      <dsp:spPr>
        <a:xfrm>
          <a:off x="0" y="334115"/>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089E3C-23A9-4DFB-9358-C6FC88563BA9}">
      <dsp:nvSpPr>
        <dsp:cNvPr id="0" name=""/>
        <dsp:cNvSpPr/>
      </dsp:nvSpPr>
      <dsp:spPr>
        <a:xfrm>
          <a:off x="2139695" y="1552"/>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Inhibiting or enabling quality attributes.</a:t>
          </a:r>
        </a:p>
      </dsp:txBody>
      <dsp:txXfrm>
        <a:off x="2139695" y="1552"/>
        <a:ext cx="6089904" cy="332563"/>
      </dsp:txXfrm>
    </dsp:sp>
    <dsp:sp modelId="{28A2A817-B6A5-439F-9A4C-D832E99F9070}">
      <dsp:nvSpPr>
        <dsp:cNvPr id="0" name=""/>
        <dsp:cNvSpPr/>
      </dsp:nvSpPr>
      <dsp:spPr>
        <a:xfrm>
          <a:off x="0" y="1552"/>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17789"/>
        <a:ext cx="2107222" cy="316326"/>
      </dsp:txXfrm>
    </dsp:sp>
    <dsp:sp modelId="{F54692E8-F235-4E21-94E3-DE76387F223C}">
      <dsp:nvSpPr>
        <dsp:cNvPr id="0" name=""/>
        <dsp:cNvSpPr/>
      </dsp:nvSpPr>
      <dsp:spPr>
        <a:xfrm>
          <a:off x="2139695" y="350743"/>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Reasoning about and managing change.</a:t>
          </a:r>
        </a:p>
      </dsp:txBody>
      <dsp:txXfrm>
        <a:off x="2139695" y="350743"/>
        <a:ext cx="6089904" cy="332563"/>
      </dsp:txXfrm>
    </dsp:sp>
    <dsp:sp modelId="{BB4EE594-2110-49B7-82E4-FC2C9EA0C76D}">
      <dsp:nvSpPr>
        <dsp:cNvPr id="0" name=""/>
        <dsp:cNvSpPr/>
      </dsp:nvSpPr>
      <dsp:spPr>
        <a:xfrm>
          <a:off x="0" y="350743"/>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366980"/>
        <a:ext cx="2107222" cy="316326"/>
      </dsp:txXfrm>
    </dsp:sp>
    <dsp:sp modelId="{D450599E-FE12-403C-8C3F-3D73FA40FB5F}">
      <dsp:nvSpPr>
        <dsp:cNvPr id="0" name=""/>
        <dsp:cNvSpPr/>
      </dsp:nvSpPr>
      <dsp:spPr>
        <a:xfrm>
          <a:off x="2139695" y="699934"/>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Predicting system qualities.</a:t>
          </a:r>
        </a:p>
      </dsp:txBody>
      <dsp:txXfrm>
        <a:off x="2139695" y="699934"/>
        <a:ext cx="6089904" cy="332563"/>
      </dsp:txXfrm>
    </dsp:sp>
    <dsp:sp modelId="{CE67D8D9-B445-47DA-B288-F26E53AC3C3A}">
      <dsp:nvSpPr>
        <dsp:cNvPr id="0" name=""/>
        <dsp:cNvSpPr/>
      </dsp:nvSpPr>
      <dsp:spPr>
        <a:xfrm>
          <a:off x="0" y="699934"/>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716171"/>
        <a:ext cx="2107222" cy="316326"/>
      </dsp:txXfrm>
    </dsp:sp>
    <dsp:sp modelId="{0BCC5BC9-C8A6-488E-86D6-2A9438401A2C}">
      <dsp:nvSpPr>
        <dsp:cNvPr id="0" name=""/>
        <dsp:cNvSpPr/>
      </dsp:nvSpPr>
      <dsp:spPr>
        <a:xfrm>
          <a:off x="2139695" y="1049125"/>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Communication among stakeholders.</a:t>
          </a:r>
        </a:p>
      </dsp:txBody>
      <dsp:txXfrm>
        <a:off x="2139695" y="1049125"/>
        <a:ext cx="6089904" cy="332563"/>
      </dsp:txXfrm>
    </dsp:sp>
    <dsp:sp modelId="{BAF13732-569E-4A6F-8477-3FC2F29D221B}">
      <dsp:nvSpPr>
        <dsp:cNvPr id="0" name=""/>
        <dsp:cNvSpPr/>
      </dsp:nvSpPr>
      <dsp:spPr>
        <a:xfrm>
          <a:off x="0" y="1049125"/>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1065362"/>
        <a:ext cx="2107222" cy="316326"/>
      </dsp:txXfrm>
    </dsp:sp>
    <dsp:sp modelId="{3FBAA7DA-212C-4BC0-BA85-2BDFAA714819}">
      <dsp:nvSpPr>
        <dsp:cNvPr id="0" name=""/>
        <dsp:cNvSpPr/>
      </dsp:nvSpPr>
      <dsp:spPr>
        <a:xfrm>
          <a:off x="2139695" y="1398317"/>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Carrying early design decisions.</a:t>
          </a:r>
        </a:p>
      </dsp:txBody>
      <dsp:txXfrm>
        <a:off x="2139695" y="1398317"/>
        <a:ext cx="6089904" cy="332563"/>
      </dsp:txXfrm>
    </dsp:sp>
    <dsp:sp modelId="{FE806735-9956-4237-AA40-407E3C7811C6}">
      <dsp:nvSpPr>
        <dsp:cNvPr id="0" name=""/>
        <dsp:cNvSpPr/>
      </dsp:nvSpPr>
      <dsp:spPr>
        <a:xfrm>
          <a:off x="0" y="1398317"/>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1414554"/>
        <a:ext cx="2107222" cy="316326"/>
      </dsp:txXfrm>
    </dsp:sp>
    <dsp:sp modelId="{49FB716A-B4CA-4EA0-843F-C6B25569BAD9}">
      <dsp:nvSpPr>
        <dsp:cNvPr id="0" name=""/>
        <dsp:cNvSpPr/>
      </dsp:nvSpPr>
      <dsp:spPr>
        <a:xfrm>
          <a:off x="2139695" y="1747508"/>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Defining constraints on implementation.</a:t>
          </a:r>
        </a:p>
      </dsp:txBody>
      <dsp:txXfrm>
        <a:off x="2139695" y="1747508"/>
        <a:ext cx="6089904" cy="332563"/>
      </dsp:txXfrm>
    </dsp:sp>
    <dsp:sp modelId="{A4B2F9B9-6D4F-479E-9407-6419120F8BFE}">
      <dsp:nvSpPr>
        <dsp:cNvPr id="0" name=""/>
        <dsp:cNvSpPr/>
      </dsp:nvSpPr>
      <dsp:spPr>
        <a:xfrm>
          <a:off x="0" y="1747508"/>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1763745"/>
        <a:ext cx="2107222" cy="316326"/>
      </dsp:txXfrm>
    </dsp:sp>
    <dsp:sp modelId="{93E09017-B549-4B73-B18A-DD7B04BF153A}">
      <dsp:nvSpPr>
        <dsp:cNvPr id="0" name=""/>
        <dsp:cNvSpPr/>
      </dsp:nvSpPr>
      <dsp:spPr>
        <a:xfrm>
          <a:off x="2139695" y="2096699"/>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Influencing organizational structure (Conway’s Law).</a:t>
          </a:r>
        </a:p>
      </dsp:txBody>
      <dsp:txXfrm>
        <a:off x="2139695" y="2096699"/>
        <a:ext cx="6089904" cy="332563"/>
      </dsp:txXfrm>
    </dsp:sp>
    <dsp:sp modelId="{CDF9E33F-475E-4D8F-9B64-175BFEF99A6B}">
      <dsp:nvSpPr>
        <dsp:cNvPr id="0" name=""/>
        <dsp:cNvSpPr/>
      </dsp:nvSpPr>
      <dsp:spPr>
        <a:xfrm>
          <a:off x="0" y="2096699"/>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2112936"/>
        <a:ext cx="2107222" cy="316326"/>
      </dsp:txXfrm>
    </dsp:sp>
    <dsp:sp modelId="{00227A01-2115-4092-BE5F-77518CD3171D}">
      <dsp:nvSpPr>
        <dsp:cNvPr id="0" name=""/>
        <dsp:cNvSpPr/>
      </dsp:nvSpPr>
      <dsp:spPr>
        <a:xfrm>
          <a:off x="2139695" y="2445890"/>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Enabling incremental development.</a:t>
          </a:r>
        </a:p>
      </dsp:txBody>
      <dsp:txXfrm>
        <a:off x="2139695" y="2445890"/>
        <a:ext cx="6089904" cy="332563"/>
      </dsp:txXfrm>
    </dsp:sp>
    <dsp:sp modelId="{4C1452CF-FCC8-49BF-89A8-8DC4BDE2C462}">
      <dsp:nvSpPr>
        <dsp:cNvPr id="0" name=""/>
        <dsp:cNvSpPr/>
      </dsp:nvSpPr>
      <dsp:spPr>
        <a:xfrm>
          <a:off x="0" y="2445890"/>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2462127"/>
        <a:ext cx="2107222" cy="316326"/>
      </dsp:txXfrm>
    </dsp:sp>
    <dsp:sp modelId="{97E615B6-DC53-48E2-8885-413F6E46EF53}">
      <dsp:nvSpPr>
        <dsp:cNvPr id="0" name=""/>
        <dsp:cNvSpPr/>
      </dsp:nvSpPr>
      <dsp:spPr>
        <a:xfrm>
          <a:off x="2139695" y="2795081"/>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Improving cost and schedule estimates.</a:t>
          </a:r>
        </a:p>
      </dsp:txBody>
      <dsp:txXfrm>
        <a:off x="2139695" y="2795081"/>
        <a:ext cx="6089904" cy="332563"/>
      </dsp:txXfrm>
    </dsp:sp>
    <dsp:sp modelId="{C0C7B359-DA33-48DA-8E0D-6CC0F51AB9E9}">
      <dsp:nvSpPr>
        <dsp:cNvPr id="0" name=""/>
        <dsp:cNvSpPr/>
      </dsp:nvSpPr>
      <dsp:spPr>
        <a:xfrm>
          <a:off x="0" y="2795081"/>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2811318"/>
        <a:ext cx="2107222" cy="316326"/>
      </dsp:txXfrm>
    </dsp:sp>
    <dsp:sp modelId="{B3550355-47EC-498D-8264-E72F239F9726}">
      <dsp:nvSpPr>
        <dsp:cNvPr id="0" name=""/>
        <dsp:cNvSpPr/>
      </dsp:nvSpPr>
      <dsp:spPr>
        <a:xfrm>
          <a:off x="2139695" y="3144273"/>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Supplying a transferable, reusable model.</a:t>
          </a:r>
        </a:p>
      </dsp:txBody>
      <dsp:txXfrm>
        <a:off x="2139695" y="3144273"/>
        <a:ext cx="6089904" cy="332563"/>
      </dsp:txXfrm>
    </dsp:sp>
    <dsp:sp modelId="{1BA75E55-AB15-46EC-9F82-7EE5458EF8BD}">
      <dsp:nvSpPr>
        <dsp:cNvPr id="0" name=""/>
        <dsp:cNvSpPr/>
      </dsp:nvSpPr>
      <dsp:spPr>
        <a:xfrm>
          <a:off x="0" y="3144273"/>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3160510"/>
        <a:ext cx="2107222" cy="316326"/>
      </dsp:txXfrm>
    </dsp:sp>
    <dsp:sp modelId="{1B40C81C-62FC-40D5-9FDB-E1130DC05B4A}">
      <dsp:nvSpPr>
        <dsp:cNvPr id="0" name=""/>
        <dsp:cNvSpPr/>
      </dsp:nvSpPr>
      <dsp:spPr>
        <a:xfrm>
          <a:off x="2139695" y="3493464"/>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Allowing incorporation of independently developed elements.</a:t>
          </a:r>
        </a:p>
      </dsp:txBody>
      <dsp:txXfrm>
        <a:off x="2139695" y="3493464"/>
        <a:ext cx="6089904" cy="332563"/>
      </dsp:txXfrm>
    </dsp:sp>
    <dsp:sp modelId="{205B82B8-ED27-47C4-A263-BE2725557930}">
      <dsp:nvSpPr>
        <dsp:cNvPr id="0" name=""/>
        <dsp:cNvSpPr/>
      </dsp:nvSpPr>
      <dsp:spPr>
        <a:xfrm>
          <a:off x="0" y="3493464"/>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3509701"/>
        <a:ext cx="2107222" cy="316326"/>
      </dsp:txXfrm>
    </dsp:sp>
    <dsp:sp modelId="{F167E4DC-53BF-4C0B-ACC4-541C38621F70}">
      <dsp:nvSpPr>
        <dsp:cNvPr id="0" name=""/>
        <dsp:cNvSpPr/>
      </dsp:nvSpPr>
      <dsp:spPr>
        <a:xfrm>
          <a:off x="2139695" y="3842655"/>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Restricting the vocabulary of design alternatives.</a:t>
          </a:r>
        </a:p>
      </dsp:txBody>
      <dsp:txXfrm>
        <a:off x="2139695" y="3842655"/>
        <a:ext cx="6089904" cy="332563"/>
      </dsp:txXfrm>
    </dsp:sp>
    <dsp:sp modelId="{4D9F24F7-F8FB-40CF-BA77-1CD76A5F0683}">
      <dsp:nvSpPr>
        <dsp:cNvPr id="0" name=""/>
        <dsp:cNvSpPr/>
      </dsp:nvSpPr>
      <dsp:spPr>
        <a:xfrm>
          <a:off x="0" y="3842655"/>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3858892"/>
        <a:ext cx="2107222" cy="316326"/>
      </dsp:txXfrm>
    </dsp:sp>
    <dsp:sp modelId="{F1788DC4-3298-49DE-A0D8-1449F5D21BB4}">
      <dsp:nvSpPr>
        <dsp:cNvPr id="0" name=""/>
        <dsp:cNvSpPr/>
      </dsp:nvSpPr>
      <dsp:spPr>
        <a:xfrm>
          <a:off x="2139695" y="4191846"/>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Providing a basis for training.</a:t>
          </a:r>
        </a:p>
      </dsp:txBody>
      <dsp:txXfrm>
        <a:off x="2139695" y="4191846"/>
        <a:ext cx="6089904" cy="332563"/>
      </dsp:txXfrm>
    </dsp:sp>
    <dsp:sp modelId="{EF932C99-3C2A-4D38-8CD7-64EEB4D5CE20}">
      <dsp:nvSpPr>
        <dsp:cNvPr id="0" name=""/>
        <dsp:cNvSpPr/>
      </dsp:nvSpPr>
      <dsp:spPr>
        <a:xfrm>
          <a:off x="0" y="4191846"/>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4208083"/>
        <a:ext cx="2107222" cy="3163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55208-DD4A-4EB7-A62D-DF8DB7FBA1AC}">
      <dsp:nvSpPr>
        <dsp:cNvPr id="0" name=""/>
        <dsp:cNvSpPr/>
      </dsp:nvSpPr>
      <dsp:spPr>
        <a:xfrm>
          <a:off x="4018" y="713630"/>
          <a:ext cx="2055390" cy="735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SzPts val="1000"/>
            <a:buFont typeface="Courier New" panose="02070309020205020404" pitchFamily="49" charset="0"/>
            <a:buNone/>
          </a:pPr>
          <a:r>
            <a:rPr lang="en-IN" sz="2200" b="1" kern="1200" dirty="0"/>
            <a:t>Individual Competence:</a:t>
          </a:r>
          <a:endParaRPr lang="en-IN" sz="2200" kern="1200" dirty="0"/>
        </a:p>
      </dsp:txBody>
      <dsp:txXfrm>
        <a:off x="4018" y="713630"/>
        <a:ext cx="2055390" cy="735075"/>
      </dsp:txXfrm>
    </dsp:sp>
    <dsp:sp modelId="{9D7DFA4C-4F8B-4728-A121-FA82E0163865}">
      <dsp:nvSpPr>
        <dsp:cNvPr id="0" name=""/>
        <dsp:cNvSpPr/>
      </dsp:nvSpPr>
      <dsp:spPr>
        <a:xfrm>
          <a:off x="2059409" y="529862"/>
          <a:ext cx="411078" cy="110261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1EC5919-44C7-4D2D-BE67-154C80082001}">
      <dsp:nvSpPr>
        <dsp:cNvPr id="0" name=""/>
        <dsp:cNvSpPr/>
      </dsp:nvSpPr>
      <dsp:spPr>
        <a:xfrm>
          <a:off x="2634918" y="529862"/>
          <a:ext cx="5590663" cy="110261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SzPts val="1000"/>
            <a:buFont typeface="Courier New" panose="02070309020205020404" pitchFamily="49" charset="0"/>
            <a:buChar char="o"/>
          </a:pPr>
          <a:r>
            <a:rPr lang="en-IN" sz="2200" kern="1200" dirty="0"/>
            <a:t>Combines technical knowledge, business knowledge, and "soft skills" like leadership and negotiation.</a:t>
          </a:r>
        </a:p>
      </dsp:txBody>
      <dsp:txXfrm>
        <a:off x="2634918" y="529862"/>
        <a:ext cx="5590663" cy="1102612"/>
      </dsp:txXfrm>
    </dsp:sp>
    <dsp:sp modelId="{393A00C7-1E0E-46D8-AC33-4C5EEB637FA3}">
      <dsp:nvSpPr>
        <dsp:cNvPr id="0" name=""/>
        <dsp:cNvSpPr/>
      </dsp:nvSpPr>
      <dsp:spPr>
        <a:xfrm>
          <a:off x="4018" y="1895443"/>
          <a:ext cx="2055390" cy="735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SzPts val="1000"/>
            <a:buFont typeface="Courier New" panose="02070309020205020404" pitchFamily="49" charset="0"/>
            <a:buNone/>
          </a:pPr>
          <a:r>
            <a:rPr lang="en-IN" sz="2200" b="1" kern="1200" dirty="0"/>
            <a:t>Organizational Competence:</a:t>
          </a:r>
          <a:endParaRPr lang="en-IN" sz="2200" kern="1200" dirty="0"/>
        </a:p>
      </dsp:txBody>
      <dsp:txXfrm>
        <a:off x="4018" y="1895443"/>
        <a:ext cx="2055390" cy="735075"/>
      </dsp:txXfrm>
    </dsp:sp>
    <dsp:sp modelId="{F63B2170-9776-482A-8382-4520FF3677B6}">
      <dsp:nvSpPr>
        <dsp:cNvPr id="0" name=""/>
        <dsp:cNvSpPr/>
      </dsp:nvSpPr>
      <dsp:spPr>
        <a:xfrm>
          <a:off x="2059409" y="1711674"/>
          <a:ext cx="411078" cy="110261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C051C6-EFC5-410F-BA97-A4CF1ECEDC6A}">
      <dsp:nvSpPr>
        <dsp:cNvPr id="0" name=""/>
        <dsp:cNvSpPr/>
      </dsp:nvSpPr>
      <dsp:spPr>
        <a:xfrm>
          <a:off x="2634918" y="1711674"/>
          <a:ext cx="5590663" cy="110261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SzPts val="1000"/>
            <a:buFont typeface="Courier New" panose="02070309020205020404" pitchFamily="49" charset="0"/>
            <a:buChar char="o"/>
          </a:pPr>
          <a:r>
            <a:rPr lang="en-IN" sz="2200" kern="1200" dirty="0"/>
            <a:t> How an organization facilitates good architecture through standardized processes, career paths for architects, and governance.</a:t>
          </a:r>
        </a:p>
      </dsp:txBody>
      <dsp:txXfrm>
        <a:off x="2634918" y="1711674"/>
        <a:ext cx="5590663" cy="1102612"/>
      </dsp:txXfrm>
    </dsp:sp>
    <dsp:sp modelId="{91018A01-DB8B-4A32-A0B0-D3BF8C8C2C10}">
      <dsp:nvSpPr>
        <dsp:cNvPr id="0" name=""/>
        <dsp:cNvSpPr/>
      </dsp:nvSpPr>
      <dsp:spPr>
        <a:xfrm>
          <a:off x="4018" y="3077256"/>
          <a:ext cx="2055390" cy="735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SzPts val="1000"/>
            <a:buFont typeface="Courier New" panose="02070309020205020404" pitchFamily="49" charset="0"/>
            <a:buNone/>
          </a:pPr>
          <a:r>
            <a:rPr lang="en-IN" sz="2200" b="1" kern="1200" dirty="0"/>
            <a:t>Competence Framework:</a:t>
          </a:r>
          <a:endParaRPr lang="en-IN" sz="2200" kern="1200" dirty="0"/>
        </a:p>
      </dsp:txBody>
      <dsp:txXfrm>
        <a:off x="4018" y="3077256"/>
        <a:ext cx="2055390" cy="735075"/>
      </dsp:txXfrm>
    </dsp:sp>
    <dsp:sp modelId="{AF0CF82D-C902-4B54-BE07-22E3DA507937}">
      <dsp:nvSpPr>
        <dsp:cNvPr id="0" name=""/>
        <dsp:cNvSpPr/>
      </dsp:nvSpPr>
      <dsp:spPr>
        <a:xfrm>
          <a:off x="2059409" y="2893487"/>
          <a:ext cx="411078" cy="110261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23E484-7444-4583-81E1-57CC261C3159}">
      <dsp:nvSpPr>
        <dsp:cNvPr id="0" name=""/>
        <dsp:cNvSpPr/>
      </dsp:nvSpPr>
      <dsp:spPr>
        <a:xfrm>
          <a:off x="2634918" y="2893487"/>
          <a:ext cx="5590663" cy="110261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SzPts val="1000"/>
            <a:buFont typeface="Courier New" panose="02070309020205020404" pitchFamily="49" charset="0"/>
            <a:buChar char="o"/>
          </a:pPr>
          <a:r>
            <a:rPr lang="en-IN" sz="2200" kern="1200"/>
            <a:t>Use the SEI framework which categorizes competence into </a:t>
          </a:r>
          <a:r>
            <a:rPr lang="en-IN" sz="2200" i="1" kern="1200"/>
            <a:t>Duties, Skills, and Knowledge</a:t>
          </a:r>
          <a:r>
            <a:rPr lang="en-IN" sz="2200" kern="1200"/>
            <a:t>.</a:t>
          </a:r>
          <a:endParaRPr lang="en-IN" sz="2200" kern="1200" dirty="0"/>
        </a:p>
      </dsp:txBody>
      <dsp:txXfrm>
        <a:off x="2634918" y="2893487"/>
        <a:ext cx="5590663" cy="11026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13112E-75D8-4CF8-8AAB-C2E913B61755}">
      <dsp:nvSpPr>
        <dsp:cNvPr id="0" name=""/>
        <dsp:cNvSpPr/>
      </dsp:nvSpPr>
      <dsp:spPr>
        <a:xfrm>
          <a:off x="0" y="357388"/>
          <a:ext cx="8229600" cy="11907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437388" rIns="638708" bIns="149352" numCol="1" spcCol="1270" anchor="t" anchorCtr="0">
          <a:noAutofit/>
        </a:bodyPr>
        <a:lstStyle/>
        <a:p>
          <a:pPr marL="228600" lvl="1" indent="-228600" algn="l" defTabSz="933450">
            <a:lnSpc>
              <a:spcPct val="90000"/>
            </a:lnSpc>
            <a:spcBef>
              <a:spcPct val="0"/>
            </a:spcBef>
            <a:spcAft>
              <a:spcPct val="15000"/>
            </a:spcAft>
            <a:buSzPts val="1000"/>
            <a:buFont typeface="Courier New" panose="02070309020205020404" pitchFamily="49" charset="0"/>
            <a:buChar char="o"/>
          </a:pPr>
          <a:r>
            <a:rPr lang="en-IN" sz="2100" kern="1200" dirty="0"/>
            <a:t>It omits information that has no ramifications outside of a single element.</a:t>
          </a:r>
        </a:p>
      </dsp:txBody>
      <dsp:txXfrm>
        <a:off x="0" y="357388"/>
        <a:ext cx="8229600" cy="1190700"/>
      </dsp:txXfrm>
    </dsp:sp>
    <dsp:sp modelId="{73256573-328E-43C7-84C0-F915CE5C79E4}">
      <dsp:nvSpPr>
        <dsp:cNvPr id="0" name=""/>
        <dsp:cNvSpPr/>
      </dsp:nvSpPr>
      <dsp:spPr>
        <a:xfrm>
          <a:off x="411480" y="47428"/>
          <a:ext cx="5760720"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933450">
            <a:lnSpc>
              <a:spcPct val="90000"/>
            </a:lnSpc>
            <a:spcBef>
              <a:spcPct val="0"/>
            </a:spcBef>
            <a:spcAft>
              <a:spcPct val="35000"/>
            </a:spcAft>
            <a:buSzPts val="1000"/>
            <a:buFont typeface="Courier New" panose="02070309020205020404" pitchFamily="49" charset="0"/>
            <a:buNone/>
          </a:pPr>
          <a:r>
            <a:rPr lang="en-IN" sz="2100" b="1" kern="1200" dirty="0"/>
            <a:t>Architecture is an abstraction:</a:t>
          </a:r>
          <a:endParaRPr lang="en-IN" sz="2100" kern="1200" dirty="0"/>
        </a:p>
      </dsp:txBody>
      <dsp:txXfrm>
        <a:off x="441742" y="77690"/>
        <a:ext cx="5700196" cy="559396"/>
      </dsp:txXfrm>
    </dsp:sp>
    <dsp:sp modelId="{5C2533B5-A452-48F5-8310-B3DFF3680AE3}">
      <dsp:nvSpPr>
        <dsp:cNvPr id="0" name=""/>
        <dsp:cNvSpPr/>
      </dsp:nvSpPr>
      <dsp:spPr>
        <a:xfrm>
          <a:off x="0" y="1971448"/>
          <a:ext cx="8229600" cy="89302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437388" rIns="638708" bIns="149352" numCol="1" spcCol="1270" anchor="t" anchorCtr="0">
          <a:noAutofit/>
        </a:bodyPr>
        <a:lstStyle/>
        <a:p>
          <a:pPr marL="228600" lvl="1" indent="-228600" algn="l" defTabSz="933450">
            <a:lnSpc>
              <a:spcPct val="90000"/>
            </a:lnSpc>
            <a:spcBef>
              <a:spcPct val="0"/>
            </a:spcBef>
            <a:spcAft>
              <a:spcPct val="15000"/>
            </a:spcAft>
            <a:buSzPts val="1000"/>
            <a:buFont typeface="Courier New" panose="02070309020205020404" pitchFamily="49" charset="0"/>
            <a:buChar char="o"/>
          </a:pPr>
          <a:r>
            <a:rPr lang="en-IN" sz="2100" kern="1200" dirty="0"/>
            <a:t> Even if it's not documented or is poorly designed.</a:t>
          </a:r>
        </a:p>
      </dsp:txBody>
      <dsp:txXfrm>
        <a:off x="0" y="1971448"/>
        <a:ext cx="8229600" cy="893025"/>
      </dsp:txXfrm>
    </dsp:sp>
    <dsp:sp modelId="{F3D7DA2D-49A3-4075-A686-5704A0E78F78}">
      <dsp:nvSpPr>
        <dsp:cNvPr id="0" name=""/>
        <dsp:cNvSpPr/>
      </dsp:nvSpPr>
      <dsp:spPr>
        <a:xfrm>
          <a:off x="411480" y="1661488"/>
          <a:ext cx="5760720"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933450">
            <a:lnSpc>
              <a:spcPct val="90000"/>
            </a:lnSpc>
            <a:spcBef>
              <a:spcPct val="0"/>
            </a:spcBef>
            <a:spcAft>
              <a:spcPct val="35000"/>
            </a:spcAft>
            <a:buSzPts val="1000"/>
            <a:buFont typeface="Courier New" panose="02070309020205020404" pitchFamily="49" charset="0"/>
            <a:buNone/>
          </a:pPr>
          <a:r>
            <a:rPr lang="en-IN" sz="2100" b="1" kern="1200" dirty="0"/>
            <a:t>Every system has an architecture:</a:t>
          </a:r>
          <a:endParaRPr lang="en-IN" sz="2100" kern="1200" dirty="0"/>
        </a:p>
      </dsp:txBody>
      <dsp:txXfrm>
        <a:off x="441742" y="1691750"/>
        <a:ext cx="5700196" cy="559396"/>
      </dsp:txXfrm>
    </dsp:sp>
    <dsp:sp modelId="{36AB4FD7-5E4E-474E-8300-B5B3F4E220AC}">
      <dsp:nvSpPr>
        <dsp:cNvPr id="0" name=""/>
        <dsp:cNvSpPr/>
      </dsp:nvSpPr>
      <dsp:spPr>
        <a:xfrm>
          <a:off x="0" y="3287833"/>
          <a:ext cx="8229600" cy="11907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437388" rIns="638708" bIns="149352" numCol="1" spcCol="1270" anchor="t" anchorCtr="0">
          <a:noAutofit/>
        </a:bodyPr>
        <a:lstStyle/>
        <a:p>
          <a:pPr marL="228600" lvl="1" indent="-228600" algn="l" defTabSz="933450">
            <a:lnSpc>
              <a:spcPct val="90000"/>
            </a:lnSpc>
            <a:spcBef>
              <a:spcPct val="0"/>
            </a:spcBef>
            <a:spcAft>
              <a:spcPct val="15000"/>
            </a:spcAft>
            <a:buSzPts val="1000"/>
            <a:buFont typeface="Courier New" panose="02070309020205020404" pitchFamily="49" charset="0"/>
            <a:buChar char="o"/>
          </a:pPr>
          <a:r>
            <a:rPr lang="en-IN" sz="2100" kern="1200"/>
            <a:t>The definition includes "properties of both," which encompasses how elements interact at runtime.</a:t>
          </a:r>
          <a:endParaRPr lang="en-IN" sz="2100" kern="1200" dirty="0"/>
        </a:p>
      </dsp:txBody>
      <dsp:txXfrm>
        <a:off x="0" y="3287833"/>
        <a:ext cx="8229600" cy="1190700"/>
      </dsp:txXfrm>
    </dsp:sp>
    <dsp:sp modelId="{BCE17EAD-F6D2-4EA4-A6E6-825FA68E19AE}">
      <dsp:nvSpPr>
        <dsp:cNvPr id="0" name=""/>
        <dsp:cNvSpPr/>
      </dsp:nvSpPr>
      <dsp:spPr>
        <a:xfrm>
          <a:off x="411480" y="2977873"/>
          <a:ext cx="5760720"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933450">
            <a:lnSpc>
              <a:spcPct val="90000"/>
            </a:lnSpc>
            <a:spcBef>
              <a:spcPct val="0"/>
            </a:spcBef>
            <a:spcAft>
              <a:spcPct val="35000"/>
            </a:spcAft>
            <a:buSzPts val="1000"/>
            <a:buFont typeface="Courier New" panose="02070309020205020404" pitchFamily="49" charset="0"/>
            <a:buNone/>
          </a:pPr>
          <a:r>
            <a:rPr lang="en-IN" sz="2100" b="1" kern="1200" dirty="0" err="1"/>
            <a:t>Behavior</a:t>
          </a:r>
          <a:r>
            <a:rPr lang="en-IN" sz="2100" b="1" kern="1200" dirty="0"/>
            <a:t> is part of architecture:</a:t>
          </a:r>
          <a:endParaRPr lang="en-IN" sz="2100" kern="1200" dirty="0"/>
        </a:p>
      </dsp:txBody>
      <dsp:txXfrm>
        <a:off x="441742" y="3008135"/>
        <a:ext cx="5700196" cy="5593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79012F-28BE-4668-9087-4FC2E3288F6C}">
      <dsp:nvSpPr>
        <dsp:cNvPr id="0" name=""/>
        <dsp:cNvSpPr/>
      </dsp:nvSpPr>
      <dsp:spPr>
        <a:xfrm>
          <a:off x="0" y="357388"/>
          <a:ext cx="8229600" cy="89302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437388" rIns="638708" bIns="149352" numCol="1" spcCol="1270" anchor="t" anchorCtr="0">
          <a:noAutofit/>
        </a:bodyPr>
        <a:lstStyle/>
        <a:p>
          <a:pPr marL="228600" lvl="1" indent="-228600" algn="l" defTabSz="933450">
            <a:lnSpc>
              <a:spcPct val="90000"/>
            </a:lnSpc>
            <a:spcBef>
              <a:spcPct val="0"/>
            </a:spcBef>
            <a:spcAft>
              <a:spcPct val="15000"/>
            </a:spcAft>
            <a:buSzPts val="1000"/>
            <a:buFont typeface="Courier New" panose="02070309020205020404" pitchFamily="49" charset="0"/>
            <a:buChar char="o"/>
          </a:pPr>
          <a:r>
            <a:rPr lang="en-IN" sz="2100" kern="1200" dirty="0"/>
            <a:t> How the system is partitioned as a set of code or data units.</a:t>
          </a:r>
        </a:p>
      </dsp:txBody>
      <dsp:txXfrm>
        <a:off x="0" y="357388"/>
        <a:ext cx="8229600" cy="893025"/>
      </dsp:txXfrm>
    </dsp:sp>
    <dsp:sp modelId="{4E46E032-9FB3-4A11-8B9B-E06B77E34859}">
      <dsp:nvSpPr>
        <dsp:cNvPr id="0" name=""/>
        <dsp:cNvSpPr/>
      </dsp:nvSpPr>
      <dsp:spPr>
        <a:xfrm>
          <a:off x="411480" y="47428"/>
          <a:ext cx="5760720"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933450">
            <a:lnSpc>
              <a:spcPct val="90000"/>
            </a:lnSpc>
            <a:spcBef>
              <a:spcPct val="0"/>
            </a:spcBef>
            <a:spcAft>
              <a:spcPct val="35000"/>
            </a:spcAft>
            <a:buSzPts val="1000"/>
            <a:buFont typeface="Courier New" panose="02070309020205020404" pitchFamily="49" charset="0"/>
            <a:buNone/>
          </a:pPr>
          <a:r>
            <a:rPr lang="en-IN" sz="2100" b="1" kern="1200" dirty="0"/>
            <a:t>Module Structures:</a:t>
          </a:r>
          <a:endParaRPr lang="en-IN" sz="2100" kern="1200" dirty="0"/>
        </a:p>
      </dsp:txBody>
      <dsp:txXfrm>
        <a:off x="441742" y="77690"/>
        <a:ext cx="5700196" cy="559396"/>
      </dsp:txXfrm>
    </dsp:sp>
    <dsp:sp modelId="{8BF90F94-0ADB-4C3C-9C4E-6CE63FB9D7D1}">
      <dsp:nvSpPr>
        <dsp:cNvPr id="0" name=""/>
        <dsp:cNvSpPr/>
      </dsp:nvSpPr>
      <dsp:spPr>
        <a:xfrm>
          <a:off x="0" y="1673773"/>
          <a:ext cx="8229600" cy="11907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437388" rIns="638708" bIns="149352" numCol="1" spcCol="1270" anchor="t" anchorCtr="0">
          <a:noAutofit/>
        </a:bodyPr>
        <a:lstStyle/>
        <a:p>
          <a:pPr marL="228600" lvl="1" indent="-228600" algn="l" defTabSz="933450">
            <a:lnSpc>
              <a:spcPct val="90000"/>
            </a:lnSpc>
            <a:spcBef>
              <a:spcPct val="0"/>
            </a:spcBef>
            <a:spcAft>
              <a:spcPct val="15000"/>
            </a:spcAft>
            <a:buSzPts val="1000"/>
            <a:buFont typeface="Courier New" panose="02070309020205020404" pitchFamily="49" charset="0"/>
            <a:buChar char="o"/>
          </a:pPr>
          <a:r>
            <a:rPr lang="en-IN" sz="2100" kern="1200" dirty="0"/>
            <a:t>How the system is structured as a set of elements that have runtime </a:t>
          </a:r>
          <a:r>
            <a:rPr lang="en-IN" sz="2100" kern="1200" dirty="0" err="1"/>
            <a:t>behavior</a:t>
          </a:r>
          <a:r>
            <a:rPr lang="en-IN" sz="2100" kern="1200" dirty="0"/>
            <a:t> and interactions.</a:t>
          </a:r>
        </a:p>
      </dsp:txBody>
      <dsp:txXfrm>
        <a:off x="0" y="1673773"/>
        <a:ext cx="8229600" cy="1190700"/>
      </dsp:txXfrm>
    </dsp:sp>
    <dsp:sp modelId="{7DF3D49A-7168-45D5-A3C7-4F85CF31AE8B}">
      <dsp:nvSpPr>
        <dsp:cNvPr id="0" name=""/>
        <dsp:cNvSpPr/>
      </dsp:nvSpPr>
      <dsp:spPr>
        <a:xfrm>
          <a:off x="411480" y="1363813"/>
          <a:ext cx="5760720"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933450">
            <a:lnSpc>
              <a:spcPct val="90000"/>
            </a:lnSpc>
            <a:spcBef>
              <a:spcPct val="0"/>
            </a:spcBef>
            <a:spcAft>
              <a:spcPct val="35000"/>
            </a:spcAft>
            <a:buSzPts val="1000"/>
            <a:buFont typeface="Courier New" panose="02070309020205020404" pitchFamily="49" charset="0"/>
            <a:buNone/>
          </a:pPr>
          <a:r>
            <a:rPr lang="en-IN" sz="2100" b="1" kern="1200" dirty="0"/>
            <a:t>Component-and-Connector (C&amp;C) Structures:</a:t>
          </a:r>
          <a:endParaRPr lang="en-IN" sz="2100" kern="1200" dirty="0"/>
        </a:p>
      </dsp:txBody>
      <dsp:txXfrm>
        <a:off x="441742" y="1394075"/>
        <a:ext cx="5700196" cy="559396"/>
      </dsp:txXfrm>
    </dsp:sp>
    <dsp:sp modelId="{B33004F7-EB29-4D04-B703-DEEED0EEB07C}">
      <dsp:nvSpPr>
        <dsp:cNvPr id="0" name=""/>
        <dsp:cNvSpPr/>
      </dsp:nvSpPr>
      <dsp:spPr>
        <a:xfrm>
          <a:off x="0" y="3287833"/>
          <a:ext cx="8229600" cy="11907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437388" rIns="638708" bIns="149352" numCol="1" spcCol="1270" anchor="t" anchorCtr="0">
          <a:noAutofit/>
        </a:bodyPr>
        <a:lstStyle/>
        <a:p>
          <a:pPr marL="228600" lvl="1" indent="-228600" algn="l" defTabSz="933450">
            <a:lnSpc>
              <a:spcPct val="90000"/>
            </a:lnSpc>
            <a:spcBef>
              <a:spcPct val="0"/>
            </a:spcBef>
            <a:spcAft>
              <a:spcPct val="15000"/>
            </a:spcAft>
            <a:buNone/>
          </a:pPr>
          <a:r>
            <a:rPr lang="en-IN" sz="2100" kern="1200"/>
            <a:t>How the system relates to non-software structures (CPUs, file systems, teams).</a:t>
          </a:r>
          <a:endParaRPr lang="en-IN" sz="2100" kern="1200" dirty="0"/>
        </a:p>
      </dsp:txBody>
      <dsp:txXfrm>
        <a:off x="0" y="3287833"/>
        <a:ext cx="8229600" cy="1190700"/>
      </dsp:txXfrm>
    </dsp:sp>
    <dsp:sp modelId="{CBBDF8C5-4AB5-4AF9-91C2-B533917EC754}">
      <dsp:nvSpPr>
        <dsp:cNvPr id="0" name=""/>
        <dsp:cNvSpPr/>
      </dsp:nvSpPr>
      <dsp:spPr>
        <a:xfrm>
          <a:off x="411480" y="2977873"/>
          <a:ext cx="5760720"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933450">
            <a:lnSpc>
              <a:spcPct val="90000"/>
            </a:lnSpc>
            <a:spcBef>
              <a:spcPct val="0"/>
            </a:spcBef>
            <a:spcAft>
              <a:spcPct val="35000"/>
            </a:spcAft>
            <a:buNone/>
          </a:pPr>
          <a:r>
            <a:rPr lang="en-IN" sz="2100" b="1" kern="1200" dirty="0"/>
            <a:t>Allocation Structures:</a:t>
          </a:r>
          <a:endParaRPr lang="en-IN" sz="2100" kern="1200" dirty="0"/>
        </a:p>
      </dsp:txBody>
      <dsp:txXfrm>
        <a:off x="441742" y="3008135"/>
        <a:ext cx="5700196" cy="5593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A3701-7EB8-4E6F-8954-E6F585EC1245}">
      <dsp:nvSpPr>
        <dsp:cNvPr id="0" name=""/>
        <dsp:cNvSpPr/>
      </dsp:nvSpPr>
      <dsp:spPr>
        <a:xfrm>
          <a:off x="40" y="43895"/>
          <a:ext cx="3845569" cy="633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SzPts val="1000"/>
            <a:buFont typeface="Courier New" panose="02070309020205020404" pitchFamily="49" charset="0"/>
            <a:buNone/>
          </a:pPr>
          <a:r>
            <a:rPr lang="en-IN" sz="2200" b="1" kern="1200"/>
            <a:t>Process Rules:</a:t>
          </a:r>
          <a:endParaRPr lang="en-IN" sz="2200" kern="1200"/>
        </a:p>
      </dsp:txBody>
      <dsp:txXfrm>
        <a:off x="40" y="43895"/>
        <a:ext cx="3845569" cy="633600"/>
      </dsp:txXfrm>
    </dsp:sp>
    <dsp:sp modelId="{B80DF024-E915-43D1-9DA1-9737634F0664}">
      <dsp:nvSpPr>
        <dsp:cNvPr id="0" name=""/>
        <dsp:cNvSpPr/>
      </dsp:nvSpPr>
      <dsp:spPr>
        <a:xfrm>
          <a:off x="40" y="677496"/>
          <a:ext cx="3845569" cy="380457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SzPts val="1000"/>
            <a:buFont typeface="Wingdings" panose="05000000000000000000" pitchFamily="2" charset="2"/>
            <a:buChar char=""/>
          </a:pPr>
          <a:r>
            <a:rPr lang="en-IN" sz="2200" kern="1200"/>
            <a:t>The architecture should be the product of a </a:t>
          </a:r>
          <a:r>
            <a:rPr lang="en-IN" sz="2200" b="1" kern="1200"/>
            <a:t>single architect</a:t>
          </a:r>
          <a:r>
            <a:rPr lang="en-IN" sz="2200" kern="1200"/>
            <a:t> or a small group with an identified leader.</a:t>
          </a:r>
        </a:p>
        <a:p>
          <a:pPr marL="228600" lvl="1" indent="-228600" algn="l" defTabSz="977900">
            <a:lnSpc>
              <a:spcPct val="90000"/>
            </a:lnSpc>
            <a:spcBef>
              <a:spcPct val="0"/>
            </a:spcBef>
            <a:spcAft>
              <a:spcPct val="15000"/>
            </a:spcAft>
            <a:buSzPts val="1000"/>
            <a:buFont typeface="Wingdings" panose="05000000000000000000" pitchFamily="2" charset="2"/>
            <a:buChar char=""/>
          </a:pPr>
          <a:r>
            <a:rPr lang="en-IN" sz="2200" kern="1200"/>
            <a:t>The architect should have a prioritized list of </a:t>
          </a:r>
          <a:r>
            <a:rPr lang="en-IN" sz="2200" b="1" kern="1200"/>
            <a:t>quality attribute requirements</a:t>
          </a:r>
          <a:r>
            <a:rPr lang="en-IN" sz="2200" kern="1200"/>
            <a:t>.</a:t>
          </a:r>
        </a:p>
        <a:p>
          <a:pPr marL="228600" lvl="1" indent="-228600" algn="l" defTabSz="977900">
            <a:lnSpc>
              <a:spcPct val="90000"/>
            </a:lnSpc>
            <a:spcBef>
              <a:spcPct val="0"/>
            </a:spcBef>
            <a:spcAft>
              <a:spcPct val="15000"/>
            </a:spcAft>
            <a:buSzPts val="1000"/>
            <a:buFont typeface="Wingdings" panose="05000000000000000000" pitchFamily="2" charset="2"/>
            <a:buChar char=""/>
          </a:pPr>
          <a:r>
            <a:rPr lang="en-IN" sz="2200" kern="1200"/>
            <a:t>The architecture should be </a:t>
          </a:r>
          <a:r>
            <a:rPr lang="en-IN" sz="2200" b="1" kern="1200"/>
            <a:t>documented</a:t>
          </a:r>
          <a:r>
            <a:rPr lang="en-IN" sz="2200" kern="1200"/>
            <a:t> using views and </a:t>
          </a:r>
          <a:r>
            <a:rPr lang="en-IN" sz="2200" b="1" kern="1200"/>
            <a:t>evaluated</a:t>
          </a:r>
          <a:r>
            <a:rPr lang="en-IN" sz="2200" kern="1200"/>
            <a:t> using a formal method (like ATAM).</a:t>
          </a:r>
        </a:p>
      </dsp:txBody>
      <dsp:txXfrm>
        <a:off x="40" y="677496"/>
        <a:ext cx="3845569" cy="3804570"/>
      </dsp:txXfrm>
    </dsp:sp>
    <dsp:sp modelId="{90AC0B39-9A0B-4E59-863B-A9F6D4D9A38E}">
      <dsp:nvSpPr>
        <dsp:cNvPr id="0" name=""/>
        <dsp:cNvSpPr/>
      </dsp:nvSpPr>
      <dsp:spPr>
        <a:xfrm>
          <a:off x="4383989" y="43895"/>
          <a:ext cx="3845569" cy="633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SzPts val="1000"/>
            <a:buFont typeface="Courier New" panose="02070309020205020404" pitchFamily="49" charset="0"/>
            <a:buNone/>
          </a:pPr>
          <a:r>
            <a:rPr lang="en-IN" sz="2200" b="1" kern="1200"/>
            <a:t>Product Rules:</a:t>
          </a:r>
          <a:endParaRPr lang="en-IN" sz="2200" kern="1200"/>
        </a:p>
      </dsp:txBody>
      <dsp:txXfrm>
        <a:off x="4383989" y="43895"/>
        <a:ext cx="3845569" cy="633600"/>
      </dsp:txXfrm>
    </dsp:sp>
    <dsp:sp modelId="{C2B2D66C-7832-4050-A585-E0697A4188FD}">
      <dsp:nvSpPr>
        <dsp:cNvPr id="0" name=""/>
        <dsp:cNvSpPr/>
      </dsp:nvSpPr>
      <dsp:spPr>
        <a:xfrm>
          <a:off x="4383989" y="677496"/>
          <a:ext cx="3845569" cy="380457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SzPts val="1000"/>
            <a:buFont typeface="Wingdings" panose="05000000000000000000" pitchFamily="2" charset="2"/>
            <a:buChar char=""/>
          </a:pPr>
          <a:r>
            <a:rPr lang="en-IN" sz="2200" kern="1200"/>
            <a:t>Use </a:t>
          </a:r>
          <a:r>
            <a:rPr lang="en-IN" sz="2200" b="1" kern="1200"/>
            <a:t>information hiding</a:t>
          </a:r>
          <a:r>
            <a:rPr lang="en-IN" sz="2200" kern="1200"/>
            <a:t> and separation of concerns.</a:t>
          </a:r>
        </a:p>
        <a:p>
          <a:pPr marL="228600" lvl="1" indent="-228600" algn="l" defTabSz="977900">
            <a:lnSpc>
              <a:spcPct val="90000"/>
            </a:lnSpc>
            <a:spcBef>
              <a:spcPct val="0"/>
            </a:spcBef>
            <a:spcAft>
              <a:spcPct val="15000"/>
            </a:spcAft>
            <a:buSzPts val="1000"/>
            <a:buFont typeface="Wingdings" panose="05000000000000000000" pitchFamily="2" charset="2"/>
            <a:buChar char=""/>
          </a:pPr>
          <a:r>
            <a:rPr lang="en-IN" sz="2200" kern="1200"/>
            <a:t>Achieve quality attributes using well-known </a:t>
          </a:r>
          <a:r>
            <a:rPr lang="en-IN" sz="2200" b="1" kern="1200"/>
            <a:t>tactics</a:t>
          </a:r>
          <a:r>
            <a:rPr lang="en-IN" sz="2200" kern="1200"/>
            <a:t>.</a:t>
          </a:r>
        </a:p>
        <a:p>
          <a:pPr marL="228600" lvl="1" indent="-228600" algn="l" defTabSz="977900">
            <a:lnSpc>
              <a:spcPct val="90000"/>
            </a:lnSpc>
            <a:spcBef>
              <a:spcPct val="0"/>
            </a:spcBef>
            <a:spcAft>
              <a:spcPct val="15000"/>
            </a:spcAft>
            <a:buSzPts val="1000"/>
            <a:buFont typeface="Wingdings" panose="05000000000000000000" pitchFamily="2" charset="2"/>
            <a:buChar char=""/>
          </a:pPr>
          <a:r>
            <a:rPr lang="en-IN" sz="2200" kern="1200"/>
            <a:t>Never depend on a particular version of a commercial tool.</a:t>
          </a:r>
        </a:p>
        <a:p>
          <a:pPr marL="228600" lvl="1" indent="-228600" algn="l" defTabSz="977900">
            <a:lnSpc>
              <a:spcPct val="90000"/>
            </a:lnSpc>
            <a:spcBef>
              <a:spcPct val="0"/>
            </a:spcBef>
            <a:spcAft>
              <a:spcPct val="15000"/>
            </a:spcAft>
            <a:buSzPts val="1000"/>
            <a:buFont typeface="Wingdings" panose="05000000000000000000" pitchFamily="2" charset="2"/>
            <a:buChar char=""/>
          </a:pPr>
          <a:r>
            <a:rPr lang="en-IN" sz="2200" kern="1200"/>
            <a:t>Minimize the number of ways components interact.</a:t>
          </a:r>
        </a:p>
      </dsp:txBody>
      <dsp:txXfrm>
        <a:off x="4383989" y="677496"/>
        <a:ext cx="3845569" cy="3804570"/>
      </dsp:txXfrm>
    </dsp:sp>
  </dsp:spTree>
</dsp:drawing>
</file>

<file path=ppt/diagrams/layout1.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4E17E-ACDA-4D33-BCAE-677FB616DBEF}" type="datetimeFigureOut">
              <a:rPr lang="en-IN" smtClean="0"/>
              <a:pPr/>
              <a:t>24-07-2026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C08CD-08CE-4BE9-82DB-405CF9CCA283}" type="slidenum">
              <a:rPr lang="en-IN" smtClean="0"/>
              <a:pPr/>
              <a:t>‹#›</a:t>
            </a:fld>
            <a:endParaRPr lang="en-IN"/>
          </a:p>
        </p:txBody>
      </p:sp>
    </p:spTree>
    <p:extLst>
      <p:ext uri="{BB962C8B-B14F-4D97-AF65-F5344CB8AC3E}">
        <p14:creationId xmlns:p14="http://schemas.microsoft.com/office/powerpoint/2010/main" val="188378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2000" dirty="0"/>
              <a:t>The </a:t>
            </a:r>
            <a:r>
              <a:rPr lang="pl-PL" sz="2000" dirty="0" err="1"/>
              <a:t>architecture</a:t>
            </a:r>
            <a:r>
              <a:rPr lang="pl-PL" sz="2000" dirty="0"/>
              <a:t> </a:t>
            </a:r>
            <a:r>
              <a:rPr lang="pl-PL" sz="2000" dirty="0" err="1"/>
              <a:t>should</a:t>
            </a:r>
            <a:r>
              <a:rPr lang="pl-PL" sz="2000" dirty="0"/>
              <a:t> be the </a:t>
            </a:r>
            <a:r>
              <a:rPr lang="pl-PL" sz="2000" dirty="0" err="1"/>
              <a:t>product</a:t>
            </a:r>
            <a:r>
              <a:rPr lang="pl-PL" sz="2000" dirty="0"/>
              <a:t> of a single </a:t>
            </a:r>
            <a:r>
              <a:rPr lang="pl-PL" sz="2000" dirty="0" err="1"/>
              <a:t>architect</a:t>
            </a:r>
            <a:r>
              <a:rPr lang="pl-PL" sz="2000" dirty="0"/>
              <a:t> </a:t>
            </a:r>
            <a:r>
              <a:rPr lang="pl-PL" sz="2000" dirty="0" err="1"/>
              <a:t>or</a:t>
            </a:r>
            <a:r>
              <a:rPr lang="pl-PL" sz="2000" dirty="0"/>
              <a:t> a small </a:t>
            </a:r>
            <a:r>
              <a:rPr lang="pl-PL" sz="2000" dirty="0" err="1"/>
              <a:t>group</a:t>
            </a:r>
            <a:r>
              <a:rPr lang="pl-PL" sz="2000" dirty="0"/>
              <a:t> of </a:t>
            </a:r>
            <a:r>
              <a:rPr lang="pl-PL" sz="2000" dirty="0" err="1"/>
              <a:t>architects</a:t>
            </a:r>
            <a:r>
              <a:rPr lang="pl-PL" sz="2000" dirty="0"/>
              <a:t> with </a:t>
            </a:r>
            <a:r>
              <a:rPr lang="pl-PL" sz="2000" dirty="0" err="1"/>
              <a:t>an</a:t>
            </a:r>
            <a:r>
              <a:rPr lang="pl-PL" sz="2000" dirty="0"/>
              <a:t> </a:t>
            </a:r>
            <a:r>
              <a:rPr lang="pl-PL" sz="2000" dirty="0" err="1"/>
              <a:t>identified</a:t>
            </a:r>
            <a:r>
              <a:rPr lang="pl-PL" sz="2000" dirty="0"/>
              <a:t> </a:t>
            </a:r>
            <a:r>
              <a:rPr lang="pl-PL" sz="2000" dirty="0" err="1"/>
              <a:t>technical</a:t>
            </a:r>
            <a:r>
              <a:rPr lang="pl-PL" sz="2000" dirty="0"/>
              <a:t> leader. </a:t>
            </a:r>
          </a:p>
          <a:p>
            <a:pPr lvl="1"/>
            <a:r>
              <a:rPr lang="pl-PL" sz="1600" dirty="0" err="1"/>
              <a:t>This</a:t>
            </a:r>
            <a:r>
              <a:rPr lang="pl-PL" sz="1600" dirty="0"/>
              <a:t> </a:t>
            </a:r>
            <a:r>
              <a:rPr lang="pl-PL" sz="1600" dirty="0" err="1"/>
              <a:t>approach</a:t>
            </a:r>
            <a:r>
              <a:rPr lang="pl-PL" sz="1600" dirty="0"/>
              <a:t> </a:t>
            </a:r>
            <a:r>
              <a:rPr lang="pl-PL" sz="1600" dirty="0" err="1"/>
              <a:t>gives</a:t>
            </a:r>
            <a:r>
              <a:rPr lang="pl-PL" sz="1600" dirty="0"/>
              <a:t> the </a:t>
            </a:r>
            <a:r>
              <a:rPr lang="pl-PL" sz="1600" dirty="0" err="1"/>
              <a:t>architecture</a:t>
            </a:r>
            <a:r>
              <a:rPr lang="pl-PL" sz="1600" dirty="0"/>
              <a:t> </a:t>
            </a:r>
            <a:r>
              <a:rPr lang="pl-PL" sz="1600" dirty="0" err="1"/>
              <a:t>its</a:t>
            </a:r>
            <a:r>
              <a:rPr lang="pl-PL" sz="1600" dirty="0"/>
              <a:t> </a:t>
            </a:r>
            <a:r>
              <a:rPr lang="pl-PL" sz="1600" dirty="0" err="1"/>
              <a:t>conceptual</a:t>
            </a:r>
            <a:r>
              <a:rPr lang="pl-PL" sz="1600" dirty="0"/>
              <a:t> </a:t>
            </a:r>
            <a:r>
              <a:rPr lang="pl-PL" sz="1600" dirty="0" err="1"/>
              <a:t>integrity</a:t>
            </a:r>
            <a:r>
              <a:rPr lang="pl-PL" sz="1600" dirty="0"/>
              <a:t> and </a:t>
            </a:r>
            <a:r>
              <a:rPr lang="pl-PL" sz="1600" dirty="0" err="1"/>
              <a:t>technical</a:t>
            </a:r>
            <a:r>
              <a:rPr lang="pl-PL" sz="1600" dirty="0"/>
              <a:t> </a:t>
            </a:r>
            <a:r>
              <a:rPr lang="pl-PL" sz="1600" dirty="0" err="1"/>
              <a:t>consistency</a:t>
            </a:r>
            <a:r>
              <a:rPr lang="pl-PL" sz="1600" dirty="0"/>
              <a:t>. </a:t>
            </a:r>
            <a:r>
              <a:rPr lang="pl-PL" sz="1600" dirty="0" err="1"/>
              <a:t>This</a:t>
            </a:r>
            <a:r>
              <a:rPr lang="pl-PL" sz="1600" dirty="0"/>
              <a:t> </a:t>
            </a:r>
            <a:r>
              <a:rPr lang="pl-PL" sz="1600" dirty="0" err="1"/>
              <a:t>recommendation</a:t>
            </a:r>
            <a:r>
              <a:rPr lang="pl-PL" sz="1600" dirty="0"/>
              <a:t> </a:t>
            </a:r>
            <a:r>
              <a:rPr lang="pl-PL" sz="1600" dirty="0" err="1"/>
              <a:t>holds</a:t>
            </a:r>
            <a:r>
              <a:rPr lang="pl-PL" sz="1600" dirty="0"/>
              <a:t> for Agile and open </a:t>
            </a:r>
            <a:r>
              <a:rPr lang="pl-PL" sz="1600" dirty="0" err="1"/>
              <a:t>source</a:t>
            </a:r>
            <a:r>
              <a:rPr lang="pl-PL" sz="1600" dirty="0"/>
              <a:t> </a:t>
            </a:r>
            <a:r>
              <a:rPr lang="pl-PL" sz="1600" dirty="0" err="1"/>
              <a:t>projects</a:t>
            </a:r>
            <a:r>
              <a:rPr lang="pl-PL" sz="1600" dirty="0"/>
              <a:t> as </a:t>
            </a:r>
            <a:r>
              <a:rPr lang="pl-PL" sz="1600" dirty="0" err="1"/>
              <a:t>well</a:t>
            </a:r>
            <a:r>
              <a:rPr lang="pl-PL" sz="1600" dirty="0"/>
              <a:t> as “</a:t>
            </a:r>
            <a:r>
              <a:rPr lang="pl-PL" sz="1600" dirty="0" err="1"/>
              <a:t>traditional</a:t>
            </a:r>
            <a:r>
              <a:rPr lang="pl-PL" sz="1600" dirty="0"/>
              <a:t>” </a:t>
            </a:r>
            <a:r>
              <a:rPr lang="pl-PL" sz="1600" dirty="0" err="1"/>
              <a:t>ones</a:t>
            </a:r>
            <a:r>
              <a:rPr lang="pl-PL" sz="1600" dirty="0"/>
              <a:t>. </a:t>
            </a:r>
          </a:p>
          <a:p>
            <a:pPr lvl="1"/>
            <a:r>
              <a:rPr lang="pl-PL" sz="1600" dirty="0" err="1"/>
              <a:t>There</a:t>
            </a:r>
            <a:r>
              <a:rPr lang="pl-PL" sz="1600" dirty="0"/>
              <a:t> </a:t>
            </a:r>
            <a:r>
              <a:rPr lang="pl-PL" sz="1600" dirty="0" err="1"/>
              <a:t>should</a:t>
            </a:r>
            <a:r>
              <a:rPr lang="pl-PL" sz="1600" dirty="0"/>
              <a:t> be a </a:t>
            </a:r>
            <a:r>
              <a:rPr lang="pl-PL" sz="1600" dirty="0" err="1"/>
              <a:t>strong</a:t>
            </a:r>
            <a:r>
              <a:rPr lang="pl-PL" sz="1600" dirty="0"/>
              <a:t> </a:t>
            </a:r>
            <a:r>
              <a:rPr lang="pl-PL" sz="1600" dirty="0" err="1"/>
              <a:t>connection</a:t>
            </a:r>
            <a:r>
              <a:rPr lang="pl-PL" sz="1600" dirty="0"/>
              <a:t> </a:t>
            </a:r>
            <a:r>
              <a:rPr lang="pl-PL" sz="1600" dirty="0" err="1"/>
              <a:t>between</a:t>
            </a:r>
            <a:r>
              <a:rPr lang="pl-PL" sz="1600" dirty="0"/>
              <a:t> the </a:t>
            </a:r>
            <a:r>
              <a:rPr lang="pl-PL" sz="1600" dirty="0" err="1"/>
              <a:t>architect</a:t>
            </a:r>
            <a:r>
              <a:rPr lang="pl-PL" sz="1600" dirty="0"/>
              <a:t>(s) and the development team.</a:t>
            </a:r>
          </a:p>
          <a:p>
            <a:r>
              <a:rPr lang="pl-PL" sz="2000" dirty="0"/>
              <a:t>The </a:t>
            </a:r>
            <a:r>
              <a:rPr lang="pl-PL" sz="2000" dirty="0" err="1"/>
              <a:t>architect</a:t>
            </a:r>
            <a:r>
              <a:rPr lang="pl-PL" sz="2000" dirty="0"/>
              <a:t> (</a:t>
            </a:r>
            <a:r>
              <a:rPr lang="pl-PL" sz="2000" dirty="0" err="1"/>
              <a:t>or</a:t>
            </a:r>
            <a:r>
              <a:rPr lang="pl-PL" sz="2000" dirty="0"/>
              <a:t> </a:t>
            </a:r>
            <a:r>
              <a:rPr lang="pl-PL" sz="2000" dirty="0" err="1"/>
              <a:t>architecture</a:t>
            </a:r>
            <a:r>
              <a:rPr lang="pl-PL" sz="2000" dirty="0"/>
              <a:t> team) </a:t>
            </a:r>
            <a:r>
              <a:rPr lang="pl-PL" sz="2000" dirty="0" err="1"/>
              <a:t>should</a:t>
            </a:r>
            <a:r>
              <a:rPr lang="pl-PL" sz="2000" dirty="0"/>
              <a:t> </a:t>
            </a:r>
            <a:r>
              <a:rPr lang="pl-PL" sz="2000" dirty="0" err="1"/>
              <a:t>base</a:t>
            </a:r>
            <a:r>
              <a:rPr lang="pl-PL" sz="2000" dirty="0"/>
              <a:t> the </a:t>
            </a:r>
            <a:r>
              <a:rPr lang="pl-PL" sz="2000" dirty="0" err="1"/>
              <a:t>architecture</a:t>
            </a:r>
            <a:r>
              <a:rPr lang="pl-PL" sz="2000" dirty="0"/>
              <a:t> on a </a:t>
            </a:r>
            <a:r>
              <a:rPr lang="pl-PL" sz="2000" dirty="0" err="1"/>
              <a:t>prioritized</a:t>
            </a:r>
            <a:r>
              <a:rPr lang="pl-PL" sz="2000" dirty="0"/>
              <a:t> list of </a:t>
            </a:r>
            <a:r>
              <a:rPr lang="pl-PL" sz="2000" dirty="0" err="1"/>
              <a:t>well-specified</a:t>
            </a:r>
            <a:r>
              <a:rPr lang="pl-PL" sz="2000" dirty="0"/>
              <a:t> </a:t>
            </a:r>
            <a:r>
              <a:rPr lang="pl-PL" sz="2000" dirty="0" err="1"/>
              <a:t>quality</a:t>
            </a:r>
            <a:r>
              <a:rPr lang="pl-PL" sz="2000" dirty="0"/>
              <a:t> </a:t>
            </a:r>
            <a:r>
              <a:rPr lang="pl-PL" sz="2000" dirty="0" err="1"/>
              <a:t>attribute</a:t>
            </a:r>
            <a:r>
              <a:rPr lang="pl-PL" sz="2000" dirty="0"/>
              <a:t> </a:t>
            </a:r>
            <a:r>
              <a:rPr lang="pl-PL" sz="2000" dirty="0" err="1"/>
              <a:t>requirements</a:t>
            </a:r>
            <a:r>
              <a:rPr lang="pl-PL" sz="2000" dirty="0"/>
              <a:t>. </a:t>
            </a:r>
          </a:p>
          <a:p>
            <a:pPr lvl="1"/>
            <a:r>
              <a:rPr lang="pl-PL" sz="1600" dirty="0" err="1"/>
              <a:t>These</a:t>
            </a:r>
            <a:r>
              <a:rPr lang="pl-PL" sz="1600" dirty="0"/>
              <a:t> </a:t>
            </a:r>
            <a:r>
              <a:rPr lang="pl-PL" sz="1600" dirty="0" err="1"/>
              <a:t>will</a:t>
            </a:r>
            <a:r>
              <a:rPr lang="pl-PL" sz="1600" dirty="0"/>
              <a:t> </a:t>
            </a:r>
            <a:r>
              <a:rPr lang="pl-PL" sz="1600" dirty="0" err="1"/>
              <a:t>inform</a:t>
            </a:r>
            <a:r>
              <a:rPr lang="pl-PL" sz="1600" dirty="0"/>
              <a:t> the </a:t>
            </a:r>
            <a:r>
              <a:rPr lang="pl-PL" sz="1600" dirty="0" err="1"/>
              <a:t>tradeoffs</a:t>
            </a:r>
            <a:r>
              <a:rPr lang="pl-PL" sz="1600" dirty="0"/>
              <a:t> </a:t>
            </a:r>
            <a:r>
              <a:rPr lang="pl-PL" sz="1600" dirty="0" err="1"/>
              <a:t>that</a:t>
            </a:r>
            <a:r>
              <a:rPr lang="pl-PL" sz="1600" dirty="0"/>
              <a:t> </a:t>
            </a:r>
            <a:r>
              <a:rPr lang="pl-PL" sz="1600" dirty="0" err="1"/>
              <a:t>always</a:t>
            </a:r>
            <a:r>
              <a:rPr lang="pl-PL" sz="1600" dirty="0"/>
              <a:t> </a:t>
            </a:r>
            <a:r>
              <a:rPr lang="pl-PL" sz="1600" dirty="0" err="1"/>
              <a:t>occur</a:t>
            </a:r>
            <a:r>
              <a:rPr lang="pl-PL" sz="1600" dirty="0"/>
              <a:t>. </a:t>
            </a:r>
          </a:p>
          <a:p>
            <a:pPr lvl="1"/>
            <a:r>
              <a:rPr lang="pl-PL" sz="1600" dirty="0" err="1"/>
              <a:t>Functionality</a:t>
            </a:r>
            <a:r>
              <a:rPr lang="pl-PL" sz="1600" dirty="0"/>
              <a:t> </a:t>
            </a:r>
            <a:r>
              <a:rPr lang="pl-PL" sz="1600" dirty="0" err="1"/>
              <a:t>matters</a:t>
            </a:r>
            <a:r>
              <a:rPr lang="pl-PL" sz="1600" dirty="0"/>
              <a:t> less.</a:t>
            </a:r>
          </a:p>
          <a:p>
            <a:r>
              <a:rPr lang="pl-PL" sz="2000" dirty="0"/>
              <a:t>The </a:t>
            </a:r>
            <a:r>
              <a:rPr lang="pl-PL" sz="2000" dirty="0" err="1"/>
              <a:t>architecture</a:t>
            </a:r>
            <a:r>
              <a:rPr lang="pl-PL" sz="2000" dirty="0"/>
              <a:t> </a:t>
            </a:r>
            <a:r>
              <a:rPr lang="pl-PL" sz="2000" dirty="0" err="1"/>
              <a:t>should</a:t>
            </a:r>
            <a:r>
              <a:rPr lang="pl-PL" sz="2000" dirty="0"/>
              <a:t> be </a:t>
            </a:r>
            <a:r>
              <a:rPr lang="pl-PL" sz="2000" dirty="0" err="1"/>
              <a:t>documented</a:t>
            </a:r>
            <a:r>
              <a:rPr lang="pl-PL" sz="2000" dirty="0"/>
              <a:t> </a:t>
            </a:r>
            <a:r>
              <a:rPr lang="pl-PL" sz="2000" dirty="0" err="1"/>
              <a:t>using</a:t>
            </a:r>
            <a:r>
              <a:rPr lang="pl-PL" sz="2000" dirty="0"/>
              <a:t> </a:t>
            </a:r>
            <a:r>
              <a:rPr lang="pl-PL" sz="2000" dirty="0" err="1"/>
              <a:t>views</a:t>
            </a:r>
            <a:r>
              <a:rPr lang="pl-PL" sz="2000" dirty="0"/>
              <a:t>. The </a:t>
            </a:r>
            <a:r>
              <a:rPr lang="pl-PL" sz="2000" dirty="0" err="1"/>
              <a:t>views</a:t>
            </a:r>
            <a:r>
              <a:rPr lang="pl-PL" sz="2000" dirty="0"/>
              <a:t> </a:t>
            </a:r>
            <a:r>
              <a:rPr lang="pl-PL" sz="2000" dirty="0" err="1"/>
              <a:t>should</a:t>
            </a:r>
            <a:r>
              <a:rPr lang="pl-PL" sz="2000" dirty="0"/>
              <a:t> </a:t>
            </a:r>
            <a:r>
              <a:rPr lang="pl-PL" sz="2000" dirty="0" err="1"/>
              <a:t>address</a:t>
            </a:r>
            <a:r>
              <a:rPr lang="pl-PL" sz="2000" dirty="0"/>
              <a:t> the </a:t>
            </a:r>
            <a:r>
              <a:rPr lang="pl-PL" sz="2000" dirty="0" err="1"/>
              <a:t>concerns</a:t>
            </a:r>
            <a:r>
              <a:rPr lang="pl-PL" sz="2000" dirty="0"/>
              <a:t> of the most </a:t>
            </a:r>
            <a:r>
              <a:rPr lang="pl-PL" sz="2000" dirty="0" err="1"/>
              <a:t>important</a:t>
            </a:r>
            <a:r>
              <a:rPr lang="pl-PL" sz="2000" dirty="0"/>
              <a:t> </a:t>
            </a:r>
            <a:r>
              <a:rPr lang="pl-PL" sz="2000" dirty="0" err="1"/>
              <a:t>stakeholders</a:t>
            </a:r>
            <a:r>
              <a:rPr lang="pl-PL" sz="2000" dirty="0"/>
              <a:t> in </a:t>
            </a:r>
            <a:r>
              <a:rPr lang="pl-PL" sz="2000" dirty="0" err="1"/>
              <a:t>support</a:t>
            </a:r>
            <a:r>
              <a:rPr lang="pl-PL" sz="2000" dirty="0"/>
              <a:t> of the </a:t>
            </a:r>
            <a:r>
              <a:rPr lang="pl-PL" sz="2000" dirty="0" err="1"/>
              <a:t>project</a:t>
            </a:r>
            <a:r>
              <a:rPr lang="pl-PL" sz="2000" dirty="0"/>
              <a:t> </a:t>
            </a:r>
            <a:r>
              <a:rPr lang="pl-PL" sz="2000" dirty="0" err="1"/>
              <a:t>timeline</a:t>
            </a:r>
            <a:r>
              <a:rPr lang="pl-PL" sz="2000" dirty="0"/>
              <a:t>. </a:t>
            </a:r>
          </a:p>
          <a:p>
            <a:r>
              <a:rPr lang="pl-PL" sz="2000" dirty="0"/>
              <a:t>The </a:t>
            </a:r>
            <a:r>
              <a:rPr lang="pl-PL" sz="2000" dirty="0" err="1"/>
              <a:t>architecture</a:t>
            </a:r>
            <a:r>
              <a:rPr lang="pl-PL" sz="2000" dirty="0"/>
              <a:t> </a:t>
            </a:r>
            <a:r>
              <a:rPr lang="pl-PL" sz="2000" dirty="0" err="1"/>
              <a:t>should</a:t>
            </a:r>
            <a:r>
              <a:rPr lang="pl-PL" sz="2000" dirty="0"/>
              <a:t> be </a:t>
            </a:r>
            <a:r>
              <a:rPr lang="pl-PL" sz="2000" dirty="0" err="1"/>
              <a:t>evaluated</a:t>
            </a:r>
            <a:r>
              <a:rPr lang="pl-PL" sz="2000" dirty="0"/>
              <a:t> for </a:t>
            </a:r>
            <a:r>
              <a:rPr lang="pl-PL" sz="2000" dirty="0" err="1"/>
              <a:t>its</a:t>
            </a:r>
            <a:r>
              <a:rPr lang="pl-PL" sz="2000" dirty="0"/>
              <a:t> </a:t>
            </a:r>
            <a:r>
              <a:rPr lang="pl-PL" sz="2000" dirty="0" err="1"/>
              <a:t>ability</a:t>
            </a:r>
            <a:r>
              <a:rPr lang="pl-PL" sz="2000" dirty="0"/>
              <a:t> to </a:t>
            </a:r>
            <a:r>
              <a:rPr lang="pl-PL" sz="2000" dirty="0" err="1"/>
              <a:t>deliver</a:t>
            </a:r>
            <a:r>
              <a:rPr lang="pl-PL" sz="2000" dirty="0"/>
              <a:t> the </a:t>
            </a:r>
            <a:r>
              <a:rPr lang="pl-PL" sz="2000" dirty="0" err="1"/>
              <a:t>system’s</a:t>
            </a:r>
            <a:r>
              <a:rPr lang="pl-PL" sz="2000" dirty="0"/>
              <a:t> </a:t>
            </a:r>
            <a:r>
              <a:rPr lang="pl-PL" sz="2000" dirty="0" err="1"/>
              <a:t>important</a:t>
            </a:r>
            <a:r>
              <a:rPr lang="pl-PL" sz="2000" dirty="0"/>
              <a:t> </a:t>
            </a:r>
            <a:r>
              <a:rPr lang="pl-PL" sz="2000" dirty="0" err="1"/>
              <a:t>quality</a:t>
            </a:r>
            <a:r>
              <a:rPr lang="pl-PL" sz="2000" dirty="0"/>
              <a:t> </a:t>
            </a:r>
            <a:r>
              <a:rPr lang="pl-PL" sz="2000" dirty="0" err="1"/>
              <a:t>attributes</a:t>
            </a:r>
            <a:r>
              <a:rPr lang="pl-PL" sz="2000" dirty="0"/>
              <a:t>. </a:t>
            </a:r>
          </a:p>
          <a:p>
            <a:pPr lvl="1"/>
            <a:r>
              <a:rPr lang="pl-PL" sz="1600" dirty="0" err="1"/>
              <a:t>This</a:t>
            </a:r>
            <a:r>
              <a:rPr lang="pl-PL" sz="1600" dirty="0"/>
              <a:t> </a:t>
            </a:r>
            <a:r>
              <a:rPr lang="pl-PL" sz="1600" dirty="0" err="1"/>
              <a:t>should</a:t>
            </a:r>
            <a:r>
              <a:rPr lang="pl-PL" sz="1600" dirty="0"/>
              <a:t> </a:t>
            </a:r>
            <a:r>
              <a:rPr lang="pl-PL" sz="1600" dirty="0" err="1"/>
              <a:t>occur</a:t>
            </a:r>
            <a:r>
              <a:rPr lang="pl-PL" sz="1600" dirty="0"/>
              <a:t> </a:t>
            </a:r>
            <a:r>
              <a:rPr lang="pl-PL" sz="1600" dirty="0" err="1"/>
              <a:t>early</a:t>
            </a:r>
            <a:r>
              <a:rPr lang="pl-PL" sz="1600" dirty="0"/>
              <a:t> in the life </a:t>
            </a:r>
            <a:r>
              <a:rPr lang="pl-PL" sz="1600" dirty="0" err="1"/>
              <a:t>cycle</a:t>
            </a:r>
            <a:r>
              <a:rPr lang="pl-PL" sz="1600" dirty="0"/>
              <a:t>, </a:t>
            </a:r>
            <a:r>
              <a:rPr lang="pl-PL" sz="1600" dirty="0" err="1"/>
              <a:t>when</a:t>
            </a:r>
            <a:r>
              <a:rPr lang="pl-PL" sz="1600" dirty="0"/>
              <a:t> </a:t>
            </a:r>
            <a:r>
              <a:rPr lang="pl-PL" sz="1600" dirty="0" err="1"/>
              <a:t>it</a:t>
            </a:r>
            <a:r>
              <a:rPr lang="pl-PL" sz="1600" dirty="0"/>
              <a:t> </a:t>
            </a:r>
            <a:r>
              <a:rPr lang="pl-PL" sz="1600" dirty="0" err="1"/>
              <a:t>returns</a:t>
            </a:r>
            <a:r>
              <a:rPr lang="pl-PL" sz="1600" dirty="0"/>
              <a:t> the most benefit, and </a:t>
            </a:r>
            <a:r>
              <a:rPr lang="pl-PL" sz="1600" dirty="0" err="1"/>
              <a:t>repeated</a:t>
            </a:r>
            <a:r>
              <a:rPr lang="pl-PL" sz="1600" dirty="0"/>
              <a:t> as </a:t>
            </a:r>
            <a:r>
              <a:rPr lang="pl-PL" sz="1600" dirty="0" err="1"/>
              <a:t>appropriate</a:t>
            </a:r>
            <a:r>
              <a:rPr lang="pl-PL" sz="1600" dirty="0"/>
              <a:t>.</a:t>
            </a:r>
          </a:p>
          <a:p>
            <a:r>
              <a:rPr lang="pl-PL" sz="2000" dirty="0"/>
              <a:t>The </a:t>
            </a:r>
            <a:r>
              <a:rPr lang="pl-PL" sz="2000" dirty="0" err="1"/>
              <a:t>architecture</a:t>
            </a:r>
            <a:r>
              <a:rPr lang="pl-PL" sz="2000" dirty="0"/>
              <a:t> </a:t>
            </a:r>
            <a:r>
              <a:rPr lang="pl-PL" sz="2000" dirty="0" err="1"/>
              <a:t>should</a:t>
            </a:r>
            <a:r>
              <a:rPr lang="pl-PL" sz="2000" dirty="0"/>
              <a:t> </a:t>
            </a:r>
            <a:r>
              <a:rPr lang="pl-PL" sz="2000" dirty="0" err="1"/>
              <a:t>lend</a:t>
            </a:r>
            <a:r>
              <a:rPr lang="pl-PL" sz="2000" dirty="0"/>
              <a:t> </a:t>
            </a:r>
            <a:r>
              <a:rPr lang="pl-PL" sz="2000" dirty="0" err="1"/>
              <a:t>itself</a:t>
            </a:r>
            <a:r>
              <a:rPr lang="pl-PL" sz="2000" dirty="0"/>
              <a:t> to </a:t>
            </a:r>
            <a:r>
              <a:rPr lang="pl-PL" sz="2000" dirty="0" err="1"/>
              <a:t>incremental</a:t>
            </a:r>
            <a:r>
              <a:rPr lang="pl-PL" sz="2000" dirty="0"/>
              <a:t> </a:t>
            </a:r>
            <a:r>
              <a:rPr lang="pl-PL" sz="2000" dirty="0" err="1"/>
              <a:t>implementation</a:t>
            </a:r>
            <a:r>
              <a:rPr lang="pl-PL" sz="2000" dirty="0"/>
              <a:t>, </a:t>
            </a:r>
          </a:p>
          <a:p>
            <a:pPr lvl="1"/>
            <a:r>
              <a:rPr lang="pl-PL" sz="1600" dirty="0" err="1"/>
              <a:t>Create</a:t>
            </a:r>
            <a:r>
              <a:rPr lang="pl-PL" sz="1600" dirty="0"/>
              <a:t> a “</a:t>
            </a:r>
            <a:r>
              <a:rPr lang="pl-PL" sz="1600" dirty="0" err="1"/>
              <a:t>skeletal</a:t>
            </a:r>
            <a:r>
              <a:rPr lang="pl-PL" sz="1600" dirty="0"/>
              <a:t>” system in </a:t>
            </a:r>
            <a:r>
              <a:rPr lang="pl-PL" sz="1600" dirty="0" err="1"/>
              <a:t>which</a:t>
            </a:r>
            <a:r>
              <a:rPr lang="pl-PL" sz="1600" dirty="0"/>
              <a:t> the </a:t>
            </a:r>
            <a:r>
              <a:rPr lang="pl-PL" sz="1600" dirty="0" err="1"/>
              <a:t>communication</a:t>
            </a:r>
            <a:r>
              <a:rPr lang="pl-PL" sz="1600" dirty="0"/>
              <a:t> </a:t>
            </a:r>
            <a:r>
              <a:rPr lang="pl-PL" sz="1600" dirty="0" err="1"/>
              <a:t>paths</a:t>
            </a:r>
            <a:r>
              <a:rPr lang="pl-PL" sz="1600" dirty="0"/>
              <a:t> </a:t>
            </a:r>
            <a:r>
              <a:rPr lang="pl-PL" sz="1600" dirty="0" err="1"/>
              <a:t>are</a:t>
            </a:r>
            <a:r>
              <a:rPr lang="pl-PL" sz="1600" dirty="0"/>
              <a:t> </a:t>
            </a:r>
            <a:r>
              <a:rPr lang="pl-PL" sz="1600" dirty="0" err="1"/>
              <a:t>exercised</a:t>
            </a:r>
            <a:r>
              <a:rPr lang="pl-PL" sz="1600" dirty="0"/>
              <a:t> but </a:t>
            </a:r>
            <a:r>
              <a:rPr lang="pl-PL" sz="1600" dirty="0" err="1"/>
              <a:t>which</a:t>
            </a:r>
            <a:r>
              <a:rPr lang="pl-PL" sz="1600" dirty="0"/>
              <a:t> </a:t>
            </a:r>
            <a:r>
              <a:rPr lang="pl-PL" sz="1600" dirty="0" err="1"/>
              <a:t>at</a:t>
            </a:r>
            <a:r>
              <a:rPr lang="pl-PL" sz="1600" dirty="0"/>
              <a:t> </a:t>
            </a:r>
            <a:r>
              <a:rPr lang="pl-PL" sz="1600" dirty="0" err="1"/>
              <a:t>first</a:t>
            </a:r>
            <a:r>
              <a:rPr lang="pl-PL" sz="1600" dirty="0"/>
              <a:t> </a:t>
            </a:r>
            <a:r>
              <a:rPr lang="pl-PL" sz="1600" dirty="0" err="1"/>
              <a:t>has</a:t>
            </a:r>
            <a:r>
              <a:rPr lang="pl-PL" sz="1600" dirty="0"/>
              <a:t> </a:t>
            </a:r>
            <a:r>
              <a:rPr lang="pl-PL" sz="1600" dirty="0" err="1"/>
              <a:t>minimal</a:t>
            </a:r>
            <a:r>
              <a:rPr lang="pl-PL" sz="1600" dirty="0"/>
              <a:t> </a:t>
            </a:r>
            <a:r>
              <a:rPr lang="pl-PL" sz="1600" dirty="0" err="1"/>
              <a:t>functionality</a:t>
            </a:r>
            <a:r>
              <a:rPr lang="pl-PL" sz="1600" dirty="0"/>
              <a:t>.</a:t>
            </a:r>
          </a:p>
          <a:p>
            <a:endParaRPr lang="en-US" dirty="0"/>
          </a:p>
        </p:txBody>
      </p:sp>
      <p:sp>
        <p:nvSpPr>
          <p:cNvPr id="4" name="Slide Number Placeholder 3"/>
          <p:cNvSpPr>
            <a:spLocks noGrp="1"/>
          </p:cNvSpPr>
          <p:nvPr>
            <p:ph type="sldNum" sz="quarter" idx="10"/>
          </p:nvPr>
        </p:nvSpPr>
        <p:spPr/>
        <p:txBody>
          <a:bodyPr/>
          <a:lstStyle/>
          <a:p>
            <a:fld id="{BD95789E-32BF-4BCD-9509-3BAE69BCF054}" type="slidenum">
              <a:rPr lang="en-AU" smtClean="0"/>
              <a:pPr/>
              <a:t>80</a:t>
            </a:fld>
            <a:endParaRPr lang="en-AU"/>
          </a:p>
        </p:txBody>
      </p:sp>
    </p:spTree>
    <p:extLst>
      <p:ext uri="{BB962C8B-B14F-4D97-AF65-F5344CB8AC3E}">
        <p14:creationId xmlns:p14="http://schemas.microsoft.com/office/powerpoint/2010/main" val="12735235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2" name="Date Placeholder 1">
            <a:extLst>
              <a:ext uri="{FF2B5EF4-FFF2-40B4-BE49-F238E27FC236}">
                <a16:creationId xmlns:a16="http://schemas.microsoft.com/office/drawing/2014/main" id="{A389C1E6-9A33-4660-8215-AD7CFB9E25A2}"/>
              </a:ext>
            </a:extLst>
          </p:cNvPr>
          <p:cNvSpPr>
            <a:spLocks noGrp="1"/>
          </p:cNvSpPr>
          <p:nvPr>
            <p:ph type="dt" sz="half" idx="10"/>
          </p:nvPr>
        </p:nvSpPr>
        <p:spPr/>
        <p:txBody>
          <a:bodyPr/>
          <a:lstStyle/>
          <a:p>
            <a:r>
              <a:rPr lang="en-US"/>
              <a:t>July 25, 2026</a:t>
            </a:r>
          </a:p>
        </p:txBody>
      </p:sp>
      <p:sp>
        <p:nvSpPr>
          <p:cNvPr id="3" name="Footer Placeholder 2">
            <a:extLst>
              <a:ext uri="{FF2B5EF4-FFF2-40B4-BE49-F238E27FC236}">
                <a16:creationId xmlns:a16="http://schemas.microsoft.com/office/drawing/2014/main" id="{F30A9E00-0706-4B0C-9543-052F617689EC}"/>
              </a:ext>
            </a:extLst>
          </p:cNvPr>
          <p:cNvSpPr>
            <a:spLocks noGrp="1"/>
          </p:cNvSpPr>
          <p:nvPr>
            <p:ph type="ftr" sz="quarter" idx="11"/>
          </p:nvPr>
        </p:nvSpPr>
        <p:spPr/>
        <p:txBody>
          <a:bodyPr/>
          <a:lstStyle/>
          <a:p>
            <a:r>
              <a:rPr lang="en-US"/>
              <a:t>SEZG651/SSZG653 Software Architectures</a:t>
            </a:r>
          </a:p>
        </p:txBody>
      </p:sp>
      <p:sp>
        <p:nvSpPr>
          <p:cNvPr id="4" name="Slide Number Placeholder 3">
            <a:extLst>
              <a:ext uri="{FF2B5EF4-FFF2-40B4-BE49-F238E27FC236}">
                <a16:creationId xmlns:a16="http://schemas.microsoft.com/office/drawing/2014/main" id="{FF93FD4A-D7E4-4CFD-9684-6D45C1BA16FA}"/>
              </a:ext>
            </a:extLst>
          </p:cNvPr>
          <p:cNvSpPr>
            <a:spLocks noGrp="1"/>
          </p:cNvSpPr>
          <p:nvPr>
            <p:ph type="sldNum" sz="quarter" idx="12"/>
          </p:nvPr>
        </p:nvSpPr>
        <p:spPr>
          <a:xfrm>
            <a:off x="7206762" y="6356350"/>
            <a:ext cx="1937238"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3" name="Date Placeholder 2">
            <a:extLst>
              <a:ext uri="{FF2B5EF4-FFF2-40B4-BE49-F238E27FC236}">
                <a16:creationId xmlns:a16="http://schemas.microsoft.com/office/drawing/2014/main" id="{EF140E3B-903D-44FF-B76A-1A74F8CAA9C3}"/>
              </a:ext>
            </a:extLst>
          </p:cNvPr>
          <p:cNvSpPr>
            <a:spLocks noGrp="1"/>
          </p:cNvSpPr>
          <p:nvPr>
            <p:ph type="dt" sz="half" idx="14"/>
          </p:nvPr>
        </p:nvSpPr>
        <p:spPr/>
        <p:txBody>
          <a:bodyPr/>
          <a:lstStyle/>
          <a:p>
            <a:r>
              <a:rPr lang="en-US"/>
              <a:t>July 25, 2026</a:t>
            </a:r>
          </a:p>
        </p:txBody>
      </p:sp>
      <p:sp>
        <p:nvSpPr>
          <p:cNvPr id="13" name="Footer Placeholder 12">
            <a:extLst>
              <a:ext uri="{FF2B5EF4-FFF2-40B4-BE49-F238E27FC236}">
                <a16:creationId xmlns:a16="http://schemas.microsoft.com/office/drawing/2014/main" id="{9AF849AF-005D-45B2-8B61-4DDF84849F36}"/>
              </a:ext>
            </a:extLst>
          </p:cNvPr>
          <p:cNvSpPr>
            <a:spLocks noGrp="1"/>
          </p:cNvSpPr>
          <p:nvPr>
            <p:ph type="ftr" sz="quarter" idx="15"/>
          </p:nvPr>
        </p:nvSpPr>
        <p:spPr/>
        <p:txBody>
          <a:bodyPr/>
          <a:lstStyle/>
          <a:p>
            <a:r>
              <a:rPr lang="en-US"/>
              <a:t>SEZG651/SSZG653 Software Architectures</a:t>
            </a:r>
          </a:p>
        </p:txBody>
      </p:sp>
      <p:sp>
        <p:nvSpPr>
          <p:cNvPr id="14" name="Slide Number Placeholder 13">
            <a:extLst>
              <a:ext uri="{FF2B5EF4-FFF2-40B4-BE49-F238E27FC236}">
                <a16:creationId xmlns:a16="http://schemas.microsoft.com/office/drawing/2014/main" id="{B81B6769-8356-43BB-A576-AD606E333014}"/>
              </a:ext>
            </a:extLst>
          </p:cNvPr>
          <p:cNvSpPr>
            <a:spLocks noGrp="1"/>
          </p:cNvSpPr>
          <p:nvPr>
            <p:ph type="sldNum" sz="quarter" idx="16"/>
          </p:nvPr>
        </p:nvSpPr>
        <p:spPr>
          <a:xfrm>
            <a:off x="7315200" y="6340475"/>
            <a:ext cx="18288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2" name="Date Placeholder 1">
            <a:extLst>
              <a:ext uri="{FF2B5EF4-FFF2-40B4-BE49-F238E27FC236}">
                <a16:creationId xmlns:a16="http://schemas.microsoft.com/office/drawing/2014/main" id="{FF33449E-F921-4097-ACEB-2539608ECFE2}"/>
              </a:ext>
            </a:extLst>
          </p:cNvPr>
          <p:cNvSpPr>
            <a:spLocks noGrp="1"/>
          </p:cNvSpPr>
          <p:nvPr>
            <p:ph type="dt" sz="half" idx="11"/>
          </p:nvPr>
        </p:nvSpPr>
        <p:spPr/>
        <p:txBody>
          <a:bodyPr/>
          <a:lstStyle/>
          <a:p>
            <a:r>
              <a:rPr lang="en-US"/>
              <a:t>July 25, 2026</a:t>
            </a:r>
            <a:endParaRPr lang="en-US" dirty="0"/>
          </a:p>
        </p:txBody>
      </p:sp>
      <p:sp>
        <p:nvSpPr>
          <p:cNvPr id="3" name="Footer Placeholder 2">
            <a:extLst>
              <a:ext uri="{FF2B5EF4-FFF2-40B4-BE49-F238E27FC236}">
                <a16:creationId xmlns:a16="http://schemas.microsoft.com/office/drawing/2014/main" id="{4CFB3AF7-233A-45D2-85EE-5EC3FDF5EF5F}"/>
              </a:ext>
            </a:extLst>
          </p:cNvPr>
          <p:cNvSpPr>
            <a:spLocks noGrp="1"/>
          </p:cNvSpPr>
          <p:nvPr>
            <p:ph type="ftr" sz="quarter" idx="12"/>
          </p:nvPr>
        </p:nvSpPr>
        <p:spPr/>
        <p:txBody>
          <a:bodyPr/>
          <a:lstStyle/>
          <a:p>
            <a:r>
              <a:rPr lang="en-US"/>
              <a:t>SEZG651/SSZG653 Software Architectures</a:t>
            </a:r>
            <a:endParaRPr lang="en-US" dirty="0"/>
          </a:p>
        </p:txBody>
      </p:sp>
      <p:sp>
        <p:nvSpPr>
          <p:cNvPr id="4" name="Slide Number Placeholder 3">
            <a:extLst>
              <a:ext uri="{FF2B5EF4-FFF2-40B4-BE49-F238E27FC236}">
                <a16:creationId xmlns:a16="http://schemas.microsoft.com/office/drawing/2014/main" id="{C3ED4B6A-FADE-4F8D-8A09-32D7B65878C5}"/>
              </a:ext>
            </a:extLst>
          </p:cNvPr>
          <p:cNvSpPr>
            <a:spLocks noGrp="1"/>
          </p:cNvSpPr>
          <p:nvPr>
            <p:ph type="sldNum" sz="quarter" idx="13"/>
          </p:nvPr>
        </p:nvSpPr>
        <p:spPr>
          <a:xfrm>
            <a:off x="7010400" y="6313488"/>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July 25,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SEZG651/SSZG653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6ED4B0F8-D031-4A9E-92CA-E8B9C130C62F}"/>
              </a:ext>
            </a:extLst>
          </p:cNvPr>
          <p:cNvSpPr>
            <a:spLocks noGrp="1"/>
          </p:cNvSpPr>
          <p:nvPr>
            <p:ph type="dt" sz="half" idx="11"/>
          </p:nvPr>
        </p:nvSpPr>
        <p:spPr/>
        <p:txBody>
          <a:bodyPr/>
          <a:lstStyle/>
          <a:p>
            <a:r>
              <a:rPr lang="en-US"/>
              <a:t>July 25, 2026</a:t>
            </a:r>
          </a:p>
        </p:txBody>
      </p:sp>
      <p:sp>
        <p:nvSpPr>
          <p:cNvPr id="5" name="Footer Placeholder 4">
            <a:extLst>
              <a:ext uri="{FF2B5EF4-FFF2-40B4-BE49-F238E27FC236}">
                <a16:creationId xmlns:a16="http://schemas.microsoft.com/office/drawing/2014/main" id="{B7088829-EECA-49B6-9EB3-BCB216DDBB94}"/>
              </a:ext>
            </a:extLst>
          </p:cNvPr>
          <p:cNvSpPr>
            <a:spLocks noGrp="1"/>
          </p:cNvSpPr>
          <p:nvPr>
            <p:ph type="ftr" sz="quarter" idx="12"/>
          </p:nvPr>
        </p:nvSpPr>
        <p:spPr/>
        <p:txBody>
          <a:bodyPr/>
          <a:lstStyle/>
          <a:p>
            <a:r>
              <a:rPr lang="en-US"/>
              <a:t>SEZG651/SSZG653 Software Architectures</a:t>
            </a:r>
          </a:p>
        </p:txBody>
      </p:sp>
      <p:sp>
        <p:nvSpPr>
          <p:cNvPr id="6" name="Slide Number Placeholder 5">
            <a:extLst>
              <a:ext uri="{FF2B5EF4-FFF2-40B4-BE49-F238E27FC236}">
                <a16:creationId xmlns:a16="http://schemas.microsoft.com/office/drawing/2014/main" id="{27A03438-FC3D-42A9-8AF7-A14C2054D949}"/>
              </a:ext>
            </a:extLst>
          </p:cNvPr>
          <p:cNvSpPr>
            <a:spLocks noGrp="1"/>
          </p:cNvSpPr>
          <p:nvPr>
            <p:ph type="sldNum" sz="quarter" idx="13"/>
          </p:nvPr>
        </p:nvSpPr>
        <p:spPr>
          <a:xfrm>
            <a:off x="6972300" y="6142574"/>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314700" y="6598919"/>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445DD9E3-F004-45EE-BC53-8795F8E8816A}"/>
              </a:ext>
            </a:extLst>
          </p:cNvPr>
          <p:cNvSpPr>
            <a:spLocks noGrp="1"/>
          </p:cNvSpPr>
          <p:nvPr>
            <p:ph type="dt" sz="half" idx="11"/>
          </p:nvPr>
        </p:nvSpPr>
        <p:spPr/>
        <p:txBody>
          <a:bodyPr/>
          <a:lstStyle/>
          <a:p>
            <a:r>
              <a:rPr lang="en-US"/>
              <a:t>July 25, 2026</a:t>
            </a:r>
          </a:p>
        </p:txBody>
      </p:sp>
      <p:sp>
        <p:nvSpPr>
          <p:cNvPr id="3" name="Footer Placeholder 2">
            <a:extLst>
              <a:ext uri="{FF2B5EF4-FFF2-40B4-BE49-F238E27FC236}">
                <a16:creationId xmlns:a16="http://schemas.microsoft.com/office/drawing/2014/main" id="{2EFC770E-EF70-4FCE-A166-B9462D1C0F8B}"/>
              </a:ext>
            </a:extLst>
          </p:cNvPr>
          <p:cNvSpPr>
            <a:spLocks noGrp="1"/>
          </p:cNvSpPr>
          <p:nvPr>
            <p:ph type="ftr" sz="quarter" idx="12"/>
          </p:nvPr>
        </p:nvSpPr>
        <p:spPr/>
        <p:txBody>
          <a:bodyPr/>
          <a:lstStyle/>
          <a:p>
            <a:r>
              <a:rPr lang="en-US"/>
              <a:t>SEZG651/SSZG653 Software Architectures</a:t>
            </a:r>
          </a:p>
        </p:txBody>
      </p:sp>
      <p:sp>
        <p:nvSpPr>
          <p:cNvPr id="4" name="Slide Number Placeholder 3">
            <a:extLst>
              <a:ext uri="{FF2B5EF4-FFF2-40B4-BE49-F238E27FC236}">
                <a16:creationId xmlns:a16="http://schemas.microsoft.com/office/drawing/2014/main" id="{B55FC222-269D-47E2-8242-B002730600B0}"/>
              </a:ext>
            </a:extLst>
          </p:cNvPr>
          <p:cNvSpPr>
            <a:spLocks noGrp="1"/>
          </p:cNvSpPr>
          <p:nvPr>
            <p:ph type="sldNum" sz="quarter" idx="13"/>
          </p:nvPr>
        </p:nvSpPr>
        <p:spPr>
          <a:xfrm>
            <a:off x="7010400" y="6217260"/>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0074CF8A-883F-4144-AB15-923DF648E0CE}"/>
              </a:ext>
            </a:extLst>
          </p:cNvPr>
          <p:cNvSpPr>
            <a:spLocks noGrp="1"/>
          </p:cNvSpPr>
          <p:nvPr>
            <p:ph type="dt" sz="half" idx="14"/>
          </p:nvPr>
        </p:nvSpPr>
        <p:spPr/>
        <p:txBody>
          <a:bodyPr/>
          <a:lstStyle/>
          <a:p>
            <a:r>
              <a:rPr lang="en-US"/>
              <a:t>July 25, 2026</a:t>
            </a:r>
          </a:p>
        </p:txBody>
      </p:sp>
      <p:sp>
        <p:nvSpPr>
          <p:cNvPr id="5" name="Footer Placeholder 4">
            <a:extLst>
              <a:ext uri="{FF2B5EF4-FFF2-40B4-BE49-F238E27FC236}">
                <a16:creationId xmlns:a16="http://schemas.microsoft.com/office/drawing/2014/main" id="{FA6C6268-F619-48BB-933B-E115CE93C624}"/>
              </a:ext>
            </a:extLst>
          </p:cNvPr>
          <p:cNvSpPr>
            <a:spLocks noGrp="1"/>
          </p:cNvSpPr>
          <p:nvPr>
            <p:ph type="ftr" sz="quarter" idx="15"/>
          </p:nvPr>
        </p:nvSpPr>
        <p:spPr/>
        <p:txBody>
          <a:bodyPr/>
          <a:lstStyle/>
          <a:p>
            <a:r>
              <a:rPr lang="en-US"/>
              <a:t>SEZG651/SSZG653 Software Architectures</a:t>
            </a:r>
          </a:p>
        </p:txBody>
      </p:sp>
      <p:sp>
        <p:nvSpPr>
          <p:cNvPr id="6" name="Slide Number Placeholder 5">
            <a:extLst>
              <a:ext uri="{FF2B5EF4-FFF2-40B4-BE49-F238E27FC236}">
                <a16:creationId xmlns:a16="http://schemas.microsoft.com/office/drawing/2014/main" id="{CFC9EFE8-733E-4AFB-BDAB-0CE5D93733CF}"/>
              </a:ext>
            </a:extLst>
          </p:cNvPr>
          <p:cNvSpPr>
            <a:spLocks noGrp="1"/>
          </p:cNvSpPr>
          <p:nvPr>
            <p:ph type="sldNum" sz="quarter" idx="16"/>
          </p:nvPr>
        </p:nvSpPr>
        <p:spPr>
          <a:xfrm>
            <a:off x="7010400" y="6206025"/>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10" name="Date Placeholder 9">
            <a:extLst>
              <a:ext uri="{FF2B5EF4-FFF2-40B4-BE49-F238E27FC236}">
                <a16:creationId xmlns:a16="http://schemas.microsoft.com/office/drawing/2014/main" id="{FB6E1B0A-851E-4A0C-B89D-3CC106FF0C5B}"/>
              </a:ext>
            </a:extLst>
          </p:cNvPr>
          <p:cNvSpPr>
            <a:spLocks noGrp="1"/>
          </p:cNvSpPr>
          <p:nvPr>
            <p:ph type="dt" sz="half" idx="11"/>
          </p:nvPr>
        </p:nvSpPr>
        <p:spPr/>
        <p:txBody>
          <a:bodyPr/>
          <a:lstStyle/>
          <a:p>
            <a:r>
              <a:rPr lang="en-US"/>
              <a:t>July 25, 2026</a:t>
            </a:r>
          </a:p>
        </p:txBody>
      </p:sp>
      <p:sp>
        <p:nvSpPr>
          <p:cNvPr id="17" name="Footer Placeholder 16">
            <a:extLst>
              <a:ext uri="{FF2B5EF4-FFF2-40B4-BE49-F238E27FC236}">
                <a16:creationId xmlns:a16="http://schemas.microsoft.com/office/drawing/2014/main" id="{224DB619-8B4A-4430-9A32-51334D35E42E}"/>
              </a:ext>
            </a:extLst>
          </p:cNvPr>
          <p:cNvSpPr>
            <a:spLocks noGrp="1"/>
          </p:cNvSpPr>
          <p:nvPr>
            <p:ph type="ftr" sz="quarter" idx="12"/>
          </p:nvPr>
        </p:nvSpPr>
        <p:spPr/>
        <p:txBody>
          <a:bodyPr/>
          <a:lstStyle/>
          <a:p>
            <a:r>
              <a:rPr lang="en-US"/>
              <a:t>SEZG651/SSZG653 Software Architectures</a:t>
            </a:r>
          </a:p>
        </p:txBody>
      </p:sp>
      <p:sp>
        <p:nvSpPr>
          <p:cNvPr id="18" name="Slide Number Placeholder 17">
            <a:extLst>
              <a:ext uri="{FF2B5EF4-FFF2-40B4-BE49-F238E27FC236}">
                <a16:creationId xmlns:a16="http://schemas.microsoft.com/office/drawing/2014/main" id="{8986382B-03E0-49E8-ABB3-DDB76510459C}"/>
              </a:ext>
            </a:extLst>
          </p:cNvPr>
          <p:cNvSpPr>
            <a:spLocks noGrp="1"/>
          </p:cNvSpPr>
          <p:nvPr>
            <p:ph type="sldNum" sz="quarter" idx="13"/>
          </p:nvPr>
        </p:nvSpPr>
        <p:spPr>
          <a:xfrm>
            <a:off x="7010400" y="6210934"/>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 xmlns:a14="http://schemas.microsoft.com/office/drawing/2010/main">
                <a:solidFill>
                  <a:srgbClr val="FFFFFF"/>
                </a:solidFill>
              </a14:hiddenFill>
            </a:ext>
          </a:extLst>
        </p:spPr>
      </p:pic>
      <p:sp>
        <p:nvSpPr>
          <p:cNvPr id="9" name="Footer Placeholder 8"/>
          <p:cNvSpPr>
            <a:spLocks noGrp="1"/>
          </p:cNvSpPr>
          <p:nvPr>
            <p:ph type="ftr" sz="quarter" idx="11"/>
          </p:nvPr>
        </p:nvSpPr>
        <p:spPr>
          <a:xfrm>
            <a:off x="1403648" y="6356350"/>
            <a:ext cx="6336704" cy="365125"/>
          </a:xfrm>
        </p:spPr>
        <p:txBody>
          <a:bodyPr/>
          <a:lstStyle/>
          <a:p>
            <a:r>
              <a:rPr lang="en-AU"/>
              <a:t>SEZG651/SSZG653 Software Architectures</a:t>
            </a:r>
            <a:endParaRPr lang="en-AU" dirty="0"/>
          </a:p>
        </p:txBody>
      </p:sp>
    </p:spTree>
    <p:extLst>
      <p:ext uri="{BB962C8B-B14F-4D97-AF65-F5344CB8AC3E}">
        <p14:creationId xmlns:p14="http://schemas.microsoft.com/office/powerpoint/2010/main" val="2881029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July 25,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SEZG651/SSZG653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280756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a:t>July 25, 2026</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a:t>SEZG651/SSZG653 Software Architectures</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 id="2147483661" r:id="rId12"/>
    <p:sldLayoutId id="2147483662" r:id="rId13"/>
  </p:sldLayoutIdLst>
  <p:hf hdr="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09800" y="3962400"/>
            <a:ext cx="6444521" cy="1447800"/>
          </a:xfrm>
        </p:spPr>
        <p:txBody>
          <a:bodyPr/>
          <a:lstStyle/>
          <a:p>
            <a:pPr algn="r"/>
            <a:r>
              <a:rPr lang="en-US" dirty="0"/>
              <a:t>Software Architecture</a:t>
            </a:r>
            <a:br>
              <a:rPr lang="en-US" dirty="0"/>
            </a:br>
            <a:r>
              <a:rPr lang="en-US" dirty="0"/>
              <a:t>CS01 Introduction</a:t>
            </a:r>
          </a:p>
        </p:txBody>
      </p:sp>
      <p:sp>
        <p:nvSpPr>
          <p:cNvPr id="6" name="Content Placeholder 5"/>
          <p:cNvSpPr>
            <a:spLocks noGrp="1"/>
          </p:cNvSpPr>
          <p:nvPr>
            <p:ph sz="quarter" idx="13"/>
          </p:nvPr>
        </p:nvSpPr>
        <p:spPr>
          <a:xfrm>
            <a:off x="5149120" y="1447800"/>
            <a:ext cx="3918679" cy="533400"/>
          </a:xfrm>
        </p:spPr>
        <p:txBody>
          <a:bodyPr/>
          <a:lstStyle/>
          <a:p>
            <a:r>
              <a:rPr lang="en-US" dirty="0"/>
              <a:t>Harvinder S Jabbal</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1</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July 25, 2026</a:t>
            </a:r>
          </a:p>
        </p:txBody>
      </p:sp>
    </p:spTree>
    <p:extLst>
      <p:ext uri="{BB962C8B-B14F-4D97-AF65-F5344CB8AC3E}">
        <p14:creationId xmlns:p14="http://schemas.microsoft.com/office/powerpoint/2010/main" val="1445644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7CEFD-8383-34C6-DC79-7434F348A25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B8B4BBE-26FA-5DF8-23B0-775E5422FE76}"/>
              </a:ext>
            </a:extLst>
          </p:cNvPr>
          <p:cNvSpPr>
            <a:spLocks noGrp="1"/>
          </p:cNvSpPr>
          <p:nvPr>
            <p:ph type="title"/>
          </p:nvPr>
        </p:nvSpPr>
        <p:spPr/>
        <p:txBody>
          <a:bodyPr/>
          <a:lstStyle/>
          <a:p>
            <a:r>
              <a:rPr lang="en-US" dirty="0"/>
              <a:t>Why Software Architecture is</a:t>
            </a:r>
            <a:br>
              <a:rPr lang="en-US" dirty="0"/>
            </a:br>
            <a:r>
              <a:rPr lang="en-US" dirty="0"/>
              <a:t>Important?</a:t>
            </a:r>
          </a:p>
        </p:txBody>
      </p:sp>
      <p:sp>
        <p:nvSpPr>
          <p:cNvPr id="6" name="Content Placeholder 5">
            <a:extLst>
              <a:ext uri="{FF2B5EF4-FFF2-40B4-BE49-F238E27FC236}">
                <a16:creationId xmlns:a16="http://schemas.microsoft.com/office/drawing/2014/main" id="{C96DD909-E4F2-5CB0-A5D2-A5E6BB551E91}"/>
              </a:ext>
            </a:extLst>
          </p:cNvPr>
          <p:cNvSpPr>
            <a:spLocks noGrp="1"/>
          </p:cNvSpPr>
          <p:nvPr>
            <p:ph sz="quarter" idx="13"/>
          </p:nvPr>
        </p:nvSpPr>
        <p:spPr/>
        <p:txBody>
          <a:bodyPr/>
          <a:lstStyle/>
          <a:p>
            <a:r>
              <a:rPr lang="en-US" dirty="0"/>
              <a:t>Harvinder S Jabbal</a:t>
            </a:r>
          </a:p>
          <a:p>
            <a:r>
              <a:rPr lang="en-US" dirty="0"/>
              <a:t>CSIS, Work Integrated Learning Programs</a:t>
            </a:r>
          </a:p>
        </p:txBody>
      </p:sp>
      <p:sp>
        <p:nvSpPr>
          <p:cNvPr id="2" name="Slide Number Placeholder 1">
            <a:extLst>
              <a:ext uri="{FF2B5EF4-FFF2-40B4-BE49-F238E27FC236}">
                <a16:creationId xmlns:a16="http://schemas.microsoft.com/office/drawing/2014/main" id="{46059A9C-7208-2927-E2C4-C5A378933E33}"/>
              </a:ext>
            </a:extLst>
          </p:cNvPr>
          <p:cNvSpPr>
            <a:spLocks noGrp="1"/>
          </p:cNvSpPr>
          <p:nvPr>
            <p:ph type="sldNum" sz="quarter" idx="16"/>
          </p:nvPr>
        </p:nvSpPr>
        <p:spPr/>
        <p:txBody>
          <a:bodyPr/>
          <a:lstStyle/>
          <a:p>
            <a:fld id="{BC8D7E44-7D4F-4942-A8C9-2DF6BF8399E8}" type="slidenum">
              <a:rPr lang="en-US" smtClean="0"/>
              <a:pPr/>
              <a:t>2</a:t>
            </a:fld>
            <a:endParaRPr lang="en-US" dirty="0"/>
          </a:p>
        </p:txBody>
      </p:sp>
      <p:sp>
        <p:nvSpPr>
          <p:cNvPr id="3" name="Footer Placeholder 2">
            <a:extLst>
              <a:ext uri="{FF2B5EF4-FFF2-40B4-BE49-F238E27FC236}">
                <a16:creationId xmlns:a16="http://schemas.microsoft.com/office/drawing/2014/main" id="{67C12016-BA5A-0B84-5830-4ADF2B63B796}"/>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C1B6B1A3-8B2A-C2C4-5350-D6FAA186F07A}"/>
              </a:ext>
            </a:extLst>
          </p:cNvPr>
          <p:cNvSpPr>
            <a:spLocks noGrp="1"/>
          </p:cNvSpPr>
          <p:nvPr>
            <p:ph type="dt" sz="half" idx="14"/>
          </p:nvPr>
        </p:nvSpPr>
        <p:spPr/>
        <p:txBody>
          <a:bodyPr/>
          <a:lstStyle/>
          <a:p>
            <a:r>
              <a:rPr lang="en-US"/>
              <a:t>July 25, 2026</a:t>
            </a:r>
          </a:p>
        </p:txBody>
      </p:sp>
    </p:spTree>
    <p:extLst>
      <p:ext uri="{BB962C8B-B14F-4D97-AF65-F5344CB8AC3E}">
        <p14:creationId xmlns:p14="http://schemas.microsoft.com/office/powerpoint/2010/main" val="3783009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752744-42EE-4FE1-9C7A-F5FBB90E94F9}"/>
              </a:ext>
            </a:extLst>
          </p:cNvPr>
          <p:cNvSpPr>
            <a:spLocks noGrp="1"/>
          </p:cNvSpPr>
          <p:nvPr>
            <p:ph sz="quarter" idx="10"/>
          </p:nvPr>
        </p:nvSpPr>
        <p:spPr/>
        <p:txBody>
          <a:bodyPr/>
          <a:lstStyle/>
          <a:p>
            <a:r>
              <a:rPr lang="en-US" dirty="0"/>
              <a:t>SEZG651/ SSZG653 </a:t>
            </a:r>
          </a:p>
          <a:p>
            <a:r>
              <a:rPr lang="en-US" dirty="0"/>
              <a:t>Software Architectures</a:t>
            </a:r>
          </a:p>
          <a:p>
            <a:r>
              <a:rPr lang="en-US" dirty="0"/>
              <a:t>CS01</a:t>
            </a:r>
            <a:endParaRPr lang="en-IN" dirty="0"/>
          </a:p>
        </p:txBody>
      </p:sp>
      <p:sp>
        <p:nvSpPr>
          <p:cNvPr id="3" name="Date Placeholder 2">
            <a:extLst>
              <a:ext uri="{FF2B5EF4-FFF2-40B4-BE49-F238E27FC236}">
                <a16:creationId xmlns:a16="http://schemas.microsoft.com/office/drawing/2014/main" id="{6D0035C9-D2E0-4498-9EE1-180F252C2A85}"/>
              </a:ext>
            </a:extLst>
          </p:cNvPr>
          <p:cNvSpPr>
            <a:spLocks noGrp="1"/>
          </p:cNvSpPr>
          <p:nvPr>
            <p:ph type="dt" sz="half" idx="11"/>
          </p:nvPr>
        </p:nvSpPr>
        <p:spPr/>
        <p:txBody>
          <a:bodyPr/>
          <a:lstStyle/>
          <a:p>
            <a:r>
              <a:rPr lang="en-US"/>
              <a:t>July 25, 2026</a:t>
            </a:r>
            <a:endParaRPr lang="en-US" dirty="0"/>
          </a:p>
        </p:txBody>
      </p:sp>
      <p:sp>
        <p:nvSpPr>
          <p:cNvPr id="4" name="Footer Placeholder 3">
            <a:extLst>
              <a:ext uri="{FF2B5EF4-FFF2-40B4-BE49-F238E27FC236}">
                <a16:creationId xmlns:a16="http://schemas.microsoft.com/office/drawing/2014/main" id="{96D3A158-9E03-496D-9B04-75B73660BA91}"/>
              </a:ext>
            </a:extLst>
          </p:cNvPr>
          <p:cNvSpPr>
            <a:spLocks noGrp="1"/>
          </p:cNvSpPr>
          <p:nvPr>
            <p:ph type="ftr" sz="quarter" idx="12"/>
          </p:nvPr>
        </p:nvSpPr>
        <p:spPr/>
        <p:txBody>
          <a:bodyPr/>
          <a:lstStyle/>
          <a:p>
            <a:r>
              <a:rPr lang="en-US"/>
              <a:t>SEZG651/SSZG653 Software Architectures</a:t>
            </a:r>
            <a:endParaRPr lang="en-US" dirty="0"/>
          </a:p>
        </p:txBody>
      </p:sp>
      <p:sp>
        <p:nvSpPr>
          <p:cNvPr id="5" name="Slide Number Placeholder 4">
            <a:extLst>
              <a:ext uri="{FF2B5EF4-FFF2-40B4-BE49-F238E27FC236}">
                <a16:creationId xmlns:a16="http://schemas.microsoft.com/office/drawing/2014/main" id="{83A513F7-9F26-47CD-9FBE-7932DFD4A5AB}"/>
              </a:ext>
            </a:extLst>
          </p:cNvPr>
          <p:cNvSpPr>
            <a:spLocks noGrp="1"/>
          </p:cNvSpPr>
          <p:nvPr>
            <p:ph type="sldNum" sz="quarter" idx="13"/>
          </p:nvPr>
        </p:nvSpPr>
        <p:spPr/>
        <p:txBody>
          <a:bodyPr/>
          <a:lstStyle/>
          <a:p>
            <a:fld id="{BC8D7E44-7D4F-4942-A8C9-2DF6BF8399E8}" type="slidenum">
              <a:rPr lang="en-US" smtClean="0"/>
              <a:pPr/>
              <a:t>3</a:t>
            </a:fld>
            <a:endParaRPr lang="en-US" dirty="0"/>
          </a:p>
        </p:txBody>
      </p:sp>
    </p:spTree>
    <p:extLst>
      <p:ext uri="{BB962C8B-B14F-4D97-AF65-F5344CB8AC3E}">
        <p14:creationId xmlns:p14="http://schemas.microsoft.com/office/powerpoint/2010/main" val="4285883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AA66B3-FC95-4E7C-A9EB-5ACC60AD9BB9}"/>
              </a:ext>
            </a:extLst>
          </p:cNvPr>
          <p:cNvSpPr>
            <a:spLocks noGrp="1"/>
          </p:cNvSpPr>
          <p:nvPr>
            <p:ph idx="1"/>
          </p:nvPr>
        </p:nvSpPr>
        <p:spPr/>
        <p:txBody>
          <a:bodyPr>
            <a:noAutofit/>
          </a:bodyPr>
          <a:lstStyle/>
          <a:p>
            <a:pPr marL="514350" indent="-514350">
              <a:buFont typeface="+mj-lt"/>
              <a:buAutoNum type="arabicPeriod"/>
            </a:pPr>
            <a:r>
              <a:rPr lang="en-US" sz="1400" dirty="0"/>
              <a:t>An architecture will inhibit or enable a system’s driving quality attributes.</a:t>
            </a:r>
          </a:p>
          <a:p>
            <a:pPr marL="514350" indent="-514350">
              <a:buFont typeface="+mj-lt"/>
              <a:buAutoNum type="arabicPeriod"/>
            </a:pPr>
            <a:r>
              <a:rPr lang="en-US" sz="1400" dirty="0"/>
              <a:t>The decisions made in an architecture allow you to reason about and manage change as the system evolves.</a:t>
            </a:r>
          </a:p>
          <a:p>
            <a:pPr marL="514350" indent="-514350">
              <a:buFont typeface="+mj-lt"/>
              <a:buAutoNum type="arabicPeriod"/>
            </a:pPr>
            <a:r>
              <a:rPr lang="en-US" sz="1400" dirty="0"/>
              <a:t>The analysis of an architecture enables early prediction of a system’s qualities.</a:t>
            </a:r>
          </a:p>
          <a:p>
            <a:pPr marL="514350" indent="-514350">
              <a:buFont typeface="+mj-lt"/>
              <a:buAutoNum type="arabicPeriod"/>
            </a:pPr>
            <a:r>
              <a:rPr lang="en-US" sz="1400" dirty="0"/>
              <a:t>A documented architecture enhances communication among stakeholders.</a:t>
            </a:r>
          </a:p>
          <a:p>
            <a:pPr marL="514350" indent="-514350">
              <a:buFont typeface="+mj-lt"/>
              <a:buAutoNum type="arabicPeriod"/>
            </a:pPr>
            <a:r>
              <a:rPr lang="en-US" sz="1400" dirty="0"/>
              <a:t>The architecture is a carrier of the earliest and hence most fundamental, hardest-to-change design decisions.</a:t>
            </a:r>
          </a:p>
          <a:p>
            <a:pPr marL="514350" indent="-514350">
              <a:buFont typeface="+mj-lt"/>
              <a:buAutoNum type="arabicPeriod"/>
            </a:pPr>
            <a:r>
              <a:rPr lang="en-US" sz="1400" dirty="0"/>
              <a:t>An architecture defines a set of constraints on subsequent implementation.</a:t>
            </a:r>
          </a:p>
          <a:p>
            <a:pPr marL="514350" indent="-514350">
              <a:buFont typeface="+mj-lt"/>
              <a:buAutoNum type="arabicPeriod"/>
            </a:pPr>
            <a:r>
              <a:rPr lang="en-US" sz="1400" dirty="0"/>
              <a:t>The architecture dictates the structure of an organization, or vice versa.</a:t>
            </a:r>
          </a:p>
          <a:p>
            <a:pPr marL="514350" indent="-514350">
              <a:buFont typeface="+mj-lt"/>
              <a:buAutoNum type="arabicPeriod"/>
            </a:pPr>
            <a:r>
              <a:rPr lang="en-US" sz="1400" dirty="0"/>
              <a:t>An architecture can provide the basis for evolutionary prototyping.</a:t>
            </a:r>
          </a:p>
          <a:p>
            <a:pPr marL="514350" indent="-514350">
              <a:buFont typeface="+mj-lt"/>
              <a:buAutoNum type="arabicPeriod"/>
            </a:pPr>
            <a:r>
              <a:rPr lang="en-US" sz="1400" dirty="0"/>
              <a:t>An architecture is the key artifact that allows the architect and project manager to reason about cost and schedule.</a:t>
            </a:r>
          </a:p>
          <a:p>
            <a:pPr marL="514350" indent="-514350">
              <a:buFont typeface="+mj-lt"/>
              <a:buAutoNum type="arabicPeriod"/>
            </a:pPr>
            <a:r>
              <a:rPr lang="en-US" sz="1400" dirty="0"/>
              <a:t>An architecture can be created as a transferable, reusable model that form the heart of a product line.</a:t>
            </a:r>
          </a:p>
          <a:p>
            <a:pPr marL="514350" indent="-514350">
              <a:buFont typeface="+mj-lt"/>
              <a:buAutoNum type="arabicPeriod"/>
            </a:pPr>
            <a:r>
              <a:rPr lang="en-US" sz="1400" dirty="0"/>
              <a:t>Architecture-based development focuses attention on the assembly of components, rather than simply on their creation.</a:t>
            </a:r>
          </a:p>
          <a:p>
            <a:pPr marL="514350" indent="-514350">
              <a:buFont typeface="+mj-lt"/>
              <a:buAutoNum type="arabicPeriod"/>
            </a:pPr>
            <a:r>
              <a:rPr lang="en-US" sz="1400" dirty="0"/>
              <a:t>By restricting design alternatives, architecture channels the creativity of developers, reducing design and system complexity.</a:t>
            </a:r>
          </a:p>
          <a:p>
            <a:pPr marL="514350" indent="-514350">
              <a:buFont typeface="+mj-lt"/>
              <a:buAutoNum type="arabicPeriod"/>
            </a:pPr>
            <a:r>
              <a:rPr lang="en-US" sz="1400" dirty="0"/>
              <a:t>An architecture can be the foundation for training a new team member.</a:t>
            </a:r>
            <a:endParaRPr lang="en-AU" sz="1400" dirty="0"/>
          </a:p>
          <a:p>
            <a:endParaRPr lang="en-IN" sz="1400" dirty="0"/>
          </a:p>
        </p:txBody>
      </p:sp>
      <p:sp>
        <p:nvSpPr>
          <p:cNvPr id="3" name="Content Placeholder 2">
            <a:extLst>
              <a:ext uri="{FF2B5EF4-FFF2-40B4-BE49-F238E27FC236}">
                <a16:creationId xmlns:a16="http://schemas.microsoft.com/office/drawing/2014/main" id="{893CE18F-80CC-4097-911F-EB3004528A8E}"/>
              </a:ext>
            </a:extLst>
          </p:cNvPr>
          <p:cNvSpPr>
            <a:spLocks noGrp="1"/>
          </p:cNvSpPr>
          <p:nvPr>
            <p:ph sz="quarter" idx="10"/>
          </p:nvPr>
        </p:nvSpPr>
        <p:spPr/>
        <p:txBody>
          <a:bodyPr/>
          <a:lstStyle/>
          <a:p>
            <a:r>
              <a:rPr lang="en-AU" dirty="0"/>
              <a:t>Why is Software Architecture Important?</a:t>
            </a:r>
            <a:endParaRPr lang="en-IN" dirty="0"/>
          </a:p>
        </p:txBody>
      </p:sp>
      <p:sp>
        <p:nvSpPr>
          <p:cNvPr id="5" name="Date Placeholder 4">
            <a:extLst>
              <a:ext uri="{FF2B5EF4-FFF2-40B4-BE49-F238E27FC236}">
                <a16:creationId xmlns:a16="http://schemas.microsoft.com/office/drawing/2014/main" id="{365638AB-F0AF-4D27-A3BB-197EFD5E417F}"/>
              </a:ext>
            </a:extLst>
          </p:cNvPr>
          <p:cNvSpPr>
            <a:spLocks noGrp="1"/>
          </p:cNvSpPr>
          <p:nvPr>
            <p:ph type="dt" sz="half" idx="12"/>
          </p:nvPr>
        </p:nvSpPr>
        <p:spPr/>
        <p:txBody>
          <a:bodyPr/>
          <a:lstStyle/>
          <a:p>
            <a:r>
              <a:rPr lang="en-US"/>
              <a:t>July 25, 2026</a:t>
            </a:r>
          </a:p>
        </p:txBody>
      </p:sp>
      <p:sp>
        <p:nvSpPr>
          <p:cNvPr id="6" name="Footer Placeholder 5">
            <a:extLst>
              <a:ext uri="{FF2B5EF4-FFF2-40B4-BE49-F238E27FC236}">
                <a16:creationId xmlns:a16="http://schemas.microsoft.com/office/drawing/2014/main" id="{1C65D0FD-CB02-4161-9199-3FFB52FC4A25}"/>
              </a:ext>
            </a:extLst>
          </p:cNvPr>
          <p:cNvSpPr>
            <a:spLocks noGrp="1"/>
          </p:cNvSpPr>
          <p:nvPr>
            <p:ph type="ftr" sz="quarter" idx="13"/>
          </p:nvPr>
        </p:nvSpPr>
        <p:spPr>
          <a:xfrm>
            <a:off x="3124200" y="6356350"/>
            <a:ext cx="2895600" cy="365125"/>
          </a:xfrm>
        </p:spPr>
        <p:txBody>
          <a:bodyPr/>
          <a:lstStyle/>
          <a:p>
            <a:r>
              <a:rPr lang="en-US"/>
              <a:t>SEZG651/SSZG653 Software Architectures</a:t>
            </a:r>
            <a:endParaRPr lang="en-US" dirty="0"/>
          </a:p>
        </p:txBody>
      </p:sp>
      <p:sp>
        <p:nvSpPr>
          <p:cNvPr id="7" name="Slide Number Placeholder 6">
            <a:extLst>
              <a:ext uri="{FF2B5EF4-FFF2-40B4-BE49-F238E27FC236}">
                <a16:creationId xmlns:a16="http://schemas.microsoft.com/office/drawing/2014/main" id="{7A969354-7CAE-4838-9578-49BB4E9C7AE7}"/>
              </a:ext>
            </a:extLst>
          </p:cNvPr>
          <p:cNvSpPr>
            <a:spLocks noGrp="1"/>
          </p:cNvSpPr>
          <p:nvPr>
            <p:ph type="sldNum" sz="quarter" idx="14"/>
          </p:nvPr>
        </p:nvSpPr>
        <p:spPr/>
        <p:txBody>
          <a:bodyPr/>
          <a:lstStyle/>
          <a:p>
            <a:fld id="{BC8D7E44-7D4F-4942-A8C9-2DF6BF8399E8}" type="slidenum">
              <a:rPr lang="en-US" smtClean="0"/>
              <a:pPr/>
              <a:t>4</a:t>
            </a:fld>
            <a:endParaRPr lang="en-US" dirty="0"/>
          </a:p>
        </p:txBody>
      </p:sp>
    </p:spTree>
    <p:extLst>
      <p:ext uri="{BB962C8B-B14F-4D97-AF65-F5344CB8AC3E}">
        <p14:creationId xmlns:p14="http://schemas.microsoft.com/office/powerpoint/2010/main" val="1447938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E464F2E9-E1A0-83A3-7A5D-E98F93D0A597}"/>
              </a:ext>
            </a:extLst>
          </p:cNvPr>
          <p:cNvGraphicFramePr>
            <a:graphicFrameLocks noGrp="1"/>
          </p:cNvGraphicFramePr>
          <p:nvPr>
            <p:ph idx="1"/>
            <p:extLst>
              <p:ext uri="{D42A27DB-BD31-4B8C-83A1-F6EECF244321}">
                <p14:modId xmlns:p14="http://schemas.microsoft.com/office/powerpoint/2010/main" val="3921833962"/>
              </p:ext>
            </p:extLst>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AAD102BF-6706-1CC3-D95E-EB2BF788B1DC}"/>
              </a:ext>
            </a:extLst>
          </p:cNvPr>
          <p:cNvSpPr>
            <a:spLocks noGrp="1"/>
          </p:cNvSpPr>
          <p:nvPr>
            <p:ph sz="quarter" idx="10"/>
          </p:nvPr>
        </p:nvSpPr>
        <p:spPr/>
        <p:txBody>
          <a:bodyPr/>
          <a:lstStyle/>
          <a:p>
            <a:r>
              <a:rPr lang="en-IN" dirty="0"/>
              <a:t>As per Len Bass</a:t>
            </a:r>
          </a:p>
        </p:txBody>
      </p:sp>
      <p:sp>
        <p:nvSpPr>
          <p:cNvPr id="4" name="Date Placeholder 3">
            <a:extLst>
              <a:ext uri="{FF2B5EF4-FFF2-40B4-BE49-F238E27FC236}">
                <a16:creationId xmlns:a16="http://schemas.microsoft.com/office/drawing/2014/main" id="{E12AEC0B-8946-36EF-9ABF-A04429F5CFAE}"/>
              </a:ext>
            </a:extLst>
          </p:cNvPr>
          <p:cNvSpPr>
            <a:spLocks noGrp="1"/>
          </p:cNvSpPr>
          <p:nvPr>
            <p:ph type="dt" sz="half" idx="12"/>
          </p:nvPr>
        </p:nvSpPr>
        <p:spPr/>
        <p:txBody>
          <a:bodyPr/>
          <a:lstStyle/>
          <a:p>
            <a:r>
              <a:rPr lang="en-US"/>
              <a:t>July 25, 2026</a:t>
            </a:r>
          </a:p>
        </p:txBody>
      </p:sp>
      <p:sp>
        <p:nvSpPr>
          <p:cNvPr id="5" name="Footer Placeholder 4">
            <a:extLst>
              <a:ext uri="{FF2B5EF4-FFF2-40B4-BE49-F238E27FC236}">
                <a16:creationId xmlns:a16="http://schemas.microsoft.com/office/drawing/2014/main" id="{B2FFD37E-F892-C201-B6F4-8BF8269340AC}"/>
              </a:ext>
            </a:extLst>
          </p:cNvPr>
          <p:cNvSpPr>
            <a:spLocks noGrp="1"/>
          </p:cNvSpPr>
          <p:nvPr>
            <p:ph type="ftr" sz="quarter" idx="13"/>
          </p:nvPr>
        </p:nvSpPr>
        <p:spPr/>
        <p:txBody>
          <a:bodyPr/>
          <a:lstStyle/>
          <a:p>
            <a:r>
              <a:rPr lang="en-US"/>
              <a:t>SEZG651/SSZG653 Software Architectures</a:t>
            </a:r>
          </a:p>
        </p:txBody>
      </p:sp>
      <p:sp>
        <p:nvSpPr>
          <p:cNvPr id="6" name="Slide Number Placeholder 5">
            <a:extLst>
              <a:ext uri="{FF2B5EF4-FFF2-40B4-BE49-F238E27FC236}">
                <a16:creationId xmlns:a16="http://schemas.microsoft.com/office/drawing/2014/main" id="{2E39594B-157B-C121-13AD-B1E6A4AC0984}"/>
              </a:ext>
            </a:extLst>
          </p:cNvPr>
          <p:cNvSpPr>
            <a:spLocks noGrp="1"/>
          </p:cNvSpPr>
          <p:nvPr>
            <p:ph type="sldNum" sz="quarter" idx="14"/>
          </p:nvPr>
        </p:nvSpPr>
        <p:spPr/>
        <p:txBody>
          <a:bodyPr/>
          <a:lstStyle/>
          <a:p>
            <a:fld id="{BC8D7E44-7D4F-4942-A8C9-2DF6BF8399E8}" type="slidenum">
              <a:rPr lang="en-US" smtClean="0"/>
              <a:pPr/>
              <a:t>5</a:t>
            </a:fld>
            <a:endParaRPr lang="en-US" dirty="0"/>
          </a:p>
        </p:txBody>
      </p:sp>
    </p:spTree>
    <p:extLst>
      <p:ext uri="{BB962C8B-B14F-4D97-AF65-F5344CB8AC3E}">
        <p14:creationId xmlns:p14="http://schemas.microsoft.com/office/powerpoint/2010/main" val="2375328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C2DEE4DF-EB10-35C5-118E-8226A44D1C9B}"/>
              </a:ext>
            </a:extLst>
          </p:cNvPr>
          <p:cNvGraphicFramePr>
            <a:graphicFrameLocks noGrp="1"/>
          </p:cNvGraphicFramePr>
          <p:nvPr>
            <p:ph idx="1"/>
            <p:extLst>
              <p:ext uri="{D42A27DB-BD31-4B8C-83A1-F6EECF244321}">
                <p14:modId xmlns:p14="http://schemas.microsoft.com/office/powerpoint/2010/main" val="3185434679"/>
              </p:ext>
            </p:extLst>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C75BAE1F-A30C-0378-ACA4-76FC4D76E9B7}"/>
              </a:ext>
            </a:extLst>
          </p:cNvPr>
          <p:cNvSpPr>
            <a:spLocks noGrp="1"/>
          </p:cNvSpPr>
          <p:nvPr>
            <p:ph sz="quarter" idx="10"/>
          </p:nvPr>
        </p:nvSpPr>
        <p:spPr/>
        <p:txBody>
          <a:bodyPr/>
          <a:lstStyle/>
          <a:p>
            <a:r>
              <a:rPr lang="en-IN" dirty="0"/>
              <a:t>Architecture Competence</a:t>
            </a:r>
          </a:p>
        </p:txBody>
      </p:sp>
      <p:sp>
        <p:nvSpPr>
          <p:cNvPr id="4" name="Date Placeholder 3">
            <a:extLst>
              <a:ext uri="{FF2B5EF4-FFF2-40B4-BE49-F238E27FC236}">
                <a16:creationId xmlns:a16="http://schemas.microsoft.com/office/drawing/2014/main" id="{7F8995BF-638F-CBCE-16CA-1A0A0306B913}"/>
              </a:ext>
            </a:extLst>
          </p:cNvPr>
          <p:cNvSpPr>
            <a:spLocks noGrp="1"/>
          </p:cNvSpPr>
          <p:nvPr>
            <p:ph type="dt" sz="half" idx="12"/>
          </p:nvPr>
        </p:nvSpPr>
        <p:spPr/>
        <p:txBody>
          <a:bodyPr/>
          <a:lstStyle/>
          <a:p>
            <a:r>
              <a:rPr lang="en-US"/>
              <a:t>July 25, 2026</a:t>
            </a:r>
          </a:p>
        </p:txBody>
      </p:sp>
      <p:sp>
        <p:nvSpPr>
          <p:cNvPr id="5" name="Footer Placeholder 4">
            <a:extLst>
              <a:ext uri="{FF2B5EF4-FFF2-40B4-BE49-F238E27FC236}">
                <a16:creationId xmlns:a16="http://schemas.microsoft.com/office/drawing/2014/main" id="{0C05DFC9-724B-F754-F758-E66355CFB3CC}"/>
              </a:ext>
            </a:extLst>
          </p:cNvPr>
          <p:cNvSpPr>
            <a:spLocks noGrp="1"/>
          </p:cNvSpPr>
          <p:nvPr>
            <p:ph type="ftr" sz="quarter" idx="13"/>
          </p:nvPr>
        </p:nvSpPr>
        <p:spPr/>
        <p:txBody>
          <a:bodyPr/>
          <a:lstStyle/>
          <a:p>
            <a:r>
              <a:rPr lang="en-US"/>
              <a:t>SEZG651/SSZG653 Software Architectures</a:t>
            </a:r>
          </a:p>
        </p:txBody>
      </p:sp>
      <p:sp>
        <p:nvSpPr>
          <p:cNvPr id="6" name="Slide Number Placeholder 5">
            <a:extLst>
              <a:ext uri="{FF2B5EF4-FFF2-40B4-BE49-F238E27FC236}">
                <a16:creationId xmlns:a16="http://schemas.microsoft.com/office/drawing/2014/main" id="{121D15E5-10B6-80D3-6B3D-B426D6E66A26}"/>
              </a:ext>
            </a:extLst>
          </p:cNvPr>
          <p:cNvSpPr>
            <a:spLocks noGrp="1"/>
          </p:cNvSpPr>
          <p:nvPr>
            <p:ph type="sldNum" sz="quarter" idx="14"/>
          </p:nvPr>
        </p:nvSpPr>
        <p:spPr/>
        <p:txBody>
          <a:bodyPr/>
          <a:lstStyle/>
          <a:p>
            <a:fld id="{BC8D7E44-7D4F-4942-A8C9-2DF6BF8399E8}" type="slidenum">
              <a:rPr lang="en-US" smtClean="0"/>
              <a:pPr/>
              <a:t>6</a:t>
            </a:fld>
            <a:endParaRPr lang="en-US" dirty="0"/>
          </a:p>
        </p:txBody>
      </p:sp>
    </p:spTree>
    <p:extLst>
      <p:ext uri="{BB962C8B-B14F-4D97-AF65-F5344CB8AC3E}">
        <p14:creationId xmlns:p14="http://schemas.microsoft.com/office/powerpoint/2010/main" val="3772145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a:t>Whether a system will be able to exhibit its desired (or required) quality attributes is substantially determined by its architecture.</a:t>
            </a:r>
          </a:p>
          <a:p>
            <a:r>
              <a:rPr lang="en-US" dirty="0"/>
              <a:t>This is the most important message of this course!</a:t>
            </a:r>
          </a:p>
          <a:p>
            <a:pPr lvl="1"/>
            <a:r>
              <a:rPr lang="en-US" dirty="0"/>
              <a:t>Performance:  You must manage the time-based behavior of elements, their use of shared resources, and the frequency and volume of inter-element communication.</a:t>
            </a:r>
          </a:p>
          <a:p>
            <a:pPr lvl="1"/>
            <a:r>
              <a:rPr lang="en-US" dirty="0"/>
              <a:t>Modifiability: Assign responsibilities to elements so that the majority of changes to the system will affect a small number of those elements. </a:t>
            </a:r>
          </a:p>
          <a:p>
            <a:pPr lvl="1"/>
            <a:r>
              <a:rPr lang="en-US" dirty="0"/>
              <a:t>Security: Manage and protect inter-element communication and control which elements are allowed to access which information; you may also need to introduce specialized elements (such as an authorization mechanism).</a:t>
            </a:r>
          </a:p>
          <a:p>
            <a:pPr lvl="1"/>
            <a:r>
              <a:rPr lang="en-US" dirty="0"/>
              <a:t>Scalability:  Localize the use of resources to facilitate introduction of higher-capacity replacements, and you must avoid hardcoding in resource assumptions or limits.</a:t>
            </a:r>
          </a:p>
          <a:p>
            <a:pPr lvl="1"/>
            <a:r>
              <a:rPr lang="en-US" dirty="0"/>
              <a:t>Incremental subset delivery: Manage inter-component usage.</a:t>
            </a:r>
          </a:p>
          <a:p>
            <a:pPr lvl="1"/>
            <a:r>
              <a:rPr lang="en-US" dirty="0"/>
              <a:t>Reusability:  Restrict inter-element coupling, so that when you extract an element, it does not come out with too many attachments to its current environment.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Inhibiting or Enabling a System’s Quality Attributes</a:t>
            </a:r>
          </a:p>
        </p:txBody>
      </p:sp>
      <p:sp>
        <p:nvSpPr>
          <p:cNvPr id="2" name="Date Placeholder 1">
            <a:extLst>
              <a:ext uri="{FF2B5EF4-FFF2-40B4-BE49-F238E27FC236}">
                <a16:creationId xmlns:a16="http://schemas.microsoft.com/office/drawing/2014/main" id="{27AEEA41-664E-44E8-AE6C-1302F8BB2CE5}"/>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02B806FC-0586-4DC2-950E-529634215B7E}"/>
              </a:ext>
            </a:extLst>
          </p:cNvPr>
          <p:cNvSpPr>
            <a:spLocks noGrp="1"/>
          </p:cNvSpPr>
          <p:nvPr>
            <p:ph type="sldNum" sz="quarter" idx="14"/>
          </p:nvPr>
        </p:nvSpPr>
        <p:spPr/>
        <p:txBody>
          <a:bodyPr/>
          <a:lstStyle/>
          <a:p>
            <a:fld id="{BC8D7E44-7D4F-4942-A8C9-2DF6BF8399E8}" type="slidenum">
              <a:rPr lang="en-US" smtClean="0"/>
              <a:pPr/>
              <a:t>7</a:t>
            </a:fld>
            <a:endParaRPr lang="en-US" dirty="0"/>
          </a:p>
        </p:txBody>
      </p:sp>
    </p:spTree>
    <p:extLst>
      <p:ext uri="{BB962C8B-B14F-4D97-AF65-F5344CB8AC3E}">
        <p14:creationId xmlns:p14="http://schemas.microsoft.com/office/powerpoint/2010/main" val="4247573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buFont typeface="Arial" pitchFamily="34" charset="0"/>
              <a:buChar char="•"/>
            </a:pPr>
            <a:r>
              <a:rPr lang="en-US" dirty="0"/>
              <a:t>About 80 percent of a typical software system’s total cost occurs after initial deployment</a:t>
            </a:r>
          </a:p>
          <a:p>
            <a:pPr lvl="1"/>
            <a:r>
              <a:rPr lang="en-US" dirty="0"/>
              <a:t>accommodate new features</a:t>
            </a:r>
          </a:p>
          <a:p>
            <a:pPr lvl="1"/>
            <a:r>
              <a:rPr lang="en-US" dirty="0"/>
              <a:t>adapt to new environments,</a:t>
            </a:r>
          </a:p>
          <a:p>
            <a:pPr lvl="1"/>
            <a:r>
              <a:rPr lang="en-US" dirty="0"/>
              <a:t>fix bugs, and so forth. </a:t>
            </a:r>
          </a:p>
          <a:p>
            <a:pPr>
              <a:buFont typeface="Arial" pitchFamily="34" charset="0"/>
              <a:buChar char="•"/>
            </a:pPr>
            <a:r>
              <a:rPr lang="en-US" dirty="0"/>
              <a:t>Every architecture partitions possible changes into three categories</a:t>
            </a:r>
          </a:p>
          <a:p>
            <a:pPr lvl="1"/>
            <a:r>
              <a:rPr lang="en-US" dirty="0"/>
              <a:t>A </a:t>
            </a:r>
            <a:r>
              <a:rPr lang="en-US" i="1" dirty="0"/>
              <a:t>local</a:t>
            </a:r>
            <a:r>
              <a:rPr lang="en-US" dirty="0"/>
              <a:t> change can be accomplished by modifying a single element. </a:t>
            </a:r>
          </a:p>
          <a:p>
            <a:pPr lvl="1"/>
            <a:r>
              <a:rPr lang="en-US" dirty="0"/>
              <a:t>A </a:t>
            </a:r>
            <a:r>
              <a:rPr lang="en-US" i="1" dirty="0"/>
              <a:t>nonlocal</a:t>
            </a:r>
            <a:r>
              <a:rPr lang="en-US" dirty="0"/>
              <a:t> change requires multiple element modifications but leaves the underlying architectural approach intact. </a:t>
            </a:r>
          </a:p>
          <a:p>
            <a:pPr lvl="1"/>
            <a:r>
              <a:rPr lang="en-US" dirty="0"/>
              <a:t>An </a:t>
            </a:r>
            <a:r>
              <a:rPr lang="en-US" i="1" dirty="0"/>
              <a:t>architectural</a:t>
            </a:r>
            <a:r>
              <a:rPr lang="en-US" dirty="0"/>
              <a:t> change affects the fundamental ways in which the elements interact with each other and will probably require changes all over the system. </a:t>
            </a:r>
          </a:p>
          <a:p>
            <a:pPr>
              <a:buFont typeface="Arial" pitchFamily="34" charset="0"/>
              <a:buChar char="•"/>
            </a:pPr>
            <a:r>
              <a:rPr lang="pl-PL" dirty="0" err="1"/>
              <a:t>Obviously</a:t>
            </a:r>
            <a:r>
              <a:rPr lang="pl-PL" dirty="0"/>
              <a:t>, </a:t>
            </a:r>
            <a:r>
              <a:rPr lang="pl-PL" dirty="0" err="1"/>
              <a:t>local</a:t>
            </a:r>
            <a:r>
              <a:rPr lang="pl-PL" dirty="0"/>
              <a:t> </a:t>
            </a:r>
            <a:r>
              <a:rPr lang="pl-PL" dirty="0" err="1"/>
              <a:t>changes</a:t>
            </a:r>
            <a:r>
              <a:rPr lang="pl-PL" dirty="0"/>
              <a:t> </a:t>
            </a:r>
            <a:r>
              <a:rPr lang="pl-PL" dirty="0" err="1"/>
              <a:t>are</a:t>
            </a:r>
            <a:r>
              <a:rPr lang="pl-PL" dirty="0"/>
              <a:t> the most </a:t>
            </a:r>
            <a:r>
              <a:rPr lang="pl-PL" dirty="0" err="1"/>
              <a:t>desirable</a:t>
            </a:r>
            <a:endParaRPr lang="pl-PL" dirty="0"/>
          </a:p>
          <a:p>
            <a:pPr>
              <a:buFont typeface="Arial" pitchFamily="34" charset="0"/>
              <a:buChar char="•"/>
            </a:pPr>
            <a:r>
              <a:rPr lang="pl-PL" dirty="0"/>
              <a:t>A </a:t>
            </a:r>
            <a:r>
              <a:rPr lang="pl-PL" dirty="0" err="1"/>
              <a:t>good</a:t>
            </a:r>
            <a:r>
              <a:rPr lang="pl-PL" dirty="0"/>
              <a:t> </a:t>
            </a:r>
            <a:r>
              <a:rPr lang="pl-PL" dirty="0" err="1"/>
              <a:t>architecture</a:t>
            </a:r>
            <a:r>
              <a:rPr lang="pl-PL" dirty="0"/>
              <a:t> </a:t>
            </a:r>
            <a:r>
              <a:rPr lang="pl-PL" dirty="0" err="1"/>
              <a:t>is</a:t>
            </a:r>
            <a:r>
              <a:rPr lang="pl-PL" dirty="0"/>
              <a:t> one in </a:t>
            </a:r>
            <a:r>
              <a:rPr lang="pl-PL" dirty="0" err="1"/>
              <a:t>which</a:t>
            </a:r>
            <a:r>
              <a:rPr lang="pl-PL" dirty="0"/>
              <a:t> the most </a:t>
            </a:r>
            <a:r>
              <a:rPr lang="pl-PL" dirty="0" err="1"/>
              <a:t>common</a:t>
            </a:r>
            <a:r>
              <a:rPr lang="pl-PL" dirty="0"/>
              <a:t> </a:t>
            </a:r>
            <a:r>
              <a:rPr lang="pl-PL" dirty="0" err="1"/>
              <a:t>changes</a:t>
            </a:r>
            <a:r>
              <a:rPr lang="pl-PL" dirty="0"/>
              <a:t> </a:t>
            </a:r>
            <a:r>
              <a:rPr lang="pl-PL" dirty="0" err="1"/>
              <a:t>are</a:t>
            </a:r>
            <a:r>
              <a:rPr lang="pl-PL" dirty="0"/>
              <a:t> </a:t>
            </a:r>
            <a:r>
              <a:rPr lang="pl-PL" dirty="0" err="1"/>
              <a:t>local</a:t>
            </a:r>
            <a:r>
              <a:rPr lang="pl-PL" dirty="0"/>
              <a:t>, and </a:t>
            </a:r>
            <a:r>
              <a:rPr lang="pl-PL" dirty="0" err="1"/>
              <a:t>hence</a:t>
            </a:r>
            <a:r>
              <a:rPr lang="pl-PL" dirty="0"/>
              <a:t> </a:t>
            </a:r>
            <a:r>
              <a:rPr lang="pl-PL" dirty="0" err="1"/>
              <a:t>easy</a:t>
            </a:r>
            <a:r>
              <a:rPr lang="pl-PL" dirty="0"/>
              <a:t> to </a:t>
            </a:r>
            <a:r>
              <a:rPr lang="pl-PL" dirty="0" err="1"/>
              <a:t>make</a:t>
            </a:r>
            <a:r>
              <a:rPr lang="pl-PL" dirty="0"/>
              <a: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Reasoning About and Managing Change</a:t>
            </a:r>
          </a:p>
        </p:txBody>
      </p:sp>
      <p:sp>
        <p:nvSpPr>
          <p:cNvPr id="2" name="Date Placeholder 1">
            <a:extLst>
              <a:ext uri="{FF2B5EF4-FFF2-40B4-BE49-F238E27FC236}">
                <a16:creationId xmlns:a16="http://schemas.microsoft.com/office/drawing/2014/main" id="{9F081898-16EB-478E-AFA9-341809F6365B}"/>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A87E07C9-362F-47B1-BB56-B664533762C3}"/>
              </a:ext>
            </a:extLst>
          </p:cNvPr>
          <p:cNvSpPr>
            <a:spLocks noGrp="1"/>
          </p:cNvSpPr>
          <p:nvPr>
            <p:ph type="sldNum" sz="quarter" idx="14"/>
          </p:nvPr>
        </p:nvSpPr>
        <p:spPr/>
        <p:txBody>
          <a:bodyPr/>
          <a:lstStyle/>
          <a:p>
            <a:fld id="{BC8D7E44-7D4F-4942-A8C9-2DF6BF8399E8}" type="slidenum">
              <a:rPr lang="en-US" smtClean="0"/>
              <a:pPr/>
              <a:t>8</a:t>
            </a:fld>
            <a:endParaRPr lang="en-US" dirty="0"/>
          </a:p>
        </p:txBody>
      </p:sp>
    </p:spTree>
    <p:extLst>
      <p:ext uri="{BB962C8B-B14F-4D97-AF65-F5344CB8AC3E}">
        <p14:creationId xmlns:p14="http://schemas.microsoft.com/office/powerpoint/2010/main" val="473950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If we know that certain kinds of architectural decisions lead to certain quality attributes in a system, we can make those decisions and rightly expect to be rewarded with the associated quality attributes. </a:t>
            </a:r>
          </a:p>
          <a:p>
            <a:pPr>
              <a:buFont typeface="Arial" pitchFamily="34" charset="0"/>
              <a:buChar char="•"/>
            </a:pPr>
            <a:r>
              <a:rPr lang="en-US" dirty="0"/>
              <a:t>When we examine an architecture we can look to see if those decisions have been made, and confidently predict that the architecture will exhibit the associated qualities.</a:t>
            </a:r>
          </a:p>
          <a:p>
            <a:pPr>
              <a:buFont typeface="Arial" pitchFamily="34" charset="0"/>
              <a:buChar char="•"/>
            </a:pPr>
            <a:r>
              <a:rPr lang="en-US" dirty="0"/>
              <a:t>The earlier you can find a problem in your design, the cheaper, easier, and less disruptive it will be to fix.</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Predicting System Qualities</a:t>
            </a:r>
          </a:p>
        </p:txBody>
      </p:sp>
      <p:sp>
        <p:nvSpPr>
          <p:cNvPr id="2" name="Date Placeholder 1">
            <a:extLst>
              <a:ext uri="{FF2B5EF4-FFF2-40B4-BE49-F238E27FC236}">
                <a16:creationId xmlns:a16="http://schemas.microsoft.com/office/drawing/2014/main" id="{5A44D506-C9FA-4E36-A48F-E99F91E8BC64}"/>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2932E754-E650-4576-82F8-CEB3440FB5F0}"/>
              </a:ext>
            </a:extLst>
          </p:cNvPr>
          <p:cNvSpPr>
            <a:spLocks noGrp="1"/>
          </p:cNvSpPr>
          <p:nvPr>
            <p:ph type="sldNum" sz="quarter" idx="14"/>
          </p:nvPr>
        </p:nvSpPr>
        <p:spPr/>
        <p:txBody>
          <a:bodyPr/>
          <a:lstStyle/>
          <a:p>
            <a:fld id="{BC8D7E44-7D4F-4942-A8C9-2DF6BF8399E8}" type="slidenum">
              <a:rPr lang="en-US" smtClean="0"/>
              <a:pPr/>
              <a:t>9</a:t>
            </a:fld>
            <a:endParaRPr lang="en-US" dirty="0"/>
          </a:p>
        </p:txBody>
      </p:sp>
    </p:spTree>
    <p:extLst>
      <p:ext uri="{BB962C8B-B14F-4D97-AF65-F5344CB8AC3E}">
        <p14:creationId xmlns:p14="http://schemas.microsoft.com/office/powerpoint/2010/main" val="3741506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a:buFont typeface="Arial" pitchFamily="34" charset="0"/>
              <a:buChar char="•"/>
            </a:pPr>
            <a:r>
              <a:rPr lang="en-US" dirty="0"/>
              <a:t>Software architecture represents a common abstraction of a system that most, if not all, of the system’s stakeholders can use as a basis for creating mutual understanding, negotiating, forming consensus, and communicating with each other. </a:t>
            </a:r>
          </a:p>
          <a:p>
            <a:pPr>
              <a:buFont typeface="Arial" pitchFamily="34" charset="0"/>
              <a:buChar char="•"/>
            </a:pPr>
            <a:r>
              <a:rPr lang="en-US" dirty="0"/>
              <a:t>The architecture—or at least parts of it—is sufficiently abstract that most nontechnical people can understand it adequately.</a:t>
            </a:r>
          </a:p>
          <a:p>
            <a:pPr>
              <a:buFont typeface="Arial" pitchFamily="34" charset="0"/>
              <a:buChar char="•"/>
            </a:pPr>
            <a:r>
              <a:rPr lang="en-US" dirty="0"/>
              <a:t>Each stakeholder of a software system—customer, user, project manager, coder, tester, and so on—is concerned with different characteristics of the system that are affected by its architecture. For example:</a:t>
            </a:r>
          </a:p>
          <a:p>
            <a:pPr lvl="1"/>
            <a:r>
              <a:rPr lang="en-US" dirty="0"/>
              <a:t>The user is concerned that the system is fast, reliable, and available when needed.</a:t>
            </a:r>
          </a:p>
          <a:p>
            <a:pPr lvl="1"/>
            <a:r>
              <a:rPr lang="en-US" dirty="0"/>
              <a:t>The customer is concerned that the architecture can be implemented on schedule and according to budget.</a:t>
            </a:r>
          </a:p>
          <a:p>
            <a:pPr lvl="1"/>
            <a:r>
              <a:rPr lang="en-US" dirty="0"/>
              <a:t>The manager is worried (in addition to concerns about cost and schedule) that the architecture will allow teams to work largely independently, interacting in disciplined and controlled ways.</a:t>
            </a:r>
          </a:p>
          <a:p>
            <a:pPr lvl="1"/>
            <a:r>
              <a:rPr lang="en-US" dirty="0"/>
              <a:t>The architect is worried about strategies to achieve all of those goals.</a:t>
            </a:r>
          </a:p>
          <a:p>
            <a:pPr>
              <a:buFont typeface="Arial" pitchFamily="34" charset="0"/>
              <a:buChar char="•"/>
            </a:pPr>
            <a:r>
              <a:rPr lang="en-US" dirty="0"/>
              <a:t>Architecture provides a common language in which different concerns can be expressed, negotiated, and resolved at a level that is intellectually manageable even for large, complex systems.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Enhancing Communication Among Stakeholders</a:t>
            </a:r>
          </a:p>
        </p:txBody>
      </p:sp>
      <p:sp>
        <p:nvSpPr>
          <p:cNvPr id="2" name="Date Placeholder 1">
            <a:extLst>
              <a:ext uri="{FF2B5EF4-FFF2-40B4-BE49-F238E27FC236}">
                <a16:creationId xmlns:a16="http://schemas.microsoft.com/office/drawing/2014/main" id="{4FA1D390-72F8-48F3-B1EA-3481ABB18A65}"/>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9F40CED7-6166-4104-9A41-C640E39B0D7C}"/>
              </a:ext>
            </a:extLst>
          </p:cNvPr>
          <p:cNvSpPr>
            <a:spLocks noGrp="1"/>
          </p:cNvSpPr>
          <p:nvPr>
            <p:ph type="sldNum" sz="quarter" idx="14"/>
          </p:nvPr>
        </p:nvSpPr>
        <p:spPr/>
        <p:txBody>
          <a:bodyPr/>
          <a:lstStyle/>
          <a:p>
            <a:fld id="{BC8D7E44-7D4F-4942-A8C9-2DF6BF8399E8}" type="slidenum">
              <a:rPr lang="en-US" smtClean="0"/>
              <a:pPr/>
              <a:t>10</a:t>
            </a:fld>
            <a:endParaRPr lang="en-US" dirty="0"/>
          </a:p>
        </p:txBody>
      </p:sp>
    </p:spTree>
    <p:extLst>
      <p:ext uri="{BB962C8B-B14F-4D97-AF65-F5344CB8AC3E}">
        <p14:creationId xmlns:p14="http://schemas.microsoft.com/office/powerpoint/2010/main" val="2597875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a:buFont typeface="Arial" pitchFamily="34" charset="0"/>
              <a:buChar char="•"/>
            </a:pPr>
            <a:r>
              <a:rPr lang="en-US" dirty="0"/>
              <a:t>Software architecture is a manifestation of the earliest design decisions about a system.</a:t>
            </a:r>
          </a:p>
          <a:p>
            <a:pPr>
              <a:buFont typeface="Arial" pitchFamily="34" charset="0"/>
              <a:buChar char="•"/>
            </a:pPr>
            <a:r>
              <a:rPr lang="en-US" dirty="0"/>
              <a:t>These early bindings carry enormous weight with respect to the system’s remaining development, its deployment, and its maintenance life. </a:t>
            </a:r>
          </a:p>
          <a:p>
            <a:pPr>
              <a:buFont typeface="Arial" pitchFamily="34" charset="0"/>
              <a:buChar char="•"/>
            </a:pPr>
            <a:r>
              <a:rPr lang="en-US" dirty="0"/>
              <a:t>Each decision constrains the many decisions that follow. </a:t>
            </a:r>
          </a:p>
          <a:p>
            <a:pPr>
              <a:buFont typeface="Arial" pitchFamily="34" charset="0"/>
              <a:buChar char="•"/>
            </a:pPr>
            <a:r>
              <a:rPr lang="en-US" dirty="0"/>
              <a:t>What are these early design decisions embodied by software architecture?</a:t>
            </a:r>
          </a:p>
          <a:p>
            <a:pPr lvl="1"/>
            <a:r>
              <a:rPr lang="en-US" dirty="0"/>
              <a:t>W</a:t>
            </a:r>
            <a:r>
              <a:rPr lang="pl-PL" dirty="0" err="1"/>
              <a:t>ill</a:t>
            </a:r>
            <a:r>
              <a:rPr lang="pl-PL" dirty="0"/>
              <a:t> the system run on one </a:t>
            </a:r>
            <a:r>
              <a:rPr lang="pl-PL" dirty="0" err="1"/>
              <a:t>processor</a:t>
            </a:r>
            <a:r>
              <a:rPr lang="pl-PL" dirty="0"/>
              <a:t> </a:t>
            </a:r>
            <a:r>
              <a:rPr lang="pl-PL" dirty="0" err="1"/>
              <a:t>or</a:t>
            </a:r>
            <a:r>
              <a:rPr lang="pl-PL" dirty="0"/>
              <a:t> be </a:t>
            </a:r>
            <a:r>
              <a:rPr lang="pl-PL" dirty="0" err="1"/>
              <a:t>distributed</a:t>
            </a:r>
            <a:r>
              <a:rPr lang="pl-PL" dirty="0"/>
              <a:t> </a:t>
            </a:r>
            <a:r>
              <a:rPr lang="pl-PL" dirty="0" err="1"/>
              <a:t>across</a:t>
            </a:r>
            <a:r>
              <a:rPr lang="pl-PL" dirty="0"/>
              <a:t> </a:t>
            </a:r>
            <a:r>
              <a:rPr lang="pl-PL" dirty="0" err="1"/>
              <a:t>multiple</a:t>
            </a:r>
            <a:r>
              <a:rPr lang="pl-PL" dirty="0"/>
              <a:t> </a:t>
            </a:r>
            <a:r>
              <a:rPr lang="pl-PL" dirty="0" err="1"/>
              <a:t>processors</a:t>
            </a:r>
            <a:r>
              <a:rPr lang="pl-PL" dirty="0"/>
              <a:t>?</a:t>
            </a:r>
          </a:p>
          <a:p>
            <a:pPr lvl="1"/>
            <a:r>
              <a:rPr lang="pl-PL" dirty="0" err="1"/>
              <a:t>Will</a:t>
            </a:r>
            <a:r>
              <a:rPr lang="pl-PL" dirty="0"/>
              <a:t> the software be </a:t>
            </a:r>
            <a:r>
              <a:rPr lang="pl-PL" dirty="0" err="1"/>
              <a:t>layered</a:t>
            </a:r>
            <a:r>
              <a:rPr lang="pl-PL" dirty="0"/>
              <a:t>? </a:t>
            </a:r>
            <a:r>
              <a:rPr lang="pl-PL" dirty="0" err="1"/>
              <a:t>If</a:t>
            </a:r>
            <a:r>
              <a:rPr lang="pl-PL" dirty="0"/>
              <a:t> </a:t>
            </a:r>
            <a:r>
              <a:rPr lang="pl-PL" dirty="0" err="1"/>
              <a:t>so</a:t>
            </a:r>
            <a:r>
              <a:rPr lang="pl-PL" dirty="0"/>
              <a:t>, </a:t>
            </a:r>
            <a:r>
              <a:rPr lang="pl-PL" dirty="0" err="1"/>
              <a:t>how</a:t>
            </a:r>
            <a:r>
              <a:rPr lang="pl-PL" dirty="0"/>
              <a:t> </a:t>
            </a:r>
            <a:r>
              <a:rPr lang="pl-PL" dirty="0" err="1"/>
              <a:t>many</a:t>
            </a:r>
            <a:r>
              <a:rPr lang="pl-PL" dirty="0"/>
              <a:t> </a:t>
            </a:r>
            <a:r>
              <a:rPr lang="pl-PL" dirty="0" err="1"/>
              <a:t>layers</a:t>
            </a:r>
            <a:r>
              <a:rPr lang="pl-PL" dirty="0"/>
              <a:t> </a:t>
            </a:r>
            <a:r>
              <a:rPr lang="pl-PL" dirty="0" err="1"/>
              <a:t>will</a:t>
            </a:r>
            <a:r>
              <a:rPr lang="pl-PL" dirty="0"/>
              <a:t> </a:t>
            </a:r>
            <a:r>
              <a:rPr lang="pl-PL" dirty="0" err="1"/>
              <a:t>there</a:t>
            </a:r>
            <a:r>
              <a:rPr lang="pl-PL" dirty="0"/>
              <a:t> be? </a:t>
            </a:r>
            <a:r>
              <a:rPr lang="pl-PL" dirty="0" err="1"/>
              <a:t>What</a:t>
            </a:r>
            <a:r>
              <a:rPr lang="pl-PL" dirty="0"/>
              <a:t> </a:t>
            </a:r>
            <a:r>
              <a:rPr lang="pl-PL" dirty="0" err="1"/>
              <a:t>will</a:t>
            </a:r>
            <a:r>
              <a:rPr lang="pl-PL" dirty="0"/>
              <a:t> </a:t>
            </a:r>
            <a:r>
              <a:rPr lang="pl-PL" dirty="0" err="1"/>
              <a:t>each</a:t>
            </a:r>
            <a:r>
              <a:rPr lang="pl-PL" dirty="0"/>
              <a:t> one do?</a:t>
            </a:r>
          </a:p>
          <a:p>
            <a:pPr lvl="1"/>
            <a:r>
              <a:rPr lang="pl-PL" dirty="0" err="1"/>
              <a:t>Will</a:t>
            </a:r>
            <a:r>
              <a:rPr lang="pl-PL" dirty="0"/>
              <a:t> </a:t>
            </a:r>
            <a:r>
              <a:rPr lang="pl-PL" dirty="0" err="1"/>
              <a:t>components</a:t>
            </a:r>
            <a:r>
              <a:rPr lang="pl-PL" dirty="0"/>
              <a:t> </a:t>
            </a:r>
            <a:r>
              <a:rPr lang="pl-PL" dirty="0" err="1"/>
              <a:t>communicate</a:t>
            </a:r>
            <a:r>
              <a:rPr lang="pl-PL" dirty="0"/>
              <a:t> </a:t>
            </a:r>
            <a:r>
              <a:rPr lang="pl-PL" dirty="0" err="1"/>
              <a:t>synchronously</a:t>
            </a:r>
            <a:r>
              <a:rPr lang="pl-PL" dirty="0"/>
              <a:t> </a:t>
            </a:r>
            <a:r>
              <a:rPr lang="pl-PL" dirty="0" err="1"/>
              <a:t>or</a:t>
            </a:r>
            <a:r>
              <a:rPr lang="pl-PL" dirty="0"/>
              <a:t> </a:t>
            </a:r>
            <a:r>
              <a:rPr lang="pl-PL" dirty="0" err="1"/>
              <a:t>asynchronously</a:t>
            </a:r>
            <a:r>
              <a:rPr lang="pl-PL" dirty="0"/>
              <a:t>? </a:t>
            </a:r>
            <a:r>
              <a:rPr lang="pl-PL" dirty="0" err="1"/>
              <a:t>Will</a:t>
            </a:r>
            <a:r>
              <a:rPr lang="pl-PL" dirty="0"/>
              <a:t> </a:t>
            </a:r>
            <a:r>
              <a:rPr lang="pl-PL" dirty="0" err="1"/>
              <a:t>they</a:t>
            </a:r>
            <a:r>
              <a:rPr lang="pl-PL" dirty="0"/>
              <a:t> </a:t>
            </a:r>
            <a:r>
              <a:rPr lang="pl-PL" dirty="0" err="1"/>
              <a:t>interact</a:t>
            </a:r>
            <a:r>
              <a:rPr lang="pl-PL" dirty="0"/>
              <a:t> by </a:t>
            </a:r>
            <a:r>
              <a:rPr lang="pl-PL" dirty="0" err="1"/>
              <a:t>transferring</a:t>
            </a:r>
            <a:r>
              <a:rPr lang="pl-PL" dirty="0"/>
              <a:t> </a:t>
            </a:r>
            <a:r>
              <a:rPr lang="pl-PL" dirty="0" err="1"/>
              <a:t>control</a:t>
            </a:r>
            <a:r>
              <a:rPr lang="pl-PL" dirty="0"/>
              <a:t> </a:t>
            </a:r>
            <a:r>
              <a:rPr lang="pl-PL" dirty="0" err="1"/>
              <a:t>or</a:t>
            </a:r>
            <a:r>
              <a:rPr lang="pl-PL" dirty="0"/>
              <a:t> data </a:t>
            </a:r>
            <a:r>
              <a:rPr lang="pl-PL" dirty="0" err="1"/>
              <a:t>or</a:t>
            </a:r>
            <a:r>
              <a:rPr lang="pl-PL" dirty="0"/>
              <a:t> </a:t>
            </a:r>
            <a:r>
              <a:rPr lang="pl-PL" dirty="0" err="1"/>
              <a:t>both</a:t>
            </a:r>
            <a:r>
              <a:rPr lang="pl-PL" dirty="0"/>
              <a:t>?</a:t>
            </a:r>
          </a:p>
          <a:p>
            <a:pPr lvl="1"/>
            <a:r>
              <a:rPr lang="pl-PL" dirty="0" err="1"/>
              <a:t>Will</a:t>
            </a:r>
            <a:r>
              <a:rPr lang="pl-PL" dirty="0"/>
              <a:t> the system </a:t>
            </a:r>
            <a:r>
              <a:rPr lang="pl-PL" dirty="0" err="1"/>
              <a:t>depend</a:t>
            </a:r>
            <a:r>
              <a:rPr lang="pl-PL" dirty="0"/>
              <a:t> on </a:t>
            </a:r>
            <a:r>
              <a:rPr lang="pl-PL" dirty="0" err="1"/>
              <a:t>specific</a:t>
            </a:r>
            <a:r>
              <a:rPr lang="pl-PL" dirty="0"/>
              <a:t> </a:t>
            </a:r>
            <a:r>
              <a:rPr lang="pl-PL" dirty="0" err="1"/>
              <a:t>features</a:t>
            </a:r>
            <a:r>
              <a:rPr lang="pl-PL" dirty="0"/>
              <a:t> of the </a:t>
            </a:r>
            <a:r>
              <a:rPr lang="pl-PL" dirty="0" err="1"/>
              <a:t>operating</a:t>
            </a:r>
            <a:r>
              <a:rPr lang="pl-PL" dirty="0"/>
              <a:t> system </a:t>
            </a:r>
            <a:r>
              <a:rPr lang="pl-PL" dirty="0" err="1"/>
              <a:t>or</a:t>
            </a:r>
            <a:r>
              <a:rPr lang="pl-PL" dirty="0"/>
              <a:t> hardware?</a:t>
            </a:r>
          </a:p>
          <a:p>
            <a:pPr lvl="1"/>
            <a:r>
              <a:rPr lang="pl-PL" dirty="0" err="1"/>
              <a:t>Will</a:t>
            </a:r>
            <a:r>
              <a:rPr lang="pl-PL" dirty="0"/>
              <a:t> the </a:t>
            </a:r>
            <a:r>
              <a:rPr lang="pl-PL" dirty="0" err="1"/>
              <a:t>information</a:t>
            </a:r>
            <a:r>
              <a:rPr lang="pl-PL" dirty="0"/>
              <a:t> </a:t>
            </a:r>
            <a:r>
              <a:rPr lang="pl-PL" dirty="0" err="1"/>
              <a:t>that</a:t>
            </a:r>
            <a:r>
              <a:rPr lang="pl-PL" dirty="0"/>
              <a:t> </a:t>
            </a:r>
            <a:r>
              <a:rPr lang="pl-PL" dirty="0" err="1"/>
              <a:t>flows</a:t>
            </a:r>
            <a:r>
              <a:rPr lang="pl-PL" dirty="0"/>
              <a:t> </a:t>
            </a:r>
            <a:r>
              <a:rPr lang="pl-PL" dirty="0" err="1"/>
              <a:t>through</a:t>
            </a:r>
            <a:r>
              <a:rPr lang="pl-PL" dirty="0"/>
              <a:t> the system be </a:t>
            </a:r>
            <a:r>
              <a:rPr lang="pl-PL" dirty="0" err="1"/>
              <a:t>encrypted</a:t>
            </a:r>
            <a:r>
              <a:rPr lang="pl-PL" dirty="0"/>
              <a:t> </a:t>
            </a:r>
            <a:r>
              <a:rPr lang="pl-PL" dirty="0" err="1"/>
              <a:t>or</a:t>
            </a:r>
            <a:r>
              <a:rPr lang="pl-PL" dirty="0"/>
              <a:t> not?</a:t>
            </a:r>
          </a:p>
          <a:p>
            <a:pPr lvl="1"/>
            <a:r>
              <a:rPr lang="pl-PL" dirty="0" err="1"/>
              <a:t>What</a:t>
            </a:r>
            <a:r>
              <a:rPr lang="pl-PL" dirty="0"/>
              <a:t> </a:t>
            </a:r>
            <a:r>
              <a:rPr lang="pl-PL" dirty="0" err="1"/>
              <a:t>communication</a:t>
            </a:r>
            <a:r>
              <a:rPr lang="pl-PL" dirty="0"/>
              <a:t> </a:t>
            </a:r>
            <a:r>
              <a:rPr lang="pl-PL" dirty="0" err="1"/>
              <a:t>protocol</a:t>
            </a:r>
            <a:r>
              <a:rPr lang="pl-PL" dirty="0"/>
              <a:t> </a:t>
            </a:r>
            <a:r>
              <a:rPr lang="pl-PL" dirty="0" err="1"/>
              <a:t>will</a:t>
            </a:r>
            <a:r>
              <a:rPr lang="pl-PL" dirty="0"/>
              <a:t> we </a:t>
            </a:r>
            <a:r>
              <a:rPr lang="pl-PL" dirty="0" err="1"/>
              <a:t>choose</a:t>
            </a:r>
            <a:r>
              <a:rPr lang="pl-PL" dirty="0"/>
              <a:t>?</a:t>
            </a:r>
          </a:p>
          <a:p>
            <a:pPr>
              <a:buFont typeface="Arial" pitchFamily="34" charset="0"/>
              <a:buChar char="•"/>
            </a:pPr>
            <a:r>
              <a:rPr lang="pl-PL" dirty="0" err="1"/>
              <a:t>Imagine</a:t>
            </a:r>
            <a:r>
              <a:rPr lang="pl-PL" dirty="0"/>
              <a:t> the </a:t>
            </a:r>
            <a:r>
              <a:rPr lang="pl-PL" dirty="0" err="1"/>
              <a:t>nightmare</a:t>
            </a:r>
            <a:r>
              <a:rPr lang="pl-PL" dirty="0"/>
              <a:t> of </a:t>
            </a:r>
            <a:r>
              <a:rPr lang="pl-PL" dirty="0" err="1"/>
              <a:t>having</a:t>
            </a:r>
            <a:r>
              <a:rPr lang="pl-PL" dirty="0"/>
              <a:t> to </a:t>
            </a:r>
            <a:r>
              <a:rPr lang="pl-PL" dirty="0" err="1"/>
              <a:t>change</a:t>
            </a:r>
            <a:r>
              <a:rPr lang="pl-PL" dirty="0"/>
              <a:t> </a:t>
            </a:r>
            <a:r>
              <a:rPr lang="pl-PL" dirty="0" err="1"/>
              <a:t>any</a:t>
            </a:r>
            <a:r>
              <a:rPr lang="pl-PL" dirty="0"/>
              <a:t> of </a:t>
            </a:r>
            <a:r>
              <a:rPr lang="pl-PL" dirty="0" err="1"/>
              <a:t>these</a:t>
            </a:r>
            <a:r>
              <a:rPr lang="pl-PL" dirty="0"/>
              <a:t> </a:t>
            </a:r>
            <a:r>
              <a:rPr lang="pl-PL" dirty="0" err="1"/>
              <a:t>decisions</a:t>
            </a:r>
            <a:r>
              <a:rPr lang="pl-PL" dirty="0"/>
              <a:t>. </a:t>
            </a: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Earliest Design Decisions</a:t>
            </a:r>
          </a:p>
        </p:txBody>
      </p:sp>
      <p:sp>
        <p:nvSpPr>
          <p:cNvPr id="2" name="Date Placeholder 1">
            <a:extLst>
              <a:ext uri="{FF2B5EF4-FFF2-40B4-BE49-F238E27FC236}">
                <a16:creationId xmlns:a16="http://schemas.microsoft.com/office/drawing/2014/main" id="{B0635626-3369-45B8-8802-040B59D36F60}"/>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17A81FA7-69D0-4390-9E5A-5C650E27CE7B}"/>
              </a:ext>
            </a:extLst>
          </p:cNvPr>
          <p:cNvSpPr>
            <a:spLocks noGrp="1"/>
          </p:cNvSpPr>
          <p:nvPr>
            <p:ph type="sldNum" sz="quarter" idx="14"/>
          </p:nvPr>
        </p:nvSpPr>
        <p:spPr/>
        <p:txBody>
          <a:bodyPr/>
          <a:lstStyle/>
          <a:p>
            <a:fld id="{BC8D7E44-7D4F-4942-A8C9-2DF6BF8399E8}" type="slidenum">
              <a:rPr lang="en-US" smtClean="0"/>
              <a:pPr/>
              <a:t>11</a:t>
            </a:fld>
            <a:endParaRPr lang="en-US" dirty="0"/>
          </a:p>
        </p:txBody>
      </p:sp>
    </p:spTree>
    <p:extLst>
      <p:ext uri="{BB962C8B-B14F-4D97-AF65-F5344CB8AC3E}">
        <p14:creationId xmlns:p14="http://schemas.microsoft.com/office/powerpoint/2010/main" val="1097856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Font typeface="Arial" pitchFamily="34" charset="0"/>
              <a:buChar char="•"/>
            </a:pPr>
            <a:r>
              <a:rPr lang="en-US" dirty="0"/>
              <a:t>An implementation exhibits an architecture if it conforms to the design decisions prescribed by the architecture. </a:t>
            </a:r>
          </a:p>
          <a:p>
            <a:pPr lvl="1"/>
            <a:r>
              <a:rPr lang="en-US" dirty="0"/>
              <a:t>The implementation must be implemented as the set of prescribed elements</a:t>
            </a:r>
          </a:p>
          <a:p>
            <a:pPr lvl="1"/>
            <a:r>
              <a:rPr lang="en-US" dirty="0"/>
              <a:t>These elements must interact with each other in the prescribed fashion</a:t>
            </a:r>
          </a:p>
          <a:p>
            <a:pPr lvl="1"/>
            <a:r>
              <a:rPr lang="en-US" dirty="0"/>
              <a:t>Each element must fulfill its responsibility to the other elements as dictated by the architecture. </a:t>
            </a:r>
          </a:p>
          <a:p>
            <a:pPr>
              <a:buFont typeface="Arial" pitchFamily="34" charset="0"/>
              <a:buChar char="•"/>
            </a:pPr>
            <a:r>
              <a:rPr lang="en-US" dirty="0"/>
              <a:t>Each of these prescriptions is a constraint on the implementer.</a:t>
            </a:r>
          </a:p>
          <a:p>
            <a:pPr>
              <a:buFont typeface="Arial" pitchFamily="34" charset="0"/>
              <a:buChar char="•"/>
            </a:pPr>
            <a:r>
              <a:rPr lang="en-US" dirty="0"/>
              <a:t>Element builders may not be aware of the architectural tradeoffs—the architecture (or architect) simply constrains them in such a way as to meet the tradeoffs. </a:t>
            </a:r>
          </a:p>
          <a:p>
            <a:pPr lvl="1"/>
            <a:r>
              <a:rPr lang="en-US" dirty="0"/>
              <a:t>Example: an architect assigns performance budget to the pieces of software involved in some larger piece of functionality. </a:t>
            </a:r>
          </a:p>
          <a:p>
            <a:pPr lvl="1"/>
            <a:r>
              <a:rPr lang="en-US" dirty="0"/>
              <a:t>If each software unit stays within its budget, the overall transaction will meet its performance requirement. </a:t>
            </a:r>
          </a:p>
          <a:p>
            <a:pPr lvl="1"/>
            <a:r>
              <a:rPr lang="en-US" dirty="0"/>
              <a:t>Implementers of each of the constituent pieces may not know the overall budget, only their own.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Defining Constraints on an Implementation</a:t>
            </a:r>
          </a:p>
        </p:txBody>
      </p:sp>
      <p:sp>
        <p:nvSpPr>
          <p:cNvPr id="2" name="Date Placeholder 1">
            <a:extLst>
              <a:ext uri="{FF2B5EF4-FFF2-40B4-BE49-F238E27FC236}">
                <a16:creationId xmlns:a16="http://schemas.microsoft.com/office/drawing/2014/main" id="{2BC73CAE-4EE1-4071-9031-1F4D0A7FF6A6}"/>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3107150B-2B9D-44DB-8086-FD2F0A2D9362}"/>
              </a:ext>
            </a:extLst>
          </p:cNvPr>
          <p:cNvSpPr>
            <a:spLocks noGrp="1"/>
          </p:cNvSpPr>
          <p:nvPr>
            <p:ph type="sldNum" sz="quarter" idx="14"/>
          </p:nvPr>
        </p:nvSpPr>
        <p:spPr/>
        <p:txBody>
          <a:bodyPr/>
          <a:lstStyle/>
          <a:p>
            <a:fld id="{BC8D7E44-7D4F-4942-A8C9-2DF6BF8399E8}" type="slidenum">
              <a:rPr lang="en-US" smtClean="0"/>
              <a:pPr/>
              <a:t>12</a:t>
            </a:fld>
            <a:endParaRPr lang="en-US" dirty="0"/>
          </a:p>
        </p:txBody>
      </p:sp>
    </p:spTree>
    <p:extLst>
      <p:ext uri="{BB962C8B-B14F-4D97-AF65-F5344CB8AC3E}">
        <p14:creationId xmlns:p14="http://schemas.microsoft.com/office/powerpoint/2010/main" val="90536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a:buFont typeface="Arial" pitchFamily="34" charset="0"/>
              <a:buChar char="•"/>
            </a:pPr>
            <a:r>
              <a:rPr lang="en-US" dirty="0"/>
              <a:t>Architecture prescribes the structure of the system being developed.</a:t>
            </a:r>
          </a:p>
          <a:p>
            <a:pPr>
              <a:buFont typeface="Arial" pitchFamily="34" charset="0"/>
              <a:buChar char="•"/>
            </a:pPr>
            <a:r>
              <a:rPr lang="en-US" dirty="0"/>
              <a:t>That structure becomes engraved in the structure of the development project (and sometimes the structure of the entire organization). </a:t>
            </a:r>
          </a:p>
          <a:p>
            <a:pPr>
              <a:buFont typeface="Arial" pitchFamily="34" charset="0"/>
              <a:buChar char="•"/>
            </a:pPr>
            <a:r>
              <a:rPr lang="en-US" dirty="0"/>
              <a:t>The architecture is typically used as the basis for the work-breakdown structure. </a:t>
            </a:r>
          </a:p>
          <a:p>
            <a:pPr>
              <a:buFont typeface="Arial" pitchFamily="34" charset="0"/>
              <a:buChar char="•"/>
            </a:pPr>
            <a:r>
              <a:rPr lang="en-US" dirty="0"/>
              <a:t>The work-breakdown structure in turn dictates </a:t>
            </a:r>
          </a:p>
          <a:p>
            <a:pPr lvl="1"/>
            <a:r>
              <a:rPr lang="en-US" dirty="0"/>
              <a:t>units of planning, scheduling, and budget</a:t>
            </a:r>
          </a:p>
          <a:p>
            <a:pPr lvl="1"/>
            <a:r>
              <a:rPr lang="en-US" dirty="0" err="1"/>
              <a:t>interteam</a:t>
            </a:r>
            <a:r>
              <a:rPr lang="en-US" dirty="0"/>
              <a:t> communication channels</a:t>
            </a:r>
          </a:p>
          <a:p>
            <a:pPr lvl="1"/>
            <a:r>
              <a:rPr lang="en-US" dirty="0"/>
              <a:t>configuration control and file-system organization</a:t>
            </a:r>
          </a:p>
          <a:p>
            <a:pPr lvl="1"/>
            <a:r>
              <a:rPr lang="en-US" dirty="0"/>
              <a:t>integration and test plans and procedures; </a:t>
            </a:r>
          </a:p>
          <a:p>
            <a:pPr lvl="1"/>
            <a:r>
              <a:rPr lang="en-US" dirty="0"/>
              <a:t>much more</a:t>
            </a:r>
          </a:p>
          <a:p>
            <a:pPr>
              <a:buFont typeface="Arial" pitchFamily="34" charset="0"/>
              <a:buChar char="•"/>
            </a:pPr>
            <a:r>
              <a:rPr lang="en-US" dirty="0"/>
              <a:t>The maintenance activity will also reflect the software structure, with teams formed to maintain specific structural elements from the architecture.</a:t>
            </a:r>
          </a:p>
          <a:p>
            <a:pPr>
              <a:buFont typeface="Arial" pitchFamily="34" charset="0"/>
              <a:buChar char="•"/>
            </a:pPr>
            <a:r>
              <a:rPr lang="en-US" dirty="0"/>
              <a:t>If these responsibilities have been formalized in a contractual relationship, changing responsibilities could become expensive or even litigious.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Influencing the Organizational Structure</a:t>
            </a:r>
          </a:p>
        </p:txBody>
      </p:sp>
      <p:sp>
        <p:nvSpPr>
          <p:cNvPr id="2" name="Date Placeholder 1">
            <a:extLst>
              <a:ext uri="{FF2B5EF4-FFF2-40B4-BE49-F238E27FC236}">
                <a16:creationId xmlns:a16="http://schemas.microsoft.com/office/drawing/2014/main" id="{445F2F66-99E2-49A1-A071-C60E57397104}"/>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7B65AF05-101C-432C-9CC0-E99F5D582AE4}"/>
              </a:ext>
            </a:extLst>
          </p:cNvPr>
          <p:cNvSpPr>
            <a:spLocks noGrp="1"/>
          </p:cNvSpPr>
          <p:nvPr>
            <p:ph type="sldNum" sz="quarter" idx="14"/>
          </p:nvPr>
        </p:nvSpPr>
        <p:spPr/>
        <p:txBody>
          <a:bodyPr/>
          <a:lstStyle/>
          <a:p>
            <a:fld id="{BC8D7E44-7D4F-4942-A8C9-2DF6BF8399E8}" type="slidenum">
              <a:rPr lang="en-US" smtClean="0"/>
              <a:pPr/>
              <a:t>13</a:t>
            </a:fld>
            <a:endParaRPr lang="en-US" dirty="0"/>
          </a:p>
        </p:txBody>
      </p:sp>
    </p:spTree>
    <p:extLst>
      <p:ext uri="{BB962C8B-B14F-4D97-AF65-F5344CB8AC3E}">
        <p14:creationId xmlns:p14="http://schemas.microsoft.com/office/powerpoint/2010/main" val="1008524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buFont typeface="Arial" pitchFamily="34" charset="0"/>
              <a:buChar char="•"/>
            </a:pPr>
            <a:r>
              <a:rPr lang="en-US" dirty="0"/>
              <a:t>Once an architecture has been defined, it can be analyzed and prototyped as a skeletal system. </a:t>
            </a:r>
          </a:p>
          <a:p>
            <a:pPr lvl="1"/>
            <a:r>
              <a:rPr lang="en-US" dirty="0"/>
              <a:t>A skeletal system is one in which at least some of the infrastructure— how the elements initialize, communicate, share data, access resources, report errors, log activity, and so forth—is built before much of the system’s functionality has been created. </a:t>
            </a:r>
          </a:p>
          <a:p>
            <a:pPr>
              <a:buFont typeface="Arial" pitchFamily="34" charset="0"/>
              <a:buChar char="•"/>
            </a:pPr>
            <a:r>
              <a:rPr lang="en-US" dirty="0"/>
              <a:t>This approach aids the development process because the system is executable early in the product’s life cycle. </a:t>
            </a:r>
          </a:p>
          <a:p>
            <a:pPr>
              <a:buFont typeface="Arial" pitchFamily="34" charset="0"/>
              <a:buChar char="•"/>
            </a:pPr>
            <a:r>
              <a:rPr lang="en-US" dirty="0"/>
              <a:t>The fidelity of the system increases as stubs are instantiated, or prototype parts are replaced with complete versions of these parts of the software. </a:t>
            </a:r>
          </a:p>
          <a:p>
            <a:pPr>
              <a:buFont typeface="Arial" pitchFamily="34" charset="0"/>
              <a:buChar char="•"/>
            </a:pPr>
            <a:r>
              <a:rPr lang="pl-PL" dirty="0" err="1"/>
              <a:t>This</a:t>
            </a:r>
            <a:r>
              <a:rPr lang="pl-PL" dirty="0"/>
              <a:t> </a:t>
            </a:r>
            <a:r>
              <a:rPr lang="pl-PL" dirty="0" err="1"/>
              <a:t>approach</a:t>
            </a:r>
            <a:r>
              <a:rPr lang="pl-PL" dirty="0"/>
              <a:t> </a:t>
            </a:r>
            <a:r>
              <a:rPr lang="pl-PL" dirty="0" err="1"/>
              <a:t>allows</a:t>
            </a:r>
            <a:r>
              <a:rPr lang="pl-PL" dirty="0"/>
              <a:t> </a:t>
            </a:r>
            <a:r>
              <a:rPr lang="pl-PL" dirty="0" err="1"/>
              <a:t>potential</a:t>
            </a:r>
            <a:r>
              <a:rPr lang="pl-PL" dirty="0"/>
              <a:t> performance </a:t>
            </a:r>
            <a:r>
              <a:rPr lang="pl-PL" dirty="0" err="1"/>
              <a:t>problems</a:t>
            </a:r>
            <a:r>
              <a:rPr lang="pl-PL" dirty="0"/>
              <a:t> to be </a:t>
            </a:r>
            <a:r>
              <a:rPr lang="pl-PL" dirty="0" err="1"/>
              <a:t>identified</a:t>
            </a:r>
            <a:r>
              <a:rPr lang="pl-PL" dirty="0"/>
              <a:t> </a:t>
            </a:r>
            <a:r>
              <a:rPr lang="pl-PL" dirty="0" err="1"/>
              <a:t>early</a:t>
            </a:r>
            <a:r>
              <a:rPr lang="pl-PL" dirty="0"/>
              <a:t> in the </a:t>
            </a:r>
            <a:r>
              <a:rPr lang="pl-PL" dirty="0" err="1"/>
              <a:t>product’s</a:t>
            </a:r>
            <a:r>
              <a:rPr lang="pl-PL" dirty="0"/>
              <a:t> life </a:t>
            </a:r>
            <a:r>
              <a:rPr lang="pl-PL" dirty="0" err="1"/>
              <a:t>cycle</a:t>
            </a:r>
            <a:r>
              <a:rPr lang="pl-PL" dirty="0"/>
              <a:t>.</a:t>
            </a:r>
          </a:p>
          <a:p>
            <a:pPr>
              <a:buFont typeface="Arial" pitchFamily="34" charset="0"/>
              <a:buChar char="•"/>
            </a:pPr>
            <a:r>
              <a:rPr lang="pl-PL" dirty="0" err="1"/>
              <a:t>These</a:t>
            </a:r>
            <a:r>
              <a:rPr lang="pl-PL" dirty="0"/>
              <a:t> </a:t>
            </a:r>
            <a:r>
              <a:rPr lang="pl-PL" dirty="0" err="1"/>
              <a:t>benefits</a:t>
            </a:r>
            <a:r>
              <a:rPr lang="pl-PL" dirty="0"/>
              <a:t> </a:t>
            </a:r>
            <a:r>
              <a:rPr lang="pl-PL" dirty="0" err="1"/>
              <a:t>reduce</a:t>
            </a:r>
            <a:r>
              <a:rPr lang="pl-PL" dirty="0"/>
              <a:t> the </a:t>
            </a:r>
            <a:r>
              <a:rPr lang="pl-PL" dirty="0" err="1"/>
              <a:t>potential</a:t>
            </a:r>
            <a:r>
              <a:rPr lang="pl-PL" dirty="0"/>
              <a:t> </a:t>
            </a:r>
            <a:r>
              <a:rPr lang="pl-PL" dirty="0" err="1"/>
              <a:t>risk</a:t>
            </a:r>
            <a:r>
              <a:rPr lang="pl-PL" dirty="0"/>
              <a:t> in the </a:t>
            </a:r>
            <a:r>
              <a:rPr lang="pl-PL" dirty="0" err="1"/>
              <a:t>project</a:t>
            </a:r>
            <a:r>
              <a:rPr lang="pl-PL" dirty="0"/>
              <a:t>. </a:t>
            </a: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Enabling Evolutionary Prototyping</a:t>
            </a:r>
          </a:p>
        </p:txBody>
      </p:sp>
      <p:sp>
        <p:nvSpPr>
          <p:cNvPr id="2" name="Date Placeholder 1">
            <a:extLst>
              <a:ext uri="{FF2B5EF4-FFF2-40B4-BE49-F238E27FC236}">
                <a16:creationId xmlns:a16="http://schemas.microsoft.com/office/drawing/2014/main" id="{70A0B9DA-A3EE-40D0-B4CB-CB454DAC410B}"/>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C707C438-C26F-4F9D-B762-59A7F3495443}"/>
              </a:ext>
            </a:extLst>
          </p:cNvPr>
          <p:cNvSpPr>
            <a:spLocks noGrp="1"/>
          </p:cNvSpPr>
          <p:nvPr>
            <p:ph type="sldNum" sz="quarter" idx="14"/>
          </p:nvPr>
        </p:nvSpPr>
        <p:spPr/>
        <p:txBody>
          <a:bodyPr/>
          <a:lstStyle/>
          <a:p>
            <a:fld id="{BC8D7E44-7D4F-4942-A8C9-2DF6BF8399E8}" type="slidenum">
              <a:rPr lang="en-US" smtClean="0"/>
              <a:pPr/>
              <a:t>14</a:t>
            </a:fld>
            <a:endParaRPr lang="en-US" dirty="0"/>
          </a:p>
        </p:txBody>
      </p:sp>
    </p:spTree>
    <p:extLst>
      <p:ext uri="{BB962C8B-B14F-4D97-AF65-F5344CB8AC3E}">
        <p14:creationId xmlns:p14="http://schemas.microsoft.com/office/powerpoint/2010/main" val="41463363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Font typeface="Arial" pitchFamily="34" charset="0"/>
              <a:buChar char="•"/>
            </a:pPr>
            <a:r>
              <a:rPr lang="en-US" dirty="0"/>
              <a:t>One of the duties of an architect is to help the project manager create cost and schedule estimates early in the project life cycle. </a:t>
            </a:r>
          </a:p>
          <a:p>
            <a:pPr>
              <a:buFont typeface="Arial" pitchFamily="34" charset="0"/>
              <a:buChar char="•"/>
            </a:pPr>
            <a:r>
              <a:rPr lang="en-US" dirty="0"/>
              <a:t>Top-down estimates are useful for setting goals and apportioning budgets.</a:t>
            </a:r>
          </a:p>
          <a:p>
            <a:pPr>
              <a:buFont typeface="Arial" pitchFamily="34" charset="0"/>
              <a:buChar char="•"/>
            </a:pPr>
            <a:r>
              <a:rPr lang="en-US" dirty="0"/>
              <a:t>Cost estimations that are based on a bottom-up understanding of the system’s pieces are typically more accurate than those that are based purely on top-down system knowledge.</a:t>
            </a:r>
          </a:p>
          <a:p>
            <a:pPr lvl="1"/>
            <a:r>
              <a:rPr lang="en-US" dirty="0"/>
              <a:t>Each team or individual responsible for a work item will be able to make more-accurate estimates for their piece than a project manager and will feel more ownership in making the estimates come true. </a:t>
            </a:r>
          </a:p>
          <a:p>
            <a:pPr>
              <a:buFont typeface="Arial" pitchFamily="34" charset="0"/>
              <a:buChar char="•"/>
            </a:pPr>
            <a:r>
              <a:rPr lang="en-US" dirty="0"/>
              <a:t>The best cost and schedule estimates will typically emerge from a consensus between the top-down estimates (created by the architect and project manager) and the bottom-up estimates (created by the developers).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Improving Cost and Schedule Estimates</a:t>
            </a:r>
          </a:p>
        </p:txBody>
      </p:sp>
      <p:sp>
        <p:nvSpPr>
          <p:cNvPr id="2" name="Date Placeholder 1">
            <a:extLst>
              <a:ext uri="{FF2B5EF4-FFF2-40B4-BE49-F238E27FC236}">
                <a16:creationId xmlns:a16="http://schemas.microsoft.com/office/drawing/2014/main" id="{0D193528-2718-4636-A48D-A526D66616E7}"/>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7A8EF5ED-AAE9-487E-B4F5-F7B88C16F19A}"/>
              </a:ext>
            </a:extLst>
          </p:cNvPr>
          <p:cNvSpPr>
            <a:spLocks noGrp="1"/>
          </p:cNvSpPr>
          <p:nvPr>
            <p:ph type="sldNum" sz="quarter" idx="14"/>
          </p:nvPr>
        </p:nvSpPr>
        <p:spPr/>
        <p:txBody>
          <a:bodyPr/>
          <a:lstStyle/>
          <a:p>
            <a:fld id="{BC8D7E44-7D4F-4942-A8C9-2DF6BF8399E8}" type="slidenum">
              <a:rPr lang="en-US" smtClean="0"/>
              <a:pPr/>
              <a:t>15</a:t>
            </a:fld>
            <a:endParaRPr lang="en-US" dirty="0"/>
          </a:p>
        </p:txBody>
      </p:sp>
    </p:spTree>
    <p:extLst>
      <p:ext uri="{BB962C8B-B14F-4D97-AF65-F5344CB8AC3E}">
        <p14:creationId xmlns:p14="http://schemas.microsoft.com/office/powerpoint/2010/main" val="159195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a:buFont typeface="Arial" pitchFamily="34" charset="0"/>
              <a:buChar char="•"/>
            </a:pPr>
            <a:r>
              <a:rPr lang="en-US" sz="2400" dirty="0"/>
              <a:t>Reuse of architectures provides tremendous leverage for systems with similar requirements. </a:t>
            </a:r>
          </a:p>
          <a:p>
            <a:pPr lvl="1"/>
            <a:r>
              <a:rPr lang="en-US" sz="2400" dirty="0"/>
              <a:t>Not only can code be reused, but so can the requirements that led to the architecture in the first place, </a:t>
            </a:r>
            <a:r>
              <a:rPr lang="pl-PL" sz="2400" dirty="0"/>
              <a:t>as </a:t>
            </a:r>
            <a:r>
              <a:rPr lang="pl-PL" sz="2400" dirty="0" err="1"/>
              <a:t>well</a:t>
            </a:r>
            <a:r>
              <a:rPr lang="pl-PL" sz="2400" dirty="0"/>
              <a:t> as the </a:t>
            </a:r>
            <a:r>
              <a:rPr lang="pl-PL" sz="2400" dirty="0" err="1"/>
              <a:t>experience</a:t>
            </a:r>
            <a:r>
              <a:rPr lang="pl-PL" sz="2400" dirty="0"/>
              <a:t> and </a:t>
            </a:r>
            <a:r>
              <a:rPr lang="pl-PL" sz="2400" dirty="0" err="1"/>
              <a:t>infrastructure</a:t>
            </a:r>
            <a:r>
              <a:rPr lang="pl-PL" sz="2400" dirty="0"/>
              <a:t> </a:t>
            </a:r>
            <a:r>
              <a:rPr lang="pl-PL" sz="2400" dirty="0" err="1"/>
              <a:t>gained</a:t>
            </a:r>
            <a:r>
              <a:rPr lang="pl-PL" sz="2400" dirty="0"/>
              <a:t> in </a:t>
            </a:r>
            <a:r>
              <a:rPr lang="pl-PL" sz="2400" dirty="0" err="1"/>
              <a:t>building</a:t>
            </a:r>
            <a:r>
              <a:rPr lang="pl-PL" sz="2400" dirty="0"/>
              <a:t> the </a:t>
            </a:r>
            <a:r>
              <a:rPr lang="pl-PL" sz="2400" dirty="0" err="1"/>
              <a:t>reused</a:t>
            </a:r>
            <a:r>
              <a:rPr lang="pl-PL" sz="2400" dirty="0"/>
              <a:t> </a:t>
            </a:r>
            <a:r>
              <a:rPr lang="pl-PL" sz="2400" dirty="0" err="1"/>
              <a:t>architecture</a:t>
            </a:r>
            <a:r>
              <a:rPr lang="pl-PL" sz="2400" dirty="0"/>
              <a:t>.</a:t>
            </a:r>
          </a:p>
          <a:p>
            <a:pPr lvl="1"/>
            <a:r>
              <a:rPr lang="pl-PL" sz="2400" dirty="0" err="1"/>
              <a:t>When</a:t>
            </a:r>
            <a:r>
              <a:rPr lang="pl-PL" sz="2400" dirty="0"/>
              <a:t> </a:t>
            </a:r>
            <a:r>
              <a:rPr lang="pl-PL" sz="2400" dirty="0" err="1"/>
              <a:t>architectural</a:t>
            </a:r>
            <a:r>
              <a:rPr lang="pl-PL" sz="2400" dirty="0"/>
              <a:t> </a:t>
            </a:r>
            <a:r>
              <a:rPr lang="pl-PL" sz="2400" dirty="0" err="1"/>
              <a:t>decisions</a:t>
            </a:r>
            <a:r>
              <a:rPr lang="pl-PL" sz="2400" dirty="0"/>
              <a:t> </a:t>
            </a:r>
            <a:r>
              <a:rPr lang="pl-PL" sz="2400" dirty="0" err="1"/>
              <a:t>can</a:t>
            </a:r>
            <a:r>
              <a:rPr lang="pl-PL" sz="2400" dirty="0"/>
              <a:t> be </a:t>
            </a:r>
            <a:r>
              <a:rPr lang="pl-PL" sz="2400" dirty="0" err="1"/>
              <a:t>reused</a:t>
            </a:r>
            <a:r>
              <a:rPr lang="pl-PL" sz="2400" dirty="0"/>
              <a:t> </a:t>
            </a:r>
            <a:r>
              <a:rPr lang="pl-PL" sz="2400" dirty="0" err="1"/>
              <a:t>across</a:t>
            </a:r>
            <a:r>
              <a:rPr lang="pl-PL" sz="2400" dirty="0"/>
              <a:t> </a:t>
            </a:r>
            <a:r>
              <a:rPr lang="pl-PL" sz="2400" dirty="0" err="1"/>
              <a:t>multiple</a:t>
            </a:r>
            <a:r>
              <a:rPr lang="pl-PL" sz="2400" dirty="0"/>
              <a:t> </a:t>
            </a:r>
            <a:r>
              <a:rPr lang="pl-PL" sz="2400" dirty="0" err="1"/>
              <a:t>systems</a:t>
            </a:r>
            <a:r>
              <a:rPr lang="pl-PL" sz="2400" dirty="0"/>
              <a:t>, </a:t>
            </a:r>
            <a:r>
              <a:rPr lang="pl-PL" sz="2400" dirty="0" err="1"/>
              <a:t>all</a:t>
            </a:r>
            <a:r>
              <a:rPr lang="pl-PL" sz="2400" dirty="0"/>
              <a:t> of the </a:t>
            </a:r>
            <a:r>
              <a:rPr lang="pl-PL" sz="2400" dirty="0" err="1"/>
              <a:t>early-decision</a:t>
            </a:r>
            <a:r>
              <a:rPr lang="pl-PL" sz="2400" dirty="0"/>
              <a:t> </a:t>
            </a:r>
            <a:r>
              <a:rPr lang="pl-PL" sz="2400" dirty="0" err="1"/>
              <a:t>consequences</a:t>
            </a:r>
            <a:r>
              <a:rPr lang="pl-PL" sz="2400" dirty="0"/>
              <a:t> </a:t>
            </a:r>
            <a:r>
              <a:rPr lang="pl-PL" sz="2400" dirty="0" err="1"/>
              <a:t>are</a:t>
            </a:r>
            <a:r>
              <a:rPr lang="pl-PL" sz="2400" dirty="0"/>
              <a:t> </a:t>
            </a:r>
            <a:r>
              <a:rPr lang="pl-PL" sz="2400" dirty="0" err="1"/>
              <a:t>also</a:t>
            </a:r>
            <a:r>
              <a:rPr lang="pl-PL" sz="2400" dirty="0"/>
              <a:t> </a:t>
            </a:r>
            <a:r>
              <a:rPr lang="pl-PL" sz="2400" dirty="0" err="1"/>
              <a:t>transferred</a:t>
            </a:r>
            <a:r>
              <a:rPr lang="pl-PL" sz="2400" dirty="0"/>
              <a:t>.</a:t>
            </a:r>
          </a:p>
          <a:p>
            <a:pPr>
              <a:buFont typeface="Arial" pitchFamily="34" charset="0"/>
              <a:buChar char="•"/>
            </a:pPr>
            <a:r>
              <a:rPr lang="pl-PL" sz="2400" dirty="0"/>
              <a:t>A software </a:t>
            </a:r>
            <a:r>
              <a:rPr lang="pl-PL" sz="2400" dirty="0" err="1"/>
              <a:t>product</a:t>
            </a:r>
            <a:r>
              <a:rPr lang="pl-PL" sz="2400" dirty="0"/>
              <a:t> </a:t>
            </a:r>
            <a:r>
              <a:rPr lang="pl-PL" sz="2400" dirty="0" err="1"/>
              <a:t>line</a:t>
            </a:r>
            <a:r>
              <a:rPr lang="pl-PL" sz="2400" dirty="0"/>
              <a:t> </a:t>
            </a:r>
            <a:r>
              <a:rPr lang="pl-PL" sz="2400" dirty="0" err="1"/>
              <a:t>or</a:t>
            </a:r>
            <a:r>
              <a:rPr lang="pl-PL" sz="2400" dirty="0"/>
              <a:t> family </a:t>
            </a:r>
            <a:r>
              <a:rPr lang="pl-PL" sz="2400" dirty="0" err="1"/>
              <a:t>is</a:t>
            </a:r>
            <a:r>
              <a:rPr lang="pl-PL" sz="2400" dirty="0"/>
              <a:t> a set of software </a:t>
            </a:r>
            <a:r>
              <a:rPr lang="pl-PL" sz="2400" dirty="0" err="1"/>
              <a:t>systems</a:t>
            </a:r>
            <a:r>
              <a:rPr lang="pl-PL" sz="2400" dirty="0"/>
              <a:t> </a:t>
            </a:r>
            <a:r>
              <a:rPr lang="pl-PL" sz="2400" dirty="0" err="1"/>
              <a:t>that</a:t>
            </a:r>
            <a:r>
              <a:rPr lang="pl-PL" sz="2400" dirty="0"/>
              <a:t> </a:t>
            </a:r>
            <a:r>
              <a:rPr lang="pl-PL" sz="2400" dirty="0" err="1"/>
              <a:t>are</a:t>
            </a:r>
            <a:r>
              <a:rPr lang="pl-PL" sz="2400" dirty="0"/>
              <a:t> </a:t>
            </a:r>
            <a:r>
              <a:rPr lang="pl-PL" sz="2400" dirty="0" err="1"/>
              <a:t>all</a:t>
            </a:r>
            <a:r>
              <a:rPr lang="pl-PL" sz="2400" dirty="0"/>
              <a:t> </a:t>
            </a:r>
            <a:r>
              <a:rPr lang="pl-PL" sz="2400" dirty="0" err="1"/>
              <a:t>built</a:t>
            </a:r>
            <a:r>
              <a:rPr lang="pl-PL" sz="2400" dirty="0"/>
              <a:t> </a:t>
            </a:r>
            <a:r>
              <a:rPr lang="pl-PL" sz="2400" dirty="0" err="1"/>
              <a:t>using</a:t>
            </a:r>
            <a:r>
              <a:rPr lang="pl-PL" sz="2400" dirty="0"/>
              <a:t> the same set of </a:t>
            </a:r>
            <a:r>
              <a:rPr lang="pl-PL" sz="2400" dirty="0" err="1"/>
              <a:t>reusable</a:t>
            </a:r>
            <a:r>
              <a:rPr lang="pl-PL" sz="2400" dirty="0"/>
              <a:t> </a:t>
            </a:r>
            <a:r>
              <a:rPr lang="pl-PL" sz="2400" dirty="0" err="1"/>
              <a:t>assets</a:t>
            </a:r>
            <a:r>
              <a:rPr lang="pl-PL" sz="2400" dirty="0"/>
              <a:t>. </a:t>
            </a:r>
          </a:p>
          <a:p>
            <a:pPr lvl="1"/>
            <a:r>
              <a:rPr lang="pl-PL" sz="2400" dirty="0" err="1"/>
              <a:t>Chief</a:t>
            </a:r>
            <a:r>
              <a:rPr lang="pl-PL" sz="2400" dirty="0"/>
              <a:t> </a:t>
            </a:r>
            <a:r>
              <a:rPr lang="pl-PL" sz="2400" dirty="0" err="1"/>
              <a:t>among</a:t>
            </a:r>
            <a:r>
              <a:rPr lang="pl-PL" sz="2400" dirty="0"/>
              <a:t> </a:t>
            </a:r>
            <a:r>
              <a:rPr lang="pl-PL" sz="2400" dirty="0" err="1"/>
              <a:t>these</a:t>
            </a:r>
            <a:r>
              <a:rPr lang="pl-PL" sz="2400" dirty="0"/>
              <a:t> </a:t>
            </a:r>
            <a:r>
              <a:rPr lang="pl-PL" sz="2400" dirty="0" err="1"/>
              <a:t>assets</a:t>
            </a:r>
            <a:r>
              <a:rPr lang="pl-PL" sz="2400" dirty="0"/>
              <a:t> </a:t>
            </a:r>
            <a:r>
              <a:rPr lang="pl-PL" sz="2400" dirty="0" err="1"/>
              <a:t>is</a:t>
            </a:r>
            <a:r>
              <a:rPr lang="pl-PL" sz="2400" dirty="0"/>
              <a:t> the </a:t>
            </a:r>
            <a:r>
              <a:rPr lang="pl-PL" sz="2400" dirty="0" err="1"/>
              <a:t>architecture</a:t>
            </a:r>
            <a:r>
              <a:rPr lang="pl-PL" sz="2400" dirty="0"/>
              <a:t> </a:t>
            </a:r>
            <a:r>
              <a:rPr lang="pl-PL" sz="2400" dirty="0" err="1"/>
              <a:t>that</a:t>
            </a:r>
            <a:r>
              <a:rPr lang="pl-PL" sz="2400" dirty="0"/>
              <a:t> was </a:t>
            </a:r>
            <a:r>
              <a:rPr lang="pl-PL" sz="2400" dirty="0" err="1"/>
              <a:t>designed</a:t>
            </a:r>
            <a:r>
              <a:rPr lang="pl-PL" sz="2400" dirty="0"/>
              <a:t> to handle the </a:t>
            </a:r>
            <a:r>
              <a:rPr lang="pl-PL" sz="2400" dirty="0" err="1"/>
              <a:t>needs</a:t>
            </a:r>
            <a:r>
              <a:rPr lang="pl-PL" sz="2400" dirty="0"/>
              <a:t> of the </a:t>
            </a:r>
            <a:r>
              <a:rPr lang="pl-PL" sz="2400" dirty="0" err="1"/>
              <a:t>entire</a:t>
            </a:r>
            <a:r>
              <a:rPr lang="pl-PL" sz="2400" dirty="0"/>
              <a:t> family. </a:t>
            </a:r>
          </a:p>
          <a:p>
            <a:pPr lvl="1"/>
            <a:r>
              <a:rPr lang="pl-PL" sz="2400" dirty="0"/>
              <a:t>The </a:t>
            </a:r>
            <a:r>
              <a:rPr lang="pl-PL" sz="2400" dirty="0" err="1"/>
              <a:t>architecture</a:t>
            </a:r>
            <a:r>
              <a:rPr lang="pl-PL" sz="2400" dirty="0"/>
              <a:t> </a:t>
            </a:r>
            <a:r>
              <a:rPr lang="pl-PL" sz="2400" dirty="0" err="1"/>
              <a:t>defines</a:t>
            </a:r>
            <a:r>
              <a:rPr lang="pl-PL" sz="2400" dirty="0"/>
              <a:t> </a:t>
            </a:r>
            <a:r>
              <a:rPr lang="pl-PL" sz="2400" dirty="0" err="1"/>
              <a:t>what</a:t>
            </a:r>
            <a:r>
              <a:rPr lang="pl-PL" sz="2400" dirty="0"/>
              <a:t> </a:t>
            </a:r>
            <a:r>
              <a:rPr lang="pl-PL" sz="2400" dirty="0" err="1"/>
              <a:t>is</a:t>
            </a:r>
            <a:r>
              <a:rPr lang="pl-PL" sz="2400" dirty="0"/>
              <a:t> </a:t>
            </a:r>
            <a:r>
              <a:rPr lang="pl-PL" sz="2400" dirty="0" err="1"/>
              <a:t>fixed</a:t>
            </a:r>
            <a:r>
              <a:rPr lang="pl-PL" sz="2400" dirty="0"/>
              <a:t> for </a:t>
            </a:r>
            <a:r>
              <a:rPr lang="pl-PL" sz="2400" dirty="0" err="1"/>
              <a:t>all</a:t>
            </a:r>
            <a:r>
              <a:rPr lang="pl-PL" sz="2400" dirty="0"/>
              <a:t> </a:t>
            </a:r>
            <a:r>
              <a:rPr lang="pl-PL" sz="2400" dirty="0" err="1"/>
              <a:t>members</a:t>
            </a:r>
            <a:r>
              <a:rPr lang="pl-PL" sz="2400" dirty="0"/>
              <a:t> of the </a:t>
            </a:r>
            <a:r>
              <a:rPr lang="pl-PL" sz="2400" dirty="0" err="1"/>
              <a:t>product</a:t>
            </a:r>
            <a:r>
              <a:rPr lang="pl-PL" sz="2400" dirty="0"/>
              <a:t> </a:t>
            </a:r>
            <a:r>
              <a:rPr lang="pl-PL" sz="2400" dirty="0" err="1"/>
              <a:t>line</a:t>
            </a:r>
            <a:r>
              <a:rPr lang="pl-PL" sz="2400" dirty="0"/>
              <a:t> and </a:t>
            </a:r>
            <a:r>
              <a:rPr lang="pl-PL" sz="2400" dirty="0" err="1"/>
              <a:t>what</a:t>
            </a:r>
            <a:r>
              <a:rPr lang="pl-PL" sz="2400" dirty="0"/>
              <a:t> </a:t>
            </a:r>
            <a:r>
              <a:rPr lang="pl-PL" sz="2400" dirty="0" err="1"/>
              <a:t>is</a:t>
            </a:r>
            <a:r>
              <a:rPr lang="pl-PL" sz="2400" dirty="0"/>
              <a:t> </a:t>
            </a:r>
            <a:r>
              <a:rPr lang="pl-PL" sz="2400" dirty="0" err="1"/>
              <a:t>variable</a:t>
            </a:r>
            <a:r>
              <a:rPr lang="pl-PL" sz="2400" dirty="0"/>
              <a:t>. </a:t>
            </a:r>
          </a:p>
          <a:p>
            <a:pPr lvl="1"/>
            <a:r>
              <a:rPr lang="pl-PL" sz="2400" dirty="0"/>
              <a:t>The </a:t>
            </a:r>
            <a:r>
              <a:rPr lang="pl-PL" sz="2400" dirty="0" err="1"/>
              <a:t>architecture</a:t>
            </a:r>
            <a:r>
              <a:rPr lang="pl-PL" sz="2400" dirty="0"/>
              <a:t> for a </a:t>
            </a:r>
            <a:r>
              <a:rPr lang="pl-PL" sz="2400" dirty="0" err="1"/>
              <a:t>product</a:t>
            </a:r>
            <a:r>
              <a:rPr lang="pl-PL" sz="2400" dirty="0"/>
              <a:t> </a:t>
            </a:r>
            <a:r>
              <a:rPr lang="pl-PL" sz="2400" dirty="0" err="1"/>
              <a:t>line</a:t>
            </a:r>
            <a:r>
              <a:rPr lang="pl-PL" sz="2400" dirty="0"/>
              <a:t> </a:t>
            </a:r>
            <a:r>
              <a:rPr lang="pl-PL" sz="2400" dirty="0" err="1"/>
              <a:t>becomes</a:t>
            </a:r>
            <a:r>
              <a:rPr lang="pl-PL" sz="2400" dirty="0"/>
              <a:t> a </a:t>
            </a:r>
            <a:r>
              <a:rPr lang="pl-PL" sz="2400" dirty="0" err="1"/>
              <a:t>capital</a:t>
            </a:r>
            <a:r>
              <a:rPr lang="pl-PL" sz="2400" dirty="0"/>
              <a:t> investment by the </a:t>
            </a:r>
            <a:r>
              <a:rPr lang="pl-PL" sz="2400" dirty="0" err="1"/>
              <a:t>organization</a:t>
            </a:r>
            <a:r>
              <a:rPr lang="pl-PL" sz="2400" dirty="0"/>
              <a:t>.</a:t>
            </a:r>
            <a:endParaRPr lang="en-US" sz="24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Transferable, Reusable Model</a:t>
            </a:r>
          </a:p>
        </p:txBody>
      </p:sp>
      <p:sp>
        <p:nvSpPr>
          <p:cNvPr id="2" name="Date Placeholder 1">
            <a:extLst>
              <a:ext uri="{FF2B5EF4-FFF2-40B4-BE49-F238E27FC236}">
                <a16:creationId xmlns:a16="http://schemas.microsoft.com/office/drawing/2014/main" id="{DBE9FB19-5BA8-4FDD-BDB4-2926C1729963}"/>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0B8B8971-095B-4169-A085-8191A9EB8100}"/>
              </a:ext>
            </a:extLst>
          </p:cNvPr>
          <p:cNvSpPr>
            <a:spLocks noGrp="1"/>
          </p:cNvSpPr>
          <p:nvPr>
            <p:ph type="sldNum" sz="quarter" idx="14"/>
          </p:nvPr>
        </p:nvSpPr>
        <p:spPr/>
        <p:txBody>
          <a:bodyPr/>
          <a:lstStyle/>
          <a:p>
            <a:fld id="{BC8D7E44-7D4F-4942-A8C9-2DF6BF8399E8}" type="slidenum">
              <a:rPr lang="en-US" smtClean="0"/>
              <a:pPr/>
              <a:t>16</a:t>
            </a:fld>
            <a:endParaRPr lang="en-US" dirty="0"/>
          </a:p>
        </p:txBody>
      </p:sp>
    </p:spTree>
    <p:extLst>
      <p:ext uri="{BB962C8B-B14F-4D97-AF65-F5344CB8AC3E}">
        <p14:creationId xmlns:p14="http://schemas.microsoft.com/office/powerpoint/2010/main" val="3088810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sz="2000" dirty="0"/>
              <a:t>Architecture-based development often focuses on components that are likely to have been developed separately, even independently, from each other.</a:t>
            </a:r>
          </a:p>
          <a:p>
            <a:pPr>
              <a:buFont typeface="Arial" pitchFamily="34" charset="0"/>
              <a:buChar char="•"/>
            </a:pPr>
            <a:r>
              <a:rPr lang="en-US" sz="2000" dirty="0"/>
              <a:t>The architecture defines the elements that can be incorporated into the system.</a:t>
            </a:r>
            <a:endParaRPr lang="en-US" sz="1600" dirty="0"/>
          </a:p>
          <a:p>
            <a:pPr>
              <a:buFont typeface="Arial" pitchFamily="34" charset="0"/>
              <a:buChar char="•"/>
            </a:pPr>
            <a:r>
              <a:rPr lang="en-US" sz="2000" dirty="0"/>
              <a:t>Commercial off-the-shelf components, open source software, publicly available apps, and networked services are example of interchangeable software components.</a:t>
            </a:r>
          </a:p>
          <a:p>
            <a:pPr>
              <a:buFont typeface="Arial" pitchFamily="34" charset="0"/>
              <a:buChar char="•"/>
            </a:pPr>
            <a:r>
              <a:rPr lang="en-US" sz="2000" dirty="0"/>
              <a:t>The payoff can be</a:t>
            </a:r>
          </a:p>
          <a:p>
            <a:pPr lvl="1"/>
            <a:r>
              <a:rPr lang="en-US" sz="1600" dirty="0"/>
              <a:t>Decreased time to market</a:t>
            </a:r>
          </a:p>
          <a:p>
            <a:pPr lvl="1"/>
            <a:r>
              <a:rPr lang="pl-PL" sz="1600" dirty="0" err="1"/>
              <a:t>Increased</a:t>
            </a:r>
            <a:r>
              <a:rPr lang="pl-PL" sz="1600" dirty="0"/>
              <a:t> </a:t>
            </a:r>
            <a:r>
              <a:rPr lang="pl-PL" sz="1600" dirty="0" err="1"/>
              <a:t>reliability</a:t>
            </a:r>
            <a:r>
              <a:rPr lang="pl-PL" sz="1600" dirty="0"/>
              <a:t> (</a:t>
            </a:r>
            <a:r>
              <a:rPr lang="pl-PL" sz="1600" dirty="0" err="1"/>
              <a:t>widely</a:t>
            </a:r>
            <a:r>
              <a:rPr lang="pl-PL" sz="1600" dirty="0"/>
              <a:t> </a:t>
            </a:r>
            <a:r>
              <a:rPr lang="pl-PL" sz="1600" dirty="0" err="1"/>
              <a:t>used</a:t>
            </a:r>
            <a:r>
              <a:rPr lang="pl-PL" sz="1600" dirty="0"/>
              <a:t> software </a:t>
            </a:r>
            <a:r>
              <a:rPr lang="pl-PL" sz="1600" dirty="0" err="1"/>
              <a:t>should</a:t>
            </a:r>
            <a:r>
              <a:rPr lang="pl-PL" sz="1600" dirty="0"/>
              <a:t> </a:t>
            </a:r>
            <a:r>
              <a:rPr lang="pl-PL" sz="1600" dirty="0" err="1"/>
              <a:t>have</a:t>
            </a:r>
            <a:r>
              <a:rPr lang="pl-PL" sz="1600" dirty="0"/>
              <a:t> </a:t>
            </a:r>
            <a:r>
              <a:rPr lang="pl-PL" sz="1600" dirty="0" err="1"/>
              <a:t>its</a:t>
            </a:r>
            <a:r>
              <a:rPr lang="pl-PL" sz="1600" dirty="0"/>
              <a:t> </a:t>
            </a:r>
            <a:r>
              <a:rPr lang="pl-PL" sz="1600" dirty="0" err="1"/>
              <a:t>bugs</a:t>
            </a:r>
            <a:r>
              <a:rPr lang="pl-PL" sz="1600" dirty="0"/>
              <a:t> </a:t>
            </a:r>
            <a:r>
              <a:rPr lang="pl-PL" sz="1600" dirty="0" err="1"/>
              <a:t>ironed</a:t>
            </a:r>
            <a:r>
              <a:rPr lang="pl-PL" sz="1600" dirty="0"/>
              <a:t> out </a:t>
            </a:r>
            <a:r>
              <a:rPr lang="pl-PL" sz="1600" dirty="0" err="1"/>
              <a:t>already</a:t>
            </a:r>
            <a:r>
              <a:rPr lang="pl-PL" sz="1600" dirty="0"/>
              <a:t>)</a:t>
            </a:r>
          </a:p>
          <a:p>
            <a:pPr lvl="1"/>
            <a:r>
              <a:rPr lang="pl-PL" sz="1600" dirty="0"/>
              <a:t>Lower </a:t>
            </a:r>
            <a:r>
              <a:rPr lang="pl-PL" sz="1600" dirty="0" err="1"/>
              <a:t>cost</a:t>
            </a:r>
            <a:r>
              <a:rPr lang="pl-PL" sz="1600" dirty="0"/>
              <a:t> (the software </a:t>
            </a:r>
            <a:r>
              <a:rPr lang="pl-PL" sz="1600" dirty="0" err="1"/>
              <a:t>supplier</a:t>
            </a:r>
            <a:r>
              <a:rPr lang="pl-PL" sz="1600" dirty="0"/>
              <a:t> </a:t>
            </a:r>
            <a:r>
              <a:rPr lang="pl-PL" sz="1600" dirty="0" err="1"/>
              <a:t>can</a:t>
            </a:r>
            <a:r>
              <a:rPr lang="pl-PL" sz="1600" dirty="0"/>
              <a:t> </a:t>
            </a:r>
            <a:r>
              <a:rPr lang="pl-PL" sz="1600" dirty="0" err="1"/>
              <a:t>amortize</a:t>
            </a:r>
            <a:r>
              <a:rPr lang="pl-PL" sz="1600" dirty="0"/>
              <a:t> development </a:t>
            </a:r>
            <a:r>
              <a:rPr lang="pl-PL" sz="1600" dirty="0" err="1"/>
              <a:t>cost</a:t>
            </a:r>
            <a:r>
              <a:rPr lang="pl-PL" sz="1600" dirty="0"/>
              <a:t> </a:t>
            </a:r>
            <a:r>
              <a:rPr lang="pl-PL" sz="1600" dirty="0" err="1"/>
              <a:t>across</a:t>
            </a:r>
            <a:r>
              <a:rPr lang="pl-PL" sz="1600" dirty="0"/>
              <a:t> </a:t>
            </a:r>
            <a:r>
              <a:rPr lang="pl-PL" sz="1600" dirty="0" err="1"/>
              <a:t>their</a:t>
            </a:r>
            <a:r>
              <a:rPr lang="pl-PL" sz="1600" dirty="0"/>
              <a:t> </a:t>
            </a:r>
            <a:r>
              <a:rPr lang="pl-PL" sz="1600" dirty="0" err="1"/>
              <a:t>customer</a:t>
            </a:r>
            <a:r>
              <a:rPr lang="pl-PL" sz="1600" dirty="0"/>
              <a:t> </a:t>
            </a:r>
            <a:r>
              <a:rPr lang="pl-PL" sz="1600" dirty="0" err="1"/>
              <a:t>base</a:t>
            </a:r>
            <a:r>
              <a:rPr lang="pl-PL" sz="1600" dirty="0"/>
              <a:t>)</a:t>
            </a:r>
          </a:p>
          <a:p>
            <a:pPr lvl="1"/>
            <a:r>
              <a:rPr lang="pl-PL" sz="1600" dirty="0" err="1"/>
              <a:t>Flexibility</a:t>
            </a:r>
            <a:r>
              <a:rPr lang="pl-PL" sz="1600" dirty="0"/>
              <a:t> (</a:t>
            </a:r>
            <a:r>
              <a:rPr lang="pl-PL" sz="1600" dirty="0" err="1"/>
              <a:t>if</a:t>
            </a:r>
            <a:r>
              <a:rPr lang="pl-PL" sz="1600" dirty="0"/>
              <a:t> the component </a:t>
            </a:r>
            <a:r>
              <a:rPr lang="pl-PL" sz="1600" dirty="0" err="1"/>
              <a:t>you</a:t>
            </a:r>
            <a:r>
              <a:rPr lang="pl-PL" sz="1600" dirty="0"/>
              <a:t> want to </a:t>
            </a:r>
            <a:r>
              <a:rPr lang="pl-PL" sz="1600" dirty="0" err="1"/>
              <a:t>buy</a:t>
            </a:r>
            <a:r>
              <a:rPr lang="pl-PL" sz="1600" dirty="0"/>
              <a:t> </a:t>
            </a:r>
            <a:r>
              <a:rPr lang="pl-PL" sz="1600" dirty="0" err="1"/>
              <a:t>is</a:t>
            </a:r>
            <a:r>
              <a:rPr lang="pl-PL" sz="1600" dirty="0"/>
              <a:t> not </a:t>
            </a:r>
            <a:r>
              <a:rPr lang="pl-PL" sz="1600" dirty="0" err="1"/>
              <a:t>terribly</a:t>
            </a:r>
            <a:r>
              <a:rPr lang="pl-PL" sz="1600" dirty="0"/>
              <a:t> </a:t>
            </a:r>
            <a:r>
              <a:rPr lang="pl-PL" sz="1600" dirty="0" err="1"/>
              <a:t>specialpurpose</a:t>
            </a:r>
            <a:r>
              <a:rPr lang="pl-PL" sz="1600" dirty="0"/>
              <a:t>, </a:t>
            </a:r>
            <a:r>
              <a:rPr lang="pl-PL" sz="1600" dirty="0" err="1"/>
              <a:t>it’s</a:t>
            </a:r>
            <a:r>
              <a:rPr lang="pl-PL" sz="1600" dirty="0"/>
              <a:t> </a:t>
            </a:r>
            <a:r>
              <a:rPr lang="pl-PL" sz="1600" dirty="0" err="1"/>
              <a:t>likely</a:t>
            </a:r>
            <a:r>
              <a:rPr lang="pl-PL" sz="1600" dirty="0"/>
              <a:t> to be </a:t>
            </a:r>
            <a:r>
              <a:rPr lang="pl-PL" sz="1600" dirty="0" err="1"/>
              <a:t>available</a:t>
            </a:r>
            <a:r>
              <a:rPr lang="pl-PL" sz="1600" dirty="0"/>
              <a:t> from </a:t>
            </a:r>
            <a:r>
              <a:rPr lang="pl-PL" sz="1600" dirty="0" err="1"/>
              <a:t>several</a:t>
            </a:r>
            <a:r>
              <a:rPr lang="pl-PL" sz="1600" dirty="0"/>
              <a:t> </a:t>
            </a:r>
            <a:r>
              <a:rPr lang="pl-PL" sz="1600" dirty="0" err="1"/>
              <a:t>sources</a:t>
            </a:r>
            <a:r>
              <a:rPr lang="pl-PL" sz="1600" dirty="0"/>
              <a:t>, </a:t>
            </a:r>
            <a:r>
              <a:rPr lang="pl-PL" sz="1600" dirty="0" err="1"/>
              <a:t>thus</a:t>
            </a:r>
            <a:r>
              <a:rPr lang="pl-PL" sz="1600" dirty="0"/>
              <a:t> </a:t>
            </a:r>
            <a:r>
              <a:rPr lang="pl-PL" sz="1600" dirty="0" err="1"/>
              <a:t>increasing</a:t>
            </a:r>
            <a:r>
              <a:rPr lang="pl-PL" sz="1600" dirty="0"/>
              <a:t> </a:t>
            </a:r>
            <a:r>
              <a:rPr lang="pl-PL" sz="1600" dirty="0" err="1"/>
              <a:t>your</a:t>
            </a:r>
            <a:r>
              <a:rPr lang="pl-PL" sz="1600" dirty="0"/>
              <a:t> </a:t>
            </a:r>
            <a:r>
              <a:rPr lang="pl-PL" sz="1600" dirty="0" err="1"/>
              <a:t>buying</a:t>
            </a:r>
            <a:r>
              <a:rPr lang="pl-PL" sz="1600" dirty="0"/>
              <a:t> </a:t>
            </a:r>
            <a:r>
              <a:rPr lang="pl-PL" sz="1600" dirty="0" err="1"/>
              <a:t>leverage</a:t>
            </a:r>
            <a:r>
              <a:rPr lang="pl-PL" sz="1600" dirty="0"/>
              <a:t>)</a:t>
            </a:r>
            <a:endParaRPr lang="en-US" sz="16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Using Independently Developed Components</a:t>
            </a:r>
          </a:p>
        </p:txBody>
      </p:sp>
      <p:sp>
        <p:nvSpPr>
          <p:cNvPr id="2" name="Date Placeholder 1">
            <a:extLst>
              <a:ext uri="{FF2B5EF4-FFF2-40B4-BE49-F238E27FC236}">
                <a16:creationId xmlns:a16="http://schemas.microsoft.com/office/drawing/2014/main" id="{A7A1C102-1817-42EE-9E08-60131289366C}"/>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F2BBF86C-8918-4F4B-95FD-240D9750EAAC}"/>
              </a:ext>
            </a:extLst>
          </p:cNvPr>
          <p:cNvSpPr>
            <a:spLocks noGrp="1"/>
          </p:cNvSpPr>
          <p:nvPr>
            <p:ph type="sldNum" sz="quarter" idx="14"/>
          </p:nvPr>
        </p:nvSpPr>
        <p:spPr/>
        <p:txBody>
          <a:bodyPr/>
          <a:lstStyle/>
          <a:p>
            <a:fld id="{BC8D7E44-7D4F-4942-A8C9-2DF6BF8399E8}" type="slidenum">
              <a:rPr lang="en-US" smtClean="0"/>
              <a:pPr/>
              <a:t>17</a:t>
            </a:fld>
            <a:endParaRPr lang="en-US" dirty="0"/>
          </a:p>
        </p:txBody>
      </p:sp>
    </p:spTree>
    <p:extLst>
      <p:ext uri="{BB962C8B-B14F-4D97-AF65-F5344CB8AC3E}">
        <p14:creationId xmlns:p14="http://schemas.microsoft.com/office/powerpoint/2010/main" val="60948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a:buFont typeface="Arial" pitchFamily="34" charset="0"/>
              <a:buChar char="•"/>
            </a:pPr>
            <a:r>
              <a:rPr lang="en-US" dirty="0"/>
              <a:t>As useful architectural patterns are collected, we see the benefit in voluntarily restricting ourselves to a relatively small number of choices of elements and their interactions. </a:t>
            </a:r>
          </a:p>
          <a:p>
            <a:pPr lvl="1"/>
            <a:r>
              <a:rPr lang="en-US" dirty="0"/>
              <a:t>We minimize the design complexity of the system we are building.</a:t>
            </a:r>
          </a:p>
          <a:p>
            <a:pPr lvl="1"/>
            <a:r>
              <a:rPr lang="en-US" dirty="0"/>
              <a:t>Enhanced reuse</a:t>
            </a:r>
          </a:p>
          <a:p>
            <a:pPr lvl="1"/>
            <a:r>
              <a:rPr lang="en-US" dirty="0"/>
              <a:t>More regular and simpler designs that are more easily understood and communicated</a:t>
            </a:r>
          </a:p>
          <a:p>
            <a:pPr lvl="1"/>
            <a:r>
              <a:rPr lang="en-US" dirty="0"/>
              <a:t>More capable analysis</a:t>
            </a:r>
          </a:p>
          <a:p>
            <a:pPr lvl="1"/>
            <a:r>
              <a:rPr lang="en-US" dirty="0"/>
              <a:t>Shorter selection time</a:t>
            </a:r>
          </a:p>
          <a:p>
            <a:pPr lvl="1"/>
            <a:r>
              <a:rPr lang="en-US" dirty="0"/>
              <a:t>Greater interoperability.</a:t>
            </a:r>
          </a:p>
          <a:p>
            <a:pPr>
              <a:buFont typeface="Arial" pitchFamily="34" charset="0"/>
              <a:buChar char="•"/>
            </a:pPr>
            <a:r>
              <a:rPr lang="en-US" dirty="0"/>
              <a:t>Architectural patterns guide the architect and focus the architect on the quality attributes of interest in large part by restricting the vocabulary of design.</a:t>
            </a:r>
          </a:p>
          <a:p>
            <a:pPr lvl="1"/>
            <a:r>
              <a:rPr lang="en-US" dirty="0"/>
              <a:t>Properties of software design follow from the choice of an architectural pattern.</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Restricting Design Vocabulary</a:t>
            </a:r>
          </a:p>
        </p:txBody>
      </p:sp>
      <p:sp>
        <p:nvSpPr>
          <p:cNvPr id="2" name="Date Placeholder 1">
            <a:extLst>
              <a:ext uri="{FF2B5EF4-FFF2-40B4-BE49-F238E27FC236}">
                <a16:creationId xmlns:a16="http://schemas.microsoft.com/office/drawing/2014/main" id="{EDFB35AD-ED33-4A28-98B7-F5314A4CFBB9}"/>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4C41DEF4-891E-43F7-8EA8-29E57990653B}"/>
              </a:ext>
            </a:extLst>
          </p:cNvPr>
          <p:cNvSpPr>
            <a:spLocks noGrp="1"/>
          </p:cNvSpPr>
          <p:nvPr>
            <p:ph type="sldNum" sz="quarter" idx="14"/>
          </p:nvPr>
        </p:nvSpPr>
        <p:spPr/>
        <p:txBody>
          <a:bodyPr/>
          <a:lstStyle/>
          <a:p>
            <a:fld id="{BC8D7E44-7D4F-4942-A8C9-2DF6BF8399E8}" type="slidenum">
              <a:rPr lang="en-US" smtClean="0"/>
              <a:pPr/>
              <a:t>18</a:t>
            </a:fld>
            <a:endParaRPr lang="en-US" dirty="0"/>
          </a:p>
        </p:txBody>
      </p:sp>
    </p:spTree>
    <p:extLst>
      <p:ext uri="{BB962C8B-B14F-4D97-AF65-F5344CB8AC3E}">
        <p14:creationId xmlns:p14="http://schemas.microsoft.com/office/powerpoint/2010/main" val="2751806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The architecture can serve as the first introduction to the system for new project members. </a:t>
            </a:r>
          </a:p>
          <a:p>
            <a:pPr>
              <a:buFont typeface="Arial" pitchFamily="34" charset="0"/>
              <a:buChar char="•"/>
            </a:pPr>
            <a:r>
              <a:rPr lang="en-US" dirty="0"/>
              <a:t>Module views are excellent for showing someone the structure of a project</a:t>
            </a:r>
          </a:p>
          <a:p>
            <a:pPr lvl="1"/>
            <a:r>
              <a:rPr lang="en-US" dirty="0"/>
              <a:t>Who does what, which teams are assigned to which parts of the system, and so </a:t>
            </a:r>
            <a:r>
              <a:rPr lang="pl-PL" dirty="0" err="1"/>
              <a:t>forth</a:t>
            </a:r>
            <a:r>
              <a:rPr lang="pl-PL" dirty="0"/>
              <a:t>. </a:t>
            </a:r>
          </a:p>
          <a:p>
            <a:pPr>
              <a:buFont typeface="Arial" pitchFamily="34" charset="0"/>
              <a:buChar char="•"/>
            </a:pPr>
            <a:r>
              <a:rPr lang="pl-PL" dirty="0"/>
              <a:t>Component-and-</a:t>
            </a:r>
            <a:r>
              <a:rPr lang="pl-PL" dirty="0" err="1"/>
              <a:t>connector</a:t>
            </a:r>
            <a:r>
              <a:rPr lang="pl-PL" dirty="0"/>
              <a:t> </a:t>
            </a:r>
            <a:r>
              <a:rPr lang="pl-PL" dirty="0" err="1"/>
              <a:t>views</a:t>
            </a:r>
            <a:r>
              <a:rPr lang="pl-PL" dirty="0"/>
              <a:t> </a:t>
            </a:r>
            <a:r>
              <a:rPr lang="pl-PL" dirty="0" err="1"/>
              <a:t>are</a:t>
            </a:r>
            <a:r>
              <a:rPr lang="pl-PL" dirty="0"/>
              <a:t> </a:t>
            </a:r>
            <a:r>
              <a:rPr lang="pl-PL" dirty="0" err="1"/>
              <a:t>excellent</a:t>
            </a:r>
            <a:r>
              <a:rPr lang="pl-PL" dirty="0"/>
              <a:t> for </a:t>
            </a:r>
            <a:r>
              <a:rPr lang="pl-PL" dirty="0" err="1"/>
              <a:t>explaining</a:t>
            </a:r>
            <a:r>
              <a:rPr lang="pl-PL" dirty="0"/>
              <a:t> </a:t>
            </a:r>
            <a:r>
              <a:rPr lang="pl-PL" dirty="0" err="1"/>
              <a:t>how</a:t>
            </a:r>
            <a:r>
              <a:rPr lang="pl-PL" dirty="0"/>
              <a:t> the system </a:t>
            </a:r>
            <a:r>
              <a:rPr lang="pl-PL" dirty="0" err="1"/>
              <a:t>is</a:t>
            </a:r>
            <a:r>
              <a:rPr lang="pl-PL" dirty="0"/>
              <a:t> </a:t>
            </a:r>
            <a:r>
              <a:rPr lang="pl-PL" dirty="0" err="1"/>
              <a:t>expected</a:t>
            </a:r>
            <a:r>
              <a:rPr lang="pl-PL" dirty="0"/>
              <a:t> to </a:t>
            </a:r>
            <a:r>
              <a:rPr lang="pl-PL" dirty="0" err="1"/>
              <a:t>work</a:t>
            </a:r>
            <a:r>
              <a:rPr lang="pl-PL" dirty="0"/>
              <a:t> and </a:t>
            </a:r>
            <a:r>
              <a:rPr lang="pl-PL" dirty="0" err="1"/>
              <a:t>accomplish</a:t>
            </a:r>
            <a:r>
              <a:rPr lang="pl-PL" dirty="0"/>
              <a:t> </a:t>
            </a:r>
            <a:r>
              <a:rPr lang="pl-PL" dirty="0" err="1"/>
              <a:t>its</a:t>
            </a:r>
            <a:r>
              <a:rPr lang="pl-PL" dirty="0"/>
              <a:t> </a:t>
            </a:r>
            <a:r>
              <a:rPr lang="pl-PL" dirty="0" err="1"/>
              <a:t>job</a:t>
            </a:r>
            <a:r>
              <a:rPr lang="pl-PL" dirty="0"/>
              <a: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Basis for Training</a:t>
            </a:r>
          </a:p>
        </p:txBody>
      </p:sp>
      <p:sp>
        <p:nvSpPr>
          <p:cNvPr id="2" name="Date Placeholder 1">
            <a:extLst>
              <a:ext uri="{FF2B5EF4-FFF2-40B4-BE49-F238E27FC236}">
                <a16:creationId xmlns:a16="http://schemas.microsoft.com/office/drawing/2014/main" id="{973FF8A6-91C6-4232-B347-84934A34F6C4}"/>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A3CD7869-B7BB-408E-8E04-2F7C886F8C04}"/>
              </a:ext>
            </a:extLst>
          </p:cNvPr>
          <p:cNvSpPr>
            <a:spLocks noGrp="1"/>
          </p:cNvSpPr>
          <p:nvPr>
            <p:ph type="sldNum" sz="quarter" idx="14"/>
          </p:nvPr>
        </p:nvSpPr>
        <p:spPr/>
        <p:txBody>
          <a:bodyPr/>
          <a:lstStyle/>
          <a:p>
            <a:fld id="{BC8D7E44-7D4F-4942-A8C9-2DF6BF8399E8}" type="slidenum">
              <a:rPr lang="en-US" smtClean="0"/>
              <a:pPr/>
              <a:t>19</a:t>
            </a:fld>
            <a:endParaRPr lang="en-US" dirty="0"/>
          </a:p>
        </p:txBody>
      </p:sp>
    </p:spTree>
    <p:extLst>
      <p:ext uri="{BB962C8B-B14F-4D97-AF65-F5344CB8AC3E}">
        <p14:creationId xmlns:p14="http://schemas.microsoft.com/office/powerpoint/2010/main" val="2332370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US" dirty="0"/>
              <a:t>An architecture will inhibit or enable a system’s driving quality attributes.</a:t>
            </a:r>
          </a:p>
          <a:p>
            <a:pPr marL="514350" indent="-514350">
              <a:buFont typeface="+mj-lt"/>
              <a:buAutoNum type="arabicPeriod"/>
            </a:pPr>
            <a:r>
              <a:rPr lang="en-US" dirty="0"/>
              <a:t>The decisions made in an architecture allow you to reason about and manage change as the system evolves.</a:t>
            </a:r>
          </a:p>
          <a:p>
            <a:pPr marL="514350" indent="-514350">
              <a:buFont typeface="+mj-lt"/>
              <a:buAutoNum type="arabicPeriod"/>
            </a:pPr>
            <a:r>
              <a:rPr lang="en-US" dirty="0"/>
              <a:t>The analysis of an architecture enables early prediction of a system’s qualities.</a:t>
            </a:r>
          </a:p>
          <a:p>
            <a:pPr marL="514350" indent="-514350">
              <a:buFont typeface="+mj-lt"/>
              <a:buAutoNum type="arabicPeriod"/>
            </a:pPr>
            <a:r>
              <a:rPr lang="en-US" dirty="0"/>
              <a:t>A documented architecture enhances communication among stakeholders.</a:t>
            </a:r>
          </a:p>
          <a:p>
            <a:pPr marL="514350" indent="-514350">
              <a:buFont typeface="+mj-lt"/>
              <a:buAutoNum type="arabicPeriod"/>
            </a:pPr>
            <a:r>
              <a:rPr lang="en-US" dirty="0"/>
              <a:t>The architecture is a carrier of the earliest and hence most fundamental, hardest-to-change design decisions.</a:t>
            </a:r>
          </a:p>
          <a:p>
            <a:pPr marL="514350" indent="-514350">
              <a:buFont typeface="+mj-lt"/>
              <a:buAutoNum type="arabicPeriod"/>
            </a:pPr>
            <a:r>
              <a:rPr lang="en-US" dirty="0"/>
              <a:t>An architecture defines a set of constraints on subsequent implementation.</a:t>
            </a:r>
          </a:p>
          <a:p>
            <a:pPr marL="514350" indent="-514350">
              <a:buFont typeface="+mj-lt"/>
              <a:buAutoNum type="arabicPeriod"/>
            </a:pPr>
            <a:r>
              <a:rPr lang="en-US" dirty="0"/>
              <a:t>The architecture dictates the structure of an organization, or vice versa.</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AU" dirty="0"/>
              <a:t>Summary</a:t>
            </a:r>
          </a:p>
        </p:txBody>
      </p:sp>
      <p:sp>
        <p:nvSpPr>
          <p:cNvPr id="2" name="Date Placeholder 1">
            <a:extLst>
              <a:ext uri="{FF2B5EF4-FFF2-40B4-BE49-F238E27FC236}">
                <a16:creationId xmlns:a16="http://schemas.microsoft.com/office/drawing/2014/main" id="{F1A81232-6B22-4E26-BA84-E34F746AAE26}"/>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50B58E09-7865-489D-9D36-C72E39AF2857}"/>
              </a:ext>
            </a:extLst>
          </p:cNvPr>
          <p:cNvSpPr>
            <a:spLocks noGrp="1"/>
          </p:cNvSpPr>
          <p:nvPr>
            <p:ph type="sldNum" sz="quarter" idx="14"/>
          </p:nvPr>
        </p:nvSpPr>
        <p:spPr/>
        <p:txBody>
          <a:bodyPr/>
          <a:lstStyle/>
          <a:p>
            <a:fld id="{BC8D7E44-7D4F-4942-A8C9-2DF6BF8399E8}" type="slidenum">
              <a:rPr lang="en-US" smtClean="0"/>
              <a:pPr/>
              <a:t>20</a:t>
            </a:fld>
            <a:endParaRPr lang="en-US" dirty="0"/>
          </a:p>
        </p:txBody>
      </p:sp>
    </p:spTree>
    <p:extLst>
      <p:ext uri="{BB962C8B-B14F-4D97-AF65-F5344CB8AC3E}">
        <p14:creationId xmlns:p14="http://schemas.microsoft.com/office/powerpoint/2010/main" val="1692845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startAt="8"/>
            </a:pPr>
            <a:r>
              <a:rPr lang="en-US" dirty="0"/>
              <a:t>An architecture can provide the basis for evolutionary prototyping.</a:t>
            </a:r>
          </a:p>
          <a:p>
            <a:pPr marL="514350" indent="-514350">
              <a:buFont typeface="+mj-lt"/>
              <a:buAutoNum type="arabicPeriod" startAt="8"/>
            </a:pPr>
            <a:r>
              <a:rPr lang="en-US" dirty="0"/>
              <a:t>An architecture is the key artifact that allows the architect and project manager to reason about cost and schedule.</a:t>
            </a:r>
          </a:p>
          <a:p>
            <a:pPr marL="514350" indent="-514350">
              <a:buFont typeface="+mj-lt"/>
              <a:buAutoNum type="arabicPeriod" startAt="8"/>
            </a:pPr>
            <a:r>
              <a:rPr lang="en-US" dirty="0"/>
              <a:t>An architecture can be created as a transferable, reusable model that form the heart of a product line.</a:t>
            </a:r>
          </a:p>
          <a:p>
            <a:pPr marL="514350" indent="-514350">
              <a:buFont typeface="+mj-lt"/>
              <a:buAutoNum type="arabicPeriod" startAt="8"/>
            </a:pPr>
            <a:r>
              <a:rPr lang="en-US" dirty="0"/>
              <a:t>Architecture-based development focuses attention on the assembly of components, rather than simply on their creation.</a:t>
            </a:r>
          </a:p>
          <a:p>
            <a:pPr marL="514350" indent="-514350">
              <a:buFont typeface="+mj-lt"/>
              <a:buAutoNum type="arabicPeriod" startAt="8"/>
            </a:pPr>
            <a:r>
              <a:rPr lang="en-US" dirty="0"/>
              <a:t>By restricting design alternatives, architecture channels the creativity of developers, reducing design and system complexity.</a:t>
            </a:r>
          </a:p>
          <a:p>
            <a:pPr marL="514350" indent="-514350">
              <a:buFont typeface="+mj-lt"/>
              <a:buAutoNum type="arabicPeriod" startAt="8"/>
            </a:pPr>
            <a:r>
              <a:rPr lang="en-US" dirty="0"/>
              <a:t>An architecture can be the foundation for training a new team member.</a:t>
            </a:r>
            <a:endParaRPr lang="en-AU"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C16E6B8E-4011-4D23-903A-0D2A2A033A26}"/>
              </a:ext>
            </a:extLst>
          </p:cNvPr>
          <p:cNvSpPr>
            <a:spLocks noGrp="1"/>
          </p:cNvSpPr>
          <p:nvPr>
            <p:ph type="dt" sz="half" idx="12"/>
          </p:nvPr>
        </p:nvSpPr>
        <p:spPr/>
        <p:txBody>
          <a:bodyPr/>
          <a:lstStyle/>
          <a:p>
            <a:r>
              <a:rPr lang="en-US"/>
              <a:t>July 25, 2026</a:t>
            </a:r>
          </a:p>
        </p:txBody>
      </p:sp>
      <p:sp>
        <p:nvSpPr>
          <p:cNvPr id="8" name="Slide Number Placeholder 7">
            <a:extLst>
              <a:ext uri="{FF2B5EF4-FFF2-40B4-BE49-F238E27FC236}">
                <a16:creationId xmlns:a16="http://schemas.microsoft.com/office/drawing/2014/main" id="{0C1470EB-9C02-42D1-B95D-73B7233D5972}"/>
              </a:ext>
            </a:extLst>
          </p:cNvPr>
          <p:cNvSpPr>
            <a:spLocks noGrp="1"/>
          </p:cNvSpPr>
          <p:nvPr>
            <p:ph type="sldNum" sz="quarter" idx="14"/>
          </p:nvPr>
        </p:nvSpPr>
        <p:spPr/>
        <p:txBody>
          <a:bodyPr/>
          <a:lstStyle/>
          <a:p>
            <a:fld id="{BC8D7E44-7D4F-4942-A8C9-2DF6BF8399E8}" type="slidenum">
              <a:rPr lang="en-US" smtClean="0"/>
              <a:pPr/>
              <a:t>21</a:t>
            </a:fld>
            <a:endParaRPr lang="en-US" dirty="0"/>
          </a:p>
        </p:txBody>
      </p:sp>
      <p:sp>
        <p:nvSpPr>
          <p:cNvPr id="9" name="Title 1">
            <a:extLst>
              <a:ext uri="{FF2B5EF4-FFF2-40B4-BE49-F238E27FC236}">
                <a16:creationId xmlns:a16="http://schemas.microsoft.com/office/drawing/2014/main" id="{22021C28-179B-8177-1B38-A5348E1C2C08}"/>
              </a:ext>
            </a:extLst>
          </p:cNvPr>
          <p:cNvSpPr>
            <a:spLocks noGrp="1"/>
          </p:cNvSpPr>
          <p:nvPr>
            <p:ph sz="quarter" idx="10"/>
          </p:nvPr>
        </p:nvSpPr>
        <p:spPr>
          <a:xfrm>
            <a:off x="304800" y="152400"/>
            <a:ext cx="6324600" cy="1143000"/>
          </a:xfrm>
        </p:spPr>
        <p:txBody>
          <a:bodyPr/>
          <a:lstStyle/>
          <a:p>
            <a:r>
              <a:rPr lang="en-AU" dirty="0"/>
              <a:t>Summary</a:t>
            </a:r>
          </a:p>
        </p:txBody>
      </p:sp>
    </p:spTree>
    <p:extLst>
      <p:ext uri="{BB962C8B-B14F-4D97-AF65-F5344CB8AC3E}">
        <p14:creationId xmlns:p14="http://schemas.microsoft.com/office/powerpoint/2010/main" val="2991304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The Many </a:t>
            </a:r>
            <a:r>
              <a:rPr lang="en-AU" dirty="0"/>
              <a:t>Contexts of Software Architecture</a:t>
            </a:r>
            <a:endParaRPr lang="en-US" dirty="0"/>
          </a:p>
        </p:txBody>
      </p:sp>
      <p:sp>
        <p:nvSpPr>
          <p:cNvPr id="6" name="Content Placeholder 5"/>
          <p:cNvSpPr>
            <a:spLocks noGrp="1"/>
          </p:cNvSpPr>
          <p:nvPr>
            <p:ph sz="quarter" idx="13"/>
          </p:nvPr>
        </p:nvSpPr>
        <p:spPr/>
        <p:txBody>
          <a:bodyPr/>
          <a:lstStyle/>
          <a:p>
            <a:r>
              <a:rPr lang="en-US" dirty="0"/>
              <a:t>Harvinder S Jabbal</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22</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July 25, 2026</a:t>
            </a:r>
          </a:p>
        </p:txBody>
      </p:sp>
    </p:spTree>
    <p:extLst>
      <p:ext uri="{BB962C8B-B14F-4D97-AF65-F5344CB8AC3E}">
        <p14:creationId xmlns:p14="http://schemas.microsoft.com/office/powerpoint/2010/main" val="2982797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Architecture in a Technical Context</a:t>
            </a:r>
          </a:p>
          <a:p>
            <a:r>
              <a:rPr lang="en-US" dirty="0"/>
              <a:t>Architecture in a Project Life-Cycle Context</a:t>
            </a:r>
          </a:p>
          <a:p>
            <a:r>
              <a:rPr lang="en-US" dirty="0"/>
              <a:t>Architecture in a Business Context </a:t>
            </a:r>
          </a:p>
          <a:p>
            <a:r>
              <a:rPr lang="en-US" dirty="0"/>
              <a:t>Architecture in a Professional Context </a:t>
            </a:r>
          </a:p>
          <a:p>
            <a:r>
              <a:rPr lang="en-US" dirty="0"/>
              <a:t>Stakeholders </a:t>
            </a:r>
          </a:p>
          <a:p>
            <a:r>
              <a:rPr lang="en-US" dirty="0"/>
              <a:t>How Is Architecture Influenced? </a:t>
            </a:r>
          </a:p>
          <a:p>
            <a:r>
              <a:rPr lang="en-US" dirty="0"/>
              <a:t>What Do Architectures Influence? </a:t>
            </a:r>
          </a:p>
          <a:p>
            <a:r>
              <a:rPr lang="en-US" dirty="0"/>
              <a:t>Summary</a:t>
            </a:r>
          </a:p>
        </p:txBody>
      </p:sp>
      <p:sp>
        <p:nvSpPr>
          <p:cNvPr id="7" name="Title 1"/>
          <p:cNvSpPr>
            <a:spLocks noGrp="1"/>
          </p:cNvSpPr>
          <p:nvPr>
            <p:ph sz="quarter" idx="10"/>
          </p:nvPr>
        </p:nvSpPr>
        <p:spPr/>
        <p:txBody>
          <a:bodyPr/>
          <a:lstStyle/>
          <a:p>
            <a:r>
              <a:rPr lang="en-US" dirty="0"/>
              <a:t>Chapter Outline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Date Placeholder 1">
            <a:extLst>
              <a:ext uri="{FF2B5EF4-FFF2-40B4-BE49-F238E27FC236}">
                <a16:creationId xmlns:a16="http://schemas.microsoft.com/office/drawing/2014/main" id="{59FDCAE9-DBD9-401E-BDF9-0820030739A6}"/>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17BE73EA-380D-4C2F-B926-0EF9C998BDFB}"/>
              </a:ext>
            </a:extLst>
          </p:cNvPr>
          <p:cNvSpPr>
            <a:spLocks noGrp="1"/>
          </p:cNvSpPr>
          <p:nvPr>
            <p:ph type="sldNum" sz="quarter" idx="14"/>
          </p:nvPr>
        </p:nvSpPr>
        <p:spPr/>
        <p:txBody>
          <a:bodyPr/>
          <a:lstStyle/>
          <a:p>
            <a:fld id="{BC8D7E44-7D4F-4942-A8C9-2DF6BF8399E8}" type="slidenum">
              <a:rPr lang="en-US" smtClean="0"/>
              <a:pPr/>
              <a:t>23</a:t>
            </a:fld>
            <a:endParaRPr lang="en-US" dirty="0"/>
          </a:p>
        </p:txBody>
      </p:sp>
    </p:spTree>
    <p:extLst>
      <p:ext uri="{BB962C8B-B14F-4D97-AF65-F5344CB8AC3E}">
        <p14:creationId xmlns:p14="http://schemas.microsoft.com/office/powerpoint/2010/main" val="403971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AU" dirty="0"/>
              <a:t>Sometimes we consider software architecture the </a:t>
            </a:r>
            <a:r>
              <a:rPr lang="en-AU" dirty="0" err="1"/>
              <a:t>center</a:t>
            </a:r>
            <a:r>
              <a:rPr lang="en-AU" dirty="0"/>
              <a:t> of the universe!</a:t>
            </a:r>
          </a:p>
          <a:p>
            <a:pPr>
              <a:buFont typeface="Arial" pitchFamily="34" charset="0"/>
              <a:buChar char="•"/>
            </a:pPr>
            <a:r>
              <a:rPr lang="en-AU" dirty="0"/>
              <a:t>Here, though, we put it in its place relative to four contexts:</a:t>
            </a:r>
          </a:p>
          <a:p>
            <a:pPr lvl="1"/>
            <a:r>
              <a:rPr lang="en-US" dirty="0"/>
              <a:t>Technical.  What technical role does the software architecture play in the system or systems of which it’s a part?</a:t>
            </a:r>
          </a:p>
          <a:p>
            <a:pPr lvl="1"/>
            <a:r>
              <a:rPr lang="en-US" dirty="0"/>
              <a:t>Project life cycle.  How does a software architecture relate to the other phases of a software development life cycle?</a:t>
            </a:r>
          </a:p>
          <a:p>
            <a:pPr lvl="1"/>
            <a:r>
              <a:rPr lang="en-US" dirty="0"/>
              <a:t>Business.  How does the presence of a software architecture affect an organization’s business environment?</a:t>
            </a:r>
          </a:p>
          <a:p>
            <a:pPr lvl="1"/>
            <a:r>
              <a:rPr lang="pl-PL" dirty="0"/>
              <a:t>Professional.  </a:t>
            </a:r>
            <a:r>
              <a:rPr lang="pl-PL" dirty="0" err="1"/>
              <a:t>What</a:t>
            </a:r>
            <a:r>
              <a:rPr lang="pl-PL" dirty="0"/>
              <a:t> </a:t>
            </a:r>
            <a:r>
              <a:rPr lang="pl-PL" dirty="0" err="1"/>
              <a:t>is</a:t>
            </a:r>
            <a:r>
              <a:rPr lang="pl-PL" dirty="0"/>
              <a:t> the role of a software </a:t>
            </a:r>
            <a:r>
              <a:rPr lang="pl-PL" dirty="0" err="1"/>
              <a:t>architect</a:t>
            </a:r>
            <a:r>
              <a:rPr lang="pl-PL" dirty="0"/>
              <a:t> in </a:t>
            </a:r>
            <a:r>
              <a:rPr lang="pl-PL" dirty="0" err="1"/>
              <a:t>an</a:t>
            </a:r>
            <a:r>
              <a:rPr lang="pl-PL" dirty="0"/>
              <a:t> </a:t>
            </a:r>
            <a:r>
              <a:rPr lang="pl-PL" dirty="0" err="1"/>
              <a:t>organization</a:t>
            </a:r>
            <a:r>
              <a:rPr lang="pl-PL" dirty="0"/>
              <a:t> </a:t>
            </a:r>
            <a:r>
              <a:rPr lang="pl-PL" dirty="0" err="1"/>
              <a:t>or</a:t>
            </a:r>
            <a:r>
              <a:rPr lang="pl-PL" dirty="0"/>
              <a:t> a development </a:t>
            </a:r>
            <a:r>
              <a:rPr lang="pl-PL" dirty="0" err="1"/>
              <a:t>project</a:t>
            </a:r>
            <a:r>
              <a:rPr lang="pl-PL" dirty="0"/>
              <a:t>?</a:t>
            </a:r>
            <a:endParaRPr lang="en-AU" dirty="0"/>
          </a:p>
        </p:txBody>
      </p:sp>
      <p:sp>
        <p:nvSpPr>
          <p:cNvPr id="7" name="Title 1"/>
          <p:cNvSpPr>
            <a:spLocks noGrp="1"/>
          </p:cNvSpPr>
          <p:nvPr>
            <p:ph sz="quarter" idx="10"/>
          </p:nvPr>
        </p:nvSpPr>
        <p:spPr/>
        <p:txBody>
          <a:bodyPr>
            <a:normAutofit fontScale="97500"/>
          </a:bodyPr>
          <a:lstStyle/>
          <a:p>
            <a:r>
              <a:rPr lang="en-AU" dirty="0"/>
              <a:t>Contexts of Software Architecture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Date Placeholder 1">
            <a:extLst>
              <a:ext uri="{FF2B5EF4-FFF2-40B4-BE49-F238E27FC236}">
                <a16:creationId xmlns:a16="http://schemas.microsoft.com/office/drawing/2014/main" id="{4532E77A-47D4-4A6A-A678-41F56DE43ED4}"/>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B1D4435E-2742-4DA0-AF75-C03B61508D36}"/>
              </a:ext>
            </a:extLst>
          </p:cNvPr>
          <p:cNvSpPr>
            <a:spLocks noGrp="1"/>
          </p:cNvSpPr>
          <p:nvPr>
            <p:ph type="sldNum" sz="quarter" idx="14"/>
          </p:nvPr>
        </p:nvSpPr>
        <p:spPr/>
        <p:txBody>
          <a:bodyPr/>
          <a:lstStyle/>
          <a:p>
            <a:fld id="{BC8D7E44-7D4F-4942-A8C9-2DF6BF8399E8}" type="slidenum">
              <a:rPr lang="en-US" smtClean="0"/>
              <a:pPr/>
              <a:t>24</a:t>
            </a:fld>
            <a:endParaRPr lang="en-US" dirty="0"/>
          </a:p>
        </p:txBody>
      </p:sp>
    </p:spTree>
    <p:extLst>
      <p:ext uri="{BB962C8B-B14F-4D97-AF65-F5344CB8AC3E}">
        <p14:creationId xmlns:p14="http://schemas.microsoft.com/office/powerpoint/2010/main" val="22939408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dirty="0"/>
              <a:t>The most important technical context factor is the set of quality attributes that the architecture can help to achieve.</a:t>
            </a:r>
          </a:p>
          <a:p>
            <a:pPr>
              <a:buFont typeface="Arial" pitchFamily="34" charset="0"/>
              <a:buChar char="•"/>
            </a:pPr>
            <a:r>
              <a:rPr lang="en-US" dirty="0"/>
              <a:t>The architecture’s current technical environment is also an important factor.</a:t>
            </a:r>
          </a:p>
          <a:p>
            <a:pPr lvl="1"/>
            <a:r>
              <a:rPr lang="en-US" dirty="0"/>
              <a:t>Standard industry practices </a:t>
            </a:r>
          </a:p>
          <a:p>
            <a:pPr lvl="1"/>
            <a:r>
              <a:rPr lang="en-US" dirty="0"/>
              <a:t>Software engineering techniques prevalent in the architect’s professional community.</a:t>
            </a:r>
          </a:p>
          <a:p>
            <a:pPr>
              <a:buFont typeface="Arial" pitchFamily="34" charset="0"/>
              <a:buChar char="•"/>
            </a:pPr>
            <a:r>
              <a:rPr lang="en-US" dirty="0"/>
              <a:t>Today’s information systems are web-based, object-oriented, service-oriented, mobility-aware, cloud-based,</a:t>
            </a:r>
            <a:r>
              <a:rPr lang="pl-PL" dirty="0"/>
              <a:t> </a:t>
            </a:r>
            <a:r>
              <a:rPr lang="pl-PL" dirty="0" err="1"/>
              <a:t>social-networking-friendly</a:t>
            </a:r>
            <a:r>
              <a:rPr lang="pl-PL" dirty="0"/>
              <a:t>. </a:t>
            </a:r>
          </a:p>
          <a:p>
            <a:pPr lvl="1"/>
            <a:r>
              <a:rPr lang="pl-PL" dirty="0"/>
              <a:t>It </a:t>
            </a:r>
            <a:r>
              <a:rPr lang="pl-PL" dirty="0" err="1"/>
              <a:t>wasn’t</a:t>
            </a:r>
            <a:r>
              <a:rPr lang="pl-PL" dirty="0"/>
              <a:t> </a:t>
            </a:r>
            <a:r>
              <a:rPr lang="pl-PL" dirty="0" err="1"/>
              <a:t>always</a:t>
            </a:r>
            <a:r>
              <a:rPr lang="pl-PL" dirty="0"/>
              <a:t> </a:t>
            </a:r>
            <a:r>
              <a:rPr lang="pl-PL" dirty="0" err="1"/>
              <a:t>so</a:t>
            </a:r>
            <a:r>
              <a:rPr lang="pl-PL" dirty="0"/>
              <a:t>.</a:t>
            </a:r>
          </a:p>
          <a:p>
            <a:pPr lvl="1"/>
            <a:r>
              <a:rPr lang="pl-PL" dirty="0"/>
              <a:t>It </a:t>
            </a:r>
            <a:r>
              <a:rPr lang="pl-PL" dirty="0" err="1"/>
              <a:t>won’t</a:t>
            </a:r>
            <a:r>
              <a:rPr lang="pl-PL" dirty="0"/>
              <a:t> be </a:t>
            </a:r>
            <a:r>
              <a:rPr lang="pl-PL" dirty="0" err="1"/>
              <a:t>so</a:t>
            </a:r>
            <a:r>
              <a:rPr lang="pl-PL" dirty="0"/>
              <a:t> ten </a:t>
            </a:r>
            <a:r>
              <a:rPr lang="pl-PL" dirty="0" err="1"/>
              <a:t>years</a:t>
            </a:r>
            <a:r>
              <a:rPr lang="pl-PL" dirty="0"/>
              <a:t> from </a:t>
            </a:r>
            <a:r>
              <a:rPr lang="pl-PL" dirty="0" err="1"/>
              <a:t>now</a:t>
            </a:r>
            <a:r>
              <a:rPr lang="pl-PL" dirty="0"/>
              <a:t>.</a:t>
            </a:r>
            <a:endParaRPr lang="en-US" dirty="0"/>
          </a:p>
        </p:txBody>
      </p:sp>
      <p:sp>
        <p:nvSpPr>
          <p:cNvPr id="7" name="Title 1"/>
          <p:cNvSpPr>
            <a:spLocks noGrp="1"/>
          </p:cNvSpPr>
          <p:nvPr>
            <p:ph sz="quarter" idx="10"/>
          </p:nvPr>
        </p:nvSpPr>
        <p:spPr/>
        <p:txBody>
          <a:bodyPr/>
          <a:lstStyle/>
          <a:p>
            <a:r>
              <a:rPr lang="en-US" dirty="0"/>
              <a:t>Technical Context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Date Placeholder 1">
            <a:extLst>
              <a:ext uri="{FF2B5EF4-FFF2-40B4-BE49-F238E27FC236}">
                <a16:creationId xmlns:a16="http://schemas.microsoft.com/office/drawing/2014/main" id="{D28B41EB-3FB2-42EB-B273-C9EF90C08301}"/>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8D77DFCC-293A-43E3-BED3-0A5E9281837A}"/>
              </a:ext>
            </a:extLst>
          </p:cNvPr>
          <p:cNvSpPr>
            <a:spLocks noGrp="1"/>
          </p:cNvSpPr>
          <p:nvPr>
            <p:ph type="sldNum" sz="quarter" idx="14"/>
          </p:nvPr>
        </p:nvSpPr>
        <p:spPr/>
        <p:txBody>
          <a:bodyPr/>
          <a:lstStyle/>
          <a:p>
            <a:fld id="{BC8D7E44-7D4F-4942-A8C9-2DF6BF8399E8}" type="slidenum">
              <a:rPr lang="en-US" smtClean="0"/>
              <a:pPr/>
              <a:t>25</a:t>
            </a:fld>
            <a:endParaRPr lang="en-US" dirty="0"/>
          </a:p>
        </p:txBody>
      </p:sp>
    </p:spTree>
    <p:extLst>
      <p:ext uri="{BB962C8B-B14F-4D97-AF65-F5344CB8AC3E}">
        <p14:creationId xmlns:p14="http://schemas.microsoft.com/office/powerpoint/2010/main" val="2955124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Software development processes are standard approaches for developing software systems. </a:t>
            </a:r>
          </a:p>
          <a:p>
            <a:pPr>
              <a:buFont typeface="Arial" pitchFamily="34" charset="0"/>
              <a:buChar char="•"/>
            </a:pPr>
            <a:r>
              <a:rPr lang="en-US" dirty="0"/>
              <a:t>They impose a discipline on software engineers and, more important, teams of software engineers. </a:t>
            </a:r>
          </a:p>
          <a:p>
            <a:pPr>
              <a:buFont typeface="Arial" pitchFamily="34" charset="0"/>
              <a:buChar char="•"/>
            </a:pPr>
            <a:r>
              <a:rPr lang="en-US" dirty="0"/>
              <a:t>They tell the members of the team what to do next.</a:t>
            </a:r>
          </a:p>
          <a:p>
            <a:pPr>
              <a:buFont typeface="Arial" pitchFamily="34" charset="0"/>
              <a:buChar char="•"/>
            </a:pPr>
            <a:r>
              <a:rPr lang="en-US" dirty="0"/>
              <a:t>There are four dominant software development processes:</a:t>
            </a:r>
          </a:p>
          <a:p>
            <a:pPr lvl="1"/>
            <a:r>
              <a:rPr lang="en-US" dirty="0"/>
              <a:t>Waterfall </a:t>
            </a:r>
          </a:p>
          <a:p>
            <a:pPr lvl="1"/>
            <a:r>
              <a:rPr lang="en-US" dirty="0"/>
              <a:t>Iterative</a:t>
            </a:r>
          </a:p>
          <a:p>
            <a:pPr lvl="1"/>
            <a:r>
              <a:rPr lang="en-US" dirty="0"/>
              <a:t>Agile </a:t>
            </a:r>
            <a:endParaRPr lang="pl-PL" dirty="0"/>
          </a:p>
          <a:p>
            <a:pPr lvl="1"/>
            <a:r>
              <a:rPr lang="pl-PL" dirty="0"/>
              <a:t>Model-</a:t>
            </a:r>
            <a:r>
              <a:rPr lang="pl-PL" dirty="0" err="1"/>
              <a:t>driven</a:t>
            </a:r>
            <a:r>
              <a:rPr lang="pl-PL" dirty="0"/>
              <a:t> development </a:t>
            </a: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Project Life-cycle Context</a:t>
            </a:r>
          </a:p>
        </p:txBody>
      </p:sp>
      <p:sp>
        <p:nvSpPr>
          <p:cNvPr id="2" name="Date Placeholder 1">
            <a:extLst>
              <a:ext uri="{FF2B5EF4-FFF2-40B4-BE49-F238E27FC236}">
                <a16:creationId xmlns:a16="http://schemas.microsoft.com/office/drawing/2014/main" id="{DAFFE8E4-F11A-473E-B7D8-4958159F3969}"/>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740A2F21-872A-4450-93EA-165229565119}"/>
              </a:ext>
            </a:extLst>
          </p:cNvPr>
          <p:cNvSpPr>
            <a:spLocks noGrp="1"/>
          </p:cNvSpPr>
          <p:nvPr>
            <p:ph type="sldNum" sz="quarter" idx="14"/>
          </p:nvPr>
        </p:nvSpPr>
        <p:spPr/>
        <p:txBody>
          <a:bodyPr/>
          <a:lstStyle/>
          <a:p>
            <a:fld id="{BC8D7E44-7D4F-4942-A8C9-2DF6BF8399E8}" type="slidenum">
              <a:rPr lang="en-US" smtClean="0"/>
              <a:pPr/>
              <a:t>26</a:t>
            </a:fld>
            <a:endParaRPr lang="en-US" dirty="0"/>
          </a:p>
        </p:txBody>
      </p:sp>
    </p:spTree>
    <p:extLst>
      <p:ext uri="{BB962C8B-B14F-4D97-AF65-F5344CB8AC3E}">
        <p14:creationId xmlns:p14="http://schemas.microsoft.com/office/powerpoint/2010/main" val="3167039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buFont typeface="Arial" pitchFamily="34" charset="0"/>
              <a:buChar char="•"/>
            </a:pPr>
            <a:r>
              <a:rPr lang="en-US" dirty="0"/>
              <a:t>All of these processes include design among their obligations.</a:t>
            </a:r>
          </a:p>
          <a:p>
            <a:pPr>
              <a:buFont typeface="Arial" pitchFamily="34" charset="0"/>
              <a:buChar char="•"/>
            </a:pPr>
            <a:r>
              <a:rPr lang="en-US" dirty="0"/>
              <a:t>Architecture is a special kind of design, so architecture finds a home in each one.</a:t>
            </a:r>
          </a:p>
          <a:p>
            <a:pPr>
              <a:buFont typeface="Arial" pitchFamily="34" charset="0"/>
              <a:buChar char="•"/>
            </a:pPr>
            <a:r>
              <a:rPr lang="en-US" dirty="0"/>
              <a:t>No matter the software development process, there are activities involved in creating a software architecture, using that architecture to realize a complete design, and then implementing or managing the evolution of a target system or application: </a:t>
            </a:r>
          </a:p>
          <a:p>
            <a:pPr lvl="1"/>
            <a:r>
              <a:rPr lang="en-US" dirty="0"/>
              <a:t>1. Making a business case for the system</a:t>
            </a:r>
          </a:p>
          <a:p>
            <a:pPr lvl="1"/>
            <a:r>
              <a:rPr lang="en-US" dirty="0"/>
              <a:t>2. Understanding the architecturally significant requirements</a:t>
            </a:r>
          </a:p>
          <a:p>
            <a:pPr lvl="1"/>
            <a:r>
              <a:rPr lang="en-US" dirty="0"/>
              <a:t>3. Creating or selecting the architecture</a:t>
            </a:r>
          </a:p>
          <a:p>
            <a:pPr lvl="1"/>
            <a:r>
              <a:rPr lang="en-US" dirty="0"/>
              <a:t>4. Documenting and communicating the architecture</a:t>
            </a:r>
          </a:p>
          <a:p>
            <a:pPr lvl="1"/>
            <a:r>
              <a:rPr lang="en-US" dirty="0"/>
              <a:t>5. Analyzing or evaluating the architecture</a:t>
            </a:r>
          </a:p>
          <a:p>
            <a:pPr lvl="1"/>
            <a:r>
              <a:rPr lang="en-US" dirty="0"/>
              <a:t>6. Implementing and testing the system based on the architecture</a:t>
            </a:r>
          </a:p>
          <a:p>
            <a:pPr lvl="1"/>
            <a:r>
              <a:rPr lang="en-US" dirty="0"/>
              <a:t>7. Ensuring that the implementation conforms to the architecture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Architecture Activities</a:t>
            </a:r>
          </a:p>
        </p:txBody>
      </p:sp>
      <p:sp>
        <p:nvSpPr>
          <p:cNvPr id="2" name="Date Placeholder 1">
            <a:extLst>
              <a:ext uri="{FF2B5EF4-FFF2-40B4-BE49-F238E27FC236}">
                <a16:creationId xmlns:a16="http://schemas.microsoft.com/office/drawing/2014/main" id="{C0B342E7-396E-4742-A5E2-B22166B72F2E}"/>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8BA93B27-488C-4AE7-A9B4-07FE2ED82E91}"/>
              </a:ext>
            </a:extLst>
          </p:cNvPr>
          <p:cNvSpPr>
            <a:spLocks noGrp="1"/>
          </p:cNvSpPr>
          <p:nvPr>
            <p:ph type="sldNum" sz="quarter" idx="14"/>
          </p:nvPr>
        </p:nvSpPr>
        <p:spPr/>
        <p:txBody>
          <a:bodyPr/>
          <a:lstStyle/>
          <a:p>
            <a:fld id="{BC8D7E44-7D4F-4942-A8C9-2DF6BF8399E8}" type="slidenum">
              <a:rPr lang="en-US" smtClean="0"/>
              <a:pPr/>
              <a:t>27</a:t>
            </a:fld>
            <a:endParaRPr lang="en-US" dirty="0"/>
          </a:p>
        </p:txBody>
      </p:sp>
    </p:spTree>
    <p:extLst>
      <p:ext uri="{BB962C8B-B14F-4D97-AF65-F5344CB8AC3E}">
        <p14:creationId xmlns:p14="http://schemas.microsoft.com/office/powerpoint/2010/main" val="3159866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 Architectures and systems are not constructed frivolously. </a:t>
            </a:r>
          </a:p>
          <a:p>
            <a:r>
              <a:rPr lang="en-US" dirty="0"/>
              <a:t>They serve some business purposes. </a:t>
            </a:r>
          </a:p>
          <a:p>
            <a:r>
              <a:rPr lang="en-US" dirty="0"/>
              <a:t>These purposes may change over time.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Business Context</a:t>
            </a:r>
          </a:p>
        </p:txBody>
      </p:sp>
      <p:sp>
        <p:nvSpPr>
          <p:cNvPr id="2" name="Date Placeholder 1">
            <a:extLst>
              <a:ext uri="{FF2B5EF4-FFF2-40B4-BE49-F238E27FC236}">
                <a16:creationId xmlns:a16="http://schemas.microsoft.com/office/drawing/2014/main" id="{F9EA3ABF-65CB-4C83-B339-D48649B93CCB}"/>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86FEFE67-0CC7-43A8-913C-81FA097A4C5D}"/>
              </a:ext>
            </a:extLst>
          </p:cNvPr>
          <p:cNvSpPr>
            <a:spLocks noGrp="1"/>
          </p:cNvSpPr>
          <p:nvPr>
            <p:ph type="sldNum" sz="quarter" idx="14"/>
          </p:nvPr>
        </p:nvSpPr>
        <p:spPr/>
        <p:txBody>
          <a:bodyPr/>
          <a:lstStyle/>
          <a:p>
            <a:fld id="{BC8D7E44-7D4F-4942-A8C9-2DF6BF8399E8}" type="slidenum">
              <a:rPr lang="en-US" smtClean="0"/>
              <a:pPr/>
              <a:t>28</a:t>
            </a:fld>
            <a:endParaRPr lang="en-US" dirty="0"/>
          </a:p>
        </p:txBody>
      </p:sp>
    </p:spTree>
    <p:extLst>
      <p:ext uri="{BB962C8B-B14F-4D97-AF65-F5344CB8AC3E}">
        <p14:creationId xmlns:p14="http://schemas.microsoft.com/office/powerpoint/2010/main" val="39915309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Systems are created to satisfy the business goals of one or more organizations.</a:t>
            </a:r>
          </a:p>
          <a:p>
            <a:pPr lvl="1"/>
            <a:r>
              <a:rPr lang="en-US" dirty="0"/>
              <a:t>Development organizations want to make a profit, or capture market, or stay in business, or help their customers do their jobs better, or keep their staff gainfully employed, or make their stockholders happy, or a little bit of each. </a:t>
            </a:r>
          </a:p>
          <a:p>
            <a:pPr lvl="1"/>
            <a:r>
              <a:rPr lang="en-US" dirty="0"/>
              <a:t>Customers have their own goals for acquiring a system, usually involving some aspect of making their lives easier or more productive. Other organizations involved in a project’s life cycle, such as subcontractors or government regulatory agencies, have their own goals dealing with the system.</a:t>
            </a:r>
          </a:p>
          <a:p>
            <a:pPr>
              <a:buFont typeface="Arial" pitchFamily="34" charset="0"/>
              <a:buChar char="•"/>
            </a:pPr>
            <a:r>
              <a:rPr lang="en-US" dirty="0"/>
              <a:t>Architects need to understand who the vested organizations are and what their goals are. Many of these goals will have a profound influence on the architecture.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Architecture and Business Goals</a:t>
            </a:r>
          </a:p>
        </p:txBody>
      </p:sp>
      <p:sp>
        <p:nvSpPr>
          <p:cNvPr id="2" name="Date Placeholder 1">
            <a:extLst>
              <a:ext uri="{FF2B5EF4-FFF2-40B4-BE49-F238E27FC236}">
                <a16:creationId xmlns:a16="http://schemas.microsoft.com/office/drawing/2014/main" id="{7D69B0F3-0AF2-480E-8087-FD329971E91D}"/>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6DDA0F51-0381-40DB-85DA-F89292B9339A}"/>
              </a:ext>
            </a:extLst>
          </p:cNvPr>
          <p:cNvSpPr>
            <a:spLocks noGrp="1"/>
          </p:cNvSpPr>
          <p:nvPr>
            <p:ph type="sldNum" sz="quarter" idx="14"/>
          </p:nvPr>
        </p:nvSpPr>
        <p:spPr/>
        <p:txBody>
          <a:bodyPr/>
          <a:lstStyle/>
          <a:p>
            <a:fld id="{BC8D7E44-7D4F-4942-A8C9-2DF6BF8399E8}" type="slidenum">
              <a:rPr lang="en-US" smtClean="0"/>
              <a:pPr/>
              <a:t>29</a:t>
            </a:fld>
            <a:endParaRPr lang="en-US" dirty="0"/>
          </a:p>
        </p:txBody>
      </p:sp>
    </p:spTree>
    <p:extLst>
      <p:ext uri="{BB962C8B-B14F-4D97-AF65-F5344CB8AC3E}">
        <p14:creationId xmlns:p14="http://schemas.microsoft.com/office/powerpoint/2010/main" val="32917308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dirty="0"/>
              <a:t>Every quality attribute—such as a user-visible response time or platform flexibility or ironclad security or any of a dozen other needs—should originate from some higher purpose that can be described in terms of added value. </a:t>
            </a:r>
          </a:p>
          <a:p>
            <a:pPr lvl="1"/>
            <a:r>
              <a:rPr lang="en-US" dirty="0"/>
              <a:t>“Why  do you want this system to have a really fast response time?” </a:t>
            </a:r>
          </a:p>
          <a:p>
            <a:pPr lvl="1"/>
            <a:r>
              <a:rPr lang="en-US" dirty="0"/>
              <a:t>This differentiate the product from its competition and let the developing organization capture market share.</a:t>
            </a:r>
          </a:p>
          <a:p>
            <a:pPr>
              <a:buFont typeface="Arial" pitchFamily="34" charset="0"/>
              <a:buChar char="•"/>
            </a:pPr>
            <a:r>
              <a:rPr lang="en-US" dirty="0"/>
              <a:t>Some business goals will not show up in the form of requirements.</a:t>
            </a:r>
          </a:p>
          <a:p>
            <a:pPr>
              <a:buFont typeface="Arial" pitchFamily="34" charset="0"/>
              <a:buChar char="•"/>
            </a:pPr>
            <a:r>
              <a:rPr lang="en-US" dirty="0"/>
              <a:t>Still other business goals have no effect on the architecture whatsoever. </a:t>
            </a:r>
          </a:p>
          <a:p>
            <a:pPr lvl="1"/>
            <a:r>
              <a:rPr lang="en-US" dirty="0"/>
              <a:t>A business goal to lower costs might be realized by asking employees to work from home, or turn the office thermostats down in the winter, or using less paper in the printers.</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Architecture and Business Goals</a:t>
            </a:r>
          </a:p>
        </p:txBody>
      </p:sp>
      <p:sp>
        <p:nvSpPr>
          <p:cNvPr id="2" name="Date Placeholder 1">
            <a:extLst>
              <a:ext uri="{FF2B5EF4-FFF2-40B4-BE49-F238E27FC236}">
                <a16:creationId xmlns:a16="http://schemas.microsoft.com/office/drawing/2014/main" id="{6A7D1C0A-D80F-4781-9110-A6798F138CB1}"/>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0193FECD-7185-4F13-AC4E-05024920FE0E}"/>
              </a:ext>
            </a:extLst>
          </p:cNvPr>
          <p:cNvSpPr>
            <a:spLocks noGrp="1"/>
          </p:cNvSpPr>
          <p:nvPr>
            <p:ph type="sldNum" sz="quarter" idx="14"/>
          </p:nvPr>
        </p:nvSpPr>
        <p:spPr/>
        <p:txBody>
          <a:bodyPr/>
          <a:lstStyle/>
          <a:p>
            <a:fld id="{BC8D7E44-7D4F-4942-A8C9-2DF6BF8399E8}" type="slidenum">
              <a:rPr lang="en-US" smtClean="0"/>
              <a:pPr/>
              <a:t>30</a:t>
            </a:fld>
            <a:endParaRPr lang="en-US" dirty="0"/>
          </a:p>
        </p:txBody>
      </p:sp>
    </p:spTree>
    <p:extLst>
      <p:ext uri="{BB962C8B-B14F-4D97-AF65-F5344CB8AC3E}">
        <p14:creationId xmlns:p14="http://schemas.microsoft.com/office/powerpoint/2010/main" val="9641417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10" name="Title 1"/>
          <p:cNvSpPr>
            <a:spLocks noGrp="1"/>
          </p:cNvSpPr>
          <p:nvPr>
            <p:ph sz="quarter" idx="10"/>
          </p:nvPr>
        </p:nvSpPr>
        <p:spPr/>
        <p:txBody>
          <a:bodyPr/>
          <a:lstStyle/>
          <a:p>
            <a:r>
              <a:rPr lang="en-US" dirty="0"/>
              <a:t>Architecture and business goals</a:t>
            </a:r>
          </a:p>
        </p:txBody>
      </p:sp>
      <p:pic>
        <p:nvPicPr>
          <p:cNvPr id="11" name="Content Placeholder 10" descr="BG.tiff"/>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1936" y="1600200"/>
            <a:ext cx="9105059" cy="4495800"/>
          </a:xfrm>
          <a:prstGeom prst="rect">
            <a:avLst/>
          </a:prstGeom>
        </p:spPr>
      </p:pic>
      <p:sp>
        <p:nvSpPr>
          <p:cNvPr id="2" name="Date Placeholder 1">
            <a:extLst>
              <a:ext uri="{FF2B5EF4-FFF2-40B4-BE49-F238E27FC236}">
                <a16:creationId xmlns:a16="http://schemas.microsoft.com/office/drawing/2014/main" id="{3A4302C0-4322-47C0-91BE-6CA7F42F72A0}"/>
              </a:ext>
            </a:extLst>
          </p:cNvPr>
          <p:cNvSpPr>
            <a:spLocks noGrp="1"/>
          </p:cNvSpPr>
          <p:nvPr>
            <p:ph type="dt" sz="half" idx="12"/>
          </p:nvPr>
        </p:nvSpPr>
        <p:spPr/>
        <p:txBody>
          <a:bodyPr/>
          <a:lstStyle/>
          <a:p>
            <a:r>
              <a:rPr lang="en-US"/>
              <a:t>July 25, 2026</a:t>
            </a:r>
          </a:p>
        </p:txBody>
      </p:sp>
      <p:sp>
        <p:nvSpPr>
          <p:cNvPr id="3" name="Slide Number Placeholder 2">
            <a:extLst>
              <a:ext uri="{FF2B5EF4-FFF2-40B4-BE49-F238E27FC236}">
                <a16:creationId xmlns:a16="http://schemas.microsoft.com/office/drawing/2014/main" id="{329B2DD6-6179-4D70-B4A0-30F1A02CEDE1}"/>
              </a:ext>
            </a:extLst>
          </p:cNvPr>
          <p:cNvSpPr>
            <a:spLocks noGrp="1"/>
          </p:cNvSpPr>
          <p:nvPr>
            <p:ph type="sldNum" sz="quarter" idx="14"/>
          </p:nvPr>
        </p:nvSpPr>
        <p:spPr/>
        <p:txBody>
          <a:bodyPr/>
          <a:lstStyle/>
          <a:p>
            <a:fld id="{BC8D7E44-7D4F-4942-A8C9-2DF6BF8399E8}" type="slidenum">
              <a:rPr lang="en-US" smtClean="0"/>
              <a:pPr/>
              <a:t>31</a:t>
            </a:fld>
            <a:endParaRPr lang="en-US" dirty="0"/>
          </a:p>
        </p:txBody>
      </p:sp>
    </p:spTree>
    <p:extLst>
      <p:ext uri="{BB962C8B-B14F-4D97-AF65-F5344CB8AC3E}">
        <p14:creationId xmlns:p14="http://schemas.microsoft.com/office/powerpoint/2010/main" val="29095674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sz="2400" dirty="0"/>
              <a:t>You will perform many </a:t>
            </a:r>
            <a:r>
              <a:rPr lang="en-US" sz="2400" i="1" dirty="0"/>
              <a:t>duties</a:t>
            </a:r>
            <a:r>
              <a:rPr lang="en-US" sz="2400" dirty="0"/>
              <a:t> beyond directly producing an architecture.</a:t>
            </a:r>
          </a:p>
          <a:p>
            <a:pPr lvl="1"/>
            <a:r>
              <a:rPr lang="en-US" sz="2000" dirty="0"/>
              <a:t>You will need to be involved in supporting management and dealing with customers. </a:t>
            </a:r>
          </a:p>
          <a:p>
            <a:r>
              <a:rPr lang="en-US" sz="2400" dirty="0"/>
              <a:t>Architects need more than just technical </a:t>
            </a:r>
            <a:r>
              <a:rPr lang="en-US" sz="2400" i="1" dirty="0"/>
              <a:t>skills</a:t>
            </a:r>
            <a:r>
              <a:rPr lang="en-US" sz="2400" dirty="0"/>
              <a:t>. </a:t>
            </a:r>
          </a:p>
          <a:p>
            <a:pPr lvl="1"/>
            <a:r>
              <a:rPr lang="en-US" sz="2000" dirty="0"/>
              <a:t>Architects need to explain to one stakeholder or another the chosen priorities of different properties, and why particular stakeholders are not having all of their expectations fulfilled. </a:t>
            </a:r>
          </a:p>
          <a:p>
            <a:pPr lvl="1"/>
            <a:r>
              <a:rPr lang="en-US" sz="2000" dirty="0"/>
              <a:t>Architects need diplomatic, negotiation, and communication skills.</a:t>
            </a:r>
          </a:p>
          <a:p>
            <a:pPr lvl="1"/>
            <a:r>
              <a:rPr lang="en-US" sz="2000" dirty="0"/>
              <a:t>Architects need the ability to communicate ideas clearly </a:t>
            </a:r>
          </a:p>
          <a:p>
            <a:pPr lvl="1"/>
            <a:r>
              <a:rPr lang="en-US" sz="2000" dirty="0"/>
              <a:t>You will need to manage a diverse workload and be able to switch contexts frequently. </a:t>
            </a:r>
          </a:p>
          <a:p>
            <a:pPr lvl="1"/>
            <a:r>
              <a:rPr lang="en-US" sz="2000" dirty="0"/>
              <a:t>You will need to be a leader in the eyes of developers and management. </a:t>
            </a:r>
          </a:p>
          <a:p>
            <a:r>
              <a:rPr lang="en-US" sz="2400" dirty="0"/>
              <a:t>Architects need up-to-date </a:t>
            </a:r>
            <a:r>
              <a:rPr lang="en-US" sz="2400" i="1" dirty="0"/>
              <a:t>knowledge. </a:t>
            </a:r>
          </a:p>
          <a:p>
            <a:pPr lvl="1"/>
            <a:r>
              <a:rPr lang="en-US" sz="2000" dirty="0"/>
              <a:t>You will need to know about (for example) patterns, or database platforms, or web services standards.</a:t>
            </a:r>
          </a:p>
          <a:p>
            <a:pPr lvl="1"/>
            <a:r>
              <a:rPr lang="en-US" sz="2000" dirty="0"/>
              <a:t>You will need to know business considerations.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Professional Context</a:t>
            </a:r>
          </a:p>
        </p:txBody>
      </p:sp>
      <p:sp>
        <p:nvSpPr>
          <p:cNvPr id="2" name="Date Placeholder 1">
            <a:extLst>
              <a:ext uri="{FF2B5EF4-FFF2-40B4-BE49-F238E27FC236}">
                <a16:creationId xmlns:a16="http://schemas.microsoft.com/office/drawing/2014/main" id="{B0A5AF4C-DF54-4BBD-80E6-FE0862BA6CB6}"/>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2BF57756-C8B5-400C-8785-56339ADC2940}"/>
              </a:ext>
            </a:extLst>
          </p:cNvPr>
          <p:cNvSpPr>
            <a:spLocks noGrp="1"/>
          </p:cNvSpPr>
          <p:nvPr>
            <p:ph type="sldNum" sz="quarter" idx="14"/>
          </p:nvPr>
        </p:nvSpPr>
        <p:spPr/>
        <p:txBody>
          <a:bodyPr/>
          <a:lstStyle/>
          <a:p>
            <a:fld id="{BC8D7E44-7D4F-4942-A8C9-2DF6BF8399E8}" type="slidenum">
              <a:rPr lang="en-US" smtClean="0"/>
              <a:pPr/>
              <a:t>32</a:t>
            </a:fld>
            <a:endParaRPr lang="en-US" dirty="0"/>
          </a:p>
        </p:txBody>
      </p:sp>
    </p:spTree>
    <p:extLst>
      <p:ext uri="{BB962C8B-B14F-4D97-AF65-F5344CB8AC3E}">
        <p14:creationId xmlns:p14="http://schemas.microsoft.com/office/powerpoint/2010/main" val="8247056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dirty="0"/>
              <a:t> A stakeholder is anyone who has a stake in the success of the system</a:t>
            </a:r>
          </a:p>
          <a:p>
            <a:pPr>
              <a:buFont typeface="Arial" pitchFamily="34" charset="0"/>
              <a:buChar char="•"/>
            </a:pPr>
            <a:r>
              <a:rPr lang="en-US" dirty="0"/>
              <a:t>Stakeholders typically have different specific concerns that they wish the system to guarantee or optimize.</a:t>
            </a:r>
          </a:p>
          <a:p>
            <a:pPr>
              <a:buFont typeface="Arial" pitchFamily="34" charset="0"/>
              <a:buChar char="•"/>
            </a:pPr>
            <a:r>
              <a:rPr lang="en-US" dirty="0"/>
              <a:t>You will need to know and understand the nature, source, and priority of constraints on the project as early as possible. Therefore, you must identify and actively engage the stakeholders to solicit their needs and expectations.</a:t>
            </a:r>
          </a:p>
          <a:p>
            <a:pPr>
              <a:buFont typeface="Arial" pitchFamily="34" charset="0"/>
              <a:buChar char="•"/>
            </a:pPr>
            <a:r>
              <a:rPr lang="en-US" dirty="0"/>
              <a:t>Early engagement of stakeholders allows you to understand the constraints of the task, manage expectations, negotiate priorities, and make tradeoffs.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Stakeholders</a:t>
            </a:r>
          </a:p>
        </p:txBody>
      </p:sp>
      <p:sp>
        <p:nvSpPr>
          <p:cNvPr id="2" name="Date Placeholder 1">
            <a:extLst>
              <a:ext uri="{FF2B5EF4-FFF2-40B4-BE49-F238E27FC236}">
                <a16:creationId xmlns:a16="http://schemas.microsoft.com/office/drawing/2014/main" id="{76755C82-6FE3-4E2B-AB97-4ACCE9B11AFE}"/>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12283612-FE5E-4B0A-B582-5016B4E10A5C}"/>
              </a:ext>
            </a:extLst>
          </p:cNvPr>
          <p:cNvSpPr>
            <a:spLocks noGrp="1"/>
          </p:cNvSpPr>
          <p:nvPr>
            <p:ph type="sldNum" sz="quarter" idx="14"/>
          </p:nvPr>
        </p:nvSpPr>
        <p:spPr/>
        <p:txBody>
          <a:bodyPr/>
          <a:lstStyle/>
          <a:p>
            <a:fld id="{BC8D7E44-7D4F-4942-A8C9-2DF6BF8399E8}" type="slidenum">
              <a:rPr lang="en-US" smtClean="0"/>
              <a:pPr/>
              <a:t>33</a:t>
            </a:fld>
            <a:endParaRPr lang="en-US" dirty="0"/>
          </a:p>
        </p:txBody>
      </p:sp>
    </p:spTree>
    <p:extLst>
      <p:ext uri="{BB962C8B-B14F-4D97-AF65-F5344CB8AC3E}">
        <p14:creationId xmlns:p14="http://schemas.microsoft.com/office/powerpoint/2010/main" val="21566109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itchFamily="34" charset="0"/>
              <a:buChar char="•"/>
            </a:pPr>
            <a:r>
              <a:rPr lang="en-US" dirty="0"/>
              <a:t>Know your stakeholders! </a:t>
            </a:r>
          </a:p>
          <a:p>
            <a:pPr>
              <a:buFont typeface="Arial" pitchFamily="34" charset="0"/>
              <a:buChar char="•"/>
            </a:pPr>
            <a:r>
              <a:rPr lang="en-US" dirty="0"/>
              <a:t>Talk to them, engage them, listen to them, and put yourself in their shoes.</a:t>
            </a:r>
          </a:p>
          <a:p>
            <a:pPr>
              <a:buFont typeface="Arial" pitchFamily="34" charset="0"/>
              <a:buChar char="•"/>
            </a:pPr>
            <a:endParaRPr lang="en-US" dirty="0"/>
          </a:p>
          <a:p>
            <a:pPr>
              <a:buFont typeface="Arial" pitchFamily="34" charset="0"/>
              <a:buChar char="•"/>
            </a:pPr>
            <a:endParaRPr lang="en-US" dirty="0"/>
          </a:p>
          <a:p>
            <a:pPr>
              <a:buFont typeface="Arial" pitchFamily="34" charset="0"/>
              <a:buChar char="•"/>
            </a:pPr>
            <a:r>
              <a:rPr lang="en-US" dirty="0"/>
              <a:t>See Table for a list of example stakeholders and their interests and concerns.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Stakeholders</a:t>
            </a:r>
          </a:p>
        </p:txBody>
      </p:sp>
      <p:sp>
        <p:nvSpPr>
          <p:cNvPr id="2" name="Date Placeholder 1">
            <a:extLst>
              <a:ext uri="{FF2B5EF4-FFF2-40B4-BE49-F238E27FC236}">
                <a16:creationId xmlns:a16="http://schemas.microsoft.com/office/drawing/2014/main" id="{9DC2521C-B8D1-44FB-9FD4-605CDCF6BE48}"/>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D1787AA4-66DF-455E-954E-FDF6F26BD39F}"/>
              </a:ext>
            </a:extLst>
          </p:cNvPr>
          <p:cNvSpPr>
            <a:spLocks noGrp="1"/>
          </p:cNvSpPr>
          <p:nvPr>
            <p:ph type="sldNum" sz="quarter" idx="14"/>
          </p:nvPr>
        </p:nvSpPr>
        <p:spPr/>
        <p:txBody>
          <a:bodyPr/>
          <a:lstStyle/>
          <a:p>
            <a:fld id="{BC8D7E44-7D4F-4942-A8C9-2DF6BF8399E8}" type="slidenum">
              <a:rPr lang="en-US" smtClean="0"/>
              <a:pPr/>
              <a:t>34</a:t>
            </a:fld>
            <a:endParaRPr lang="en-US" dirty="0"/>
          </a:p>
        </p:txBody>
      </p:sp>
    </p:spTree>
    <p:extLst>
      <p:ext uri="{BB962C8B-B14F-4D97-AF65-F5344CB8AC3E}">
        <p14:creationId xmlns:p14="http://schemas.microsoft.com/office/powerpoint/2010/main" val="34167573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10" name="Content Placeholder 9" descr="SH.tiff"/>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b="9179"/>
          <a:stretch/>
        </p:blipFill>
        <p:spPr>
          <a:xfrm>
            <a:off x="685800" y="1618902"/>
            <a:ext cx="7696200" cy="4400898"/>
          </a:xfrm>
          <a:prstGeom prst="rect">
            <a:avLst/>
          </a:prstGeom>
        </p:spPr>
      </p:pic>
      <p:sp>
        <p:nvSpPr>
          <p:cNvPr id="11" name="Title 1"/>
          <p:cNvSpPr>
            <a:spLocks noGrp="1"/>
          </p:cNvSpPr>
          <p:nvPr>
            <p:ph sz="quarter" idx="10"/>
          </p:nvPr>
        </p:nvSpPr>
        <p:spPr/>
        <p:txBody>
          <a:bodyPr/>
          <a:lstStyle/>
          <a:p>
            <a:r>
              <a:rPr lang="en-US" dirty="0"/>
              <a:t>Stakeholders </a:t>
            </a:r>
          </a:p>
        </p:txBody>
      </p:sp>
      <p:sp>
        <p:nvSpPr>
          <p:cNvPr id="2" name="Date Placeholder 1">
            <a:extLst>
              <a:ext uri="{FF2B5EF4-FFF2-40B4-BE49-F238E27FC236}">
                <a16:creationId xmlns:a16="http://schemas.microsoft.com/office/drawing/2014/main" id="{3F8B313B-F8FD-4BED-B0E2-6B8FFA09D9C4}"/>
              </a:ext>
            </a:extLst>
          </p:cNvPr>
          <p:cNvSpPr>
            <a:spLocks noGrp="1"/>
          </p:cNvSpPr>
          <p:nvPr>
            <p:ph type="dt" sz="half" idx="12"/>
          </p:nvPr>
        </p:nvSpPr>
        <p:spPr/>
        <p:txBody>
          <a:bodyPr/>
          <a:lstStyle/>
          <a:p>
            <a:r>
              <a:rPr lang="en-US"/>
              <a:t>July 25, 2026</a:t>
            </a:r>
          </a:p>
        </p:txBody>
      </p:sp>
      <p:sp>
        <p:nvSpPr>
          <p:cNvPr id="3" name="Slide Number Placeholder 2">
            <a:extLst>
              <a:ext uri="{FF2B5EF4-FFF2-40B4-BE49-F238E27FC236}">
                <a16:creationId xmlns:a16="http://schemas.microsoft.com/office/drawing/2014/main" id="{FBEFC46A-5157-4DEC-BFD9-7C980146FAB7}"/>
              </a:ext>
            </a:extLst>
          </p:cNvPr>
          <p:cNvSpPr>
            <a:spLocks noGrp="1"/>
          </p:cNvSpPr>
          <p:nvPr>
            <p:ph type="sldNum" sz="quarter" idx="14"/>
          </p:nvPr>
        </p:nvSpPr>
        <p:spPr/>
        <p:txBody>
          <a:bodyPr/>
          <a:lstStyle/>
          <a:p>
            <a:fld id="{BC8D7E44-7D4F-4942-A8C9-2DF6BF8399E8}" type="slidenum">
              <a:rPr lang="en-US" smtClean="0"/>
              <a:pPr/>
              <a:t>35</a:t>
            </a:fld>
            <a:endParaRPr lang="en-US" dirty="0"/>
          </a:p>
        </p:txBody>
      </p:sp>
    </p:spTree>
    <p:extLst>
      <p:ext uri="{BB962C8B-B14F-4D97-AF65-F5344CB8AC3E}">
        <p14:creationId xmlns:p14="http://schemas.microsoft.com/office/powerpoint/2010/main" val="1007001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Requirements influence the architecture, of course.</a:t>
            </a:r>
          </a:p>
          <a:p>
            <a:pPr>
              <a:buFont typeface="Arial" pitchFamily="34" charset="0"/>
              <a:buChar char="•"/>
            </a:pPr>
            <a:r>
              <a:rPr lang="en-US" dirty="0"/>
              <a:t>But the requirements specification only begins to tell the story. </a:t>
            </a:r>
          </a:p>
          <a:p>
            <a:pPr>
              <a:buFont typeface="Arial" pitchFamily="34" charset="0"/>
              <a:buChar char="•"/>
            </a:pPr>
            <a:r>
              <a:rPr lang="en-US" dirty="0"/>
              <a:t>A software architecture is a result of business and social influences, as well as technical ones. </a:t>
            </a:r>
          </a:p>
          <a:p>
            <a:pPr>
              <a:buFont typeface="Arial" pitchFamily="34" charset="0"/>
              <a:buChar char="•"/>
            </a:pPr>
            <a:r>
              <a:rPr lang="en-US" dirty="0"/>
              <a:t>The existence of an architecture in turn affects the technical, business, and social environments that subsequently influence future architectures.</a:t>
            </a:r>
          </a:p>
          <a:p>
            <a:pPr>
              <a:buFont typeface="Arial" pitchFamily="34" charset="0"/>
              <a:buChar char="•"/>
            </a:pPr>
            <a:r>
              <a:rPr lang="en-US" dirty="0"/>
              <a:t>In particular, each of the contexts for architecture plays a role in influencing an architect and the architecture.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How is Architecture Influenced?</a:t>
            </a:r>
          </a:p>
        </p:txBody>
      </p:sp>
      <p:sp>
        <p:nvSpPr>
          <p:cNvPr id="2" name="Date Placeholder 1">
            <a:extLst>
              <a:ext uri="{FF2B5EF4-FFF2-40B4-BE49-F238E27FC236}">
                <a16:creationId xmlns:a16="http://schemas.microsoft.com/office/drawing/2014/main" id="{15BACFA2-720E-4CFE-A301-C2E41F4F892F}"/>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A6675C41-C7EF-453E-A77C-042FB26A7D4E}"/>
              </a:ext>
            </a:extLst>
          </p:cNvPr>
          <p:cNvSpPr>
            <a:spLocks noGrp="1"/>
          </p:cNvSpPr>
          <p:nvPr>
            <p:ph type="sldNum" sz="quarter" idx="14"/>
          </p:nvPr>
        </p:nvSpPr>
        <p:spPr/>
        <p:txBody>
          <a:bodyPr/>
          <a:lstStyle/>
          <a:p>
            <a:fld id="{BC8D7E44-7D4F-4942-A8C9-2DF6BF8399E8}" type="slidenum">
              <a:rPr lang="en-US" smtClean="0"/>
              <a:pPr/>
              <a:t>36</a:t>
            </a:fld>
            <a:endParaRPr lang="en-US" dirty="0"/>
          </a:p>
        </p:txBody>
      </p:sp>
    </p:spTree>
    <p:extLst>
      <p:ext uri="{BB962C8B-B14F-4D97-AF65-F5344CB8AC3E}">
        <p14:creationId xmlns:p14="http://schemas.microsoft.com/office/powerpoint/2010/main" val="10487566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5" name="Picture 4" descr="archinf.tiff"/>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3748" y="1478880"/>
            <a:ext cx="8140700" cy="4470400"/>
          </a:xfrm>
          <a:prstGeom prst="rect">
            <a:avLst/>
          </a:prstGeom>
        </p:spPr>
      </p:pic>
      <p:sp>
        <p:nvSpPr>
          <p:cNvPr id="10" name="Title 1"/>
          <p:cNvSpPr>
            <a:spLocks noGrp="1"/>
          </p:cNvSpPr>
          <p:nvPr>
            <p:ph sz="quarter" idx="10"/>
          </p:nvPr>
        </p:nvSpPr>
        <p:spPr/>
        <p:txBody>
          <a:bodyPr/>
          <a:lstStyle/>
          <a:p>
            <a:r>
              <a:rPr lang="en-US" dirty="0"/>
              <a:t>How is Architecture Influenced?</a:t>
            </a:r>
          </a:p>
        </p:txBody>
      </p:sp>
      <p:sp>
        <p:nvSpPr>
          <p:cNvPr id="2" name="Date Placeholder 1">
            <a:extLst>
              <a:ext uri="{FF2B5EF4-FFF2-40B4-BE49-F238E27FC236}">
                <a16:creationId xmlns:a16="http://schemas.microsoft.com/office/drawing/2014/main" id="{33AC8C6B-3B3A-4F8B-A61A-A4F7B2102C52}"/>
              </a:ext>
            </a:extLst>
          </p:cNvPr>
          <p:cNvSpPr>
            <a:spLocks noGrp="1"/>
          </p:cNvSpPr>
          <p:nvPr>
            <p:ph type="dt" sz="half" idx="12"/>
          </p:nvPr>
        </p:nvSpPr>
        <p:spPr/>
        <p:txBody>
          <a:bodyPr/>
          <a:lstStyle/>
          <a:p>
            <a:r>
              <a:rPr lang="en-US"/>
              <a:t>July 25, 2026</a:t>
            </a:r>
          </a:p>
        </p:txBody>
      </p:sp>
      <p:sp>
        <p:nvSpPr>
          <p:cNvPr id="3" name="Slide Number Placeholder 2">
            <a:extLst>
              <a:ext uri="{FF2B5EF4-FFF2-40B4-BE49-F238E27FC236}">
                <a16:creationId xmlns:a16="http://schemas.microsoft.com/office/drawing/2014/main" id="{82C1B9AB-4062-49F5-A154-362C537BCF57}"/>
              </a:ext>
            </a:extLst>
          </p:cNvPr>
          <p:cNvSpPr>
            <a:spLocks noGrp="1"/>
          </p:cNvSpPr>
          <p:nvPr>
            <p:ph type="sldNum" sz="quarter" idx="14"/>
          </p:nvPr>
        </p:nvSpPr>
        <p:spPr/>
        <p:txBody>
          <a:bodyPr/>
          <a:lstStyle/>
          <a:p>
            <a:fld id="{BC8D7E44-7D4F-4942-A8C9-2DF6BF8399E8}" type="slidenum">
              <a:rPr lang="en-US" smtClean="0"/>
              <a:pPr/>
              <a:t>37</a:t>
            </a:fld>
            <a:endParaRPr lang="en-US" dirty="0"/>
          </a:p>
        </p:txBody>
      </p:sp>
    </p:spTree>
    <p:extLst>
      <p:ext uri="{BB962C8B-B14F-4D97-AF65-F5344CB8AC3E}">
        <p14:creationId xmlns:p14="http://schemas.microsoft.com/office/powerpoint/2010/main" val="17657324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Technical context</a:t>
            </a:r>
          </a:p>
          <a:p>
            <a:pPr lvl="1"/>
            <a:r>
              <a:rPr lang="en-US" dirty="0"/>
              <a:t>The architecture can affect stakeholder requirements for the next system </a:t>
            </a:r>
          </a:p>
          <a:p>
            <a:pPr lvl="1"/>
            <a:r>
              <a:rPr lang="en-US" dirty="0"/>
              <a:t>It gives the customer the opportunity to receive a system (based on the same architecture) in a more reliable, timely, and economical manner than if built from scratch.</a:t>
            </a:r>
          </a:p>
          <a:p>
            <a:pPr lvl="1"/>
            <a:r>
              <a:rPr lang="en-US" dirty="0"/>
              <a:t>A customer may in fact be willing to relax some of their requirements to gain these economies. </a:t>
            </a:r>
          </a:p>
          <a:p>
            <a:pPr lvl="1"/>
            <a:r>
              <a:rPr lang="en-US" dirty="0" err="1"/>
              <a:t>Shrinkwrapped</a:t>
            </a:r>
            <a:r>
              <a:rPr lang="en-US" dirty="0"/>
              <a:t> software has clearly affected people’s requirements by providing solutions that are not tailored to any individual’s precise needs but are instead inexpensive and (in the best of all possible worlds) of high quality.</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normAutofit/>
          </a:bodyPr>
          <a:lstStyle/>
          <a:p>
            <a:r>
              <a:rPr lang="en-US" dirty="0"/>
              <a:t>What Do Architectures Influence?</a:t>
            </a:r>
          </a:p>
        </p:txBody>
      </p:sp>
      <p:sp>
        <p:nvSpPr>
          <p:cNvPr id="2" name="Date Placeholder 1">
            <a:extLst>
              <a:ext uri="{FF2B5EF4-FFF2-40B4-BE49-F238E27FC236}">
                <a16:creationId xmlns:a16="http://schemas.microsoft.com/office/drawing/2014/main" id="{35D62D27-429A-452E-AED7-897B4605F80F}"/>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4046FA7B-9269-443A-9AC0-42D993EA30FD}"/>
              </a:ext>
            </a:extLst>
          </p:cNvPr>
          <p:cNvSpPr>
            <a:spLocks noGrp="1"/>
          </p:cNvSpPr>
          <p:nvPr>
            <p:ph type="sldNum" sz="quarter" idx="14"/>
          </p:nvPr>
        </p:nvSpPr>
        <p:spPr/>
        <p:txBody>
          <a:bodyPr/>
          <a:lstStyle/>
          <a:p>
            <a:fld id="{BC8D7E44-7D4F-4942-A8C9-2DF6BF8399E8}" type="slidenum">
              <a:rPr lang="en-US" smtClean="0"/>
              <a:pPr/>
              <a:t>38</a:t>
            </a:fld>
            <a:endParaRPr lang="en-US" dirty="0"/>
          </a:p>
        </p:txBody>
      </p:sp>
    </p:spTree>
    <p:extLst>
      <p:ext uri="{BB962C8B-B14F-4D97-AF65-F5344CB8AC3E}">
        <p14:creationId xmlns:p14="http://schemas.microsoft.com/office/powerpoint/2010/main" val="35376009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Project context</a:t>
            </a:r>
          </a:p>
          <a:p>
            <a:pPr lvl="1"/>
            <a:r>
              <a:rPr lang="en-US" dirty="0"/>
              <a:t>The architecture affects the structure of the developing organization. </a:t>
            </a:r>
          </a:p>
          <a:p>
            <a:pPr lvl="1"/>
            <a:r>
              <a:rPr lang="en-US" dirty="0"/>
              <a:t>An architecture prescribes the units of software that must be implemented (or otherwise obtained) and integrated to form the system. </a:t>
            </a:r>
          </a:p>
          <a:p>
            <a:pPr lvl="1"/>
            <a:r>
              <a:rPr lang="en-US" dirty="0"/>
              <a:t>These units are the basis for the development project’s structure. </a:t>
            </a:r>
          </a:p>
          <a:p>
            <a:pPr lvl="1"/>
            <a:r>
              <a:rPr lang="en-US" dirty="0"/>
              <a:t>Teams are formed for individual software units; and the development, test, and integration activities all revolve around the units. </a:t>
            </a:r>
          </a:p>
          <a:p>
            <a:pPr lvl="1"/>
            <a:r>
              <a:rPr lang="en-US" dirty="0"/>
              <a:t>Teams become embedded in the organization’s structure.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normAutofit/>
          </a:bodyPr>
          <a:lstStyle/>
          <a:p>
            <a:r>
              <a:rPr lang="en-US" dirty="0"/>
              <a:t>What Do Architectures Influence?</a:t>
            </a:r>
          </a:p>
        </p:txBody>
      </p:sp>
      <p:sp>
        <p:nvSpPr>
          <p:cNvPr id="2" name="Date Placeholder 1">
            <a:extLst>
              <a:ext uri="{FF2B5EF4-FFF2-40B4-BE49-F238E27FC236}">
                <a16:creationId xmlns:a16="http://schemas.microsoft.com/office/drawing/2014/main" id="{6208D5CD-B34B-4665-BED7-363CF9408AEC}"/>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33B07282-17F6-42E1-9907-AC4E3C3BF031}"/>
              </a:ext>
            </a:extLst>
          </p:cNvPr>
          <p:cNvSpPr>
            <a:spLocks noGrp="1"/>
          </p:cNvSpPr>
          <p:nvPr>
            <p:ph type="sldNum" sz="quarter" idx="14"/>
          </p:nvPr>
        </p:nvSpPr>
        <p:spPr/>
        <p:txBody>
          <a:bodyPr/>
          <a:lstStyle/>
          <a:p>
            <a:fld id="{BC8D7E44-7D4F-4942-A8C9-2DF6BF8399E8}" type="slidenum">
              <a:rPr lang="en-US" smtClean="0"/>
              <a:pPr/>
              <a:t>39</a:t>
            </a:fld>
            <a:endParaRPr lang="en-US" dirty="0"/>
          </a:p>
        </p:txBody>
      </p:sp>
    </p:spTree>
    <p:extLst>
      <p:ext uri="{BB962C8B-B14F-4D97-AF65-F5344CB8AC3E}">
        <p14:creationId xmlns:p14="http://schemas.microsoft.com/office/powerpoint/2010/main" val="35885457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Business context</a:t>
            </a:r>
          </a:p>
          <a:p>
            <a:pPr lvl="1"/>
            <a:r>
              <a:rPr lang="en-US" dirty="0"/>
              <a:t>The architecture can affect the business goals of the developing organization. </a:t>
            </a:r>
          </a:p>
          <a:p>
            <a:pPr lvl="1"/>
            <a:r>
              <a:rPr lang="en-US" dirty="0"/>
              <a:t>A successful system built from an architecture can enable a company to establish a foothold in a particular market segment.</a:t>
            </a:r>
          </a:p>
          <a:p>
            <a:pPr lvl="1"/>
            <a:r>
              <a:rPr lang="en-US" dirty="0"/>
              <a:t>The architecture can provide opportunities for the efficient production and deployment of similar systems, and the organization may adjust its goals to take advantage of its newfound expertise to plumb the market.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normAutofit/>
          </a:bodyPr>
          <a:lstStyle/>
          <a:p>
            <a:r>
              <a:rPr lang="en-US" dirty="0"/>
              <a:t>What Do Architectures Influence?</a:t>
            </a:r>
          </a:p>
        </p:txBody>
      </p:sp>
      <p:sp>
        <p:nvSpPr>
          <p:cNvPr id="2" name="Date Placeholder 1">
            <a:extLst>
              <a:ext uri="{FF2B5EF4-FFF2-40B4-BE49-F238E27FC236}">
                <a16:creationId xmlns:a16="http://schemas.microsoft.com/office/drawing/2014/main" id="{9D6AFA53-06C5-4D55-83C3-EFBCAA8073A2}"/>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BDCBD54A-1895-4062-B3ED-B0579F470583}"/>
              </a:ext>
            </a:extLst>
          </p:cNvPr>
          <p:cNvSpPr>
            <a:spLocks noGrp="1"/>
          </p:cNvSpPr>
          <p:nvPr>
            <p:ph type="sldNum" sz="quarter" idx="14"/>
          </p:nvPr>
        </p:nvSpPr>
        <p:spPr/>
        <p:txBody>
          <a:bodyPr/>
          <a:lstStyle/>
          <a:p>
            <a:fld id="{BC8D7E44-7D4F-4942-A8C9-2DF6BF8399E8}" type="slidenum">
              <a:rPr lang="en-US" smtClean="0"/>
              <a:pPr/>
              <a:t>40</a:t>
            </a:fld>
            <a:endParaRPr lang="en-US" dirty="0"/>
          </a:p>
        </p:txBody>
      </p:sp>
    </p:spTree>
    <p:extLst>
      <p:ext uri="{BB962C8B-B14F-4D97-AF65-F5344CB8AC3E}">
        <p14:creationId xmlns:p14="http://schemas.microsoft.com/office/powerpoint/2010/main" val="3356643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Professional context</a:t>
            </a:r>
          </a:p>
          <a:p>
            <a:pPr lvl="1"/>
            <a:r>
              <a:rPr lang="en-US" dirty="0"/>
              <a:t>The process of system building will affect the architect’s experience with subsequent.</a:t>
            </a:r>
          </a:p>
          <a:p>
            <a:pPr lvl="1"/>
            <a:r>
              <a:rPr lang="en-US" dirty="0"/>
              <a:t>A system that was successfully built around a particular technical approach will make the architect more inclined to build systems using the same approach in the future. </a:t>
            </a:r>
          </a:p>
          <a:p>
            <a:pPr lvl="1"/>
            <a:r>
              <a:rPr lang="en-US" dirty="0"/>
              <a:t>Architectures that fail are less likely to be chosen for future projects.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normAutofit/>
          </a:bodyPr>
          <a:lstStyle/>
          <a:p>
            <a:r>
              <a:rPr lang="en-US" dirty="0"/>
              <a:t>What Do Architectures Influence?</a:t>
            </a:r>
          </a:p>
        </p:txBody>
      </p:sp>
      <p:sp>
        <p:nvSpPr>
          <p:cNvPr id="2" name="Date Placeholder 1">
            <a:extLst>
              <a:ext uri="{FF2B5EF4-FFF2-40B4-BE49-F238E27FC236}">
                <a16:creationId xmlns:a16="http://schemas.microsoft.com/office/drawing/2014/main" id="{C0179D5F-84E6-48D9-828D-445A6A22503A}"/>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0C022847-98E4-4685-B781-39DB8CF23174}"/>
              </a:ext>
            </a:extLst>
          </p:cNvPr>
          <p:cNvSpPr>
            <a:spLocks noGrp="1"/>
          </p:cNvSpPr>
          <p:nvPr>
            <p:ph type="sldNum" sz="quarter" idx="14"/>
          </p:nvPr>
        </p:nvSpPr>
        <p:spPr/>
        <p:txBody>
          <a:bodyPr/>
          <a:lstStyle/>
          <a:p>
            <a:fld id="{BC8D7E44-7D4F-4942-A8C9-2DF6BF8399E8}" type="slidenum">
              <a:rPr lang="en-US" smtClean="0"/>
              <a:pPr/>
              <a:t>41</a:t>
            </a:fld>
            <a:endParaRPr lang="en-US" dirty="0"/>
          </a:p>
        </p:txBody>
      </p:sp>
    </p:spTree>
    <p:extLst>
      <p:ext uri="{BB962C8B-B14F-4D97-AF65-F5344CB8AC3E}">
        <p14:creationId xmlns:p14="http://schemas.microsoft.com/office/powerpoint/2010/main" val="19060653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3"/>
          </p:nvPr>
        </p:nvSpPr>
        <p:spPr/>
        <p:txBody>
          <a:bodyPr/>
          <a:lstStyle/>
          <a:p>
            <a:r>
              <a:rPr lang="en-AU"/>
              <a:t>SEZG651/SSZG653 Software Architectures</a:t>
            </a:r>
            <a:endParaRPr lang="en-AU" dirty="0"/>
          </a:p>
        </p:txBody>
      </p:sp>
      <p:sp>
        <p:nvSpPr>
          <p:cNvPr id="10" name="Title 1"/>
          <p:cNvSpPr>
            <a:spLocks noGrp="1"/>
          </p:cNvSpPr>
          <p:nvPr>
            <p:ph sz="quarter" idx="10"/>
          </p:nvPr>
        </p:nvSpPr>
        <p:spPr/>
        <p:txBody>
          <a:bodyPr/>
          <a:lstStyle/>
          <a:p>
            <a:r>
              <a:rPr lang="en-US" dirty="0"/>
              <a:t>Architecture Influence Cycle</a:t>
            </a:r>
          </a:p>
        </p:txBody>
      </p:sp>
      <p:pic>
        <p:nvPicPr>
          <p:cNvPr id="11" name="Content Placeholder 10" descr="AIC.tiff"/>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t="6980"/>
          <a:stretch/>
        </p:blipFill>
        <p:spPr>
          <a:xfrm>
            <a:off x="685800" y="1394406"/>
            <a:ext cx="7671749" cy="4853994"/>
          </a:xfrm>
          <a:prstGeom prst="rect">
            <a:avLst/>
          </a:prstGeom>
        </p:spPr>
      </p:pic>
      <p:sp>
        <p:nvSpPr>
          <p:cNvPr id="2" name="Date Placeholder 1">
            <a:extLst>
              <a:ext uri="{FF2B5EF4-FFF2-40B4-BE49-F238E27FC236}">
                <a16:creationId xmlns:a16="http://schemas.microsoft.com/office/drawing/2014/main" id="{D4177788-BE0C-4879-817D-D7B73212D8A9}"/>
              </a:ext>
            </a:extLst>
          </p:cNvPr>
          <p:cNvSpPr>
            <a:spLocks noGrp="1"/>
          </p:cNvSpPr>
          <p:nvPr>
            <p:ph type="dt" sz="half" idx="12"/>
          </p:nvPr>
        </p:nvSpPr>
        <p:spPr/>
        <p:txBody>
          <a:bodyPr/>
          <a:lstStyle/>
          <a:p>
            <a:r>
              <a:rPr lang="en-US"/>
              <a:t>July 25, 2026</a:t>
            </a:r>
          </a:p>
        </p:txBody>
      </p:sp>
      <p:sp>
        <p:nvSpPr>
          <p:cNvPr id="4" name="Slide Number Placeholder 3">
            <a:extLst>
              <a:ext uri="{FF2B5EF4-FFF2-40B4-BE49-F238E27FC236}">
                <a16:creationId xmlns:a16="http://schemas.microsoft.com/office/drawing/2014/main" id="{21364C74-5582-4304-B56E-12A7896364E2}"/>
              </a:ext>
            </a:extLst>
          </p:cNvPr>
          <p:cNvSpPr>
            <a:spLocks noGrp="1"/>
          </p:cNvSpPr>
          <p:nvPr>
            <p:ph type="sldNum" sz="quarter" idx="14"/>
          </p:nvPr>
        </p:nvSpPr>
        <p:spPr/>
        <p:txBody>
          <a:bodyPr/>
          <a:lstStyle/>
          <a:p>
            <a:fld id="{BC8D7E44-7D4F-4942-A8C9-2DF6BF8399E8}" type="slidenum">
              <a:rPr lang="en-US" smtClean="0"/>
              <a:pPr/>
              <a:t>42</a:t>
            </a:fld>
            <a:endParaRPr lang="en-US" dirty="0"/>
          </a:p>
        </p:txBody>
      </p:sp>
    </p:spTree>
    <p:extLst>
      <p:ext uri="{BB962C8B-B14F-4D97-AF65-F5344CB8AC3E}">
        <p14:creationId xmlns:p14="http://schemas.microsoft.com/office/powerpoint/2010/main" val="38267779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a:buFont typeface="Arial" pitchFamily="34" charset="0"/>
              <a:buChar char="•"/>
            </a:pPr>
            <a:r>
              <a:rPr lang="en-US" sz="2000" dirty="0"/>
              <a:t> Architectures exist in four different contexts.</a:t>
            </a:r>
          </a:p>
          <a:p>
            <a:pPr lvl="1"/>
            <a:r>
              <a:rPr lang="en-US" sz="1800" dirty="0"/>
              <a:t>Technical. The technical context includes the achievement of quality attribute requirements.</a:t>
            </a:r>
          </a:p>
          <a:p>
            <a:pPr lvl="1"/>
            <a:r>
              <a:rPr lang="en-US" sz="1800" dirty="0"/>
              <a:t>Project life cycle.  Regardless of the software development methodology you use, you must perform specific activities.</a:t>
            </a:r>
          </a:p>
          <a:p>
            <a:pPr lvl="1"/>
            <a:r>
              <a:rPr lang="en-US" sz="1800" dirty="0"/>
              <a:t> Business.  The system created from the architecture must satisfy the business goals of a wide variety of stakeholders.</a:t>
            </a:r>
          </a:p>
          <a:p>
            <a:pPr lvl="1"/>
            <a:r>
              <a:rPr lang="en-US" sz="1800" dirty="0"/>
              <a:t>Professional.  You must have certain skills and knowledge to be an architect, and there are certain duties that you must perform as an architect. </a:t>
            </a:r>
          </a:p>
          <a:p>
            <a:pPr>
              <a:buFont typeface="Arial" pitchFamily="34" charset="0"/>
              <a:buChar char="•"/>
            </a:pPr>
            <a:r>
              <a:rPr lang="en-US" sz="2000" dirty="0"/>
              <a:t>An architecture has influences that lead to its creation, and its existence has an impact on the architect, the organization, and, potentially, the industry. </a:t>
            </a:r>
          </a:p>
          <a:p>
            <a:pPr>
              <a:buFont typeface="Arial" pitchFamily="34" charset="0"/>
              <a:buChar char="•"/>
            </a:pPr>
            <a:r>
              <a:rPr lang="en-US" sz="2000" dirty="0"/>
              <a:t>We call this cycle the Architecture Influence Cycle.</a:t>
            </a:r>
          </a:p>
        </p:txBody>
      </p:sp>
      <p:sp>
        <p:nvSpPr>
          <p:cNvPr id="3" name="Footer Placeholder 2"/>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68E02FD5-0F5A-4852-A524-C68BF2C0CBEC}"/>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0D0D83FC-28B9-4590-9A82-4FB15FB1073A}"/>
              </a:ext>
            </a:extLst>
          </p:cNvPr>
          <p:cNvSpPr>
            <a:spLocks noGrp="1"/>
          </p:cNvSpPr>
          <p:nvPr>
            <p:ph type="sldNum" sz="quarter" idx="14"/>
          </p:nvPr>
        </p:nvSpPr>
        <p:spPr/>
        <p:txBody>
          <a:bodyPr/>
          <a:lstStyle/>
          <a:p>
            <a:fld id="{BC8D7E44-7D4F-4942-A8C9-2DF6BF8399E8}" type="slidenum">
              <a:rPr lang="en-US" smtClean="0"/>
              <a:pPr/>
              <a:t>43</a:t>
            </a:fld>
            <a:endParaRPr lang="en-US" dirty="0"/>
          </a:p>
        </p:txBody>
      </p:sp>
    </p:spTree>
    <p:extLst>
      <p:ext uri="{BB962C8B-B14F-4D97-AF65-F5344CB8AC3E}">
        <p14:creationId xmlns:p14="http://schemas.microsoft.com/office/powerpoint/2010/main" val="35807076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400" dirty="0"/>
              <a:t>What is Software Architecture</a:t>
            </a:r>
            <a:endParaRPr lang="en-US"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44</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July 25, 2026</a:t>
            </a:r>
          </a:p>
        </p:txBody>
      </p:sp>
    </p:spTree>
    <p:extLst>
      <p:ext uri="{BB962C8B-B14F-4D97-AF65-F5344CB8AC3E}">
        <p14:creationId xmlns:p14="http://schemas.microsoft.com/office/powerpoint/2010/main" val="9530059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3600" dirty="0"/>
              <a:t>What Software Architecture Is and</a:t>
            </a:r>
          </a:p>
          <a:p>
            <a:pPr marL="457200" lvl="1" indent="0">
              <a:buNone/>
            </a:pPr>
            <a:r>
              <a:rPr lang="en-US" sz="2800" dirty="0"/>
              <a:t>                                </a:t>
            </a:r>
            <a:r>
              <a:rPr lang="en-US" sz="3600" dirty="0"/>
              <a:t>What It </a:t>
            </a:r>
            <a:r>
              <a:rPr lang="tr-TR" sz="3600" dirty="0"/>
              <a:t>Isn’t </a:t>
            </a:r>
          </a:p>
          <a:p>
            <a:pPr>
              <a:buFont typeface="Arial" panose="020B0604020202020204" pitchFamily="34" charset="0"/>
              <a:buChar char="•"/>
            </a:pPr>
            <a:r>
              <a:rPr lang="tr-TR" sz="3600" dirty="0"/>
              <a:t>Architectural Structures and Views</a:t>
            </a:r>
          </a:p>
          <a:p>
            <a:pPr>
              <a:buFont typeface="Arial" panose="020B0604020202020204" pitchFamily="34" charset="0"/>
              <a:buChar char="•"/>
            </a:pPr>
            <a:r>
              <a:rPr lang="tr-TR" sz="3600" dirty="0"/>
              <a:t>Architectural Patterns</a:t>
            </a:r>
          </a:p>
          <a:p>
            <a:pPr>
              <a:buFont typeface="Arial" panose="020B0604020202020204" pitchFamily="34" charset="0"/>
              <a:buChar char="•"/>
            </a:pPr>
            <a:r>
              <a:rPr lang="tr-TR" sz="3600" dirty="0"/>
              <a:t>What Makes a “Good” Architecture?</a:t>
            </a:r>
          </a:p>
          <a:p>
            <a:pPr>
              <a:buFont typeface="Arial" panose="020B0604020202020204" pitchFamily="34" charset="0"/>
              <a:buChar char="•"/>
            </a:pPr>
            <a:endParaRPr lang="en-US" sz="3600" dirty="0"/>
          </a:p>
        </p:txBody>
      </p:sp>
      <p:sp>
        <p:nvSpPr>
          <p:cNvPr id="4" name="Content Placeholder 3"/>
          <p:cNvSpPr>
            <a:spLocks noGrp="1"/>
          </p:cNvSpPr>
          <p:nvPr>
            <p:ph sz="quarter" idx="10"/>
          </p:nvPr>
        </p:nvSpPr>
        <p:spPr/>
        <p:txBody>
          <a:bodyPr/>
          <a:lstStyle/>
          <a:p>
            <a:r>
              <a:rPr lang="en-US" dirty="0"/>
              <a:t>What is Software Architecture</a:t>
            </a:r>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45</a:t>
            </a:fld>
            <a:endParaRPr lang="en-US" dirty="0"/>
          </a:p>
        </p:txBody>
      </p:sp>
      <p:sp>
        <p:nvSpPr>
          <p:cNvPr id="5" name="Footer Placeholder 4">
            <a:extLst>
              <a:ext uri="{FF2B5EF4-FFF2-40B4-BE49-F238E27FC236}">
                <a16:creationId xmlns:a16="http://schemas.microsoft.com/office/drawing/2014/main" id="{CAD97967-705A-447D-AEC0-09B799C298DB}"/>
              </a:ext>
            </a:extLst>
          </p:cNvPr>
          <p:cNvSpPr>
            <a:spLocks noGrp="1"/>
          </p:cNvSpPr>
          <p:nvPr>
            <p:ph type="ftr" sz="quarter" idx="13"/>
          </p:nvPr>
        </p:nvSpPr>
        <p:spPr/>
        <p:txBody>
          <a:bodyPr/>
          <a:lstStyle/>
          <a:p>
            <a:r>
              <a:rPr lang="en-US"/>
              <a:t>SEZG651/SSZG653 Software Architectures</a:t>
            </a:r>
          </a:p>
        </p:txBody>
      </p:sp>
      <p:sp>
        <p:nvSpPr>
          <p:cNvPr id="6" name="Date Placeholder 5">
            <a:extLst>
              <a:ext uri="{FF2B5EF4-FFF2-40B4-BE49-F238E27FC236}">
                <a16:creationId xmlns:a16="http://schemas.microsoft.com/office/drawing/2014/main" id="{21E2D98D-3C01-486A-BD10-5FB36BC3F674}"/>
              </a:ext>
            </a:extLst>
          </p:cNvPr>
          <p:cNvSpPr>
            <a:spLocks noGrp="1"/>
          </p:cNvSpPr>
          <p:nvPr>
            <p:ph type="dt" sz="half" idx="12"/>
          </p:nvPr>
        </p:nvSpPr>
        <p:spPr/>
        <p:txBody>
          <a:bodyPr/>
          <a:lstStyle/>
          <a:p>
            <a:r>
              <a:rPr lang="en-US"/>
              <a:t>July 25, 2026</a:t>
            </a:r>
          </a:p>
        </p:txBody>
      </p:sp>
    </p:spTree>
    <p:extLst>
      <p:ext uri="{BB962C8B-B14F-4D97-AF65-F5344CB8AC3E}">
        <p14:creationId xmlns:p14="http://schemas.microsoft.com/office/powerpoint/2010/main" val="1987644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i="1" dirty="0"/>
          </a:p>
          <a:p>
            <a:endParaRPr lang="en-US" i="1" dirty="0"/>
          </a:p>
          <a:p>
            <a:pPr marL="0" indent="0">
              <a:buNone/>
            </a:pPr>
            <a:r>
              <a:rPr lang="en-US" i="1" dirty="0"/>
              <a:t>The software architecture of a system is the set of structures needed to reason about the system, which comprise software elements, relations among them, and properties of both.</a:t>
            </a:r>
          </a:p>
        </p:txBody>
      </p:sp>
      <p:sp>
        <p:nvSpPr>
          <p:cNvPr id="5" name="Content Placeholder 4">
            <a:extLst>
              <a:ext uri="{FF2B5EF4-FFF2-40B4-BE49-F238E27FC236}">
                <a16:creationId xmlns:a16="http://schemas.microsoft.com/office/drawing/2014/main" id="{4CCAE27A-8960-470E-9AE1-3BFF3064311B}"/>
              </a:ext>
            </a:extLst>
          </p:cNvPr>
          <p:cNvSpPr>
            <a:spLocks noGrp="1"/>
          </p:cNvSpPr>
          <p:nvPr>
            <p:ph sz="quarter" idx="10"/>
          </p:nvPr>
        </p:nvSpPr>
        <p:spPr/>
        <p:txBody>
          <a:bodyPr/>
          <a:lstStyle/>
          <a:p>
            <a:r>
              <a:rPr lang="en-US" dirty="0"/>
              <a:t>What is Software Architecture?</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Date Placeholder 1">
            <a:extLst>
              <a:ext uri="{FF2B5EF4-FFF2-40B4-BE49-F238E27FC236}">
                <a16:creationId xmlns:a16="http://schemas.microsoft.com/office/drawing/2014/main" id="{528D5A51-F3CB-4C9E-A2B5-27D60BD77E9C}"/>
              </a:ext>
            </a:extLst>
          </p:cNvPr>
          <p:cNvSpPr>
            <a:spLocks noGrp="1"/>
          </p:cNvSpPr>
          <p:nvPr>
            <p:ph type="dt" sz="half" idx="12"/>
          </p:nvPr>
        </p:nvSpPr>
        <p:spPr/>
        <p:txBody>
          <a:bodyPr/>
          <a:lstStyle/>
          <a:p>
            <a:r>
              <a:rPr lang="en-US"/>
              <a:t>July 25, 2026</a:t>
            </a:r>
          </a:p>
        </p:txBody>
      </p:sp>
      <p:sp>
        <p:nvSpPr>
          <p:cNvPr id="7" name="Slide Number Placeholder 6">
            <a:extLst>
              <a:ext uri="{FF2B5EF4-FFF2-40B4-BE49-F238E27FC236}">
                <a16:creationId xmlns:a16="http://schemas.microsoft.com/office/drawing/2014/main" id="{E2A8CE89-8E1C-43F1-A7E2-99DE589F27D1}"/>
              </a:ext>
            </a:extLst>
          </p:cNvPr>
          <p:cNvSpPr>
            <a:spLocks noGrp="1"/>
          </p:cNvSpPr>
          <p:nvPr>
            <p:ph type="sldNum" sz="quarter" idx="14"/>
          </p:nvPr>
        </p:nvSpPr>
        <p:spPr/>
        <p:txBody>
          <a:bodyPr/>
          <a:lstStyle/>
          <a:p>
            <a:fld id="{BC8D7E44-7D4F-4942-A8C9-2DF6BF8399E8}" type="slidenum">
              <a:rPr lang="en-US" smtClean="0"/>
              <a:pPr/>
              <a:t>46</a:t>
            </a:fld>
            <a:endParaRPr lang="en-US" dirty="0"/>
          </a:p>
        </p:txBody>
      </p:sp>
    </p:spTree>
    <p:extLst>
      <p:ext uri="{BB962C8B-B14F-4D97-AF65-F5344CB8AC3E}">
        <p14:creationId xmlns:p14="http://schemas.microsoft.com/office/powerpoint/2010/main" val="28530415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1D9B99A9-5191-6AB3-1A96-83793D5436DF}"/>
              </a:ext>
            </a:extLst>
          </p:cNvPr>
          <p:cNvGraphicFramePr>
            <a:graphicFrameLocks noGrp="1"/>
          </p:cNvGraphicFramePr>
          <p:nvPr>
            <p:ph idx="1"/>
            <p:extLst>
              <p:ext uri="{D42A27DB-BD31-4B8C-83A1-F6EECF244321}">
                <p14:modId xmlns:p14="http://schemas.microsoft.com/office/powerpoint/2010/main" val="910395355"/>
              </p:ext>
            </p:extLst>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B04007DE-1A4D-3635-DC8E-FCB38A719E0D}"/>
              </a:ext>
            </a:extLst>
          </p:cNvPr>
          <p:cNvSpPr>
            <a:spLocks noGrp="1"/>
          </p:cNvSpPr>
          <p:nvPr>
            <p:ph sz="quarter" idx="10"/>
          </p:nvPr>
        </p:nvSpPr>
        <p:spPr/>
        <p:txBody>
          <a:bodyPr/>
          <a:lstStyle/>
          <a:p>
            <a:r>
              <a:rPr lang="en-IN" dirty="0"/>
              <a:t>Architecture</a:t>
            </a:r>
          </a:p>
        </p:txBody>
      </p:sp>
      <p:sp>
        <p:nvSpPr>
          <p:cNvPr id="5" name="Date Placeholder 4">
            <a:extLst>
              <a:ext uri="{FF2B5EF4-FFF2-40B4-BE49-F238E27FC236}">
                <a16:creationId xmlns:a16="http://schemas.microsoft.com/office/drawing/2014/main" id="{BBD5C178-7267-B302-4633-BBC636984315}"/>
              </a:ext>
            </a:extLst>
          </p:cNvPr>
          <p:cNvSpPr>
            <a:spLocks noGrp="1"/>
          </p:cNvSpPr>
          <p:nvPr>
            <p:ph type="dt" sz="half" idx="12"/>
          </p:nvPr>
        </p:nvSpPr>
        <p:spPr/>
        <p:txBody>
          <a:bodyPr/>
          <a:lstStyle/>
          <a:p>
            <a:r>
              <a:rPr lang="en-US"/>
              <a:t>July 25, 2026</a:t>
            </a:r>
          </a:p>
        </p:txBody>
      </p:sp>
      <p:sp>
        <p:nvSpPr>
          <p:cNvPr id="6" name="Footer Placeholder 5">
            <a:extLst>
              <a:ext uri="{FF2B5EF4-FFF2-40B4-BE49-F238E27FC236}">
                <a16:creationId xmlns:a16="http://schemas.microsoft.com/office/drawing/2014/main" id="{1888E03B-77A4-E1E4-01FA-EE3B75CD32AA}"/>
              </a:ext>
            </a:extLst>
          </p:cNvPr>
          <p:cNvSpPr>
            <a:spLocks noGrp="1"/>
          </p:cNvSpPr>
          <p:nvPr>
            <p:ph type="ftr" sz="quarter" idx="13"/>
          </p:nvPr>
        </p:nvSpPr>
        <p:spPr/>
        <p:txBody>
          <a:bodyPr/>
          <a:lstStyle/>
          <a:p>
            <a:r>
              <a:rPr lang="en-US"/>
              <a:t>SEZG651/SSZG653 Software Architectures</a:t>
            </a:r>
          </a:p>
        </p:txBody>
      </p:sp>
      <p:sp>
        <p:nvSpPr>
          <p:cNvPr id="7" name="Slide Number Placeholder 6">
            <a:extLst>
              <a:ext uri="{FF2B5EF4-FFF2-40B4-BE49-F238E27FC236}">
                <a16:creationId xmlns:a16="http://schemas.microsoft.com/office/drawing/2014/main" id="{D150FA71-CE26-55C8-B422-963228B4A5EB}"/>
              </a:ext>
            </a:extLst>
          </p:cNvPr>
          <p:cNvSpPr>
            <a:spLocks noGrp="1"/>
          </p:cNvSpPr>
          <p:nvPr>
            <p:ph type="sldNum" sz="quarter" idx="14"/>
          </p:nvPr>
        </p:nvSpPr>
        <p:spPr/>
        <p:txBody>
          <a:bodyPr/>
          <a:lstStyle/>
          <a:p>
            <a:fld id="{BC8D7E44-7D4F-4942-A8C9-2DF6BF8399E8}" type="slidenum">
              <a:rPr lang="en-US" smtClean="0"/>
              <a:pPr/>
              <a:t>47</a:t>
            </a:fld>
            <a:endParaRPr lang="en-US" dirty="0"/>
          </a:p>
        </p:txBody>
      </p:sp>
    </p:spTree>
    <p:extLst>
      <p:ext uri="{BB962C8B-B14F-4D97-AF65-F5344CB8AC3E}">
        <p14:creationId xmlns:p14="http://schemas.microsoft.com/office/powerpoint/2010/main" val="4641210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This definition stands in contrast to other definitions that talk about the system’s “early” or “major” design decisions. </a:t>
            </a:r>
          </a:p>
          <a:p>
            <a:pPr lvl="1"/>
            <a:r>
              <a:rPr lang="en-US" dirty="0"/>
              <a:t>Many architectural decisions are made early, but not all are.</a:t>
            </a:r>
          </a:p>
          <a:p>
            <a:pPr lvl="1"/>
            <a:r>
              <a:rPr lang="en-US" dirty="0"/>
              <a:t>Many decisions are made early that are not architectural.</a:t>
            </a:r>
          </a:p>
          <a:p>
            <a:pPr lvl="1"/>
            <a:r>
              <a:rPr lang="en-US" dirty="0"/>
              <a:t>It’s hard to look at a decision and tell whether or not it’s “major.”</a:t>
            </a:r>
          </a:p>
          <a:p>
            <a:r>
              <a:rPr lang="en-US" dirty="0"/>
              <a:t>Structures, on the other hand, are fairly easy to identify in software, and they form a powerful tool for system design.</a:t>
            </a:r>
          </a:p>
        </p:txBody>
      </p:sp>
      <p:sp>
        <p:nvSpPr>
          <p:cNvPr id="6" name="Content Placeholder 5">
            <a:extLst>
              <a:ext uri="{FF2B5EF4-FFF2-40B4-BE49-F238E27FC236}">
                <a16:creationId xmlns:a16="http://schemas.microsoft.com/office/drawing/2014/main" id="{4357600D-0944-46E3-9D95-761B91F93AEA}"/>
              </a:ext>
            </a:extLst>
          </p:cNvPr>
          <p:cNvSpPr>
            <a:spLocks noGrp="1"/>
          </p:cNvSpPr>
          <p:nvPr>
            <p:ph sz="quarter" idx="11"/>
          </p:nvPr>
        </p:nvSpPr>
        <p:spPr>
          <a:xfrm>
            <a:off x="4495800" y="6363741"/>
            <a:ext cx="853440" cy="890499"/>
          </a:xfrm>
        </p:spPr>
        <p:txBody>
          <a:bodyPr/>
          <a:lstStyle/>
          <a:p>
            <a:r>
              <a:rPr lang="en-IN" dirty="0"/>
              <a: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6A60E4AD-EA18-492E-9338-F38A75F4B764}"/>
              </a:ext>
            </a:extLst>
          </p:cNvPr>
          <p:cNvSpPr>
            <a:spLocks noGrp="1"/>
          </p:cNvSpPr>
          <p:nvPr>
            <p:ph sz="quarter" idx="10"/>
          </p:nvPr>
        </p:nvSpPr>
        <p:spPr/>
        <p:txBody>
          <a:bodyPr/>
          <a:lstStyle/>
          <a:p>
            <a:r>
              <a:rPr lang="en-US" dirty="0"/>
              <a:t>Definition</a:t>
            </a:r>
          </a:p>
        </p:txBody>
      </p:sp>
      <p:sp>
        <p:nvSpPr>
          <p:cNvPr id="2" name="Date Placeholder 1">
            <a:extLst>
              <a:ext uri="{FF2B5EF4-FFF2-40B4-BE49-F238E27FC236}">
                <a16:creationId xmlns:a16="http://schemas.microsoft.com/office/drawing/2014/main" id="{C3DD0CED-A7AE-47B8-8D43-2CF05AFB8FD9}"/>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AF41E810-BEF1-4859-A4E6-D3CF912F4423}"/>
              </a:ext>
            </a:extLst>
          </p:cNvPr>
          <p:cNvSpPr>
            <a:spLocks noGrp="1"/>
          </p:cNvSpPr>
          <p:nvPr>
            <p:ph type="sldNum" sz="quarter" idx="14"/>
          </p:nvPr>
        </p:nvSpPr>
        <p:spPr/>
        <p:txBody>
          <a:bodyPr/>
          <a:lstStyle/>
          <a:p>
            <a:fld id="{BC8D7E44-7D4F-4942-A8C9-2DF6BF8399E8}" type="slidenum">
              <a:rPr lang="en-US" smtClean="0"/>
              <a:pPr/>
              <a:t>48</a:t>
            </a:fld>
            <a:endParaRPr lang="en-US" dirty="0"/>
          </a:p>
        </p:txBody>
      </p:sp>
    </p:spTree>
    <p:extLst>
      <p:ext uri="{BB962C8B-B14F-4D97-AF65-F5344CB8AC3E}">
        <p14:creationId xmlns:p14="http://schemas.microsoft.com/office/powerpoint/2010/main" val="40373409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A structure is a set of elements held together by a relation. </a:t>
            </a:r>
          </a:p>
          <a:p>
            <a:pPr>
              <a:buFont typeface="Arial" pitchFamily="34" charset="0"/>
              <a:buChar char="•"/>
            </a:pPr>
            <a:r>
              <a:rPr lang="en-US" dirty="0"/>
              <a:t>Software systems are composed of many structures, and no single structure holds claim to being the  architecture.</a:t>
            </a:r>
          </a:p>
          <a:p>
            <a:pPr>
              <a:buFont typeface="Arial" pitchFamily="34" charset="0"/>
              <a:buChar char="•"/>
            </a:pPr>
            <a:r>
              <a:rPr lang="en-US" dirty="0"/>
              <a:t>There are three important categories of architectural structures.</a:t>
            </a:r>
          </a:p>
          <a:p>
            <a:pPr marL="971550" lvl="1" indent="-514350">
              <a:buFont typeface="+mj-lt"/>
              <a:buAutoNum type="arabicPeriod"/>
            </a:pPr>
            <a:r>
              <a:rPr lang="en-US" dirty="0"/>
              <a:t>Module</a:t>
            </a:r>
          </a:p>
          <a:p>
            <a:pPr marL="971550" lvl="1" indent="-514350">
              <a:buFont typeface="+mj-lt"/>
              <a:buAutoNum type="arabicPeriod"/>
            </a:pPr>
            <a:r>
              <a:rPr lang="en-US" dirty="0"/>
              <a:t>Component and Connector</a:t>
            </a:r>
          </a:p>
          <a:p>
            <a:pPr marL="971550" lvl="1" indent="-514350">
              <a:buFont typeface="+mj-lt"/>
              <a:buAutoNum type="arabicPeriod"/>
            </a:pPr>
            <a:r>
              <a:rPr lang="en-US" dirty="0"/>
              <a:t>Allocation</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Architecture Is a Set of Software Structures </a:t>
            </a:r>
          </a:p>
        </p:txBody>
      </p:sp>
      <p:sp>
        <p:nvSpPr>
          <p:cNvPr id="2" name="Date Placeholder 1">
            <a:extLst>
              <a:ext uri="{FF2B5EF4-FFF2-40B4-BE49-F238E27FC236}">
                <a16:creationId xmlns:a16="http://schemas.microsoft.com/office/drawing/2014/main" id="{BFE7FBDC-220A-447D-B789-70155AF7857F}"/>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691F939E-CA69-4E88-A21B-C72AFD7E63C2}"/>
              </a:ext>
            </a:extLst>
          </p:cNvPr>
          <p:cNvSpPr>
            <a:spLocks noGrp="1"/>
          </p:cNvSpPr>
          <p:nvPr>
            <p:ph type="sldNum" sz="quarter" idx="14"/>
          </p:nvPr>
        </p:nvSpPr>
        <p:spPr/>
        <p:txBody>
          <a:bodyPr/>
          <a:lstStyle/>
          <a:p>
            <a:fld id="{BC8D7E44-7D4F-4942-A8C9-2DF6BF8399E8}" type="slidenum">
              <a:rPr lang="en-US" smtClean="0"/>
              <a:pPr/>
              <a:t>49</a:t>
            </a:fld>
            <a:endParaRPr lang="en-US" dirty="0"/>
          </a:p>
        </p:txBody>
      </p:sp>
    </p:spTree>
    <p:extLst>
      <p:ext uri="{BB962C8B-B14F-4D97-AF65-F5344CB8AC3E}">
        <p14:creationId xmlns:p14="http://schemas.microsoft.com/office/powerpoint/2010/main" val="25026568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4BDD5A0B-1F24-D70F-F5A5-AB1B7F08BA52}"/>
              </a:ext>
            </a:extLst>
          </p:cNvPr>
          <p:cNvGraphicFramePr>
            <a:graphicFrameLocks noGrp="1"/>
          </p:cNvGraphicFramePr>
          <p:nvPr>
            <p:ph idx="1"/>
            <p:extLst>
              <p:ext uri="{D42A27DB-BD31-4B8C-83A1-F6EECF244321}">
                <p14:modId xmlns:p14="http://schemas.microsoft.com/office/powerpoint/2010/main" val="3099292198"/>
              </p:ext>
            </p:extLst>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6551694F-4C35-23B6-45A0-89CD4081DF55}"/>
              </a:ext>
            </a:extLst>
          </p:cNvPr>
          <p:cNvSpPr>
            <a:spLocks noGrp="1"/>
          </p:cNvSpPr>
          <p:nvPr>
            <p:ph sz="quarter" idx="10"/>
          </p:nvPr>
        </p:nvSpPr>
        <p:spPr/>
        <p:txBody>
          <a:bodyPr/>
          <a:lstStyle/>
          <a:p>
            <a:r>
              <a:rPr lang="en-IN" dirty="0"/>
              <a:t>Structures: three categories</a:t>
            </a:r>
          </a:p>
        </p:txBody>
      </p:sp>
      <p:sp>
        <p:nvSpPr>
          <p:cNvPr id="4" name="Content Placeholder 3">
            <a:extLst>
              <a:ext uri="{FF2B5EF4-FFF2-40B4-BE49-F238E27FC236}">
                <a16:creationId xmlns:a16="http://schemas.microsoft.com/office/drawing/2014/main" id="{DDA3E6C4-C296-A9E9-293C-09150D1B0850}"/>
              </a:ext>
            </a:extLst>
          </p:cNvPr>
          <p:cNvSpPr>
            <a:spLocks noGrp="1"/>
          </p:cNvSpPr>
          <p:nvPr>
            <p:ph sz="quarter" idx="11"/>
          </p:nvPr>
        </p:nvSpPr>
        <p:spPr/>
        <p:txBody>
          <a:bodyPr/>
          <a:lstStyle/>
          <a:p>
            <a:endParaRPr lang="en-IN"/>
          </a:p>
        </p:txBody>
      </p:sp>
      <p:sp>
        <p:nvSpPr>
          <p:cNvPr id="5" name="Date Placeholder 4">
            <a:extLst>
              <a:ext uri="{FF2B5EF4-FFF2-40B4-BE49-F238E27FC236}">
                <a16:creationId xmlns:a16="http://schemas.microsoft.com/office/drawing/2014/main" id="{DBD99FDB-992F-8719-DDBD-BD5F63C9A29D}"/>
              </a:ext>
            </a:extLst>
          </p:cNvPr>
          <p:cNvSpPr>
            <a:spLocks noGrp="1"/>
          </p:cNvSpPr>
          <p:nvPr>
            <p:ph type="dt" sz="half" idx="12"/>
          </p:nvPr>
        </p:nvSpPr>
        <p:spPr/>
        <p:txBody>
          <a:bodyPr/>
          <a:lstStyle/>
          <a:p>
            <a:r>
              <a:rPr lang="en-US"/>
              <a:t>July 25, 2026</a:t>
            </a:r>
          </a:p>
        </p:txBody>
      </p:sp>
      <p:sp>
        <p:nvSpPr>
          <p:cNvPr id="6" name="Footer Placeholder 5">
            <a:extLst>
              <a:ext uri="{FF2B5EF4-FFF2-40B4-BE49-F238E27FC236}">
                <a16:creationId xmlns:a16="http://schemas.microsoft.com/office/drawing/2014/main" id="{3E811A27-F36E-8D5D-0E00-45A2B3C86FAB}"/>
              </a:ext>
            </a:extLst>
          </p:cNvPr>
          <p:cNvSpPr>
            <a:spLocks noGrp="1"/>
          </p:cNvSpPr>
          <p:nvPr>
            <p:ph type="ftr" sz="quarter" idx="13"/>
          </p:nvPr>
        </p:nvSpPr>
        <p:spPr/>
        <p:txBody>
          <a:bodyPr/>
          <a:lstStyle/>
          <a:p>
            <a:r>
              <a:rPr lang="en-US"/>
              <a:t>SEZG651/SSZG653 Software Architectures</a:t>
            </a:r>
          </a:p>
        </p:txBody>
      </p:sp>
      <p:sp>
        <p:nvSpPr>
          <p:cNvPr id="7" name="Slide Number Placeholder 6">
            <a:extLst>
              <a:ext uri="{FF2B5EF4-FFF2-40B4-BE49-F238E27FC236}">
                <a16:creationId xmlns:a16="http://schemas.microsoft.com/office/drawing/2014/main" id="{DF12EF45-ABE3-7771-87DF-276AC2C5B93F}"/>
              </a:ext>
            </a:extLst>
          </p:cNvPr>
          <p:cNvSpPr>
            <a:spLocks noGrp="1"/>
          </p:cNvSpPr>
          <p:nvPr>
            <p:ph type="sldNum" sz="quarter" idx="14"/>
          </p:nvPr>
        </p:nvSpPr>
        <p:spPr/>
        <p:txBody>
          <a:bodyPr/>
          <a:lstStyle/>
          <a:p>
            <a:fld id="{BC8D7E44-7D4F-4942-A8C9-2DF6BF8399E8}" type="slidenum">
              <a:rPr lang="en-US" smtClean="0"/>
              <a:pPr/>
              <a:t>50</a:t>
            </a:fld>
            <a:endParaRPr lang="en-US" dirty="0"/>
          </a:p>
        </p:txBody>
      </p:sp>
    </p:spTree>
    <p:extLst>
      <p:ext uri="{BB962C8B-B14F-4D97-AF65-F5344CB8AC3E}">
        <p14:creationId xmlns:p14="http://schemas.microsoft.com/office/powerpoint/2010/main" val="22650980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Some structures partition systems into implementation units, which we call modules. </a:t>
            </a:r>
          </a:p>
          <a:p>
            <a:pPr>
              <a:buFont typeface="Arial" pitchFamily="34" charset="0"/>
              <a:buChar char="•"/>
            </a:pPr>
            <a:r>
              <a:rPr lang="en-US" dirty="0"/>
              <a:t>Modules are assigned specific computational responsibilities, and are the basis of work assignments for programming teams. </a:t>
            </a:r>
          </a:p>
          <a:p>
            <a:pPr>
              <a:buFont typeface="Arial" pitchFamily="34" charset="0"/>
              <a:buChar char="•"/>
            </a:pPr>
            <a:r>
              <a:rPr lang="en-US" dirty="0"/>
              <a:t>In large projects, these elements (modules) are subdivided for assignment to sub-teams.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0BA02E16-5CB9-4CB5-8113-947F7B20FF87}"/>
              </a:ext>
            </a:extLst>
          </p:cNvPr>
          <p:cNvSpPr>
            <a:spLocks noGrp="1"/>
          </p:cNvSpPr>
          <p:nvPr>
            <p:ph sz="quarter" idx="10"/>
          </p:nvPr>
        </p:nvSpPr>
        <p:spPr/>
        <p:txBody>
          <a:bodyPr/>
          <a:lstStyle/>
          <a:p>
            <a:r>
              <a:rPr lang="en-US" dirty="0"/>
              <a:t>Module Structures</a:t>
            </a:r>
          </a:p>
        </p:txBody>
      </p:sp>
      <p:sp>
        <p:nvSpPr>
          <p:cNvPr id="2" name="Date Placeholder 1">
            <a:extLst>
              <a:ext uri="{FF2B5EF4-FFF2-40B4-BE49-F238E27FC236}">
                <a16:creationId xmlns:a16="http://schemas.microsoft.com/office/drawing/2014/main" id="{50DB9B2D-6785-40D9-9875-46899AC20EB6}"/>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08DF4C12-42A5-4E82-AAB6-7678BC3D6634}"/>
              </a:ext>
            </a:extLst>
          </p:cNvPr>
          <p:cNvSpPr>
            <a:spLocks noGrp="1"/>
          </p:cNvSpPr>
          <p:nvPr>
            <p:ph type="sldNum" sz="quarter" idx="14"/>
          </p:nvPr>
        </p:nvSpPr>
        <p:spPr/>
        <p:txBody>
          <a:bodyPr/>
          <a:lstStyle/>
          <a:p>
            <a:fld id="{BC8D7E44-7D4F-4942-A8C9-2DF6BF8399E8}" type="slidenum">
              <a:rPr lang="en-US" smtClean="0"/>
              <a:pPr/>
              <a:t>51</a:t>
            </a:fld>
            <a:endParaRPr lang="en-US" dirty="0"/>
          </a:p>
        </p:txBody>
      </p:sp>
    </p:spTree>
    <p:extLst>
      <p:ext uri="{BB962C8B-B14F-4D97-AF65-F5344CB8AC3E}">
        <p14:creationId xmlns:p14="http://schemas.microsoft.com/office/powerpoint/2010/main" val="28593795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Other structures focus on the way the elements interact with each other at runtime to carry out the system’s functions.</a:t>
            </a:r>
          </a:p>
          <a:p>
            <a:pPr>
              <a:buFont typeface="Arial" pitchFamily="34" charset="0"/>
              <a:buChar char="•"/>
            </a:pPr>
            <a:r>
              <a:rPr lang="en-US" dirty="0"/>
              <a:t>We call runtime structures </a:t>
            </a:r>
            <a:r>
              <a:rPr lang="en-US" i="1" dirty="0"/>
              <a:t>component-and-connector (C&amp;C) structures</a:t>
            </a:r>
            <a:r>
              <a:rPr lang="en-US" dirty="0"/>
              <a:t>.</a:t>
            </a:r>
          </a:p>
          <a:p>
            <a:pPr>
              <a:buFont typeface="Arial" pitchFamily="34" charset="0"/>
              <a:buChar char="•"/>
            </a:pPr>
            <a:r>
              <a:rPr lang="en-US" dirty="0"/>
              <a:t>In our use, a component is always a runtime entity.</a:t>
            </a:r>
          </a:p>
          <a:p>
            <a:pPr lvl="1"/>
            <a:r>
              <a:rPr lang="en-US" dirty="0"/>
              <a:t>Suppose the system is to be built as a set of services. </a:t>
            </a:r>
          </a:p>
          <a:p>
            <a:pPr lvl="1"/>
            <a:r>
              <a:rPr lang="en-US" dirty="0"/>
              <a:t>The services, the infrastructure they interact with, and the synchronization and interaction relations among them form another kind of structure often used to describe a system. </a:t>
            </a:r>
          </a:p>
          <a:p>
            <a:pPr lvl="1"/>
            <a:r>
              <a:rPr lang="en-US" dirty="0"/>
              <a:t>These services are made up of (compiled from) the programs in the various implementation units – modules.</a:t>
            </a:r>
          </a:p>
        </p:txBody>
      </p:sp>
      <p:sp>
        <p:nvSpPr>
          <p:cNvPr id="4" name="Footer Placeholder 3"/>
          <p:cNvSpPr>
            <a:spLocks noGrp="1"/>
          </p:cNvSpPr>
          <p:nvPr>
            <p:ph type="ftr" sz="quarter" idx="13"/>
          </p:nvPr>
        </p:nvSpPr>
        <p:spPr/>
        <p:txBody>
          <a:bodyPr/>
          <a:lstStyle/>
          <a:p>
            <a:r>
              <a:rPr lang="en-AU" dirty="0"/>
              <a:t>SEZG651/SSZG653 Software Architectures</a:t>
            </a:r>
          </a:p>
        </p:txBody>
      </p:sp>
      <p:sp>
        <p:nvSpPr>
          <p:cNvPr id="7" name="Title 1">
            <a:extLst>
              <a:ext uri="{FF2B5EF4-FFF2-40B4-BE49-F238E27FC236}">
                <a16:creationId xmlns:a16="http://schemas.microsoft.com/office/drawing/2014/main" id="{437CA23A-0E32-45FF-9E6A-00497887C871}"/>
              </a:ext>
            </a:extLst>
          </p:cNvPr>
          <p:cNvSpPr>
            <a:spLocks noGrp="1"/>
          </p:cNvSpPr>
          <p:nvPr>
            <p:ph sz="quarter" idx="10"/>
          </p:nvPr>
        </p:nvSpPr>
        <p:spPr/>
        <p:txBody>
          <a:bodyPr>
            <a:normAutofit fontScale="97500"/>
          </a:bodyPr>
          <a:lstStyle/>
          <a:p>
            <a:r>
              <a:rPr lang="en-US" dirty="0"/>
              <a:t>Component-and-connector Structures</a:t>
            </a:r>
          </a:p>
        </p:txBody>
      </p:sp>
      <p:sp>
        <p:nvSpPr>
          <p:cNvPr id="2" name="Date Placeholder 1">
            <a:extLst>
              <a:ext uri="{FF2B5EF4-FFF2-40B4-BE49-F238E27FC236}">
                <a16:creationId xmlns:a16="http://schemas.microsoft.com/office/drawing/2014/main" id="{60C6C48D-5725-453C-A2ED-E09B3D637DA3}"/>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209834BC-4005-4D1B-9EF2-E9C7931BF869}"/>
              </a:ext>
            </a:extLst>
          </p:cNvPr>
          <p:cNvSpPr>
            <a:spLocks noGrp="1"/>
          </p:cNvSpPr>
          <p:nvPr>
            <p:ph type="sldNum" sz="quarter" idx="14"/>
          </p:nvPr>
        </p:nvSpPr>
        <p:spPr/>
        <p:txBody>
          <a:bodyPr/>
          <a:lstStyle/>
          <a:p>
            <a:fld id="{BC8D7E44-7D4F-4942-A8C9-2DF6BF8399E8}" type="slidenum">
              <a:rPr lang="en-US" smtClean="0"/>
              <a:pPr/>
              <a:t>52</a:t>
            </a:fld>
            <a:endParaRPr lang="en-US" dirty="0"/>
          </a:p>
        </p:txBody>
      </p:sp>
    </p:spTree>
    <p:extLst>
      <p:ext uri="{BB962C8B-B14F-4D97-AF65-F5344CB8AC3E}">
        <p14:creationId xmlns:p14="http://schemas.microsoft.com/office/powerpoint/2010/main" val="31217343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Allocation structures describe the mapping from software structures to the system’s environments</a:t>
            </a:r>
          </a:p>
          <a:p>
            <a:pPr lvl="1"/>
            <a:r>
              <a:rPr lang="en-US" dirty="0"/>
              <a:t>organizational</a:t>
            </a:r>
          </a:p>
          <a:p>
            <a:pPr lvl="1"/>
            <a:r>
              <a:rPr lang="en-US" dirty="0"/>
              <a:t>developmental</a:t>
            </a:r>
          </a:p>
          <a:p>
            <a:pPr lvl="1"/>
            <a:r>
              <a:rPr lang="en-US" dirty="0"/>
              <a:t>installation</a:t>
            </a:r>
          </a:p>
          <a:p>
            <a:pPr lvl="1"/>
            <a:r>
              <a:rPr lang="en-US" dirty="0"/>
              <a:t>Execution</a:t>
            </a:r>
          </a:p>
          <a:p>
            <a:r>
              <a:rPr lang="en-US" dirty="0"/>
              <a:t>For example</a:t>
            </a:r>
          </a:p>
          <a:p>
            <a:pPr lvl="1"/>
            <a:r>
              <a:rPr lang="en-US" dirty="0"/>
              <a:t>Modules are assigned to teams to develop, and assigned to places in a file structure for implementation, integration, and testing. </a:t>
            </a:r>
          </a:p>
          <a:p>
            <a:pPr lvl="1"/>
            <a:r>
              <a:rPr lang="en-US" dirty="0"/>
              <a:t>Components are deployed onto hardware in order to execute.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Allocation Structures</a:t>
            </a:r>
          </a:p>
        </p:txBody>
      </p:sp>
      <p:sp>
        <p:nvSpPr>
          <p:cNvPr id="2" name="Date Placeholder 1">
            <a:extLst>
              <a:ext uri="{FF2B5EF4-FFF2-40B4-BE49-F238E27FC236}">
                <a16:creationId xmlns:a16="http://schemas.microsoft.com/office/drawing/2014/main" id="{114585A5-296D-47DD-937E-C6181A38F49E}"/>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87057855-9A68-4A52-9086-610420257B97}"/>
              </a:ext>
            </a:extLst>
          </p:cNvPr>
          <p:cNvSpPr>
            <a:spLocks noGrp="1"/>
          </p:cNvSpPr>
          <p:nvPr>
            <p:ph type="sldNum" sz="quarter" idx="14"/>
          </p:nvPr>
        </p:nvSpPr>
        <p:spPr/>
        <p:txBody>
          <a:bodyPr/>
          <a:lstStyle/>
          <a:p>
            <a:fld id="{BC8D7E44-7D4F-4942-A8C9-2DF6BF8399E8}" type="slidenum">
              <a:rPr lang="en-US" smtClean="0"/>
              <a:pPr/>
              <a:t>53</a:t>
            </a:fld>
            <a:endParaRPr lang="en-US" dirty="0"/>
          </a:p>
        </p:txBody>
      </p:sp>
    </p:spTree>
    <p:extLst>
      <p:ext uri="{BB962C8B-B14F-4D97-AF65-F5344CB8AC3E}">
        <p14:creationId xmlns:p14="http://schemas.microsoft.com/office/powerpoint/2010/main" val="34713625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A structure is architectural if it supports reasoning about the system and the system’s properties. </a:t>
            </a:r>
          </a:p>
          <a:p>
            <a:pPr>
              <a:buFont typeface="Arial" pitchFamily="34" charset="0"/>
              <a:buChar char="•"/>
            </a:pPr>
            <a:r>
              <a:rPr lang="en-US" dirty="0"/>
              <a:t>The reasoning should be about an attribute of the system that is important to some stakeholder. </a:t>
            </a:r>
          </a:p>
          <a:p>
            <a:r>
              <a:rPr lang="en-US" dirty="0"/>
              <a:t>These include </a:t>
            </a:r>
          </a:p>
          <a:p>
            <a:pPr lvl="1"/>
            <a:r>
              <a:rPr lang="en-US" dirty="0"/>
              <a:t>functionality achieved by the system</a:t>
            </a:r>
          </a:p>
          <a:p>
            <a:pPr lvl="1"/>
            <a:r>
              <a:rPr lang="en-US" dirty="0"/>
              <a:t>the availability of the system in the face of faults</a:t>
            </a:r>
          </a:p>
          <a:p>
            <a:pPr lvl="1"/>
            <a:r>
              <a:rPr lang="en-US" dirty="0"/>
              <a:t>the difficulty of making specific changes to the system</a:t>
            </a:r>
          </a:p>
          <a:p>
            <a:pPr lvl="1"/>
            <a:r>
              <a:rPr lang="en-US" dirty="0"/>
              <a:t>the responsiveness of the system to user requests, </a:t>
            </a:r>
          </a:p>
          <a:p>
            <a:pPr lvl="1"/>
            <a:r>
              <a:rPr lang="en-US" dirty="0"/>
              <a:t>many others.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Which Structures are Architectural?</a:t>
            </a:r>
          </a:p>
        </p:txBody>
      </p:sp>
      <p:sp>
        <p:nvSpPr>
          <p:cNvPr id="2" name="Date Placeholder 1">
            <a:extLst>
              <a:ext uri="{FF2B5EF4-FFF2-40B4-BE49-F238E27FC236}">
                <a16:creationId xmlns:a16="http://schemas.microsoft.com/office/drawing/2014/main" id="{FBD31514-EFAC-4EE4-ACA5-44D62F61E118}"/>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01E0E268-5EB7-4D9E-AADC-4A63303E67BC}"/>
              </a:ext>
            </a:extLst>
          </p:cNvPr>
          <p:cNvSpPr>
            <a:spLocks noGrp="1"/>
          </p:cNvSpPr>
          <p:nvPr>
            <p:ph type="sldNum" sz="quarter" idx="14"/>
          </p:nvPr>
        </p:nvSpPr>
        <p:spPr/>
        <p:txBody>
          <a:bodyPr/>
          <a:lstStyle/>
          <a:p>
            <a:fld id="{BC8D7E44-7D4F-4942-A8C9-2DF6BF8399E8}" type="slidenum">
              <a:rPr lang="en-US" smtClean="0"/>
              <a:pPr/>
              <a:t>54</a:t>
            </a:fld>
            <a:endParaRPr lang="en-US" dirty="0"/>
          </a:p>
        </p:txBody>
      </p:sp>
    </p:spTree>
    <p:extLst>
      <p:ext uri="{BB962C8B-B14F-4D97-AF65-F5344CB8AC3E}">
        <p14:creationId xmlns:p14="http://schemas.microsoft.com/office/powerpoint/2010/main" val="23508566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a:buFont typeface="Arial" pitchFamily="34" charset="0"/>
              <a:buChar char="•"/>
            </a:pPr>
            <a:r>
              <a:rPr lang="en-US" sz="2400" dirty="0"/>
              <a:t>An architecture comprises software elements and </a:t>
            </a:r>
            <a:r>
              <a:rPr lang="pl-PL" sz="2400" dirty="0" err="1"/>
              <a:t>how</a:t>
            </a:r>
            <a:r>
              <a:rPr lang="pl-PL" sz="2400" dirty="0"/>
              <a:t> the </a:t>
            </a:r>
            <a:r>
              <a:rPr lang="pl-PL" sz="2400" dirty="0" err="1"/>
              <a:t>elements</a:t>
            </a:r>
            <a:r>
              <a:rPr lang="pl-PL" sz="2400" dirty="0"/>
              <a:t> </a:t>
            </a:r>
            <a:r>
              <a:rPr lang="pl-PL" sz="2400" dirty="0" err="1"/>
              <a:t>relate</a:t>
            </a:r>
            <a:r>
              <a:rPr lang="pl-PL" sz="2400" dirty="0"/>
              <a:t> to </a:t>
            </a:r>
            <a:r>
              <a:rPr lang="pl-PL" sz="2400" dirty="0" err="1"/>
              <a:t>each</a:t>
            </a:r>
            <a:r>
              <a:rPr lang="pl-PL" sz="2400" dirty="0"/>
              <a:t> </a:t>
            </a:r>
            <a:r>
              <a:rPr lang="pl-PL" sz="2400" dirty="0" err="1"/>
              <a:t>other</a:t>
            </a:r>
            <a:r>
              <a:rPr lang="pl-PL" sz="2400" dirty="0"/>
              <a:t>. </a:t>
            </a:r>
          </a:p>
          <a:p>
            <a:pPr lvl="1"/>
            <a:r>
              <a:rPr lang="pl-PL" sz="2000" dirty="0" err="1"/>
              <a:t>An</a:t>
            </a:r>
            <a:r>
              <a:rPr lang="pl-PL" sz="2000" dirty="0"/>
              <a:t> </a:t>
            </a:r>
            <a:r>
              <a:rPr lang="pl-PL" sz="2000" dirty="0" err="1"/>
              <a:t>architecture</a:t>
            </a:r>
            <a:r>
              <a:rPr lang="pl-PL" sz="2000" dirty="0"/>
              <a:t> </a:t>
            </a:r>
            <a:r>
              <a:rPr lang="pl-PL" sz="2000" dirty="0" err="1"/>
              <a:t>specifically</a:t>
            </a:r>
            <a:r>
              <a:rPr lang="pl-PL" sz="2000" dirty="0"/>
              <a:t> </a:t>
            </a:r>
            <a:r>
              <a:rPr lang="pl-PL" sz="2000" dirty="0" err="1"/>
              <a:t>omits</a:t>
            </a:r>
            <a:r>
              <a:rPr lang="pl-PL" sz="2000" dirty="0"/>
              <a:t> </a:t>
            </a:r>
            <a:r>
              <a:rPr lang="pl-PL" sz="2000" dirty="0" err="1"/>
              <a:t>certain</a:t>
            </a:r>
            <a:r>
              <a:rPr lang="pl-PL" sz="2000" dirty="0"/>
              <a:t> </a:t>
            </a:r>
            <a:r>
              <a:rPr lang="pl-PL" sz="2000" dirty="0" err="1"/>
              <a:t>information</a:t>
            </a:r>
            <a:r>
              <a:rPr lang="pl-PL" sz="2000" dirty="0"/>
              <a:t> </a:t>
            </a:r>
            <a:r>
              <a:rPr lang="pl-PL" sz="2000" dirty="0" err="1"/>
              <a:t>about</a:t>
            </a:r>
            <a:r>
              <a:rPr lang="pl-PL" sz="2000" dirty="0"/>
              <a:t> </a:t>
            </a:r>
            <a:r>
              <a:rPr lang="pl-PL" sz="2000" dirty="0" err="1"/>
              <a:t>elements</a:t>
            </a:r>
            <a:r>
              <a:rPr lang="pl-PL" sz="2000" dirty="0"/>
              <a:t> </a:t>
            </a:r>
            <a:r>
              <a:rPr lang="pl-PL" sz="2000" dirty="0" err="1"/>
              <a:t>that</a:t>
            </a:r>
            <a:r>
              <a:rPr lang="pl-PL" sz="2000" dirty="0"/>
              <a:t> </a:t>
            </a:r>
            <a:r>
              <a:rPr lang="pl-PL" sz="2000" dirty="0" err="1"/>
              <a:t>is</a:t>
            </a:r>
            <a:r>
              <a:rPr lang="pl-PL" sz="2000" dirty="0"/>
              <a:t> not </a:t>
            </a:r>
            <a:r>
              <a:rPr lang="pl-PL" sz="2000" dirty="0" err="1"/>
              <a:t>useful</a:t>
            </a:r>
            <a:r>
              <a:rPr lang="pl-PL" sz="2000" dirty="0"/>
              <a:t> for </a:t>
            </a:r>
            <a:r>
              <a:rPr lang="pl-PL" sz="2000" dirty="0" err="1"/>
              <a:t>reasoning</a:t>
            </a:r>
            <a:r>
              <a:rPr lang="pl-PL" sz="2000" dirty="0"/>
              <a:t> </a:t>
            </a:r>
            <a:r>
              <a:rPr lang="pl-PL" sz="2000" dirty="0" err="1"/>
              <a:t>about</a:t>
            </a:r>
            <a:r>
              <a:rPr lang="pl-PL" sz="2000" dirty="0"/>
              <a:t> the system.</a:t>
            </a:r>
          </a:p>
          <a:p>
            <a:pPr lvl="1"/>
            <a:r>
              <a:rPr lang="pl-PL" sz="2000" dirty="0"/>
              <a:t>It </a:t>
            </a:r>
            <a:r>
              <a:rPr lang="pl-PL" sz="2000" dirty="0" err="1"/>
              <a:t>omits</a:t>
            </a:r>
            <a:r>
              <a:rPr lang="pl-PL" sz="2000" dirty="0"/>
              <a:t> </a:t>
            </a:r>
            <a:r>
              <a:rPr lang="pl-PL" sz="2000" dirty="0" err="1"/>
              <a:t>information</a:t>
            </a:r>
            <a:r>
              <a:rPr lang="pl-PL" sz="2000" dirty="0"/>
              <a:t> </a:t>
            </a:r>
            <a:r>
              <a:rPr lang="pl-PL" sz="2000" dirty="0" err="1"/>
              <a:t>that</a:t>
            </a:r>
            <a:r>
              <a:rPr lang="pl-PL" sz="2000" dirty="0"/>
              <a:t> </a:t>
            </a:r>
            <a:r>
              <a:rPr lang="pl-PL" sz="2000" dirty="0" err="1"/>
              <a:t>has</a:t>
            </a:r>
            <a:r>
              <a:rPr lang="pl-PL" sz="2000" dirty="0"/>
              <a:t> no </a:t>
            </a:r>
            <a:r>
              <a:rPr lang="pl-PL" sz="2000" dirty="0" err="1"/>
              <a:t>ramifications</a:t>
            </a:r>
            <a:r>
              <a:rPr lang="pl-PL" sz="2000" dirty="0"/>
              <a:t> </a:t>
            </a:r>
            <a:r>
              <a:rPr lang="pl-PL" sz="2000" dirty="0" err="1"/>
              <a:t>outside</a:t>
            </a:r>
            <a:r>
              <a:rPr lang="pl-PL" sz="2000" dirty="0"/>
              <a:t> of a single element. </a:t>
            </a:r>
          </a:p>
          <a:p>
            <a:pPr lvl="1"/>
            <a:r>
              <a:rPr lang="pl-PL" sz="2000" dirty="0" err="1"/>
              <a:t>An</a:t>
            </a:r>
            <a:r>
              <a:rPr lang="pl-PL" sz="2000" dirty="0"/>
              <a:t> </a:t>
            </a:r>
            <a:r>
              <a:rPr lang="pl-PL" sz="2000" dirty="0" err="1"/>
              <a:t>architecture</a:t>
            </a:r>
            <a:r>
              <a:rPr lang="pl-PL" sz="2000" dirty="0"/>
              <a:t> </a:t>
            </a:r>
            <a:r>
              <a:rPr lang="pl-PL" sz="2000" dirty="0" err="1"/>
              <a:t>selects</a:t>
            </a:r>
            <a:r>
              <a:rPr lang="pl-PL" sz="2000" dirty="0"/>
              <a:t> </a:t>
            </a:r>
            <a:r>
              <a:rPr lang="pl-PL" sz="2000" dirty="0" err="1"/>
              <a:t>certain</a:t>
            </a:r>
            <a:r>
              <a:rPr lang="pl-PL" sz="2000" dirty="0"/>
              <a:t> </a:t>
            </a:r>
            <a:r>
              <a:rPr lang="pl-PL" sz="2000" dirty="0" err="1"/>
              <a:t>details</a:t>
            </a:r>
            <a:r>
              <a:rPr lang="pl-PL" sz="2000" dirty="0"/>
              <a:t> and </a:t>
            </a:r>
            <a:r>
              <a:rPr lang="pl-PL" sz="2000" dirty="0" err="1"/>
              <a:t>suppresses</a:t>
            </a:r>
            <a:r>
              <a:rPr lang="pl-PL" sz="2000" dirty="0"/>
              <a:t> </a:t>
            </a:r>
            <a:r>
              <a:rPr lang="pl-PL" sz="2000" dirty="0" err="1"/>
              <a:t>others</a:t>
            </a:r>
            <a:r>
              <a:rPr lang="pl-PL" sz="2000" dirty="0"/>
              <a:t>. </a:t>
            </a:r>
          </a:p>
          <a:p>
            <a:pPr lvl="1"/>
            <a:r>
              <a:rPr lang="pl-PL" sz="2000" dirty="0" err="1"/>
              <a:t>Private</a:t>
            </a:r>
            <a:r>
              <a:rPr lang="pl-PL" sz="2000" dirty="0"/>
              <a:t> </a:t>
            </a:r>
            <a:r>
              <a:rPr lang="pl-PL" sz="2000" dirty="0" err="1"/>
              <a:t>details</a:t>
            </a:r>
            <a:r>
              <a:rPr lang="pl-PL" sz="2000" dirty="0"/>
              <a:t> of </a:t>
            </a:r>
            <a:r>
              <a:rPr lang="pl-PL" sz="2000" dirty="0" err="1"/>
              <a:t>elements</a:t>
            </a:r>
            <a:r>
              <a:rPr lang="pl-PL" sz="2000" dirty="0"/>
              <a:t>—</a:t>
            </a:r>
            <a:r>
              <a:rPr lang="pl-PL" sz="2000" dirty="0" err="1"/>
              <a:t>details</a:t>
            </a:r>
            <a:r>
              <a:rPr lang="pl-PL" sz="2000" dirty="0"/>
              <a:t> </a:t>
            </a:r>
            <a:r>
              <a:rPr lang="pl-PL" sz="2000" dirty="0" err="1"/>
              <a:t>having</a:t>
            </a:r>
            <a:r>
              <a:rPr lang="pl-PL" sz="2000" dirty="0"/>
              <a:t> to do </a:t>
            </a:r>
            <a:r>
              <a:rPr lang="pl-PL" sz="2000" dirty="0" err="1"/>
              <a:t>solely</a:t>
            </a:r>
            <a:r>
              <a:rPr lang="pl-PL" sz="2000" dirty="0"/>
              <a:t> with </a:t>
            </a:r>
            <a:r>
              <a:rPr lang="pl-PL" sz="2000" dirty="0" err="1"/>
              <a:t>internal</a:t>
            </a:r>
            <a:r>
              <a:rPr lang="pl-PL" sz="2000" dirty="0"/>
              <a:t> </a:t>
            </a:r>
            <a:r>
              <a:rPr lang="pl-PL" sz="2000" dirty="0" err="1"/>
              <a:t>implementation</a:t>
            </a:r>
            <a:r>
              <a:rPr lang="pl-PL" sz="2000" dirty="0"/>
              <a:t>—</a:t>
            </a:r>
            <a:r>
              <a:rPr lang="pl-PL" sz="2000" dirty="0" err="1"/>
              <a:t>are</a:t>
            </a:r>
            <a:r>
              <a:rPr lang="pl-PL" sz="2000" dirty="0"/>
              <a:t> not </a:t>
            </a:r>
            <a:r>
              <a:rPr lang="pl-PL" sz="2000" dirty="0" err="1"/>
              <a:t>architectural</a:t>
            </a:r>
            <a:r>
              <a:rPr lang="pl-PL" sz="2000" dirty="0"/>
              <a:t>. </a:t>
            </a:r>
          </a:p>
          <a:p>
            <a:pPr>
              <a:buFont typeface="Arial" pitchFamily="34" charset="0"/>
              <a:buChar char="•"/>
            </a:pPr>
            <a:r>
              <a:rPr lang="pl-PL" sz="2400" dirty="0"/>
              <a:t>The </a:t>
            </a:r>
            <a:r>
              <a:rPr lang="pl-PL" sz="2400" dirty="0" err="1"/>
              <a:t>architectural</a:t>
            </a:r>
            <a:r>
              <a:rPr lang="pl-PL" sz="2400" dirty="0"/>
              <a:t> </a:t>
            </a:r>
            <a:r>
              <a:rPr lang="pl-PL" sz="2400" dirty="0" err="1"/>
              <a:t>abstraction</a:t>
            </a:r>
            <a:r>
              <a:rPr lang="pl-PL" sz="2400" dirty="0"/>
              <a:t> </a:t>
            </a:r>
            <a:r>
              <a:rPr lang="pl-PL" sz="2400" dirty="0" err="1"/>
              <a:t>lets</a:t>
            </a:r>
            <a:r>
              <a:rPr lang="pl-PL" sz="2400" dirty="0"/>
              <a:t> </a:t>
            </a:r>
            <a:r>
              <a:rPr lang="pl-PL" sz="2400" dirty="0" err="1"/>
              <a:t>us</a:t>
            </a:r>
            <a:r>
              <a:rPr lang="pl-PL" sz="2400" dirty="0"/>
              <a:t> </a:t>
            </a:r>
            <a:r>
              <a:rPr lang="pl-PL" sz="2400" dirty="0" err="1"/>
              <a:t>look</a:t>
            </a:r>
            <a:r>
              <a:rPr lang="pl-PL" sz="2400" dirty="0"/>
              <a:t> </a:t>
            </a:r>
            <a:r>
              <a:rPr lang="pl-PL" sz="2400" dirty="0" err="1"/>
              <a:t>at</a:t>
            </a:r>
            <a:r>
              <a:rPr lang="pl-PL" sz="2400" dirty="0"/>
              <a:t> the system in </a:t>
            </a:r>
            <a:r>
              <a:rPr lang="pl-PL" sz="2400" dirty="0" err="1"/>
              <a:t>terms</a:t>
            </a:r>
            <a:r>
              <a:rPr lang="pl-PL" sz="2400" dirty="0"/>
              <a:t> of </a:t>
            </a:r>
            <a:r>
              <a:rPr lang="pl-PL" sz="2400" dirty="0" err="1"/>
              <a:t>its</a:t>
            </a:r>
            <a:r>
              <a:rPr lang="pl-PL" sz="2400" dirty="0"/>
              <a:t> </a:t>
            </a:r>
            <a:r>
              <a:rPr lang="pl-PL" sz="2400" dirty="0" err="1"/>
              <a:t>elements</a:t>
            </a:r>
            <a:r>
              <a:rPr lang="pl-PL" sz="2400" dirty="0"/>
              <a:t>, </a:t>
            </a:r>
            <a:r>
              <a:rPr lang="pl-PL" sz="2400" dirty="0" err="1"/>
              <a:t>how</a:t>
            </a:r>
            <a:r>
              <a:rPr lang="pl-PL" sz="2400" dirty="0"/>
              <a:t> </a:t>
            </a:r>
            <a:r>
              <a:rPr lang="pl-PL" sz="2400" dirty="0" err="1"/>
              <a:t>they</a:t>
            </a:r>
            <a:r>
              <a:rPr lang="pl-PL" sz="2400" dirty="0"/>
              <a:t> </a:t>
            </a:r>
            <a:r>
              <a:rPr lang="pl-PL" sz="2400" dirty="0" err="1"/>
              <a:t>are</a:t>
            </a:r>
            <a:r>
              <a:rPr lang="pl-PL" sz="2400" dirty="0"/>
              <a:t> </a:t>
            </a:r>
            <a:r>
              <a:rPr lang="pl-PL" sz="2400" dirty="0" err="1"/>
              <a:t>arranged</a:t>
            </a:r>
            <a:r>
              <a:rPr lang="pl-PL" sz="2400" dirty="0"/>
              <a:t>, </a:t>
            </a:r>
            <a:r>
              <a:rPr lang="pl-PL" sz="2400" dirty="0" err="1"/>
              <a:t>how</a:t>
            </a:r>
            <a:r>
              <a:rPr lang="pl-PL" sz="2400" dirty="0"/>
              <a:t> </a:t>
            </a:r>
            <a:r>
              <a:rPr lang="pl-PL" sz="2400" dirty="0" err="1"/>
              <a:t>they</a:t>
            </a:r>
            <a:r>
              <a:rPr lang="pl-PL" sz="2400" dirty="0"/>
              <a:t> </a:t>
            </a:r>
            <a:r>
              <a:rPr lang="pl-PL" sz="2400" dirty="0" err="1"/>
              <a:t>interact</a:t>
            </a:r>
            <a:r>
              <a:rPr lang="pl-PL" sz="2400" dirty="0"/>
              <a:t>, </a:t>
            </a:r>
            <a:r>
              <a:rPr lang="pl-PL" sz="2400" dirty="0" err="1"/>
              <a:t>how</a:t>
            </a:r>
            <a:r>
              <a:rPr lang="pl-PL" sz="2400" dirty="0"/>
              <a:t> </a:t>
            </a:r>
            <a:r>
              <a:rPr lang="pl-PL" sz="2400" dirty="0" err="1"/>
              <a:t>they</a:t>
            </a:r>
            <a:r>
              <a:rPr lang="pl-PL" sz="2400" dirty="0"/>
              <a:t> </a:t>
            </a:r>
            <a:r>
              <a:rPr lang="pl-PL" sz="2400" dirty="0" err="1"/>
              <a:t>are</a:t>
            </a:r>
            <a:r>
              <a:rPr lang="pl-PL" sz="2400" dirty="0"/>
              <a:t> </a:t>
            </a:r>
            <a:r>
              <a:rPr lang="pl-PL" sz="2400" dirty="0" err="1"/>
              <a:t>composed</a:t>
            </a:r>
            <a:r>
              <a:rPr lang="pl-PL" sz="2400" dirty="0"/>
              <a:t>, </a:t>
            </a:r>
            <a:r>
              <a:rPr lang="pl-PL" sz="2400" dirty="0" err="1"/>
              <a:t>what</a:t>
            </a:r>
            <a:r>
              <a:rPr lang="pl-PL" sz="2400" dirty="0"/>
              <a:t> </a:t>
            </a:r>
            <a:r>
              <a:rPr lang="pl-PL" sz="2400" dirty="0" err="1"/>
              <a:t>their</a:t>
            </a:r>
            <a:r>
              <a:rPr lang="pl-PL" sz="2400" dirty="0"/>
              <a:t> </a:t>
            </a:r>
            <a:r>
              <a:rPr lang="pl-PL" sz="2400" dirty="0" err="1"/>
              <a:t>properties</a:t>
            </a:r>
            <a:r>
              <a:rPr lang="pl-PL" sz="2400" dirty="0"/>
              <a:t> </a:t>
            </a:r>
            <a:r>
              <a:rPr lang="pl-PL" sz="2400" dirty="0" err="1"/>
              <a:t>are</a:t>
            </a:r>
            <a:r>
              <a:rPr lang="pl-PL" sz="2400" dirty="0"/>
              <a:t> </a:t>
            </a:r>
            <a:r>
              <a:rPr lang="pl-PL" sz="2400" dirty="0" err="1"/>
              <a:t>that</a:t>
            </a:r>
            <a:r>
              <a:rPr lang="pl-PL" sz="2400" dirty="0"/>
              <a:t> </a:t>
            </a:r>
            <a:r>
              <a:rPr lang="pl-PL" sz="2400" dirty="0" err="1"/>
              <a:t>support</a:t>
            </a:r>
            <a:r>
              <a:rPr lang="pl-PL" sz="2400" dirty="0"/>
              <a:t> </a:t>
            </a:r>
            <a:r>
              <a:rPr lang="pl-PL" sz="2400" dirty="0" err="1"/>
              <a:t>our</a:t>
            </a:r>
            <a:r>
              <a:rPr lang="pl-PL" sz="2400" dirty="0"/>
              <a:t> system </a:t>
            </a:r>
            <a:r>
              <a:rPr lang="pl-PL" sz="2400" dirty="0" err="1"/>
              <a:t>reasoning</a:t>
            </a:r>
            <a:r>
              <a:rPr lang="pl-PL" sz="2400" dirty="0"/>
              <a:t>, and </a:t>
            </a:r>
            <a:r>
              <a:rPr lang="pl-PL" sz="2400" dirty="0" err="1"/>
              <a:t>so</a:t>
            </a:r>
            <a:r>
              <a:rPr lang="pl-PL" sz="2400" dirty="0"/>
              <a:t> </a:t>
            </a:r>
            <a:r>
              <a:rPr lang="pl-PL" sz="2400" dirty="0" err="1"/>
              <a:t>forth</a:t>
            </a:r>
            <a:r>
              <a:rPr lang="pl-PL" sz="2400" dirty="0"/>
              <a:t>. </a:t>
            </a:r>
          </a:p>
          <a:p>
            <a:pPr>
              <a:buFont typeface="Arial" pitchFamily="34" charset="0"/>
              <a:buChar char="•"/>
            </a:pPr>
            <a:r>
              <a:rPr lang="pl-PL" sz="2400" dirty="0" err="1"/>
              <a:t>This</a:t>
            </a:r>
            <a:r>
              <a:rPr lang="pl-PL" sz="2400" dirty="0"/>
              <a:t> </a:t>
            </a:r>
            <a:r>
              <a:rPr lang="pl-PL" sz="2400" dirty="0" err="1"/>
              <a:t>abstraction</a:t>
            </a:r>
            <a:r>
              <a:rPr lang="pl-PL" sz="2400" dirty="0"/>
              <a:t> </a:t>
            </a:r>
            <a:r>
              <a:rPr lang="pl-PL" sz="2400" dirty="0" err="1"/>
              <a:t>is</a:t>
            </a:r>
            <a:r>
              <a:rPr lang="pl-PL" sz="2400" dirty="0"/>
              <a:t> </a:t>
            </a:r>
            <a:r>
              <a:rPr lang="pl-PL" sz="2400" dirty="0" err="1"/>
              <a:t>essential</a:t>
            </a:r>
            <a:r>
              <a:rPr lang="pl-PL" sz="2400" dirty="0"/>
              <a:t> to </a:t>
            </a:r>
            <a:r>
              <a:rPr lang="pl-PL" sz="2400" dirty="0" err="1"/>
              <a:t>taming</a:t>
            </a:r>
            <a:r>
              <a:rPr lang="pl-PL" sz="2400" dirty="0"/>
              <a:t> the </a:t>
            </a:r>
            <a:r>
              <a:rPr lang="pl-PL" sz="2400" dirty="0" err="1"/>
              <a:t>complexity</a:t>
            </a:r>
            <a:r>
              <a:rPr lang="pl-PL" sz="2400" dirty="0"/>
              <a:t> of </a:t>
            </a:r>
            <a:r>
              <a:rPr lang="pl-PL" sz="2400" dirty="0" err="1"/>
              <a:t>an</a:t>
            </a:r>
            <a:r>
              <a:rPr lang="pl-PL" sz="2400" dirty="0"/>
              <a:t> </a:t>
            </a:r>
            <a:r>
              <a:rPr lang="pl-PL" sz="2400" dirty="0" err="1"/>
              <a:t>architecture</a:t>
            </a:r>
            <a:r>
              <a:rPr lang="pl-PL" sz="2400" dirty="0"/>
              <a:t>.</a:t>
            </a:r>
          </a:p>
          <a:p>
            <a:pPr>
              <a:buFont typeface="Arial" pitchFamily="34" charset="0"/>
              <a:buChar char="•"/>
            </a:pPr>
            <a:r>
              <a:rPr lang="pl-PL" sz="2400" dirty="0"/>
              <a:t>We </a:t>
            </a:r>
            <a:r>
              <a:rPr lang="pl-PL" sz="2400" dirty="0" err="1"/>
              <a:t>simply</a:t>
            </a:r>
            <a:r>
              <a:rPr lang="pl-PL" sz="2400" dirty="0"/>
              <a:t> </a:t>
            </a:r>
            <a:r>
              <a:rPr lang="pl-PL" sz="2400" dirty="0" err="1"/>
              <a:t>cannot</a:t>
            </a:r>
            <a:r>
              <a:rPr lang="pl-PL" sz="2400" dirty="0"/>
              <a:t>, and do not want to, </a:t>
            </a:r>
            <a:r>
              <a:rPr lang="pl-PL" sz="2400" dirty="0" err="1"/>
              <a:t>deal</a:t>
            </a:r>
            <a:r>
              <a:rPr lang="pl-PL" sz="2400" dirty="0"/>
              <a:t> with </a:t>
            </a:r>
            <a:r>
              <a:rPr lang="pl-PL" sz="2400" dirty="0" err="1"/>
              <a:t>all</a:t>
            </a:r>
            <a:r>
              <a:rPr lang="pl-PL" sz="2400" dirty="0"/>
              <a:t> of the </a:t>
            </a:r>
            <a:r>
              <a:rPr lang="pl-PL" sz="2400" dirty="0" err="1"/>
              <a:t>complexity</a:t>
            </a:r>
            <a:r>
              <a:rPr lang="pl-PL" sz="2400" dirty="0"/>
              <a:t> </a:t>
            </a:r>
            <a:r>
              <a:rPr lang="pl-PL" sz="2400" dirty="0" err="1"/>
              <a:t>all</a:t>
            </a:r>
            <a:r>
              <a:rPr lang="pl-PL" sz="2400" dirty="0"/>
              <a:t> of the </a:t>
            </a:r>
            <a:r>
              <a:rPr lang="pl-PL" sz="2400" dirty="0" err="1"/>
              <a:t>time</a:t>
            </a:r>
            <a:r>
              <a:rPr lang="pl-PL" sz="2400" dirty="0"/>
              <a:t>.</a:t>
            </a:r>
            <a:endParaRPr lang="en-US" sz="2400" dirty="0"/>
          </a:p>
        </p:txBody>
      </p:sp>
      <p:sp>
        <p:nvSpPr>
          <p:cNvPr id="4" name="Footer Placeholder 3"/>
          <p:cNvSpPr>
            <a:spLocks noGrp="1"/>
          </p:cNvSpPr>
          <p:nvPr>
            <p:ph type="ftr" sz="quarter" idx="13"/>
          </p:nvPr>
        </p:nvSpPr>
        <p:spPr/>
        <p:txBody>
          <a:bodyPr/>
          <a:lstStyle/>
          <a:p>
            <a:r>
              <a:rPr lang="en-AU" dirty="0"/>
              <a:t>SEZG651/SSZG653 Software Architectures</a:t>
            </a:r>
          </a:p>
        </p:txBody>
      </p:sp>
      <p:sp>
        <p:nvSpPr>
          <p:cNvPr id="7" name="Title 1"/>
          <p:cNvSpPr>
            <a:spLocks noGrp="1"/>
          </p:cNvSpPr>
          <p:nvPr>
            <p:ph sz="quarter" idx="10"/>
          </p:nvPr>
        </p:nvSpPr>
        <p:spPr/>
        <p:txBody>
          <a:bodyPr/>
          <a:lstStyle/>
          <a:p>
            <a:r>
              <a:rPr lang="en-US" dirty="0"/>
              <a:t>Architecture is an Abstraction</a:t>
            </a:r>
          </a:p>
        </p:txBody>
      </p:sp>
      <p:sp>
        <p:nvSpPr>
          <p:cNvPr id="2" name="Date Placeholder 1">
            <a:extLst>
              <a:ext uri="{FF2B5EF4-FFF2-40B4-BE49-F238E27FC236}">
                <a16:creationId xmlns:a16="http://schemas.microsoft.com/office/drawing/2014/main" id="{30F26183-1ED9-49E2-B104-9B97971A68F3}"/>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B2D345D9-8B90-4D27-9916-707673E0605D}"/>
              </a:ext>
            </a:extLst>
          </p:cNvPr>
          <p:cNvSpPr>
            <a:spLocks noGrp="1"/>
          </p:cNvSpPr>
          <p:nvPr>
            <p:ph type="sldNum" sz="quarter" idx="14"/>
          </p:nvPr>
        </p:nvSpPr>
        <p:spPr/>
        <p:txBody>
          <a:bodyPr/>
          <a:lstStyle/>
          <a:p>
            <a:fld id="{BC8D7E44-7D4F-4942-A8C9-2DF6BF8399E8}" type="slidenum">
              <a:rPr lang="en-US" smtClean="0"/>
              <a:pPr/>
              <a:t>55</a:t>
            </a:fld>
            <a:endParaRPr lang="en-US" dirty="0"/>
          </a:p>
        </p:txBody>
      </p:sp>
    </p:spTree>
    <p:extLst>
      <p:ext uri="{BB962C8B-B14F-4D97-AF65-F5344CB8AC3E}">
        <p14:creationId xmlns:p14="http://schemas.microsoft.com/office/powerpoint/2010/main" val="14081800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Every system comprises elements and relations among them to support some type of reasoning. </a:t>
            </a:r>
          </a:p>
          <a:p>
            <a:pPr>
              <a:buFont typeface="Arial" pitchFamily="34" charset="0"/>
              <a:buChar char="•"/>
            </a:pPr>
            <a:r>
              <a:rPr lang="en-US" dirty="0"/>
              <a:t>But the architecture may not be known to anyone. </a:t>
            </a:r>
          </a:p>
          <a:p>
            <a:pPr lvl="1"/>
            <a:r>
              <a:rPr lang="en-US" dirty="0"/>
              <a:t>Perhaps all of the people who designed the system are long gone</a:t>
            </a:r>
          </a:p>
          <a:p>
            <a:pPr lvl="1"/>
            <a:r>
              <a:rPr lang="en-US" dirty="0"/>
              <a:t>Perhaps the documentation has vanished (or was never produced)</a:t>
            </a:r>
          </a:p>
          <a:p>
            <a:pPr lvl="1"/>
            <a:r>
              <a:rPr lang="en-US" dirty="0"/>
              <a:t>Perhaps the source code has been lost (or was never delivered)</a:t>
            </a:r>
          </a:p>
          <a:p>
            <a:pPr>
              <a:buFont typeface="Arial" pitchFamily="34" charset="0"/>
              <a:buChar char="•"/>
            </a:pPr>
            <a:r>
              <a:rPr lang="en-US" dirty="0"/>
              <a:t>An architecture can exist independently of its description or specification.</a:t>
            </a:r>
          </a:p>
          <a:p>
            <a:pPr>
              <a:buFont typeface="Arial" pitchFamily="34" charset="0"/>
              <a:buChar char="•"/>
            </a:pPr>
            <a:r>
              <a:rPr lang="en-US" dirty="0"/>
              <a:t>Documentation is critical.</a:t>
            </a:r>
          </a:p>
        </p:txBody>
      </p:sp>
      <p:sp>
        <p:nvSpPr>
          <p:cNvPr id="4" name="Footer Placeholder 3"/>
          <p:cNvSpPr>
            <a:spLocks noGrp="1"/>
          </p:cNvSpPr>
          <p:nvPr>
            <p:ph type="ftr" sz="quarter" idx="13"/>
          </p:nvPr>
        </p:nvSpPr>
        <p:spPr/>
        <p:txBody>
          <a:bodyPr/>
          <a:lstStyle/>
          <a:p>
            <a:r>
              <a:rPr lang="en-AU" dirty="0"/>
              <a:t>SEZG651/SSZG653 Software Architectures</a:t>
            </a:r>
          </a:p>
        </p:txBody>
      </p:sp>
      <p:sp>
        <p:nvSpPr>
          <p:cNvPr id="7" name="Title 1"/>
          <p:cNvSpPr>
            <a:spLocks noGrp="1"/>
          </p:cNvSpPr>
          <p:nvPr>
            <p:ph sz="quarter" idx="10"/>
          </p:nvPr>
        </p:nvSpPr>
        <p:spPr/>
        <p:txBody>
          <a:bodyPr>
            <a:normAutofit fontScale="97500"/>
          </a:bodyPr>
          <a:lstStyle/>
          <a:p>
            <a:r>
              <a:rPr lang="en-US" dirty="0"/>
              <a:t>Every System has a Software Architecture </a:t>
            </a:r>
          </a:p>
        </p:txBody>
      </p:sp>
      <p:sp>
        <p:nvSpPr>
          <p:cNvPr id="2" name="Date Placeholder 1">
            <a:extLst>
              <a:ext uri="{FF2B5EF4-FFF2-40B4-BE49-F238E27FC236}">
                <a16:creationId xmlns:a16="http://schemas.microsoft.com/office/drawing/2014/main" id="{E1AA4084-3CC6-432B-9ADC-910A8BE6D8A7}"/>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ED765528-88DA-462C-9C5B-C4A4A127C623}"/>
              </a:ext>
            </a:extLst>
          </p:cNvPr>
          <p:cNvSpPr>
            <a:spLocks noGrp="1"/>
          </p:cNvSpPr>
          <p:nvPr>
            <p:ph type="sldNum" sz="quarter" idx="14"/>
          </p:nvPr>
        </p:nvSpPr>
        <p:spPr/>
        <p:txBody>
          <a:bodyPr/>
          <a:lstStyle/>
          <a:p>
            <a:fld id="{BC8D7E44-7D4F-4942-A8C9-2DF6BF8399E8}" type="slidenum">
              <a:rPr lang="en-US" smtClean="0"/>
              <a:pPr/>
              <a:t>56</a:t>
            </a:fld>
            <a:endParaRPr lang="en-US" dirty="0"/>
          </a:p>
        </p:txBody>
      </p:sp>
    </p:spTree>
    <p:extLst>
      <p:ext uri="{BB962C8B-B14F-4D97-AF65-F5344CB8AC3E}">
        <p14:creationId xmlns:p14="http://schemas.microsoft.com/office/powerpoint/2010/main" val="26491899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a:buFont typeface="Arial" pitchFamily="34" charset="0"/>
              <a:buChar char="•"/>
            </a:pPr>
            <a:r>
              <a:rPr lang="en-US" dirty="0"/>
              <a:t>The behavior of each element is part of the architecture insofar as that behavior can be used to reason about the system. </a:t>
            </a:r>
          </a:p>
          <a:p>
            <a:pPr>
              <a:buFont typeface="Arial" pitchFamily="34" charset="0"/>
              <a:buChar char="•"/>
            </a:pPr>
            <a:r>
              <a:rPr lang="en-US" dirty="0"/>
              <a:t>This behavior embodies how elements interact with each other, which is clearly part of the definition of architecture.</a:t>
            </a:r>
          </a:p>
          <a:p>
            <a:pPr>
              <a:buFont typeface="Arial" pitchFamily="34" charset="0"/>
              <a:buChar char="•"/>
            </a:pPr>
            <a:r>
              <a:rPr lang="en-US" dirty="0"/>
              <a:t>Box-and-line drawings that are passed off as architectures are not architectures at all. </a:t>
            </a:r>
          </a:p>
          <a:p>
            <a:pPr lvl="1"/>
            <a:r>
              <a:rPr lang="en-US" dirty="0"/>
              <a:t>When looking at the names of the a reader may well imagine the functionality and behavior of the corresponding elements. </a:t>
            </a:r>
          </a:p>
          <a:p>
            <a:pPr lvl="1"/>
            <a:r>
              <a:rPr lang="en-US" dirty="0"/>
              <a:t>But it relies on information that is not present – and could be wrong!</a:t>
            </a:r>
          </a:p>
          <a:p>
            <a:pPr>
              <a:buFont typeface="Arial" pitchFamily="34" charset="0"/>
              <a:buChar char="•"/>
            </a:pPr>
            <a:r>
              <a:rPr lang="en-US" dirty="0"/>
              <a:t>This does not mean that the exact behavior and performance of every element must be documented in all circumstances.</a:t>
            </a:r>
          </a:p>
          <a:p>
            <a:pPr lvl="1"/>
            <a:r>
              <a:rPr lang="en-US" dirty="0"/>
              <a:t>Some aspects of behavior are fine-grained and below the </a:t>
            </a:r>
            <a:r>
              <a:rPr lang="pl-PL" dirty="0" err="1"/>
              <a:t>architect’s</a:t>
            </a:r>
            <a:r>
              <a:rPr lang="pl-PL" dirty="0"/>
              <a:t> </a:t>
            </a:r>
            <a:r>
              <a:rPr lang="pl-PL" dirty="0" err="1"/>
              <a:t>level</a:t>
            </a:r>
            <a:r>
              <a:rPr lang="pl-PL" dirty="0"/>
              <a:t> of </a:t>
            </a:r>
            <a:r>
              <a:rPr lang="pl-PL" dirty="0" err="1"/>
              <a:t>concern</a:t>
            </a:r>
            <a:r>
              <a:rPr lang="pl-PL" dirty="0"/>
              <a:t>. </a:t>
            </a:r>
          </a:p>
          <a:p>
            <a:pPr>
              <a:buFont typeface="Arial" pitchFamily="34" charset="0"/>
              <a:buChar char="•"/>
            </a:pPr>
            <a:r>
              <a:rPr lang="pl-PL" dirty="0"/>
              <a:t>To the </a:t>
            </a:r>
            <a:r>
              <a:rPr lang="pl-PL" dirty="0" err="1"/>
              <a:t>extent</a:t>
            </a:r>
            <a:r>
              <a:rPr lang="pl-PL" dirty="0"/>
              <a:t> </a:t>
            </a:r>
            <a:r>
              <a:rPr lang="pl-PL" dirty="0" err="1"/>
              <a:t>that</a:t>
            </a:r>
            <a:r>
              <a:rPr lang="pl-PL" dirty="0"/>
              <a:t> </a:t>
            </a:r>
            <a:r>
              <a:rPr lang="pl-PL" dirty="0" err="1"/>
              <a:t>an</a:t>
            </a:r>
            <a:r>
              <a:rPr lang="pl-PL" dirty="0"/>
              <a:t> </a:t>
            </a:r>
            <a:r>
              <a:rPr lang="pl-PL" dirty="0" err="1"/>
              <a:t>element’s</a:t>
            </a:r>
            <a:r>
              <a:rPr lang="pl-PL" dirty="0"/>
              <a:t> </a:t>
            </a:r>
            <a:r>
              <a:rPr lang="pl-PL" dirty="0" err="1"/>
              <a:t>behavior</a:t>
            </a:r>
            <a:r>
              <a:rPr lang="pl-PL" dirty="0"/>
              <a:t> </a:t>
            </a:r>
            <a:r>
              <a:rPr lang="pl-PL" dirty="0" err="1"/>
              <a:t>influences</a:t>
            </a:r>
            <a:r>
              <a:rPr lang="pl-PL" dirty="0"/>
              <a:t> </a:t>
            </a:r>
            <a:r>
              <a:rPr lang="pl-PL" dirty="0" err="1"/>
              <a:t>another</a:t>
            </a:r>
            <a:r>
              <a:rPr lang="pl-PL" dirty="0"/>
              <a:t> element </a:t>
            </a:r>
            <a:r>
              <a:rPr lang="pl-PL" dirty="0" err="1"/>
              <a:t>or</a:t>
            </a:r>
            <a:r>
              <a:rPr lang="pl-PL" dirty="0"/>
              <a:t> </a:t>
            </a:r>
            <a:r>
              <a:rPr lang="pl-PL" dirty="0" err="1"/>
              <a:t>influences</a:t>
            </a:r>
            <a:r>
              <a:rPr lang="pl-PL" dirty="0"/>
              <a:t> the </a:t>
            </a:r>
            <a:r>
              <a:rPr lang="pl-PL" dirty="0" err="1"/>
              <a:t>acceptability</a:t>
            </a:r>
            <a:r>
              <a:rPr lang="pl-PL" dirty="0"/>
              <a:t> of the system as a </a:t>
            </a:r>
            <a:r>
              <a:rPr lang="pl-PL" dirty="0" err="1"/>
              <a:t>whole</a:t>
            </a:r>
            <a:r>
              <a:rPr lang="pl-PL" dirty="0"/>
              <a:t>, </a:t>
            </a:r>
            <a:r>
              <a:rPr lang="pl-PL" dirty="0" err="1"/>
              <a:t>this</a:t>
            </a:r>
            <a:r>
              <a:rPr lang="pl-PL" dirty="0"/>
              <a:t> </a:t>
            </a:r>
            <a:r>
              <a:rPr lang="pl-PL" dirty="0" err="1"/>
              <a:t>behavior</a:t>
            </a:r>
            <a:r>
              <a:rPr lang="pl-PL" dirty="0"/>
              <a:t> </a:t>
            </a:r>
            <a:r>
              <a:rPr lang="pl-PL" dirty="0" err="1"/>
              <a:t>must</a:t>
            </a:r>
            <a:r>
              <a:rPr lang="pl-PL" dirty="0"/>
              <a:t> be </a:t>
            </a:r>
            <a:r>
              <a:rPr lang="pl-PL" dirty="0" err="1"/>
              <a:t>considered</a:t>
            </a:r>
            <a:r>
              <a:rPr lang="pl-PL" dirty="0"/>
              <a:t>, and </a:t>
            </a:r>
            <a:r>
              <a:rPr lang="pl-PL" dirty="0" err="1"/>
              <a:t>should</a:t>
            </a:r>
            <a:r>
              <a:rPr lang="pl-PL" dirty="0"/>
              <a:t> be </a:t>
            </a:r>
            <a:r>
              <a:rPr lang="pl-PL" dirty="0" err="1"/>
              <a:t>documented</a:t>
            </a:r>
            <a:r>
              <a:rPr lang="pl-PL" dirty="0"/>
              <a:t>, as part of the software </a:t>
            </a:r>
            <a:r>
              <a:rPr lang="pl-PL" dirty="0" err="1"/>
              <a:t>architecture</a:t>
            </a:r>
            <a:r>
              <a:rPr lang="pl-PL" dirty="0"/>
              <a:t>.</a:t>
            </a:r>
            <a:endParaRPr lang="en-US" dirty="0"/>
          </a:p>
        </p:txBody>
      </p:sp>
      <p:sp>
        <p:nvSpPr>
          <p:cNvPr id="4" name="Footer Placeholder 3"/>
          <p:cNvSpPr>
            <a:spLocks noGrp="1"/>
          </p:cNvSpPr>
          <p:nvPr>
            <p:ph type="ftr" sz="quarter" idx="13"/>
          </p:nvPr>
        </p:nvSpPr>
        <p:spPr/>
        <p:txBody>
          <a:bodyPr/>
          <a:lstStyle/>
          <a:p>
            <a:r>
              <a:rPr lang="en-AU" dirty="0"/>
              <a:t>SEZG651/SSZG653 Software Architectures</a:t>
            </a:r>
          </a:p>
        </p:txBody>
      </p:sp>
      <p:sp>
        <p:nvSpPr>
          <p:cNvPr id="7" name="Title 1"/>
          <p:cNvSpPr>
            <a:spLocks noGrp="1"/>
          </p:cNvSpPr>
          <p:nvPr>
            <p:ph sz="quarter" idx="10"/>
          </p:nvPr>
        </p:nvSpPr>
        <p:spPr/>
        <p:txBody>
          <a:bodyPr/>
          <a:lstStyle/>
          <a:p>
            <a:r>
              <a:rPr lang="en-US" dirty="0"/>
              <a:t>Architecture Includes Behavior</a:t>
            </a:r>
          </a:p>
        </p:txBody>
      </p:sp>
      <p:sp>
        <p:nvSpPr>
          <p:cNvPr id="2" name="Date Placeholder 1">
            <a:extLst>
              <a:ext uri="{FF2B5EF4-FFF2-40B4-BE49-F238E27FC236}">
                <a16:creationId xmlns:a16="http://schemas.microsoft.com/office/drawing/2014/main" id="{852F6D8C-77C7-4A9C-85F4-C01C74C07CAE}"/>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166A7C54-8547-4053-B945-075D4A963F2C}"/>
              </a:ext>
            </a:extLst>
          </p:cNvPr>
          <p:cNvSpPr>
            <a:spLocks noGrp="1"/>
          </p:cNvSpPr>
          <p:nvPr>
            <p:ph type="sldNum" sz="quarter" idx="14"/>
          </p:nvPr>
        </p:nvSpPr>
        <p:spPr/>
        <p:txBody>
          <a:bodyPr/>
          <a:lstStyle/>
          <a:p>
            <a:fld id="{BC8D7E44-7D4F-4942-A8C9-2DF6BF8399E8}" type="slidenum">
              <a:rPr lang="en-US" smtClean="0"/>
              <a:pPr/>
              <a:t>57</a:t>
            </a:fld>
            <a:endParaRPr lang="en-US" dirty="0"/>
          </a:p>
        </p:txBody>
      </p:sp>
    </p:spTree>
    <p:extLst>
      <p:ext uri="{BB962C8B-B14F-4D97-AF65-F5344CB8AC3E}">
        <p14:creationId xmlns:p14="http://schemas.microsoft.com/office/powerpoint/2010/main" val="30251523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normAutofit fontScale="92500"/>
          </a:bodyPr>
          <a:lstStyle/>
          <a:p>
            <a:pPr>
              <a:buFont typeface="Arial" pitchFamily="34" charset="0"/>
              <a:buChar char="•"/>
            </a:pPr>
            <a:r>
              <a:rPr lang="en-US" dirty="0"/>
              <a:t>The neurologist, the orthopedist, the hematologist, and the dermatologist all have different views of the structure of a human body. </a:t>
            </a:r>
          </a:p>
          <a:p>
            <a:pPr>
              <a:buFont typeface="Arial" pitchFamily="34" charset="0"/>
              <a:buChar char="•"/>
            </a:pPr>
            <a:r>
              <a:rPr lang="en-US" dirty="0"/>
              <a:t>Ophthalmologists, cardiologists, and podiatrists concentrate on specific subsystems. </a:t>
            </a:r>
          </a:p>
          <a:p>
            <a:pPr>
              <a:buFont typeface="Arial" pitchFamily="34" charset="0"/>
              <a:buChar char="•"/>
            </a:pPr>
            <a:r>
              <a:rPr lang="en-US" dirty="0"/>
              <a:t>The </a:t>
            </a:r>
            <a:r>
              <a:rPr lang="en-US" dirty="0" err="1"/>
              <a:t>kinesiologist</a:t>
            </a:r>
            <a:r>
              <a:rPr lang="en-US" dirty="0"/>
              <a:t> and psychiatrist are concerned with different aspects of the entire arrangement’s behavior. </a:t>
            </a:r>
          </a:p>
          <a:p>
            <a:pPr>
              <a:buFont typeface="Arial" pitchFamily="34" charset="0"/>
              <a:buChar char="•"/>
            </a:pPr>
            <a:r>
              <a:rPr lang="en-US" dirty="0"/>
              <a:t>Although these views are pictured differently and have different properties, all are inherently related, interconnected.</a:t>
            </a:r>
          </a:p>
          <a:p>
            <a:pPr>
              <a:buFont typeface="Arial" pitchFamily="34" charset="0"/>
              <a:buChar char="•"/>
            </a:pPr>
            <a:r>
              <a:rPr lang="en-US" dirty="0"/>
              <a:t>Together they describe the architecture of the human body.</a:t>
            </a:r>
          </a:p>
          <a:p>
            <a:pPr>
              <a:buFont typeface="Arial" pitchFamily="34" charset="0"/>
              <a:buChar char="•"/>
            </a:pPr>
            <a:r>
              <a:rPr lang="en-US" dirty="0"/>
              <a:t>So it is with software!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Physiological Structures</a:t>
            </a:r>
          </a:p>
        </p:txBody>
      </p:sp>
      <p:sp>
        <p:nvSpPr>
          <p:cNvPr id="2" name="Date Placeholder 1">
            <a:extLst>
              <a:ext uri="{FF2B5EF4-FFF2-40B4-BE49-F238E27FC236}">
                <a16:creationId xmlns:a16="http://schemas.microsoft.com/office/drawing/2014/main" id="{572421D2-731C-4A43-BFD8-CAF286E40334}"/>
              </a:ext>
            </a:extLst>
          </p:cNvPr>
          <p:cNvSpPr>
            <a:spLocks noGrp="1"/>
          </p:cNvSpPr>
          <p:nvPr>
            <p:ph type="dt" sz="half" idx="12"/>
          </p:nvPr>
        </p:nvSpPr>
        <p:spPr/>
        <p:txBody>
          <a:bodyPr/>
          <a:lstStyle/>
          <a:p>
            <a:r>
              <a:rPr lang="en-US"/>
              <a:t>July 25, 2026</a:t>
            </a:r>
          </a:p>
        </p:txBody>
      </p:sp>
      <p:sp>
        <p:nvSpPr>
          <p:cNvPr id="3" name="Slide Number Placeholder 2">
            <a:extLst>
              <a:ext uri="{FF2B5EF4-FFF2-40B4-BE49-F238E27FC236}">
                <a16:creationId xmlns:a16="http://schemas.microsoft.com/office/drawing/2014/main" id="{2F1D5D70-11C7-477D-810B-5A5DCAEE2874}"/>
              </a:ext>
            </a:extLst>
          </p:cNvPr>
          <p:cNvSpPr>
            <a:spLocks noGrp="1"/>
          </p:cNvSpPr>
          <p:nvPr>
            <p:ph type="sldNum" sz="quarter" idx="14"/>
          </p:nvPr>
        </p:nvSpPr>
        <p:spPr/>
        <p:txBody>
          <a:bodyPr/>
          <a:lstStyle/>
          <a:p>
            <a:fld id="{BC8D7E44-7D4F-4942-A8C9-2DF6BF8399E8}" type="slidenum">
              <a:rPr lang="en-US" smtClean="0"/>
              <a:pPr/>
              <a:t>58</a:t>
            </a:fld>
            <a:endParaRPr lang="en-US" dirty="0"/>
          </a:p>
        </p:txBody>
      </p:sp>
    </p:spTree>
    <p:extLst>
      <p:ext uri="{BB962C8B-B14F-4D97-AF65-F5344CB8AC3E}">
        <p14:creationId xmlns:p14="http://schemas.microsoft.com/office/powerpoint/2010/main" val="19610783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dirty="0"/>
              <a:t>SEZG651/SSZG653 Software Architectures</a:t>
            </a:r>
          </a:p>
        </p:txBody>
      </p:sp>
      <p:sp>
        <p:nvSpPr>
          <p:cNvPr id="9" name="Title 1"/>
          <p:cNvSpPr>
            <a:spLocks noGrp="1"/>
          </p:cNvSpPr>
          <p:nvPr>
            <p:ph sz="quarter" idx="10"/>
          </p:nvPr>
        </p:nvSpPr>
        <p:spPr/>
        <p:txBody>
          <a:bodyPr/>
          <a:lstStyle/>
          <a:p>
            <a:r>
              <a:rPr lang="en-US" dirty="0"/>
              <a:t>Physiological Structures</a:t>
            </a:r>
          </a:p>
        </p:txBody>
      </p:sp>
      <p:pic>
        <p:nvPicPr>
          <p:cNvPr id="10" name="Content Placeholder 9" descr="phys.tiff"/>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46069" y="1493838"/>
            <a:ext cx="6147062" cy="4525962"/>
          </a:xfrm>
          <a:prstGeom prst="rect">
            <a:avLst/>
          </a:prstGeom>
        </p:spPr>
      </p:pic>
      <p:sp>
        <p:nvSpPr>
          <p:cNvPr id="2" name="Date Placeholder 1">
            <a:extLst>
              <a:ext uri="{FF2B5EF4-FFF2-40B4-BE49-F238E27FC236}">
                <a16:creationId xmlns:a16="http://schemas.microsoft.com/office/drawing/2014/main" id="{18F2A897-7313-4DF3-AC01-AEB739F4C381}"/>
              </a:ext>
            </a:extLst>
          </p:cNvPr>
          <p:cNvSpPr>
            <a:spLocks noGrp="1"/>
          </p:cNvSpPr>
          <p:nvPr>
            <p:ph type="dt" sz="half" idx="12"/>
          </p:nvPr>
        </p:nvSpPr>
        <p:spPr/>
        <p:txBody>
          <a:bodyPr/>
          <a:lstStyle/>
          <a:p>
            <a:r>
              <a:rPr lang="en-US"/>
              <a:t>July 25, 2026</a:t>
            </a:r>
          </a:p>
        </p:txBody>
      </p:sp>
      <p:sp>
        <p:nvSpPr>
          <p:cNvPr id="3" name="Slide Number Placeholder 2">
            <a:extLst>
              <a:ext uri="{FF2B5EF4-FFF2-40B4-BE49-F238E27FC236}">
                <a16:creationId xmlns:a16="http://schemas.microsoft.com/office/drawing/2014/main" id="{3A99C07E-F908-46B5-8A84-FE3CF607A2F7}"/>
              </a:ext>
            </a:extLst>
          </p:cNvPr>
          <p:cNvSpPr>
            <a:spLocks noGrp="1"/>
          </p:cNvSpPr>
          <p:nvPr>
            <p:ph type="sldNum" sz="quarter" idx="14"/>
          </p:nvPr>
        </p:nvSpPr>
        <p:spPr/>
        <p:txBody>
          <a:bodyPr/>
          <a:lstStyle/>
          <a:p>
            <a:fld id="{BC8D7E44-7D4F-4942-A8C9-2DF6BF8399E8}" type="slidenum">
              <a:rPr lang="en-US" smtClean="0"/>
              <a:pPr/>
              <a:t>59</a:t>
            </a:fld>
            <a:endParaRPr lang="en-US" dirty="0"/>
          </a:p>
        </p:txBody>
      </p:sp>
    </p:spTree>
    <p:extLst>
      <p:ext uri="{BB962C8B-B14F-4D97-AF65-F5344CB8AC3E}">
        <p14:creationId xmlns:p14="http://schemas.microsoft.com/office/powerpoint/2010/main" val="12450316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dirty="0"/>
              <a:t>A </a:t>
            </a:r>
            <a:r>
              <a:rPr lang="en-US" i="1" dirty="0"/>
              <a:t>view</a:t>
            </a:r>
            <a:r>
              <a:rPr lang="en-US" dirty="0"/>
              <a:t> is a representation of a coherent set of architectural elements, as written by and read by system stakeholders. </a:t>
            </a:r>
          </a:p>
          <a:p>
            <a:pPr lvl="1"/>
            <a:r>
              <a:rPr lang="en-US" dirty="0"/>
              <a:t>A view consists of a representation of a set of elements and the relations among them.</a:t>
            </a:r>
          </a:p>
          <a:p>
            <a:pPr>
              <a:buFont typeface="Arial" pitchFamily="34" charset="0"/>
              <a:buChar char="•"/>
            </a:pPr>
            <a:r>
              <a:rPr lang="en-US" dirty="0"/>
              <a:t>A </a:t>
            </a:r>
            <a:r>
              <a:rPr lang="en-US" i="1" dirty="0"/>
              <a:t>structure</a:t>
            </a:r>
            <a:r>
              <a:rPr lang="en-US" dirty="0"/>
              <a:t> is the set of elements itself, as they exist in software or hardware.</a:t>
            </a:r>
          </a:p>
          <a:p>
            <a:pPr>
              <a:buFont typeface="Arial" pitchFamily="34" charset="0"/>
              <a:buChar char="•"/>
            </a:pPr>
            <a:r>
              <a:rPr lang="en-US" dirty="0"/>
              <a:t>In short, a view is a representation of a structure. </a:t>
            </a:r>
          </a:p>
          <a:p>
            <a:pPr lvl="1"/>
            <a:r>
              <a:rPr lang="en-US" dirty="0"/>
              <a:t>For example, a module </a:t>
            </a:r>
            <a:r>
              <a:rPr lang="en-US" i="1" dirty="0"/>
              <a:t>structure</a:t>
            </a:r>
            <a:r>
              <a:rPr lang="en-US" dirty="0"/>
              <a:t> is the set of the system’s modules and their organization. </a:t>
            </a:r>
          </a:p>
          <a:p>
            <a:pPr lvl="1"/>
            <a:r>
              <a:rPr lang="en-US" dirty="0"/>
              <a:t>A module </a:t>
            </a:r>
            <a:r>
              <a:rPr lang="en-US" i="1" dirty="0"/>
              <a:t>view</a:t>
            </a:r>
            <a:r>
              <a:rPr lang="en-US" dirty="0"/>
              <a:t> is the representation of that structure, documented according to a template in a chosen notation, and used by some system stakeholders.</a:t>
            </a:r>
          </a:p>
          <a:p>
            <a:pPr>
              <a:buFont typeface="Arial" pitchFamily="34" charset="0"/>
              <a:buChar char="•"/>
            </a:pPr>
            <a:r>
              <a:rPr lang="en-US" dirty="0"/>
              <a:t>Architects design structures. They document views of those structures.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Structures and Views</a:t>
            </a:r>
          </a:p>
        </p:txBody>
      </p:sp>
      <p:sp>
        <p:nvSpPr>
          <p:cNvPr id="2" name="Date Placeholder 1">
            <a:extLst>
              <a:ext uri="{FF2B5EF4-FFF2-40B4-BE49-F238E27FC236}">
                <a16:creationId xmlns:a16="http://schemas.microsoft.com/office/drawing/2014/main" id="{4B300E3C-BDF4-48D3-A42D-4139C6B8033E}"/>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2FFBF936-7D41-4F9F-AA58-C55A48FC9210}"/>
              </a:ext>
            </a:extLst>
          </p:cNvPr>
          <p:cNvSpPr>
            <a:spLocks noGrp="1"/>
          </p:cNvSpPr>
          <p:nvPr>
            <p:ph type="sldNum" sz="quarter" idx="14"/>
          </p:nvPr>
        </p:nvSpPr>
        <p:spPr/>
        <p:txBody>
          <a:bodyPr/>
          <a:lstStyle/>
          <a:p>
            <a:fld id="{BC8D7E44-7D4F-4942-A8C9-2DF6BF8399E8}" type="slidenum">
              <a:rPr lang="en-US" smtClean="0"/>
              <a:pPr/>
              <a:t>60</a:t>
            </a:fld>
            <a:endParaRPr lang="en-US" dirty="0"/>
          </a:p>
        </p:txBody>
      </p:sp>
    </p:spTree>
    <p:extLst>
      <p:ext uri="{BB962C8B-B14F-4D97-AF65-F5344CB8AC3E}">
        <p14:creationId xmlns:p14="http://schemas.microsoft.com/office/powerpoint/2010/main" val="29071666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Font typeface="Arial" pitchFamily="34" charset="0"/>
              <a:buChar char="•"/>
            </a:pPr>
            <a:r>
              <a:rPr lang="en-US" dirty="0"/>
              <a:t>Module structures embody decisions as to how the system is to be structured as a set of code or data units that have to be constructed or procured. </a:t>
            </a:r>
          </a:p>
          <a:p>
            <a:pPr>
              <a:buFont typeface="Arial" pitchFamily="34" charset="0"/>
              <a:buChar char="•"/>
            </a:pPr>
            <a:r>
              <a:rPr lang="en-US" dirty="0"/>
              <a:t>In any module structure, the elements are modules of some kind (perhaps classes, or layers, or merely divisions of functionality, all of which are units of implementation). </a:t>
            </a:r>
          </a:p>
          <a:p>
            <a:pPr>
              <a:buFont typeface="Arial" pitchFamily="34" charset="0"/>
              <a:buChar char="•"/>
            </a:pPr>
            <a:r>
              <a:rPr lang="en-US" dirty="0"/>
              <a:t>Modules are assigned areas of functional responsibility; there is less emphasis in these structures on how the software manifests at runtime. </a:t>
            </a:r>
          </a:p>
          <a:p>
            <a:pPr>
              <a:buFont typeface="Arial" pitchFamily="34" charset="0"/>
              <a:buChar char="•"/>
            </a:pPr>
            <a:r>
              <a:rPr lang="en-US" dirty="0"/>
              <a:t>Module structures allow us to answer questions such as these:</a:t>
            </a:r>
          </a:p>
          <a:p>
            <a:pPr lvl="1"/>
            <a:r>
              <a:rPr lang="en-US" dirty="0"/>
              <a:t>What is the primary functional responsibility assigned to each module?</a:t>
            </a:r>
          </a:p>
          <a:p>
            <a:pPr lvl="1"/>
            <a:r>
              <a:rPr lang="en-US" dirty="0"/>
              <a:t>What other software elements is a module allowed to use?</a:t>
            </a:r>
          </a:p>
          <a:p>
            <a:pPr lvl="1"/>
            <a:r>
              <a:rPr lang="en-US" dirty="0"/>
              <a:t>What other software does it actually use and depend on?</a:t>
            </a:r>
          </a:p>
          <a:p>
            <a:pPr lvl="1"/>
            <a:r>
              <a:rPr lang="en-US" dirty="0"/>
              <a:t>What modules are related to other modules by generalization or specialization (i.e., inheritance) relationships?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Module Structures</a:t>
            </a:r>
          </a:p>
        </p:txBody>
      </p:sp>
      <p:sp>
        <p:nvSpPr>
          <p:cNvPr id="2" name="Date Placeholder 1">
            <a:extLst>
              <a:ext uri="{FF2B5EF4-FFF2-40B4-BE49-F238E27FC236}">
                <a16:creationId xmlns:a16="http://schemas.microsoft.com/office/drawing/2014/main" id="{68EA936B-A6CB-4F53-9213-60662EBAE35B}"/>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F60B4862-F7C3-409E-B316-AA0A6BAF3B11}"/>
              </a:ext>
            </a:extLst>
          </p:cNvPr>
          <p:cNvSpPr>
            <a:spLocks noGrp="1"/>
          </p:cNvSpPr>
          <p:nvPr>
            <p:ph type="sldNum" sz="quarter" idx="14"/>
          </p:nvPr>
        </p:nvSpPr>
        <p:spPr/>
        <p:txBody>
          <a:bodyPr/>
          <a:lstStyle/>
          <a:p>
            <a:fld id="{BC8D7E44-7D4F-4942-A8C9-2DF6BF8399E8}" type="slidenum">
              <a:rPr lang="en-US" smtClean="0"/>
              <a:pPr/>
              <a:t>61</a:t>
            </a:fld>
            <a:endParaRPr lang="en-US" dirty="0"/>
          </a:p>
        </p:txBody>
      </p:sp>
    </p:spTree>
    <p:extLst>
      <p:ext uri="{BB962C8B-B14F-4D97-AF65-F5344CB8AC3E}">
        <p14:creationId xmlns:p14="http://schemas.microsoft.com/office/powerpoint/2010/main" val="8740753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Font typeface="Arial" pitchFamily="34" charset="0"/>
              <a:buChar char="•"/>
            </a:pPr>
            <a:r>
              <a:rPr lang="en-US" sz="2000" dirty="0"/>
              <a:t>Component-and-connector structures embody decisions as to how the system is to be structured as a set of elements that have runtime behavior (components) and interactions (connectors). </a:t>
            </a:r>
          </a:p>
          <a:p>
            <a:pPr>
              <a:buFont typeface="Arial" pitchFamily="34" charset="0"/>
              <a:buChar char="•"/>
            </a:pPr>
            <a:r>
              <a:rPr lang="pl-PL" sz="2000" dirty="0" err="1"/>
              <a:t>Elements</a:t>
            </a:r>
            <a:r>
              <a:rPr lang="pl-PL" sz="2000" dirty="0"/>
              <a:t> </a:t>
            </a:r>
            <a:r>
              <a:rPr lang="pl-PL" sz="2000" dirty="0" err="1"/>
              <a:t>are</a:t>
            </a:r>
            <a:r>
              <a:rPr lang="pl-PL" sz="2000" dirty="0"/>
              <a:t> </a:t>
            </a:r>
            <a:r>
              <a:rPr lang="pl-PL" sz="2000" dirty="0" err="1"/>
              <a:t>runtime</a:t>
            </a:r>
            <a:r>
              <a:rPr lang="pl-PL" sz="2000" dirty="0"/>
              <a:t> </a:t>
            </a:r>
            <a:r>
              <a:rPr lang="pl-PL" sz="2000" dirty="0" err="1"/>
              <a:t>comopnents</a:t>
            </a:r>
            <a:r>
              <a:rPr lang="pl-PL" sz="2000" dirty="0"/>
              <a:t> </a:t>
            </a:r>
            <a:r>
              <a:rPr lang="pl-PL" sz="2000" dirty="0" err="1"/>
              <a:t>such</a:t>
            </a:r>
            <a:r>
              <a:rPr lang="pl-PL" sz="2000" dirty="0"/>
              <a:t> as services, </a:t>
            </a:r>
            <a:r>
              <a:rPr lang="pl-PL" sz="2000" dirty="0" err="1"/>
              <a:t>peers</a:t>
            </a:r>
            <a:r>
              <a:rPr lang="pl-PL" sz="2000" dirty="0"/>
              <a:t>, </a:t>
            </a:r>
            <a:r>
              <a:rPr lang="pl-PL" sz="2000" dirty="0" err="1"/>
              <a:t>clients</a:t>
            </a:r>
            <a:r>
              <a:rPr lang="pl-PL" sz="2000" dirty="0"/>
              <a:t>, </a:t>
            </a:r>
            <a:r>
              <a:rPr lang="pl-PL" sz="2000" dirty="0" err="1"/>
              <a:t>servers</a:t>
            </a:r>
            <a:r>
              <a:rPr lang="pl-PL" sz="2000" dirty="0"/>
              <a:t>, </a:t>
            </a:r>
            <a:r>
              <a:rPr lang="pl-PL" sz="2000" dirty="0" err="1"/>
              <a:t>filters</a:t>
            </a:r>
            <a:r>
              <a:rPr lang="pl-PL" sz="2000" dirty="0"/>
              <a:t>, </a:t>
            </a:r>
            <a:r>
              <a:rPr lang="pl-PL" sz="2000" dirty="0" err="1"/>
              <a:t>or</a:t>
            </a:r>
            <a:r>
              <a:rPr lang="pl-PL" sz="2000" dirty="0"/>
              <a:t> </a:t>
            </a:r>
            <a:r>
              <a:rPr lang="pl-PL" sz="2000" dirty="0" err="1"/>
              <a:t>many</a:t>
            </a:r>
            <a:r>
              <a:rPr lang="pl-PL" sz="2000" dirty="0"/>
              <a:t> </a:t>
            </a:r>
            <a:r>
              <a:rPr lang="pl-PL" sz="2000" dirty="0" err="1"/>
              <a:t>other</a:t>
            </a:r>
            <a:r>
              <a:rPr lang="pl-PL" sz="2000" dirty="0"/>
              <a:t> </a:t>
            </a:r>
            <a:r>
              <a:rPr lang="pl-PL" sz="2000" dirty="0" err="1"/>
              <a:t>types</a:t>
            </a:r>
            <a:r>
              <a:rPr lang="pl-PL" sz="2000" dirty="0"/>
              <a:t> of </a:t>
            </a:r>
            <a:r>
              <a:rPr lang="pl-PL" sz="2000" dirty="0" err="1"/>
              <a:t>runtime</a:t>
            </a:r>
            <a:r>
              <a:rPr lang="pl-PL" sz="2000" dirty="0"/>
              <a:t> element) </a:t>
            </a:r>
          </a:p>
          <a:p>
            <a:pPr>
              <a:buFont typeface="Arial" pitchFamily="34" charset="0"/>
              <a:buChar char="•"/>
            </a:pPr>
            <a:r>
              <a:rPr lang="pl-PL" sz="2000" dirty="0" err="1"/>
              <a:t>Connectors</a:t>
            </a:r>
            <a:r>
              <a:rPr lang="pl-PL" sz="2000" dirty="0"/>
              <a:t> </a:t>
            </a:r>
            <a:r>
              <a:rPr lang="pl-PL" sz="2000" dirty="0" err="1"/>
              <a:t>are</a:t>
            </a:r>
            <a:r>
              <a:rPr lang="pl-PL" sz="2000" dirty="0"/>
              <a:t> the </a:t>
            </a:r>
            <a:r>
              <a:rPr lang="pl-PL" sz="2000" dirty="0" err="1"/>
              <a:t>communication</a:t>
            </a:r>
            <a:r>
              <a:rPr lang="pl-PL" sz="2000" dirty="0"/>
              <a:t> </a:t>
            </a:r>
            <a:r>
              <a:rPr lang="pl-PL" sz="2000" dirty="0" err="1"/>
              <a:t>vehicles</a:t>
            </a:r>
            <a:r>
              <a:rPr lang="pl-PL" sz="2000" dirty="0"/>
              <a:t> </a:t>
            </a:r>
            <a:r>
              <a:rPr lang="pl-PL" sz="2000" dirty="0" err="1"/>
              <a:t>among</a:t>
            </a:r>
            <a:r>
              <a:rPr lang="pl-PL" sz="2000" dirty="0"/>
              <a:t> </a:t>
            </a:r>
            <a:r>
              <a:rPr lang="pl-PL" sz="2000" dirty="0" err="1"/>
              <a:t>components</a:t>
            </a:r>
            <a:r>
              <a:rPr lang="pl-PL" sz="2000" dirty="0"/>
              <a:t>, </a:t>
            </a:r>
            <a:r>
              <a:rPr lang="pl-PL" sz="2000" dirty="0" err="1"/>
              <a:t>such</a:t>
            </a:r>
            <a:r>
              <a:rPr lang="pl-PL" sz="2000" dirty="0"/>
              <a:t> as </a:t>
            </a:r>
            <a:r>
              <a:rPr lang="pl-PL" sz="2000" dirty="0" err="1"/>
              <a:t>call</a:t>
            </a:r>
            <a:r>
              <a:rPr lang="pl-PL" sz="2000" dirty="0"/>
              <a:t>-return, </a:t>
            </a:r>
            <a:r>
              <a:rPr lang="pl-PL" sz="2000" dirty="0" err="1"/>
              <a:t>process</a:t>
            </a:r>
            <a:r>
              <a:rPr lang="pl-PL" sz="2000" dirty="0"/>
              <a:t> </a:t>
            </a:r>
            <a:r>
              <a:rPr lang="pl-PL" sz="2000" dirty="0" err="1"/>
              <a:t>synchronization</a:t>
            </a:r>
            <a:r>
              <a:rPr lang="pl-PL" sz="2000" dirty="0"/>
              <a:t> </a:t>
            </a:r>
            <a:r>
              <a:rPr lang="pl-PL" sz="2000" dirty="0" err="1"/>
              <a:t>operators</a:t>
            </a:r>
            <a:r>
              <a:rPr lang="pl-PL" sz="2000" dirty="0"/>
              <a:t>, </a:t>
            </a:r>
            <a:r>
              <a:rPr lang="pl-PL" sz="2000" dirty="0" err="1"/>
              <a:t>pipes</a:t>
            </a:r>
            <a:r>
              <a:rPr lang="pl-PL" sz="2000" dirty="0"/>
              <a:t>, </a:t>
            </a:r>
            <a:r>
              <a:rPr lang="pl-PL" sz="2000" dirty="0" err="1"/>
              <a:t>or</a:t>
            </a:r>
            <a:r>
              <a:rPr lang="pl-PL" sz="2000" dirty="0"/>
              <a:t> </a:t>
            </a:r>
            <a:r>
              <a:rPr lang="pl-PL" sz="2000" dirty="0" err="1"/>
              <a:t>others</a:t>
            </a:r>
            <a:r>
              <a:rPr lang="pl-PL" sz="2000" dirty="0"/>
              <a:t>. </a:t>
            </a:r>
          </a:p>
          <a:p>
            <a:pPr>
              <a:buFont typeface="Arial" pitchFamily="34" charset="0"/>
              <a:buChar char="•"/>
            </a:pPr>
            <a:r>
              <a:rPr lang="pl-PL" sz="2000" dirty="0"/>
              <a:t>Component-and-</a:t>
            </a:r>
            <a:r>
              <a:rPr lang="pl-PL" sz="2000" dirty="0" err="1"/>
              <a:t>connector</a:t>
            </a:r>
            <a:r>
              <a:rPr lang="pl-PL" sz="2000" dirty="0"/>
              <a:t> </a:t>
            </a:r>
            <a:r>
              <a:rPr lang="pl-PL" sz="2000" dirty="0" err="1"/>
              <a:t>views</a:t>
            </a:r>
            <a:r>
              <a:rPr lang="pl-PL" sz="2000" dirty="0"/>
              <a:t> </a:t>
            </a:r>
            <a:r>
              <a:rPr lang="pl-PL" sz="2000" dirty="0" err="1"/>
              <a:t>help</a:t>
            </a:r>
            <a:r>
              <a:rPr lang="pl-PL" sz="2000" dirty="0"/>
              <a:t> </a:t>
            </a:r>
            <a:r>
              <a:rPr lang="pl-PL" sz="2000" dirty="0" err="1"/>
              <a:t>us</a:t>
            </a:r>
            <a:r>
              <a:rPr lang="pl-PL" sz="2000" dirty="0"/>
              <a:t> </a:t>
            </a:r>
            <a:r>
              <a:rPr lang="pl-PL" sz="2000" dirty="0" err="1"/>
              <a:t>answer</a:t>
            </a:r>
            <a:r>
              <a:rPr lang="pl-PL" sz="2000" dirty="0"/>
              <a:t> </a:t>
            </a:r>
            <a:r>
              <a:rPr lang="pl-PL" sz="2000" dirty="0" err="1"/>
              <a:t>questions</a:t>
            </a:r>
            <a:r>
              <a:rPr lang="pl-PL" sz="2000" dirty="0"/>
              <a:t> </a:t>
            </a:r>
            <a:r>
              <a:rPr lang="pl-PL" sz="2000" dirty="0" err="1"/>
              <a:t>such</a:t>
            </a:r>
            <a:r>
              <a:rPr lang="pl-PL" sz="2000" dirty="0"/>
              <a:t> as </a:t>
            </a:r>
            <a:r>
              <a:rPr lang="pl-PL" sz="2000" dirty="0" err="1"/>
              <a:t>these</a:t>
            </a:r>
            <a:r>
              <a:rPr lang="pl-PL" sz="2000" dirty="0"/>
              <a:t>:</a:t>
            </a:r>
          </a:p>
          <a:p>
            <a:pPr lvl="1"/>
            <a:r>
              <a:rPr lang="pl-PL" sz="1600" dirty="0" err="1"/>
              <a:t>What</a:t>
            </a:r>
            <a:r>
              <a:rPr lang="pl-PL" sz="1600" dirty="0"/>
              <a:t> </a:t>
            </a:r>
            <a:r>
              <a:rPr lang="pl-PL" sz="1600" dirty="0" err="1"/>
              <a:t>are</a:t>
            </a:r>
            <a:r>
              <a:rPr lang="pl-PL" sz="1600" dirty="0"/>
              <a:t> the major </a:t>
            </a:r>
            <a:r>
              <a:rPr lang="pl-PL" sz="1600" dirty="0" err="1"/>
              <a:t>executing</a:t>
            </a:r>
            <a:r>
              <a:rPr lang="pl-PL" sz="1600" dirty="0"/>
              <a:t> </a:t>
            </a:r>
            <a:r>
              <a:rPr lang="pl-PL" sz="1600" dirty="0" err="1"/>
              <a:t>components</a:t>
            </a:r>
            <a:r>
              <a:rPr lang="pl-PL" sz="1600" dirty="0"/>
              <a:t> and </a:t>
            </a:r>
            <a:r>
              <a:rPr lang="pl-PL" sz="1600" dirty="0" err="1"/>
              <a:t>how</a:t>
            </a:r>
            <a:r>
              <a:rPr lang="pl-PL" sz="1600" dirty="0"/>
              <a:t> do </a:t>
            </a:r>
            <a:r>
              <a:rPr lang="pl-PL" sz="1600" dirty="0" err="1"/>
              <a:t>they</a:t>
            </a:r>
            <a:r>
              <a:rPr lang="pl-PL" sz="1600" dirty="0"/>
              <a:t> </a:t>
            </a:r>
            <a:r>
              <a:rPr lang="pl-PL" sz="1600" dirty="0" err="1"/>
              <a:t>interact</a:t>
            </a:r>
            <a:r>
              <a:rPr lang="pl-PL" sz="1600" dirty="0"/>
              <a:t> </a:t>
            </a:r>
            <a:r>
              <a:rPr lang="pl-PL" sz="1600" dirty="0" err="1"/>
              <a:t>at</a:t>
            </a:r>
            <a:r>
              <a:rPr lang="pl-PL" sz="1600" dirty="0"/>
              <a:t> </a:t>
            </a:r>
            <a:r>
              <a:rPr lang="pl-PL" sz="1600" dirty="0" err="1"/>
              <a:t>runtime</a:t>
            </a:r>
            <a:r>
              <a:rPr lang="pl-PL" sz="1600" dirty="0"/>
              <a:t>?</a:t>
            </a:r>
          </a:p>
          <a:p>
            <a:pPr lvl="1"/>
            <a:r>
              <a:rPr lang="pl-PL" sz="1600" dirty="0" err="1"/>
              <a:t>What</a:t>
            </a:r>
            <a:r>
              <a:rPr lang="pl-PL" sz="1600" dirty="0"/>
              <a:t> </a:t>
            </a:r>
            <a:r>
              <a:rPr lang="pl-PL" sz="1600" dirty="0" err="1"/>
              <a:t>are</a:t>
            </a:r>
            <a:r>
              <a:rPr lang="pl-PL" sz="1600" dirty="0"/>
              <a:t> the major </a:t>
            </a:r>
            <a:r>
              <a:rPr lang="pl-PL" sz="1600" dirty="0" err="1"/>
              <a:t>shared</a:t>
            </a:r>
            <a:r>
              <a:rPr lang="pl-PL" sz="1600" dirty="0"/>
              <a:t> data stores?</a:t>
            </a:r>
          </a:p>
          <a:p>
            <a:pPr lvl="1"/>
            <a:r>
              <a:rPr lang="pl-PL" sz="1600" dirty="0" err="1"/>
              <a:t>Which</a:t>
            </a:r>
            <a:r>
              <a:rPr lang="pl-PL" sz="1600" dirty="0"/>
              <a:t> </a:t>
            </a:r>
            <a:r>
              <a:rPr lang="pl-PL" sz="1600" dirty="0" err="1"/>
              <a:t>parts</a:t>
            </a:r>
            <a:r>
              <a:rPr lang="pl-PL" sz="1600" dirty="0"/>
              <a:t> of the system </a:t>
            </a:r>
            <a:r>
              <a:rPr lang="pl-PL" sz="1600" dirty="0" err="1"/>
              <a:t>are</a:t>
            </a:r>
            <a:r>
              <a:rPr lang="pl-PL" sz="1600" dirty="0"/>
              <a:t> </a:t>
            </a:r>
            <a:r>
              <a:rPr lang="pl-PL" sz="1600" dirty="0" err="1"/>
              <a:t>replicated</a:t>
            </a:r>
            <a:r>
              <a:rPr lang="pl-PL" sz="1600" dirty="0"/>
              <a:t>?</a:t>
            </a:r>
          </a:p>
          <a:p>
            <a:pPr lvl="1"/>
            <a:r>
              <a:rPr lang="pl-PL" sz="1600" dirty="0"/>
              <a:t>How </a:t>
            </a:r>
            <a:r>
              <a:rPr lang="pl-PL" sz="1600" dirty="0" err="1"/>
              <a:t>does</a:t>
            </a:r>
            <a:r>
              <a:rPr lang="pl-PL" sz="1600" dirty="0"/>
              <a:t> data </a:t>
            </a:r>
            <a:r>
              <a:rPr lang="pl-PL" sz="1600" dirty="0" err="1"/>
              <a:t>progress</a:t>
            </a:r>
            <a:r>
              <a:rPr lang="pl-PL" sz="1600" dirty="0"/>
              <a:t> </a:t>
            </a:r>
            <a:r>
              <a:rPr lang="pl-PL" sz="1600" dirty="0" err="1"/>
              <a:t>through</a:t>
            </a:r>
            <a:r>
              <a:rPr lang="pl-PL" sz="1600" dirty="0"/>
              <a:t> the system?</a:t>
            </a:r>
          </a:p>
          <a:p>
            <a:pPr lvl="1"/>
            <a:r>
              <a:rPr lang="pl-PL" sz="1600" dirty="0" err="1"/>
              <a:t>What</a:t>
            </a:r>
            <a:r>
              <a:rPr lang="pl-PL" sz="1600" dirty="0"/>
              <a:t> </a:t>
            </a:r>
            <a:r>
              <a:rPr lang="pl-PL" sz="1600" dirty="0" err="1"/>
              <a:t>parts</a:t>
            </a:r>
            <a:r>
              <a:rPr lang="pl-PL" sz="1600" dirty="0"/>
              <a:t> of the system </a:t>
            </a:r>
            <a:r>
              <a:rPr lang="pl-PL" sz="1600" dirty="0" err="1"/>
              <a:t>can</a:t>
            </a:r>
            <a:r>
              <a:rPr lang="pl-PL" sz="1600" dirty="0"/>
              <a:t> run in </a:t>
            </a:r>
            <a:r>
              <a:rPr lang="pl-PL" sz="1600" dirty="0" err="1"/>
              <a:t>parallel</a:t>
            </a:r>
            <a:r>
              <a:rPr lang="pl-PL" sz="1600" dirty="0"/>
              <a:t>?</a:t>
            </a:r>
          </a:p>
          <a:p>
            <a:pPr lvl="1"/>
            <a:r>
              <a:rPr lang="pl-PL" sz="1600" dirty="0" err="1"/>
              <a:t>Can</a:t>
            </a:r>
            <a:r>
              <a:rPr lang="pl-PL" sz="1600" dirty="0"/>
              <a:t> the </a:t>
            </a:r>
            <a:r>
              <a:rPr lang="pl-PL" sz="1600" dirty="0" err="1"/>
              <a:t>system’s</a:t>
            </a:r>
            <a:r>
              <a:rPr lang="pl-PL" sz="1600" dirty="0"/>
              <a:t> </a:t>
            </a:r>
            <a:r>
              <a:rPr lang="pl-PL" sz="1600" dirty="0" err="1"/>
              <a:t>structure</a:t>
            </a:r>
            <a:r>
              <a:rPr lang="pl-PL" sz="1600" dirty="0"/>
              <a:t> </a:t>
            </a:r>
            <a:r>
              <a:rPr lang="pl-PL" sz="1600" dirty="0" err="1"/>
              <a:t>change</a:t>
            </a:r>
            <a:r>
              <a:rPr lang="pl-PL" sz="1600" dirty="0"/>
              <a:t> as </a:t>
            </a:r>
            <a:r>
              <a:rPr lang="pl-PL" sz="1600" dirty="0" err="1"/>
              <a:t>it</a:t>
            </a:r>
            <a:r>
              <a:rPr lang="pl-PL" sz="1600" dirty="0"/>
              <a:t> </a:t>
            </a:r>
            <a:r>
              <a:rPr lang="pl-PL" sz="1600" dirty="0" err="1"/>
              <a:t>executes</a:t>
            </a:r>
            <a:r>
              <a:rPr lang="pl-PL" sz="1600" dirty="0"/>
              <a:t> and, </a:t>
            </a:r>
            <a:r>
              <a:rPr lang="pl-PL" sz="1600" dirty="0" err="1"/>
              <a:t>if</a:t>
            </a:r>
            <a:r>
              <a:rPr lang="pl-PL" sz="1600" dirty="0"/>
              <a:t> </a:t>
            </a:r>
            <a:r>
              <a:rPr lang="pl-PL" sz="1600" dirty="0" err="1"/>
              <a:t>so</a:t>
            </a:r>
            <a:r>
              <a:rPr lang="pl-PL" sz="1600" dirty="0"/>
              <a:t>, </a:t>
            </a:r>
            <a:r>
              <a:rPr lang="pl-PL" sz="1600" dirty="0" err="1"/>
              <a:t>how</a:t>
            </a:r>
            <a:r>
              <a:rPr lang="pl-PL" sz="1600" dirty="0"/>
              <a:t>?</a:t>
            </a:r>
          </a:p>
          <a:p>
            <a:pPr>
              <a:buFont typeface="Arial" pitchFamily="34" charset="0"/>
              <a:buChar char="•"/>
            </a:pPr>
            <a:r>
              <a:rPr lang="pl-PL" sz="2000" dirty="0"/>
              <a:t>Component-and-</a:t>
            </a:r>
            <a:r>
              <a:rPr lang="pl-PL" sz="2000" dirty="0" err="1"/>
              <a:t>connector</a:t>
            </a:r>
            <a:r>
              <a:rPr lang="pl-PL" sz="2000" dirty="0"/>
              <a:t> </a:t>
            </a:r>
            <a:r>
              <a:rPr lang="pl-PL" sz="2000" dirty="0" err="1"/>
              <a:t>views</a:t>
            </a:r>
            <a:r>
              <a:rPr lang="pl-PL" sz="2000" dirty="0"/>
              <a:t> </a:t>
            </a:r>
            <a:r>
              <a:rPr lang="pl-PL" sz="2000" dirty="0" err="1"/>
              <a:t>are</a:t>
            </a:r>
            <a:r>
              <a:rPr lang="pl-PL" sz="2000" dirty="0"/>
              <a:t> </a:t>
            </a:r>
            <a:r>
              <a:rPr lang="pl-PL" sz="2000" dirty="0" err="1"/>
              <a:t>crucially</a:t>
            </a:r>
            <a:r>
              <a:rPr lang="pl-PL" sz="2000" dirty="0"/>
              <a:t> </a:t>
            </a:r>
            <a:r>
              <a:rPr lang="pl-PL" sz="2000" dirty="0" err="1"/>
              <a:t>important</a:t>
            </a:r>
            <a:r>
              <a:rPr lang="pl-PL" sz="2000" dirty="0"/>
              <a:t> for </a:t>
            </a:r>
            <a:r>
              <a:rPr lang="pl-PL" sz="2000" dirty="0" err="1"/>
              <a:t>asking</a:t>
            </a:r>
            <a:r>
              <a:rPr lang="pl-PL" sz="2000" dirty="0"/>
              <a:t> </a:t>
            </a:r>
            <a:r>
              <a:rPr lang="pl-PL" sz="2000" dirty="0" err="1"/>
              <a:t>questions</a:t>
            </a:r>
            <a:r>
              <a:rPr lang="pl-PL" sz="2000" dirty="0"/>
              <a:t> </a:t>
            </a:r>
            <a:r>
              <a:rPr lang="pl-PL" sz="2000" dirty="0" err="1"/>
              <a:t>about</a:t>
            </a:r>
            <a:r>
              <a:rPr lang="pl-PL" sz="2000" dirty="0"/>
              <a:t> the </a:t>
            </a:r>
            <a:r>
              <a:rPr lang="pl-PL" sz="2000" dirty="0" err="1"/>
              <a:t>system’s</a:t>
            </a:r>
            <a:r>
              <a:rPr lang="pl-PL" sz="2000" dirty="0"/>
              <a:t> </a:t>
            </a:r>
            <a:r>
              <a:rPr lang="pl-PL" sz="2000" dirty="0" err="1"/>
              <a:t>runtime</a:t>
            </a:r>
            <a:r>
              <a:rPr lang="pl-PL" sz="2000" dirty="0"/>
              <a:t> </a:t>
            </a:r>
            <a:r>
              <a:rPr lang="pl-PL" sz="2000" dirty="0" err="1"/>
              <a:t>properties</a:t>
            </a:r>
            <a:r>
              <a:rPr lang="pl-PL" sz="2000" dirty="0"/>
              <a:t> </a:t>
            </a:r>
            <a:r>
              <a:rPr lang="pl-PL" sz="2000" dirty="0" err="1"/>
              <a:t>such</a:t>
            </a:r>
            <a:r>
              <a:rPr lang="pl-PL" sz="2000" dirty="0"/>
              <a:t> as performance, </a:t>
            </a:r>
            <a:r>
              <a:rPr lang="pl-PL" sz="2000" dirty="0" err="1"/>
              <a:t>security</a:t>
            </a:r>
            <a:r>
              <a:rPr lang="pl-PL" sz="2000" dirty="0"/>
              <a:t>, </a:t>
            </a:r>
            <a:r>
              <a:rPr lang="pl-PL" sz="2000" dirty="0" err="1"/>
              <a:t>availability</a:t>
            </a:r>
            <a:r>
              <a:rPr lang="pl-PL" sz="2000" dirty="0"/>
              <a:t>, and </a:t>
            </a:r>
            <a:r>
              <a:rPr lang="pl-PL" sz="2000" dirty="0" err="1"/>
              <a:t>more</a:t>
            </a:r>
            <a:r>
              <a:rPr lang="pl-PL" sz="2000" dirty="0"/>
              <a:t>.</a:t>
            </a:r>
            <a:endParaRPr lang="en-US" sz="20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Component-and-connector Structures</a:t>
            </a:r>
          </a:p>
        </p:txBody>
      </p:sp>
      <p:sp>
        <p:nvSpPr>
          <p:cNvPr id="2" name="Date Placeholder 1">
            <a:extLst>
              <a:ext uri="{FF2B5EF4-FFF2-40B4-BE49-F238E27FC236}">
                <a16:creationId xmlns:a16="http://schemas.microsoft.com/office/drawing/2014/main" id="{AD7AE016-306D-4E70-B5CF-B5EAF48D9BC4}"/>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0FBBCB78-5C2E-4927-9C98-EB2081640F9B}"/>
              </a:ext>
            </a:extLst>
          </p:cNvPr>
          <p:cNvSpPr>
            <a:spLocks noGrp="1"/>
          </p:cNvSpPr>
          <p:nvPr>
            <p:ph type="sldNum" sz="quarter" idx="14"/>
          </p:nvPr>
        </p:nvSpPr>
        <p:spPr/>
        <p:txBody>
          <a:bodyPr/>
          <a:lstStyle/>
          <a:p>
            <a:fld id="{BC8D7E44-7D4F-4942-A8C9-2DF6BF8399E8}" type="slidenum">
              <a:rPr lang="en-US" smtClean="0"/>
              <a:pPr/>
              <a:t>62</a:t>
            </a:fld>
            <a:endParaRPr lang="en-US" dirty="0"/>
          </a:p>
        </p:txBody>
      </p:sp>
    </p:spTree>
    <p:extLst>
      <p:ext uri="{BB962C8B-B14F-4D97-AF65-F5344CB8AC3E}">
        <p14:creationId xmlns:p14="http://schemas.microsoft.com/office/powerpoint/2010/main" val="12165915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Allocation structures show the relationship between the software elements and elements in one or more external environments in which the software is created and executed. </a:t>
            </a:r>
          </a:p>
          <a:p>
            <a:pPr>
              <a:buFont typeface="Arial" pitchFamily="34" charset="0"/>
              <a:buChar char="•"/>
            </a:pPr>
            <a:r>
              <a:rPr lang="en-US" dirty="0"/>
              <a:t>Allocation views help us answer questions such as these:</a:t>
            </a:r>
          </a:p>
          <a:p>
            <a:pPr lvl="1"/>
            <a:r>
              <a:rPr lang="en-US" dirty="0"/>
              <a:t>What processor does each software element execute on?</a:t>
            </a:r>
          </a:p>
          <a:p>
            <a:pPr lvl="1"/>
            <a:r>
              <a:rPr lang="en-US" dirty="0"/>
              <a:t>In what directories or files is each element stored during development, testing, and system building?</a:t>
            </a:r>
          </a:p>
          <a:p>
            <a:pPr lvl="1"/>
            <a:r>
              <a:rPr lang="en-US" dirty="0"/>
              <a:t>What is the assignment of each software element to development teams?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Allocation structures</a:t>
            </a:r>
          </a:p>
        </p:txBody>
      </p:sp>
      <p:sp>
        <p:nvSpPr>
          <p:cNvPr id="2" name="Date Placeholder 1">
            <a:extLst>
              <a:ext uri="{FF2B5EF4-FFF2-40B4-BE49-F238E27FC236}">
                <a16:creationId xmlns:a16="http://schemas.microsoft.com/office/drawing/2014/main" id="{98C2B15C-E9CF-4C58-B678-BDE9CE1CEAE0}"/>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AC4B61D9-251C-44B3-B156-FC5BDFA43E17}"/>
              </a:ext>
            </a:extLst>
          </p:cNvPr>
          <p:cNvSpPr>
            <a:spLocks noGrp="1"/>
          </p:cNvSpPr>
          <p:nvPr>
            <p:ph type="sldNum" sz="quarter" idx="14"/>
          </p:nvPr>
        </p:nvSpPr>
        <p:spPr/>
        <p:txBody>
          <a:bodyPr/>
          <a:lstStyle/>
          <a:p>
            <a:fld id="{BC8D7E44-7D4F-4942-A8C9-2DF6BF8399E8}" type="slidenum">
              <a:rPr lang="en-US" smtClean="0"/>
              <a:pPr/>
              <a:t>63</a:t>
            </a:fld>
            <a:endParaRPr lang="en-US" dirty="0"/>
          </a:p>
        </p:txBody>
      </p:sp>
    </p:spTree>
    <p:extLst>
      <p:ext uri="{BB962C8B-B14F-4D97-AF65-F5344CB8AC3E}">
        <p14:creationId xmlns:p14="http://schemas.microsoft.com/office/powerpoint/2010/main" val="18267303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dirty="0"/>
              <a:t>Structures play such an important role in our perspective on software architecture because of the analytical and engineering power they hold. </a:t>
            </a:r>
          </a:p>
          <a:p>
            <a:pPr>
              <a:buFont typeface="Arial" pitchFamily="34" charset="0"/>
              <a:buChar char="•"/>
            </a:pPr>
            <a:r>
              <a:rPr lang="en-US" dirty="0"/>
              <a:t>Each structure provides a perspective for reasoning about some of the relevant quality attributes.</a:t>
            </a:r>
          </a:p>
          <a:p>
            <a:pPr>
              <a:buFont typeface="Arial" pitchFamily="34" charset="0"/>
              <a:buChar char="•"/>
            </a:pPr>
            <a:r>
              <a:rPr lang="en-US" dirty="0"/>
              <a:t>For example:</a:t>
            </a:r>
          </a:p>
          <a:p>
            <a:pPr lvl="1"/>
            <a:r>
              <a:rPr lang="en-US" dirty="0"/>
              <a:t>The module structure, which embodies what modules use what other modules, is strongly tied to the ease with which a system can be extended or contracted.</a:t>
            </a:r>
          </a:p>
          <a:p>
            <a:pPr lvl="1"/>
            <a:r>
              <a:rPr lang="en-US" dirty="0"/>
              <a:t>The concurrency structure, which embodies parallelism within the system, is strongly tied to the ease with which a system can be made free of deadlock and performance bottlenecks.</a:t>
            </a:r>
          </a:p>
          <a:p>
            <a:pPr lvl="1"/>
            <a:r>
              <a:rPr lang="en-US" dirty="0"/>
              <a:t>The deployment structure is strongly tied to the achievement of performance, availability, and security goals.</a:t>
            </a:r>
          </a:p>
          <a:p>
            <a:pPr lvl="1"/>
            <a:r>
              <a:rPr lang="pl-PL" dirty="0"/>
              <a:t>And </a:t>
            </a:r>
            <a:r>
              <a:rPr lang="pl-PL" dirty="0" err="1"/>
              <a:t>so</a:t>
            </a:r>
            <a:r>
              <a:rPr lang="pl-PL" dirty="0"/>
              <a:t> </a:t>
            </a:r>
            <a:r>
              <a:rPr lang="pl-PL" dirty="0" err="1"/>
              <a:t>forth</a:t>
            </a:r>
            <a:r>
              <a:rPr lang="pl-PL" dirty="0"/>
              <a:t>.</a:t>
            </a: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Structures Provide Insight</a:t>
            </a:r>
          </a:p>
        </p:txBody>
      </p:sp>
      <p:sp>
        <p:nvSpPr>
          <p:cNvPr id="2" name="Date Placeholder 1">
            <a:extLst>
              <a:ext uri="{FF2B5EF4-FFF2-40B4-BE49-F238E27FC236}">
                <a16:creationId xmlns:a16="http://schemas.microsoft.com/office/drawing/2014/main" id="{1777F4E2-F9D4-4BDC-8511-768100228F99}"/>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3FB8DE64-735A-4A85-B0AD-299494B59A66}"/>
              </a:ext>
            </a:extLst>
          </p:cNvPr>
          <p:cNvSpPr>
            <a:spLocks noGrp="1"/>
          </p:cNvSpPr>
          <p:nvPr>
            <p:ph type="sldNum" sz="quarter" idx="14"/>
          </p:nvPr>
        </p:nvSpPr>
        <p:spPr/>
        <p:txBody>
          <a:bodyPr/>
          <a:lstStyle/>
          <a:p>
            <a:fld id="{BC8D7E44-7D4F-4942-A8C9-2DF6BF8399E8}" type="slidenum">
              <a:rPr lang="en-US" smtClean="0"/>
              <a:pPr/>
              <a:t>64</a:t>
            </a:fld>
            <a:endParaRPr lang="en-US" dirty="0"/>
          </a:p>
        </p:txBody>
      </p:sp>
    </p:spTree>
    <p:extLst>
      <p:ext uri="{BB962C8B-B14F-4D97-AF65-F5344CB8AC3E}">
        <p14:creationId xmlns:p14="http://schemas.microsoft.com/office/powerpoint/2010/main" val="3059875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0" indent="0"/>
            <a:r>
              <a:rPr lang="en-US" dirty="0"/>
              <a:t>Decomposition structure</a:t>
            </a:r>
          </a:p>
          <a:p>
            <a:pPr>
              <a:buFont typeface="Arial" pitchFamily="34" charset="0"/>
              <a:buChar char="•"/>
            </a:pPr>
            <a:r>
              <a:rPr lang="en-US" dirty="0"/>
              <a:t>The units are modules that are related to each other by the </a:t>
            </a:r>
            <a:r>
              <a:rPr lang="en-US" i="1" dirty="0"/>
              <a:t>is-a-submodule-of</a:t>
            </a:r>
            <a:r>
              <a:rPr lang="en-US" dirty="0"/>
              <a:t> relation.</a:t>
            </a:r>
          </a:p>
          <a:p>
            <a:pPr>
              <a:buFont typeface="Arial" pitchFamily="34" charset="0"/>
              <a:buChar char="•"/>
            </a:pPr>
            <a:r>
              <a:rPr lang="en-US" dirty="0"/>
              <a:t>It shows how modules are decomposed into smaller modules recursively until the modules are small enough to be easily understood. </a:t>
            </a:r>
          </a:p>
          <a:p>
            <a:pPr>
              <a:buFont typeface="Arial" pitchFamily="34" charset="0"/>
              <a:buChar char="•"/>
            </a:pPr>
            <a:r>
              <a:rPr lang="en-US" dirty="0"/>
              <a:t>Modules often have products (such as interface specifications, code, test plans, etc.) associated with them. </a:t>
            </a:r>
          </a:p>
          <a:p>
            <a:pPr>
              <a:buFont typeface="Arial" pitchFamily="34" charset="0"/>
              <a:buChar char="•"/>
            </a:pPr>
            <a:r>
              <a:rPr lang="en-US" dirty="0"/>
              <a:t>The decomposition structure determines, to a large degree, the system’s modifiability, by assuring that likely changes are localized. </a:t>
            </a:r>
          </a:p>
          <a:p>
            <a:pPr>
              <a:buFont typeface="Arial" pitchFamily="34" charset="0"/>
              <a:buChar char="•"/>
            </a:pPr>
            <a:r>
              <a:rPr lang="en-US" dirty="0"/>
              <a:t>This structure is often used as the basis for the development project’s organization, including the structure of the documentation, and the project’s integration and test plans. </a:t>
            </a:r>
          </a:p>
          <a:p>
            <a:pPr>
              <a:buFont typeface="Arial" pitchFamily="34" charset="0"/>
              <a:buChar char="•"/>
            </a:pPr>
            <a:r>
              <a:rPr lang="en-US" dirty="0"/>
              <a:t>The units in this structure tend to have names that are organization-specific such as “segment” or “subsystem.”</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Some Useful Module Structures</a:t>
            </a:r>
          </a:p>
        </p:txBody>
      </p:sp>
      <p:sp>
        <p:nvSpPr>
          <p:cNvPr id="2" name="Date Placeholder 1">
            <a:extLst>
              <a:ext uri="{FF2B5EF4-FFF2-40B4-BE49-F238E27FC236}">
                <a16:creationId xmlns:a16="http://schemas.microsoft.com/office/drawing/2014/main" id="{89732765-8D1A-4F05-818E-672120E44215}"/>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7EFDD302-D3F5-4981-B862-0D612C7DD041}"/>
              </a:ext>
            </a:extLst>
          </p:cNvPr>
          <p:cNvSpPr>
            <a:spLocks noGrp="1"/>
          </p:cNvSpPr>
          <p:nvPr>
            <p:ph type="sldNum" sz="quarter" idx="14"/>
          </p:nvPr>
        </p:nvSpPr>
        <p:spPr/>
        <p:txBody>
          <a:bodyPr/>
          <a:lstStyle/>
          <a:p>
            <a:fld id="{BC8D7E44-7D4F-4942-A8C9-2DF6BF8399E8}" type="slidenum">
              <a:rPr lang="en-US" smtClean="0"/>
              <a:pPr/>
              <a:t>65</a:t>
            </a:fld>
            <a:endParaRPr lang="en-US" dirty="0"/>
          </a:p>
        </p:txBody>
      </p:sp>
    </p:spTree>
    <p:extLst>
      <p:ext uri="{BB962C8B-B14F-4D97-AF65-F5344CB8AC3E}">
        <p14:creationId xmlns:p14="http://schemas.microsoft.com/office/powerpoint/2010/main" val="28214666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buNone/>
            </a:pPr>
            <a:r>
              <a:rPr lang="en-US" dirty="0"/>
              <a:t>Uses structure. </a:t>
            </a:r>
          </a:p>
          <a:p>
            <a:pPr>
              <a:buFont typeface="Arial" pitchFamily="34" charset="0"/>
              <a:buChar char="•"/>
            </a:pPr>
            <a:r>
              <a:rPr lang="en-US" dirty="0"/>
              <a:t>The units here are also modules, perhaps classes. </a:t>
            </a:r>
          </a:p>
          <a:p>
            <a:pPr>
              <a:buFont typeface="Arial" pitchFamily="34" charset="0"/>
              <a:buChar char="•"/>
            </a:pPr>
            <a:r>
              <a:rPr lang="en-US" dirty="0"/>
              <a:t>The units are related by the </a:t>
            </a:r>
            <a:r>
              <a:rPr lang="en-US" i="1" dirty="0"/>
              <a:t>uses</a:t>
            </a:r>
            <a:r>
              <a:rPr lang="en-US" dirty="0"/>
              <a:t> relation, a specialized form of dependency. </a:t>
            </a:r>
          </a:p>
          <a:p>
            <a:pPr>
              <a:buFont typeface="Arial" pitchFamily="34" charset="0"/>
              <a:buChar char="•"/>
            </a:pPr>
            <a:r>
              <a:rPr lang="en-US" dirty="0"/>
              <a:t>A unit of software </a:t>
            </a:r>
            <a:r>
              <a:rPr lang="en-US" i="1" dirty="0"/>
              <a:t>uses</a:t>
            </a:r>
            <a:r>
              <a:rPr lang="en-US" dirty="0"/>
              <a:t> another if the correctness of the first requires the presence of a correctly functioning version (as opposed to a stub) of the second.</a:t>
            </a:r>
          </a:p>
          <a:p>
            <a:pPr>
              <a:buFont typeface="Arial" pitchFamily="34" charset="0"/>
              <a:buChar char="•"/>
            </a:pPr>
            <a:r>
              <a:rPr lang="en-US" dirty="0"/>
              <a:t>The uses structure is used to engineer systems that can be extended to add functionality, or from which useful functional subsets can be extracted. </a:t>
            </a:r>
          </a:p>
          <a:p>
            <a:pPr>
              <a:buFont typeface="Arial" pitchFamily="34" charset="0"/>
              <a:buChar char="•"/>
            </a:pPr>
            <a:r>
              <a:rPr lang="en-US" dirty="0"/>
              <a:t>The ability to easily create a subset of a system allows for incremental development.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Some Useful Module Structures</a:t>
            </a:r>
          </a:p>
        </p:txBody>
      </p:sp>
      <p:sp>
        <p:nvSpPr>
          <p:cNvPr id="2" name="Date Placeholder 1">
            <a:extLst>
              <a:ext uri="{FF2B5EF4-FFF2-40B4-BE49-F238E27FC236}">
                <a16:creationId xmlns:a16="http://schemas.microsoft.com/office/drawing/2014/main" id="{24971640-09CA-4866-B22C-F8CA67F3B61B}"/>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9208E157-085A-472F-82BC-F6DA2748ED2C}"/>
              </a:ext>
            </a:extLst>
          </p:cNvPr>
          <p:cNvSpPr>
            <a:spLocks noGrp="1"/>
          </p:cNvSpPr>
          <p:nvPr>
            <p:ph type="sldNum" sz="quarter" idx="14"/>
          </p:nvPr>
        </p:nvSpPr>
        <p:spPr/>
        <p:txBody>
          <a:bodyPr/>
          <a:lstStyle/>
          <a:p>
            <a:fld id="{BC8D7E44-7D4F-4942-A8C9-2DF6BF8399E8}" type="slidenum">
              <a:rPr lang="en-US" smtClean="0"/>
              <a:pPr/>
              <a:t>66</a:t>
            </a:fld>
            <a:endParaRPr lang="en-US" dirty="0"/>
          </a:p>
        </p:txBody>
      </p:sp>
    </p:spTree>
    <p:extLst>
      <p:ext uri="{BB962C8B-B14F-4D97-AF65-F5344CB8AC3E}">
        <p14:creationId xmlns:p14="http://schemas.microsoft.com/office/powerpoint/2010/main" val="9661807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pl-PL" dirty="0" err="1"/>
              <a:t>Layer</a:t>
            </a:r>
            <a:r>
              <a:rPr lang="pl-PL" dirty="0"/>
              <a:t> </a:t>
            </a:r>
            <a:r>
              <a:rPr lang="pl-PL" dirty="0" err="1"/>
              <a:t>structure</a:t>
            </a:r>
            <a:endParaRPr lang="pl-PL" dirty="0"/>
          </a:p>
          <a:p>
            <a:pPr>
              <a:buFont typeface="Arial" pitchFamily="34" charset="0"/>
              <a:buChar char="•"/>
            </a:pPr>
            <a:r>
              <a:rPr lang="pl-PL" dirty="0"/>
              <a:t>The </a:t>
            </a:r>
            <a:r>
              <a:rPr lang="pl-PL" dirty="0" err="1"/>
              <a:t>modules</a:t>
            </a:r>
            <a:r>
              <a:rPr lang="pl-PL" dirty="0"/>
              <a:t> in </a:t>
            </a:r>
            <a:r>
              <a:rPr lang="pl-PL" dirty="0" err="1"/>
              <a:t>this</a:t>
            </a:r>
            <a:r>
              <a:rPr lang="pl-PL" dirty="0"/>
              <a:t> </a:t>
            </a:r>
            <a:r>
              <a:rPr lang="pl-PL" dirty="0" err="1"/>
              <a:t>structure</a:t>
            </a:r>
            <a:r>
              <a:rPr lang="pl-PL" dirty="0"/>
              <a:t> </a:t>
            </a:r>
            <a:r>
              <a:rPr lang="pl-PL" dirty="0" err="1"/>
              <a:t>are</a:t>
            </a:r>
            <a:r>
              <a:rPr lang="pl-PL" dirty="0"/>
              <a:t> </a:t>
            </a:r>
            <a:r>
              <a:rPr lang="pl-PL" dirty="0" err="1"/>
              <a:t>called</a:t>
            </a:r>
            <a:r>
              <a:rPr lang="pl-PL" dirty="0"/>
              <a:t> </a:t>
            </a:r>
            <a:r>
              <a:rPr lang="pl-PL" i="1" dirty="0" err="1"/>
              <a:t>layers</a:t>
            </a:r>
            <a:r>
              <a:rPr lang="pl-PL" dirty="0"/>
              <a:t>. </a:t>
            </a:r>
          </a:p>
          <a:p>
            <a:pPr>
              <a:buFont typeface="Arial" pitchFamily="34" charset="0"/>
              <a:buChar char="•"/>
            </a:pPr>
            <a:r>
              <a:rPr lang="pl-PL" dirty="0"/>
              <a:t>A </a:t>
            </a:r>
            <a:r>
              <a:rPr lang="pl-PL" dirty="0" err="1"/>
              <a:t>layer</a:t>
            </a:r>
            <a:r>
              <a:rPr lang="pl-PL" dirty="0"/>
              <a:t> </a:t>
            </a:r>
            <a:r>
              <a:rPr lang="pl-PL" dirty="0" err="1"/>
              <a:t>is</a:t>
            </a:r>
            <a:r>
              <a:rPr lang="pl-PL" dirty="0"/>
              <a:t> </a:t>
            </a:r>
            <a:r>
              <a:rPr lang="pl-PL" dirty="0" err="1"/>
              <a:t>an</a:t>
            </a:r>
            <a:r>
              <a:rPr lang="pl-PL" dirty="0"/>
              <a:t> </a:t>
            </a:r>
            <a:r>
              <a:rPr lang="pl-PL" dirty="0" err="1"/>
              <a:t>abstract</a:t>
            </a:r>
            <a:r>
              <a:rPr lang="pl-PL" dirty="0"/>
              <a:t> “</a:t>
            </a:r>
            <a:r>
              <a:rPr lang="pl-PL" dirty="0" err="1"/>
              <a:t>virtual</a:t>
            </a:r>
            <a:r>
              <a:rPr lang="pl-PL" dirty="0"/>
              <a:t> </a:t>
            </a:r>
            <a:r>
              <a:rPr lang="pl-PL" dirty="0" err="1"/>
              <a:t>machine</a:t>
            </a:r>
            <a:r>
              <a:rPr lang="pl-PL" dirty="0"/>
              <a:t>” </a:t>
            </a:r>
            <a:r>
              <a:rPr lang="pl-PL" dirty="0" err="1"/>
              <a:t>that</a:t>
            </a:r>
            <a:r>
              <a:rPr lang="pl-PL" dirty="0"/>
              <a:t> </a:t>
            </a:r>
            <a:r>
              <a:rPr lang="pl-PL" dirty="0" err="1"/>
              <a:t>provides</a:t>
            </a:r>
            <a:r>
              <a:rPr lang="pl-PL" dirty="0"/>
              <a:t> a </a:t>
            </a:r>
            <a:r>
              <a:rPr lang="pl-PL" dirty="0" err="1"/>
              <a:t>cohesive</a:t>
            </a:r>
            <a:r>
              <a:rPr lang="pl-PL" dirty="0"/>
              <a:t> set of services </a:t>
            </a:r>
            <a:r>
              <a:rPr lang="pl-PL" dirty="0" err="1"/>
              <a:t>through</a:t>
            </a:r>
            <a:r>
              <a:rPr lang="pl-PL" dirty="0"/>
              <a:t> a </a:t>
            </a:r>
            <a:r>
              <a:rPr lang="pl-PL" dirty="0" err="1"/>
              <a:t>managed</a:t>
            </a:r>
            <a:r>
              <a:rPr lang="pl-PL" dirty="0"/>
              <a:t> </a:t>
            </a:r>
            <a:r>
              <a:rPr lang="pl-PL" dirty="0" err="1"/>
              <a:t>interface</a:t>
            </a:r>
            <a:r>
              <a:rPr lang="pl-PL" dirty="0"/>
              <a:t>. </a:t>
            </a:r>
          </a:p>
          <a:p>
            <a:pPr>
              <a:buFont typeface="Arial" pitchFamily="34" charset="0"/>
              <a:buChar char="•"/>
            </a:pPr>
            <a:r>
              <a:rPr lang="pl-PL" dirty="0" err="1"/>
              <a:t>Layers</a:t>
            </a:r>
            <a:r>
              <a:rPr lang="pl-PL" dirty="0"/>
              <a:t> </a:t>
            </a:r>
            <a:r>
              <a:rPr lang="pl-PL" dirty="0" err="1"/>
              <a:t>are</a:t>
            </a:r>
            <a:r>
              <a:rPr lang="pl-PL" dirty="0"/>
              <a:t> </a:t>
            </a:r>
            <a:r>
              <a:rPr lang="pl-PL" i="1" dirty="0" err="1"/>
              <a:t>allowed</a:t>
            </a:r>
            <a:r>
              <a:rPr lang="pl-PL" i="1" dirty="0"/>
              <a:t> to </a:t>
            </a:r>
            <a:r>
              <a:rPr lang="pl-PL" i="1" dirty="0" err="1"/>
              <a:t>use</a:t>
            </a:r>
            <a:r>
              <a:rPr lang="pl-PL" i="1" dirty="0"/>
              <a:t> </a:t>
            </a:r>
            <a:r>
              <a:rPr lang="pl-PL" dirty="0" err="1"/>
              <a:t>other</a:t>
            </a:r>
            <a:r>
              <a:rPr lang="pl-PL" dirty="0"/>
              <a:t> </a:t>
            </a:r>
            <a:r>
              <a:rPr lang="pl-PL" dirty="0" err="1"/>
              <a:t>layers</a:t>
            </a:r>
            <a:r>
              <a:rPr lang="pl-PL" dirty="0"/>
              <a:t> in a </a:t>
            </a:r>
            <a:r>
              <a:rPr lang="pl-PL" dirty="0" err="1"/>
              <a:t>strictly</a:t>
            </a:r>
            <a:r>
              <a:rPr lang="pl-PL" dirty="0"/>
              <a:t> </a:t>
            </a:r>
            <a:r>
              <a:rPr lang="pl-PL" dirty="0" err="1"/>
              <a:t>managed</a:t>
            </a:r>
            <a:r>
              <a:rPr lang="pl-PL" dirty="0"/>
              <a:t> </a:t>
            </a:r>
            <a:r>
              <a:rPr lang="pl-PL" dirty="0" err="1"/>
              <a:t>fashion</a:t>
            </a:r>
            <a:r>
              <a:rPr lang="pl-PL" dirty="0"/>
              <a:t>.</a:t>
            </a:r>
          </a:p>
          <a:p>
            <a:pPr lvl="1"/>
            <a:r>
              <a:rPr lang="pl-PL" dirty="0"/>
              <a:t>In </a:t>
            </a:r>
            <a:r>
              <a:rPr lang="pl-PL" dirty="0" err="1"/>
              <a:t>strictly</a:t>
            </a:r>
            <a:r>
              <a:rPr lang="pl-PL" dirty="0"/>
              <a:t> </a:t>
            </a:r>
            <a:r>
              <a:rPr lang="pl-PL" dirty="0" err="1"/>
              <a:t>layered</a:t>
            </a:r>
            <a:r>
              <a:rPr lang="pl-PL" dirty="0"/>
              <a:t> </a:t>
            </a:r>
            <a:r>
              <a:rPr lang="pl-PL" dirty="0" err="1"/>
              <a:t>systems</a:t>
            </a:r>
            <a:r>
              <a:rPr lang="pl-PL" dirty="0"/>
              <a:t>, a </a:t>
            </a:r>
            <a:r>
              <a:rPr lang="pl-PL" dirty="0" err="1"/>
              <a:t>layer</a:t>
            </a:r>
            <a:r>
              <a:rPr lang="pl-PL" dirty="0"/>
              <a:t> </a:t>
            </a:r>
            <a:r>
              <a:rPr lang="pl-PL" dirty="0" err="1"/>
              <a:t>is</a:t>
            </a:r>
            <a:r>
              <a:rPr lang="pl-PL" dirty="0"/>
              <a:t> </a:t>
            </a:r>
            <a:r>
              <a:rPr lang="pl-PL" dirty="0" err="1"/>
              <a:t>only</a:t>
            </a:r>
            <a:r>
              <a:rPr lang="pl-PL" dirty="0"/>
              <a:t> </a:t>
            </a:r>
            <a:r>
              <a:rPr lang="pl-PL" dirty="0" err="1"/>
              <a:t>allowed</a:t>
            </a:r>
            <a:r>
              <a:rPr lang="pl-PL" dirty="0"/>
              <a:t> to </a:t>
            </a:r>
            <a:r>
              <a:rPr lang="pl-PL" dirty="0" err="1"/>
              <a:t>use</a:t>
            </a:r>
            <a:r>
              <a:rPr lang="pl-PL" dirty="0"/>
              <a:t> a single </a:t>
            </a:r>
            <a:r>
              <a:rPr lang="pl-PL" dirty="0" err="1"/>
              <a:t>other</a:t>
            </a:r>
            <a:r>
              <a:rPr lang="pl-PL" dirty="0"/>
              <a:t> </a:t>
            </a:r>
            <a:r>
              <a:rPr lang="pl-PL" dirty="0" err="1"/>
              <a:t>layer</a:t>
            </a:r>
            <a:r>
              <a:rPr lang="pl-PL" dirty="0"/>
              <a:t>. </a:t>
            </a:r>
          </a:p>
          <a:p>
            <a:pPr>
              <a:buFont typeface="Arial" pitchFamily="34" charset="0"/>
              <a:buChar char="•"/>
            </a:pPr>
            <a:r>
              <a:rPr lang="pl-PL" dirty="0" err="1"/>
              <a:t>This</a:t>
            </a:r>
            <a:r>
              <a:rPr lang="pl-PL" dirty="0"/>
              <a:t> </a:t>
            </a:r>
            <a:r>
              <a:rPr lang="pl-PL" dirty="0" err="1"/>
              <a:t>structure</a:t>
            </a:r>
            <a:r>
              <a:rPr lang="pl-PL" dirty="0"/>
              <a:t> </a:t>
            </a:r>
            <a:r>
              <a:rPr lang="pl-PL" dirty="0" err="1"/>
              <a:t>is</a:t>
            </a:r>
            <a:r>
              <a:rPr lang="pl-PL" dirty="0"/>
              <a:t> </a:t>
            </a:r>
            <a:r>
              <a:rPr lang="pl-PL" dirty="0" err="1"/>
              <a:t>imbues</a:t>
            </a:r>
            <a:r>
              <a:rPr lang="pl-PL" dirty="0"/>
              <a:t> a system with </a:t>
            </a:r>
            <a:r>
              <a:rPr lang="pl-PL" dirty="0" err="1"/>
              <a:t>portability</a:t>
            </a:r>
            <a:r>
              <a:rPr lang="pl-PL" dirty="0"/>
              <a:t>, the </a:t>
            </a:r>
            <a:r>
              <a:rPr lang="pl-PL" dirty="0" err="1"/>
              <a:t>ability</a:t>
            </a:r>
            <a:r>
              <a:rPr lang="pl-PL" dirty="0"/>
              <a:t> to </a:t>
            </a:r>
            <a:r>
              <a:rPr lang="pl-PL" dirty="0" err="1"/>
              <a:t>change</a:t>
            </a:r>
            <a:r>
              <a:rPr lang="pl-PL" dirty="0"/>
              <a:t> the </a:t>
            </a:r>
            <a:r>
              <a:rPr lang="pl-PL" dirty="0" err="1"/>
              <a:t>underlying</a:t>
            </a:r>
            <a:r>
              <a:rPr lang="pl-PL" dirty="0"/>
              <a:t> </a:t>
            </a:r>
            <a:r>
              <a:rPr lang="pl-PL" dirty="0" err="1"/>
              <a:t>computing</a:t>
            </a:r>
            <a:r>
              <a:rPr lang="pl-PL" dirty="0"/>
              <a:t> platform.</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Some Useful Module Structures</a:t>
            </a:r>
          </a:p>
        </p:txBody>
      </p:sp>
      <p:sp>
        <p:nvSpPr>
          <p:cNvPr id="2" name="Date Placeholder 1">
            <a:extLst>
              <a:ext uri="{FF2B5EF4-FFF2-40B4-BE49-F238E27FC236}">
                <a16:creationId xmlns:a16="http://schemas.microsoft.com/office/drawing/2014/main" id="{AB56FC54-C414-4E17-9056-045B83801F38}"/>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5255DD4C-3CE5-4E12-B793-A071BD1FE7A1}"/>
              </a:ext>
            </a:extLst>
          </p:cNvPr>
          <p:cNvSpPr>
            <a:spLocks noGrp="1"/>
          </p:cNvSpPr>
          <p:nvPr>
            <p:ph type="sldNum" sz="quarter" idx="14"/>
          </p:nvPr>
        </p:nvSpPr>
        <p:spPr/>
        <p:txBody>
          <a:bodyPr/>
          <a:lstStyle/>
          <a:p>
            <a:fld id="{BC8D7E44-7D4F-4942-A8C9-2DF6BF8399E8}" type="slidenum">
              <a:rPr lang="en-US" smtClean="0"/>
              <a:pPr/>
              <a:t>67</a:t>
            </a:fld>
            <a:endParaRPr lang="en-US" dirty="0"/>
          </a:p>
        </p:txBody>
      </p:sp>
    </p:spTree>
    <p:extLst>
      <p:ext uri="{BB962C8B-B14F-4D97-AF65-F5344CB8AC3E}">
        <p14:creationId xmlns:p14="http://schemas.microsoft.com/office/powerpoint/2010/main" val="19674466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Font typeface="Arial" pitchFamily="34" charset="0"/>
              <a:buChar char="•"/>
            </a:pPr>
            <a:r>
              <a:rPr lang="pl-PL" dirty="0"/>
              <a:t>Class (</a:t>
            </a:r>
            <a:r>
              <a:rPr lang="pl-PL" dirty="0" err="1"/>
              <a:t>or</a:t>
            </a:r>
            <a:r>
              <a:rPr lang="pl-PL" dirty="0"/>
              <a:t> </a:t>
            </a:r>
            <a:r>
              <a:rPr lang="pl-PL" dirty="0" err="1"/>
              <a:t>generalization</a:t>
            </a:r>
            <a:r>
              <a:rPr lang="pl-PL" dirty="0"/>
              <a:t>) </a:t>
            </a:r>
            <a:r>
              <a:rPr lang="pl-PL" dirty="0" err="1"/>
              <a:t>structure</a:t>
            </a:r>
            <a:endParaRPr lang="pl-PL" dirty="0"/>
          </a:p>
          <a:p>
            <a:pPr>
              <a:buFont typeface="Arial" pitchFamily="34" charset="0"/>
              <a:buChar char="•"/>
            </a:pPr>
            <a:r>
              <a:rPr lang="pl-PL" dirty="0"/>
              <a:t>The module </a:t>
            </a:r>
            <a:r>
              <a:rPr lang="pl-PL" dirty="0" err="1"/>
              <a:t>units</a:t>
            </a:r>
            <a:r>
              <a:rPr lang="pl-PL" dirty="0"/>
              <a:t> in </a:t>
            </a:r>
            <a:r>
              <a:rPr lang="pl-PL" dirty="0" err="1"/>
              <a:t>this</a:t>
            </a:r>
            <a:r>
              <a:rPr lang="pl-PL" dirty="0"/>
              <a:t> </a:t>
            </a:r>
            <a:r>
              <a:rPr lang="pl-PL" dirty="0" err="1"/>
              <a:t>structure</a:t>
            </a:r>
            <a:r>
              <a:rPr lang="pl-PL" dirty="0"/>
              <a:t> </a:t>
            </a:r>
            <a:r>
              <a:rPr lang="pl-PL" dirty="0" err="1"/>
              <a:t>are</a:t>
            </a:r>
            <a:r>
              <a:rPr lang="pl-PL" dirty="0"/>
              <a:t> </a:t>
            </a:r>
            <a:r>
              <a:rPr lang="pl-PL" dirty="0" err="1"/>
              <a:t>called</a:t>
            </a:r>
            <a:r>
              <a:rPr lang="pl-PL" dirty="0"/>
              <a:t> </a:t>
            </a:r>
            <a:r>
              <a:rPr lang="pl-PL" i="1" dirty="0" err="1"/>
              <a:t>classes</a:t>
            </a:r>
            <a:r>
              <a:rPr lang="pl-PL" dirty="0"/>
              <a:t>.</a:t>
            </a:r>
          </a:p>
          <a:p>
            <a:pPr>
              <a:buFont typeface="Arial" pitchFamily="34" charset="0"/>
              <a:buChar char="•"/>
            </a:pPr>
            <a:r>
              <a:rPr lang="pl-PL" dirty="0"/>
              <a:t>The </a:t>
            </a:r>
            <a:r>
              <a:rPr lang="pl-PL" dirty="0" err="1"/>
              <a:t>relation</a:t>
            </a:r>
            <a:r>
              <a:rPr lang="pl-PL" dirty="0"/>
              <a:t> </a:t>
            </a:r>
            <a:r>
              <a:rPr lang="pl-PL" dirty="0" err="1"/>
              <a:t>is</a:t>
            </a:r>
            <a:r>
              <a:rPr lang="pl-PL" dirty="0"/>
              <a:t> </a:t>
            </a:r>
            <a:r>
              <a:rPr lang="pl-PL" i="1" dirty="0" err="1"/>
              <a:t>inherits</a:t>
            </a:r>
            <a:r>
              <a:rPr lang="pl-PL" i="1" dirty="0"/>
              <a:t> from </a:t>
            </a:r>
            <a:r>
              <a:rPr lang="pl-PL" dirty="0" err="1"/>
              <a:t>or</a:t>
            </a:r>
            <a:r>
              <a:rPr lang="pl-PL" dirty="0"/>
              <a:t> </a:t>
            </a:r>
            <a:r>
              <a:rPr lang="pl-PL" i="1" dirty="0" err="1"/>
              <a:t>is</a:t>
            </a:r>
            <a:r>
              <a:rPr lang="pl-PL" i="1" dirty="0"/>
              <a:t> </a:t>
            </a:r>
            <a:r>
              <a:rPr lang="pl-PL" i="1" dirty="0" err="1"/>
              <a:t>an</a:t>
            </a:r>
            <a:r>
              <a:rPr lang="pl-PL" i="1" dirty="0"/>
              <a:t> </a:t>
            </a:r>
            <a:r>
              <a:rPr lang="pl-PL" i="1" dirty="0" err="1"/>
              <a:t>instance</a:t>
            </a:r>
            <a:r>
              <a:rPr lang="pl-PL" i="1" dirty="0"/>
              <a:t> of</a:t>
            </a:r>
            <a:r>
              <a:rPr lang="pl-PL" dirty="0"/>
              <a:t>. </a:t>
            </a:r>
          </a:p>
          <a:p>
            <a:pPr>
              <a:buFont typeface="Arial" pitchFamily="34" charset="0"/>
              <a:buChar char="•"/>
            </a:pPr>
            <a:r>
              <a:rPr lang="pl-PL" dirty="0" err="1"/>
              <a:t>This</a:t>
            </a:r>
            <a:r>
              <a:rPr lang="pl-PL" dirty="0"/>
              <a:t> </a:t>
            </a:r>
            <a:r>
              <a:rPr lang="pl-PL" dirty="0" err="1"/>
              <a:t>view</a:t>
            </a:r>
            <a:r>
              <a:rPr lang="pl-PL" dirty="0"/>
              <a:t> </a:t>
            </a:r>
            <a:r>
              <a:rPr lang="pl-PL" dirty="0" err="1"/>
              <a:t>supports</a:t>
            </a:r>
            <a:r>
              <a:rPr lang="pl-PL" dirty="0"/>
              <a:t> </a:t>
            </a:r>
            <a:r>
              <a:rPr lang="pl-PL" dirty="0" err="1"/>
              <a:t>reasoning</a:t>
            </a:r>
            <a:r>
              <a:rPr lang="pl-PL" dirty="0"/>
              <a:t> </a:t>
            </a:r>
            <a:r>
              <a:rPr lang="pl-PL" dirty="0" err="1"/>
              <a:t>about</a:t>
            </a:r>
            <a:r>
              <a:rPr lang="pl-PL" dirty="0"/>
              <a:t> </a:t>
            </a:r>
            <a:r>
              <a:rPr lang="pl-PL" dirty="0" err="1"/>
              <a:t>collections</a:t>
            </a:r>
            <a:r>
              <a:rPr lang="pl-PL" dirty="0"/>
              <a:t> of </a:t>
            </a:r>
            <a:r>
              <a:rPr lang="pl-PL" dirty="0" err="1"/>
              <a:t>similar</a:t>
            </a:r>
            <a:r>
              <a:rPr lang="pl-PL" dirty="0"/>
              <a:t> </a:t>
            </a:r>
            <a:r>
              <a:rPr lang="pl-PL" dirty="0" err="1"/>
              <a:t>behavior</a:t>
            </a:r>
            <a:r>
              <a:rPr lang="pl-PL" dirty="0"/>
              <a:t> </a:t>
            </a:r>
            <a:r>
              <a:rPr lang="pl-PL" dirty="0" err="1"/>
              <a:t>or</a:t>
            </a:r>
            <a:r>
              <a:rPr lang="pl-PL" dirty="0"/>
              <a:t> </a:t>
            </a:r>
            <a:r>
              <a:rPr lang="pl-PL" dirty="0" err="1"/>
              <a:t>capability</a:t>
            </a:r>
            <a:endParaRPr lang="pl-PL" dirty="0"/>
          </a:p>
          <a:p>
            <a:pPr lvl="1"/>
            <a:r>
              <a:rPr lang="pl-PL" dirty="0" err="1"/>
              <a:t>e.g.,the</a:t>
            </a:r>
            <a:r>
              <a:rPr lang="pl-PL" dirty="0"/>
              <a:t> </a:t>
            </a:r>
            <a:r>
              <a:rPr lang="pl-PL" dirty="0" err="1"/>
              <a:t>classes</a:t>
            </a:r>
            <a:r>
              <a:rPr lang="pl-PL" dirty="0"/>
              <a:t> </a:t>
            </a:r>
            <a:r>
              <a:rPr lang="pl-PL" dirty="0" err="1"/>
              <a:t>that</a:t>
            </a:r>
            <a:r>
              <a:rPr lang="pl-PL" dirty="0"/>
              <a:t> </a:t>
            </a:r>
            <a:r>
              <a:rPr lang="pl-PL" dirty="0" err="1"/>
              <a:t>other</a:t>
            </a:r>
            <a:r>
              <a:rPr lang="pl-PL" dirty="0"/>
              <a:t> </a:t>
            </a:r>
            <a:r>
              <a:rPr lang="pl-PL" dirty="0" err="1"/>
              <a:t>classes</a:t>
            </a:r>
            <a:r>
              <a:rPr lang="pl-PL" dirty="0"/>
              <a:t> </a:t>
            </a:r>
            <a:r>
              <a:rPr lang="pl-PL" dirty="0" err="1"/>
              <a:t>inherit</a:t>
            </a:r>
            <a:r>
              <a:rPr lang="pl-PL" dirty="0"/>
              <a:t> from and </a:t>
            </a:r>
            <a:r>
              <a:rPr lang="pl-PL" dirty="0" err="1"/>
              <a:t>parameterized</a:t>
            </a:r>
            <a:r>
              <a:rPr lang="pl-PL" dirty="0"/>
              <a:t> </a:t>
            </a:r>
            <a:r>
              <a:rPr lang="pl-PL" dirty="0" err="1"/>
              <a:t>differences</a:t>
            </a:r>
            <a:endParaRPr lang="pl-PL" dirty="0"/>
          </a:p>
          <a:p>
            <a:pPr>
              <a:buFont typeface="Arial" pitchFamily="34" charset="0"/>
              <a:buChar char="•"/>
            </a:pPr>
            <a:r>
              <a:rPr lang="pl-PL" dirty="0"/>
              <a:t>The </a:t>
            </a:r>
            <a:r>
              <a:rPr lang="pl-PL" dirty="0" err="1"/>
              <a:t>class</a:t>
            </a:r>
            <a:r>
              <a:rPr lang="pl-PL" dirty="0"/>
              <a:t> </a:t>
            </a:r>
            <a:r>
              <a:rPr lang="pl-PL" dirty="0" err="1"/>
              <a:t>structure</a:t>
            </a:r>
            <a:r>
              <a:rPr lang="pl-PL" dirty="0"/>
              <a:t> </a:t>
            </a:r>
            <a:r>
              <a:rPr lang="pl-PL" dirty="0" err="1"/>
              <a:t>allows</a:t>
            </a:r>
            <a:r>
              <a:rPr lang="pl-PL" dirty="0"/>
              <a:t> one to </a:t>
            </a:r>
            <a:r>
              <a:rPr lang="pl-PL" dirty="0" err="1"/>
              <a:t>reason</a:t>
            </a:r>
            <a:r>
              <a:rPr lang="pl-PL" dirty="0"/>
              <a:t> </a:t>
            </a:r>
            <a:r>
              <a:rPr lang="pl-PL" dirty="0" err="1"/>
              <a:t>about</a:t>
            </a:r>
            <a:r>
              <a:rPr lang="pl-PL" dirty="0"/>
              <a:t> </a:t>
            </a:r>
            <a:r>
              <a:rPr lang="pl-PL" dirty="0" err="1"/>
              <a:t>reuse</a:t>
            </a:r>
            <a:r>
              <a:rPr lang="pl-PL" dirty="0"/>
              <a:t> and the </a:t>
            </a:r>
            <a:r>
              <a:rPr lang="pl-PL" dirty="0" err="1"/>
              <a:t>incremental</a:t>
            </a:r>
            <a:r>
              <a:rPr lang="pl-PL" dirty="0"/>
              <a:t> </a:t>
            </a:r>
            <a:r>
              <a:rPr lang="pl-PL" dirty="0" err="1"/>
              <a:t>addition</a:t>
            </a:r>
            <a:r>
              <a:rPr lang="pl-PL" dirty="0"/>
              <a:t> of </a:t>
            </a:r>
            <a:r>
              <a:rPr lang="pl-PL" dirty="0" err="1"/>
              <a:t>functionality</a:t>
            </a:r>
            <a:r>
              <a:rPr lang="pl-PL" dirty="0"/>
              <a:t>. </a:t>
            </a:r>
          </a:p>
          <a:p>
            <a:pPr>
              <a:buFont typeface="Arial" pitchFamily="34" charset="0"/>
              <a:buChar char="•"/>
            </a:pPr>
            <a:r>
              <a:rPr lang="pl-PL" dirty="0" err="1"/>
              <a:t>If</a:t>
            </a:r>
            <a:r>
              <a:rPr lang="pl-PL" dirty="0"/>
              <a:t> </a:t>
            </a:r>
            <a:r>
              <a:rPr lang="pl-PL" dirty="0" err="1"/>
              <a:t>any</a:t>
            </a:r>
            <a:r>
              <a:rPr lang="pl-PL" dirty="0"/>
              <a:t> </a:t>
            </a:r>
            <a:r>
              <a:rPr lang="pl-PL" dirty="0" err="1"/>
              <a:t>documentation</a:t>
            </a:r>
            <a:r>
              <a:rPr lang="pl-PL" dirty="0"/>
              <a:t> </a:t>
            </a:r>
            <a:r>
              <a:rPr lang="pl-PL" dirty="0" err="1"/>
              <a:t>exists</a:t>
            </a:r>
            <a:r>
              <a:rPr lang="pl-PL" dirty="0"/>
              <a:t> for a </a:t>
            </a:r>
            <a:r>
              <a:rPr lang="pl-PL" dirty="0" err="1"/>
              <a:t>project</a:t>
            </a:r>
            <a:r>
              <a:rPr lang="pl-PL" dirty="0"/>
              <a:t> </a:t>
            </a:r>
            <a:r>
              <a:rPr lang="pl-PL" dirty="0" err="1"/>
              <a:t>that</a:t>
            </a:r>
            <a:r>
              <a:rPr lang="pl-PL" dirty="0"/>
              <a:t> </a:t>
            </a:r>
            <a:r>
              <a:rPr lang="pl-PL" dirty="0" err="1"/>
              <a:t>has</a:t>
            </a:r>
            <a:r>
              <a:rPr lang="pl-PL" dirty="0"/>
              <a:t> </a:t>
            </a:r>
            <a:r>
              <a:rPr lang="pl-PL" dirty="0" err="1"/>
              <a:t>followed</a:t>
            </a:r>
            <a:r>
              <a:rPr lang="pl-PL" dirty="0"/>
              <a:t> </a:t>
            </a:r>
            <a:r>
              <a:rPr lang="pl-PL" dirty="0" err="1"/>
              <a:t>an</a:t>
            </a:r>
            <a:r>
              <a:rPr lang="pl-PL" dirty="0"/>
              <a:t> </a:t>
            </a:r>
            <a:r>
              <a:rPr lang="pl-PL" dirty="0" err="1"/>
              <a:t>object-oriented</a:t>
            </a:r>
            <a:r>
              <a:rPr lang="pl-PL" dirty="0"/>
              <a:t> </a:t>
            </a:r>
            <a:r>
              <a:rPr lang="pl-PL" dirty="0" err="1"/>
              <a:t>analysis</a:t>
            </a:r>
            <a:r>
              <a:rPr lang="pl-PL" dirty="0"/>
              <a:t> and design </a:t>
            </a:r>
            <a:r>
              <a:rPr lang="pl-PL" dirty="0" err="1"/>
              <a:t>process</a:t>
            </a:r>
            <a:r>
              <a:rPr lang="pl-PL" dirty="0"/>
              <a:t>, </a:t>
            </a:r>
            <a:r>
              <a:rPr lang="pl-PL" dirty="0" err="1"/>
              <a:t>it</a:t>
            </a:r>
            <a:r>
              <a:rPr lang="pl-PL" dirty="0"/>
              <a:t> </a:t>
            </a:r>
            <a:r>
              <a:rPr lang="pl-PL" dirty="0" err="1"/>
              <a:t>is</a:t>
            </a:r>
            <a:r>
              <a:rPr lang="pl-PL" dirty="0"/>
              <a:t> </a:t>
            </a:r>
            <a:r>
              <a:rPr lang="pl-PL" dirty="0" err="1"/>
              <a:t>typically</a:t>
            </a:r>
            <a:r>
              <a:rPr lang="pl-PL" dirty="0"/>
              <a:t> </a:t>
            </a:r>
            <a:r>
              <a:rPr lang="pl-PL" dirty="0" err="1"/>
              <a:t>this</a:t>
            </a:r>
            <a:r>
              <a:rPr lang="pl-PL" dirty="0"/>
              <a:t> </a:t>
            </a:r>
            <a:r>
              <a:rPr lang="pl-PL" dirty="0" err="1"/>
              <a:t>structure</a:t>
            </a:r>
            <a:r>
              <a:rPr lang="pl-PL" dirty="0"/>
              <a: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Some Useful Module Structures</a:t>
            </a:r>
          </a:p>
        </p:txBody>
      </p:sp>
      <p:sp>
        <p:nvSpPr>
          <p:cNvPr id="2" name="Date Placeholder 1">
            <a:extLst>
              <a:ext uri="{FF2B5EF4-FFF2-40B4-BE49-F238E27FC236}">
                <a16:creationId xmlns:a16="http://schemas.microsoft.com/office/drawing/2014/main" id="{73E89EA7-E3F9-4986-95C1-342146D0DD9F}"/>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45F85098-1256-4D3A-A019-9EC37F2A4EAE}"/>
              </a:ext>
            </a:extLst>
          </p:cNvPr>
          <p:cNvSpPr>
            <a:spLocks noGrp="1"/>
          </p:cNvSpPr>
          <p:nvPr>
            <p:ph type="sldNum" sz="quarter" idx="14"/>
          </p:nvPr>
        </p:nvSpPr>
        <p:spPr/>
        <p:txBody>
          <a:bodyPr/>
          <a:lstStyle/>
          <a:p>
            <a:fld id="{BC8D7E44-7D4F-4942-A8C9-2DF6BF8399E8}" type="slidenum">
              <a:rPr lang="en-US" smtClean="0"/>
              <a:pPr/>
              <a:t>68</a:t>
            </a:fld>
            <a:endParaRPr lang="en-US" dirty="0"/>
          </a:p>
        </p:txBody>
      </p:sp>
    </p:spTree>
    <p:extLst>
      <p:ext uri="{BB962C8B-B14F-4D97-AF65-F5344CB8AC3E}">
        <p14:creationId xmlns:p14="http://schemas.microsoft.com/office/powerpoint/2010/main" val="30324758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pl-PL" dirty="0"/>
              <a:t>Data model </a:t>
            </a:r>
          </a:p>
          <a:p>
            <a:pPr>
              <a:buFont typeface="Arial" pitchFamily="34" charset="0"/>
              <a:buChar char="•"/>
            </a:pPr>
            <a:r>
              <a:rPr lang="pl-PL" dirty="0"/>
              <a:t>The data model </a:t>
            </a:r>
            <a:r>
              <a:rPr lang="pl-PL" dirty="0" err="1"/>
              <a:t>describes</a:t>
            </a:r>
            <a:r>
              <a:rPr lang="pl-PL" dirty="0"/>
              <a:t> the </a:t>
            </a:r>
            <a:r>
              <a:rPr lang="pl-PL" dirty="0" err="1"/>
              <a:t>static</a:t>
            </a:r>
            <a:r>
              <a:rPr lang="pl-PL" dirty="0"/>
              <a:t> </a:t>
            </a:r>
            <a:r>
              <a:rPr lang="pl-PL" dirty="0" err="1"/>
              <a:t>information</a:t>
            </a:r>
            <a:r>
              <a:rPr lang="pl-PL" dirty="0"/>
              <a:t> </a:t>
            </a:r>
            <a:r>
              <a:rPr lang="pl-PL" dirty="0" err="1"/>
              <a:t>structure</a:t>
            </a:r>
            <a:r>
              <a:rPr lang="pl-PL" dirty="0"/>
              <a:t> in </a:t>
            </a:r>
            <a:r>
              <a:rPr lang="pl-PL" dirty="0" err="1"/>
              <a:t>terms</a:t>
            </a:r>
            <a:r>
              <a:rPr lang="pl-PL" dirty="0"/>
              <a:t> of data </a:t>
            </a:r>
            <a:r>
              <a:rPr lang="pl-PL" dirty="0" err="1"/>
              <a:t>entities</a:t>
            </a:r>
            <a:r>
              <a:rPr lang="pl-PL" dirty="0"/>
              <a:t> and </a:t>
            </a:r>
            <a:r>
              <a:rPr lang="pl-PL" dirty="0" err="1"/>
              <a:t>their</a:t>
            </a:r>
            <a:r>
              <a:rPr lang="pl-PL" dirty="0"/>
              <a:t> </a:t>
            </a:r>
            <a:r>
              <a:rPr lang="pl-PL" dirty="0" err="1"/>
              <a:t>relationships</a:t>
            </a:r>
            <a:r>
              <a:rPr lang="pl-PL" dirty="0"/>
              <a:t>. </a:t>
            </a:r>
          </a:p>
          <a:p>
            <a:pPr lvl="1"/>
            <a:r>
              <a:rPr lang="pl-PL" dirty="0"/>
              <a:t>For </a:t>
            </a:r>
            <a:r>
              <a:rPr lang="pl-PL" dirty="0" err="1"/>
              <a:t>example</a:t>
            </a:r>
            <a:r>
              <a:rPr lang="pl-PL" dirty="0"/>
              <a:t>, in a banking system, </a:t>
            </a:r>
            <a:r>
              <a:rPr lang="pl-PL" dirty="0" err="1"/>
              <a:t>entities</a:t>
            </a:r>
            <a:r>
              <a:rPr lang="pl-PL" dirty="0"/>
              <a:t> </a:t>
            </a:r>
            <a:r>
              <a:rPr lang="pl-PL" dirty="0" err="1"/>
              <a:t>will</a:t>
            </a:r>
            <a:r>
              <a:rPr lang="pl-PL" dirty="0"/>
              <a:t> </a:t>
            </a:r>
            <a:r>
              <a:rPr lang="pl-PL" dirty="0" err="1"/>
              <a:t>typically</a:t>
            </a:r>
            <a:r>
              <a:rPr lang="pl-PL" dirty="0"/>
              <a:t> </a:t>
            </a:r>
            <a:r>
              <a:rPr lang="pl-PL" dirty="0" err="1"/>
              <a:t>include</a:t>
            </a:r>
            <a:r>
              <a:rPr lang="pl-PL" dirty="0"/>
              <a:t> </a:t>
            </a:r>
            <a:r>
              <a:rPr lang="pl-PL" dirty="0" err="1"/>
              <a:t>Account</a:t>
            </a:r>
            <a:r>
              <a:rPr lang="pl-PL" dirty="0"/>
              <a:t>, </a:t>
            </a:r>
            <a:r>
              <a:rPr lang="pl-PL" dirty="0" err="1"/>
              <a:t>Customer</a:t>
            </a:r>
            <a:r>
              <a:rPr lang="pl-PL" dirty="0"/>
              <a:t>, and </a:t>
            </a:r>
            <a:r>
              <a:rPr lang="pl-PL" dirty="0" err="1"/>
              <a:t>Loan</a:t>
            </a:r>
            <a:r>
              <a:rPr lang="pl-PL" dirty="0"/>
              <a:t>.</a:t>
            </a:r>
          </a:p>
          <a:p>
            <a:pPr lvl="1"/>
            <a:r>
              <a:rPr lang="pl-PL" dirty="0" err="1"/>
              <a:t>Account</a:t>
            </a:r>
            <a:r>
              <a:rPr lang="pl-PL" dirty="0"/>
              <a:t> </a:t>
            </a:r>
            <a:r>
              <a:rPr lang="pl-PL" dirty="0" err="1"/>
              <a:t>has</a:t>
            </a:r>
            <a:r>
              <a:rPr lang="pl-PL" dirty="0"/>
              <a:t> </a:t>
            </a:r>
            <a:r>
              <a:rPr lang="pl-PL" dirty="0" err="1"/>
              <a:t>several</a:t>
            </a:r>
            <a:r>
              <a:rPr lang="pl-PL" dirty="0"/>
              <a:t> </a:t>
            </a:r>
            <a:r>
              <a:rPr lang="pl-PL" dirty="0" err="1"/>
              <a:t>attributes</a:t>
            </a:r>
            <a:r>
              <a:rPr lang="pl-PL" dirty="0"/>
              <a:t>, </a:t>
            </a:r>
            <a:r>
              <a:rPr lang="pl-PL" dirty="0" err="1"/>
              <a:t>such</a:t>
            </a:r>
            <a:r>
              <a:rPr lang="pl-PL" dirty="0"/>
              <a:t> as </a:t>
            </a:r>
            <a:r>
              <a:rPr lang="pl-PL" dirty="0" err="1"/>
              <a:t>account</a:t>
            </a:r>
            <a:r>
              <a:rPr lang="pl-PL" dirty="0"/>
              <a:t> </a:t>
            </a:r>
            <a:r>
              <a:rPr lang="pl-PL" dirty="0" err="1"/>
              <a:t>number</a:t>
            </a:r>
            <a:r>
              <a:rPr lang="pl-PL" dirty="0"/>
              <a:t>, </a:t>
            </a:r>
            <a:r>
              <a:rPr lang="pl-PL" dirty="0" err="1"/>
              <a:t>type</a:t>
            </a:r>
            <a:r>
              <a:rPr lang="pl-PL" dirty="0"/>
              <a:t> (</a:t>
            </a:r>
            <a:r>
              <a:rPr lang="pl-PL" dirty="0" err="1"/>
              <a:t>savings</a:t>
            </a:r>
            <a:r>
              <a:rPr lang="pl-PL" dirty="0"/>
              <a:t> </a:t>
            </a:r>
            <a:r>
              <a:rPr lang="pl-PL" dirty="0" err="1"/>
              <a:t>or</a:t>
            </a:r>
            <a:r>
              <a:rPr lang="pl-PL" dirty="0"/>
              <a:t> </a:t>
            </a:r>
            <a:r>
              <a:rPr lang="pl-PL" dirty="0" err="1"/>
              <a:t>checking</a:t>
            </a:r>
            <a:r>
              <a:rPr lang="pl-PL" dirty="0"/>
              <a:t>), status, and </a:t>
            </a:r>
            <a:r>
              <a:rPr lang="pl-PL" dirty="0" err="1"/>
              <a:t>current</a:t>
            </a:r>
            <a:r>
              <a:rPr lang="pl-PL" dirty="0"/>
              <a:t> </a:t>
            </a:r>
            <a:r>
              <a:rPr lang="pl-PL" dirty="0" err="1"/>
              <a:t>balance</a:t>
            </a:r>
            <a:r>
              <a:rPr lang="pl-PL" dirty="0"/>
              <a:t>. </a:t>
            </a: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Some Useful Module Structures</a:t>
            </a:r>
          </a:p>
        </p:txBody>
      </p:sp>
      <p:sp>
        <p:nvSpPr>
          <p:cNvPr id="2" name="Date Placeholder 1">
            <a:extLst>
              <a:ext uri="{FF2B5EF4-FFF2-40B4-BE49-F238E27FC236}">
                <a16:creationId xmlns:a16="http://schemas.microsoft.com/office/drawing/2014/main" id="{E6488E46-3454-40F9-9FCD-9716104B2935}"/>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FC173B28-2EC5-4DFB-A325-DDDEB43F10F5}"/>
              </a:ext>
            </a:extLst>
          </p:cNvPr>
          <p:cNvSpPr>
            <a:spLocks noGrp="1"/>
          </p:cNvSpPr>
          <p:nvPr>
            <p:ph type="sldNum" sz="quarter" idx="14"/>
          </p:nvPr>
        </p:nvSpPr>
        <p:spPr/>
        <p:txBody>
          <a:bodyPr/>
          <a:lstStyle/>
          <a:p>
            <a:fld id="{BC8D7E44-7D4F-4942-A8C9-2DF6BF8399E8}" type="slidenum">
              <a:rPr lang="en-US" smtClean="0"/>
              <a:pPr/>
              <a:t>69</a:t>
            </a:fld>
            <a:endParaRPr lang="en-US" dirty="0"/>
          </a:p>
        </p:txBody>
      </p:sp>
    </p:spTree>
    <p:extLst>
      <p:ext uri="{BB962C8B-B14F-4D97-AF65-F5344CB8AC3E}">
        <p14:creationId xmlns:p14="http://schemas.microsoft.com/office/powerpoint/2010/main" val="13203472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55000" lnSpcReduction="20000"/>
          </a:bodyPr>
          <a:lstStyle/>
          <a:p>
            <a:pPr>
              <a:buFont typeface="Arial" pitchFamily="34" charset="0"/>
              <a:buChar char="•"/>
            </a:pPr>
            <a:r>
              <a:rPr lang="en-US" sz="3800" dirty="0"/>
              <a:t>The relation in all component-and-connector structures is attachment, showing how the components and the connectors are hooked together. </a:t>
            </a:r>
          </a:p>
          <a:p>
            <a:pPr>
              <a:buFont typeface="Arial" pitchFamily="34" charset="0"/>
              <a:buChar char="•"/>
            </a:pPr>
            <a:r>
              <a:rPr lang="en-US" sz="3800" dirty="0"/>
              <a:t>The connectors can be familiar constructs such as “invokes.” </a:t>
            </a:r>
          </a:p>
          <a:p>
            <a:pPr>
              <a:buFont typeface="Arial" pitchFamily="34" charset="0"/>
              <a:buChar char="•"/>
            </a:pPr>
            <a:r>
              <a:rPr lang="en-US" sz="3800" dirty="0"/>
              <a:t>Useful C&amp;C structures include:</a:t>
            </a:r>
          </a:p>
          <a:p>
            <a:pPr lvl="1"/>
            <a:r>
              <a:rPr lang="en-US" sz="3200" dirty="0"/>
              <a:t>Service structure</a:t>
            </a:r>
          </a:p>
          <a:p>
            <a:pPr lvl="2"/>
            <a:r>
              <a:rPr lang="en-US" sz="2900" dirty="0"/>
              <a:t>The units are services that interoperate with each other by service coordination mechanisms such as SOAP.</a:t>
            </a:r>
          </a:p>
          <a:p>
            <a:pPr lvl="2"/>
            <a:r>
              <a:rPr lang="en-US" sz="2900" dirty="0"/>
              <a:t>The service structure helps to engineer a system composed of components that may have been developed anonymously and independently of each other.</a:t>
            </a:r>
          </a:p>
          <a:p>
            <a:pPr lvl="1"/>
            <a:r>
              <a:rPr lang="en-US" sz="3200" dirty="0"/>
              <a:t>Concurrency structure</a:t>
            </a:r>
          </a:p>
          <a:p>
            <a:pPr lvl="2"/>
            <a:r>
              <a:rPr lang="en-US" sz="2900" dirty="0"/>
              <a:t>This structure helps determine opportunities for parallelism and the locations where resource contention may occur. </a:t>
            </a:r>
          </a:p>
          <a:p>
            <a:pPr lvl="2"/>
            <a:r>
              <a:rPr lang="en-US" sz="2900" dirty="0"/>
              <a:t>The units are components</a:t>
            </a:r>
          </a:p>
          <a:p>
            <a:pPr lvl="2"/>
            <a:r>
              <a:rPr lang="en-US" sz="2900" dirty="0"/>
              <a:t>The connectors are their communication mechanisms. </a:t>
            </a:r>
          </a:p>
          <a:p>
            <a:pPr lvl="2"/>
            <a:r>
              <a:rPr lang="en-US" sz="2900" dirty="0"/>
              <a:t>The components are arranged into logical threads.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Some Useful C&amp;C Structures</a:t>
            </a:r>
          </a:p>
        </p:txBody>
      </p:sp>
      <p:sp>
        <p:nvSpPr>
          <p:cNvPr id="2" name="Date Placeholder 1">
            <a:extLst>
              <a:ext uri="{FF2B5EF4-FFF2-40B4-BE49-F238E27FC236}">
                <a16:creationId xmlns:a16="http://schemas.microsoft.com/office/drawing/2014/main" id="{3C432C2E-C0A8-48B5-BDF0-9B6F678FB37A}"/>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6534F1A0-FAE3-4C5C-AD0F-765AEDCF40D2}"/>
              </a:ext>
            </a:extLst>
          </p:cNvPr>
          <p:cNvSpPr>
            <a:spLocks noGrp="1"/>
          </p:cNvSpPr>
          <p:nvPr>
            <p:ph type="sldNum" sz="quarter" idx="14"/>
          </p:nvPr>
        </p:nvSpPr>
        <p:spPr/>
        <p:txBody>
          <a:bodyPr/>
          <a:lstStyle/>
          <a:p>
            <a:fld id="{BC8D7E44-7D4F-4942-A8C9-2DF6BF8399E8}" type="slidenum">
              <a:rPr lang="en-US" smtClean="0"/>
              <a:pPr/>
              <a:t>70</a:t>
            </a:fld>
            <a:endParaRPr lang="en-US" dirty="0"/>
          </a:p>
        </p:txBody>
      </p:sp>
    </p:spTree>
    <p:extLst>
      <p:ext uri="{BB962C8B-B14F-4D97-AF65-F5344CB8AC3E}">
        <p14:creationId xmlns:p14="http://schemas.microsoft.com/office/powerpoint/2010/main" val="42799182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marL="0" indent="0">
              <a:buNone/>
            </a:pPr>
            <a:r>
              <a:rPr lang="en-US" dirty="0"/>
              <a:t>Deployment structure</a:t>
            </a:r>
          </a:p>
          <a:p>
            <a:pPr>
              <a:buFont typeface="Arial" pitchFamily="34" charset="0"/>
              <a:buChar char="•"/>
            </a:pPr>
            <a:r>
              <a:rPr lang="en-US" dirty="0"/>
              <a:t>The deployment structure shows how software is assigned to hardware processing and communication elements. </a:t>
            </a:r>
          </a:p>
          <a:p>
            <a:pPr>
              <a:buFont typeface="Arial" pitchFamily="34" charset="0"/>
              <a:buChar char="•"/>
            </a:pPr>
            <a:r>
              <a:rPr lang="en-US" dirty="0"/>
              <a:t>The elements are software elements (usually a process from a C&amp;C view), hardware entities (processors), and communication pathways. </a:t>
            </a:r>
          </a:p>
          <a:p>
            <a:pPr>
              <a:buFont typeface="Arial" pitchFamily="34" charset="0"/>
              <a:buChar char="•"/>
            </a:pPr>
            <a:r>
              <a:rPr lang="en-US" dirty="0"/>
              <a:t>Relations are allocated-to, showing on which physical units the software elements reside, and migrates-to if the allocation is dynamic. </a:t>
            </a:r>
          </a:p>
          <a:p>
            <a:pPr>
              <a:buFont typeface="Arial" pitchFamily="34" charset="0"/>
              <a:buChar char="•"/>
            </a:pPr>
            <a:r>
              <a:rPr lang="en-US" dirty="0"/>
              <a:t>This structure can be used to reason about performance, data integrity, security, and availability. </a:t>
            </a:r>
          </a:p>
          <a:p>
            <a:pPr>
              <a:buFont typeface="Arial" pitchFamily="34" charset="0"/>
              <a:buChar char="•"/>
            </a:pPr>
            <a:r>
              <a:rPr lang="en-US" dirty="0"/>
              <a:t>It is of particular interest in distributed and parallel systems.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Some Useful Allocation Structures</a:t>
            </a:r>
          </a:p>
        </p:txBody>
      </p:sp>
      <p:sp>
        <p:nvSpPr>
          <p:cNvPr id="2" name="Date Placeholder 1">
            <a:extLst>
              <a:ext uri="{FF2B5EF4-FFF2-40B4-BE49-F238E27FC236}">
                <a16:creationId xmlns:a16="http://schemas.microsoft.com/office/drawing/2014/main" id="{2A7F2424-899B-423C-B885-C6AB9CFB927A}"/>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DAA86A56-BE9B-47A3-A724-23043965B9A8}"/>
              </a:ext>
            </a:extLst>
          </p:cNvPr>
          <p:cNvSpPr>
            <a:spLocks noGrp="1"/>
          </p:cNvSpPr>
          <p:nvPr>
            <p:ph type="sldNum" sz="quarter" idx="14"/>
          </p:nvPr>
        </p:nvSpPr>
        <p:spPr/>
        <p:txBody>
          <a:bodyPr/>
          <a:lstStyle/>
          <a:p>
            <a:fld id="{BC8D7E44-7D4F-4942-A8C9-2DF6BF8399E8}" type="slidenum">
              <a:rPr lang="en-US" smtClean="0"/>
              <a:pPr/>
              <a:t>71</a:t>
            </a:fld>
            <a:endParaRPr lang="en-US" dirty="0"/>
          </a:p>
        </p:txBody>
      </p:sp>
    </p:spTree>
    <p:extLst>
      <p:ext uri="{BB962C8B-B14F-4D97-AF65-F5344CB8AC3E}">
        <p14:creationId xmlns:p14="http://schemas.microsoft.com/office/powerpoint/2010/main" val="41594818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0" indent="0">
              <a:buNone/>
            </a:pPr>
            <a:r>
              <a:rPr lang="en-US" dirty="0"/>
              <a:t>Implementation structure </a:t>
            </a:r>
          </a:p>
          <a:p>
            <a:pPr>
              <a:buFont typeface="Arial" pitchFamily="34" charset="0"/>
              <a:buChar char="•"/>
            </a:pPr>
            <a:r>
              <a:rPr lang="en-US" dirty="0"/>
              <a:t>This structure shows how software elements (usually modules) are mapped to the file structure(s) in the system’s development, integration, or configuration control environments. </a:t>
            </a:r>
          </a:p>
          <a:p>
            <a:pPr>
              <a:buFont typeface="Arial" pitchFamily="34" charset="0"/>
              <a:buChar char="•"/>
            </a:pPr>
            <a:r>
              <a:rPr lang="en-US" dirty="0"/>
              <a:t>This is critical for the management of development activities and build processes. </a:t>
            </a:r>
          </a:p>
          <a:p>
            <a:pPr marL="0" indent="0"/>
            <a:r>
              <a:rPr lang="en-US" dirty="0"/>
              <a:t>Work assignment structure</a:t>
            </a:r>
          </a:p>
          <a:p>
            <a:pPr>
              <a:buFont typeface="Arial" pitchFamily="34" charset="0"/>
              <a:buChar char="•"/>
            </a:pPr>
            <a:r>
              <a:rPr lang="en-US" dirty="0"/>
              <a:t>This structure assigns responsibility for implementing and integrating the modules to the teams who will carry it out. </a:t>
            </a:r>
          </a:p>
          <a:p>
            <a:pPr>
              <a:buFont typeface="Arial" pitchFamily="34" charset="0"/>
              <a:buChar char="•"/>
            </a:pPr>
            <a:r>
              <a:rPr lang="en-US" dirty="0"/>
              <a:t>Having a work assignment structure be part of the architecture makes it clear that the decision about who does the work has architectural as well as management implications. </a:t>
            </a:r>
          </a:p>
          <a:p>
            <a:pPr>
              <a:buFont typeface="Arial" pitchFamily="34" charset="0"/>
              <a:buChar char="•"/>
            </a:pPr>
            <a:r>
              <a:rPr lang="en-US" dirty="0"/>
              <a:t>The architect will know the expertise required on each team. </a:t>
            </a:r>
          </a:p>
          <a:p>
            <a:pPr>
              <a:buFont typeface="Arial" pitchFamily="34" charset="0"/>
              <a:buChar char="•"/>
            </a:pPr>
            <a:r>
              <a:rPr lang="en-US" dirty="0"/>
              <a:t>This structure will also determine the major communication pathways among the teams: regular teleconferences, wikis, email lists, and so forth.</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Some Useful Allocation Structures</a:t>
            </a:r>
          </a:p>
        </p:txBody>
      </p:sp>
      <p:sp>
        <p:nvSpPr>
          <p:cNvPr id="2" name="Date Placeholder 1">
            <a:extLst>
              <a:ext uri="{FF2B5EF4-FFF2-40B4-BE49-F238E27FC236}">
                <a16:creationId xmlns:a16="http://schemas.microsoft.com/office/drawing/2014/main" id="{81BE44D0-4C12-4514-A8FB-CD122A3798DD}"/>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51E8C535-FA0F-48EC-8168-9073AAE1032B}"/>
              </a:ext>
            </a:extLst>
          </p:cNvPr>
          <p:cNvSpPr>
            <a:spLocks noGrp="1"/>
          </p:cNvSpPr>
          <p:nvPr>
            <p:ph type="sldNum" sz="quarter" idx="14"/>
          </p:nvPr>
        </p:nvSpPr>
        <p:spPr/>
        <p:txBody>
          <a:bodyPr/>
          <a:lstStyle/>
          <a:p>
            <a:fld id="{BC8D7E44-7D4F-4942-A8C9-2DF6BF8399E8}" type="slidenum">
              <a:rPr lang="en-US" smtClean="0"/>
              <a:pPr/>
              <a:t>72</a:t>
            </a:fld>
            <a:endParaRPr lang="en-US" dirty="0"/>
          </a:p>
        </p:txBody>
      </p:sp>
    </p:spTree>
    <p:extLst>
      <p:ext uri="{BB962C8B-B14F-4D97-AF65-F5344CB8AC3E}">
        <p14:creationId xmlns:p14="http://schemas.microsoft.com/office/powerpoint/2010/main" val="5511832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Elements of one structure will be related to elements of other structures, and we need to reason about these relations. </a:t>
            </a:r>
          </a:p>
          <a:p>
            <a:pPr lvl="1"/>
            <a:r>
              <a:rPr lang="en-US" dirty="0"/>
              <a:t>A module in a decomposition structure may be manifested as one, part of one, or several components in one of the component-and-connector structures. </a:t>
            </a:r>
          </a:p>
          <a:p>
            <a:pPr>
              <a:buFont typeface="Arial" pitchFamily="34" charset="0"/>
              <a:buChar char="•"/>
            </a:pPr>
            <a:r>
              <a:rPr lang="en-US" dirty="0"/>
              <a:t>In general, mappings between structures are many to many.</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a:bodyPr>
          <a:lstStyle/>
          <a:p>
            <a:r>
              <a:rPr lang="en-US" dirty="0"/>
              <a:t>Relating Structures to Each Other</a:t>
            </a:r>
          </a:p>
        </p:txBody>
      </p:sp>
      <p:sp>
        <p:nvSpPr>
          <p:cNvPr id="2" name="Date Placeholder 1">
            <a:extLst>
              <a:ext uri="{FF2B5EF4-FFF2-40B4-BE49-F238E27FC236}">
                <a16:creationId xmlns:a16="http://schemas.microsoft.com/office/drawing/2014/main" id="{7D49F724-EA3A-49AC-9247-4BE4D618D034}"/>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A915CE4F-2F1F-4FAE-ADC4-C2BCFC12E137}"/>
              </a:ext>
            </a:extLst>
          </p:cNvPr>
          <p:cNvSpPr>
            <a:spLocks noGrp="1"/>
          </p:cNvSpPr>
          <p:nvPr>
            <p:ph type="sldNum" sz="quarter" idx="14"/>
          </p:nvPr>
        </p:nvSpPr>
        <p:spPr/>
        <p:txBody>
          <a:bodyPr/>
          <a:lstStyle/>
          <a:p>
            <a:fld id="{BC8D7E44-7D4F-4942-A8C9-2DF6BF8399E8}" type="slidenum">
              <a:rPr lang="en-US" smtClean="0"/>
              <a:pPr/>
              <a:t>73</a:t>
            </a:fld>
            <a:endParaRPr lang="en-US" dirty="0"/>
          </a:p>
        </p:txBody>
      </p:sp>
    </p:spTree>
    <p:extLst>
      <p:ext uri="{BB962C8B-B14F-4D97-AF65-F5344CB8AC3E}">
        <p14:creationId xmlns:p14="http://schemas.microsoft.com/office/powerpoint/2010/main" val="10302128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B96D5E8-1A19-48BB-87AC-6679AC729C5B}"/>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5" name="Picture 4" descr="fig 1 2.tiff"/>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5536" y="1340768"/>
            <a:ext cx="8343900" cy="4902200"/>
          </a:xfrm>
          <a:prstGeom prst="rect">
            <a:avLst/>
          </a:prstGeom>
        </p:spPr>
      </p:pic>
      <p:sp>
        <p:nvSpPr>
          <p:cNvPr id="9" name="Title 1"/>
          <p:cNvSpPr>
            <a:spLocks noGrp="1"/>
          </p:cNvSpPr>
          <p:nvPr>
            <p:ph sz="quarter" idx="10"/>
          </p:nvPr>
        </p:nvSpPr>
        <p:spPr/>
        <p:txBody>
          <a:bodyPr/>
          <a:lstStyle/>
          <a:p>
            <a:r>
              <a:rPr lang="en-US" dirty="0"/>
              <a:t>Modules vs. Components</a:t>
            </a:r>
          </a:p>
        </p:txBody>
      </p:sp>
      <p:sp>
        <p:nvSpPr>
          <p:cNvPr id="2" name="Date Placeholder 1">
            <a:extLst>
              <a:ext uri="{FF2B5EF4-FFF2-40B4-BE49-F238E27FC236}">
                <a16:creationId xmlns:a16="http://schemas.microsoft.com/office/drawing/2014/main" id="{C33B6698-1CF9-4AF3-8D08-70F966129A54}"/>
              </a:ext>
            </a:extLst>
          </p:cNvPr>
          <p:cNvSpPr>
            <a:spLocks noGrp="1"/>
          </p:cNvSpPr>
          <p:nvPr>
            <p:ph type="dt" sz="half" idx="12"/>
          </p:nvPr>
        </p:nvSpPr>
        <p:spPr/>
        <p:txBody>
          <a:bodyPr/>
          <a:lstStyle/>
          <a:p>
            <a:r>
              <a:rPr lang="en-US"/>
              <a:t>July 25, 2026</a:t>
            </a:r>
          </a:p>
        </p:txBody>
      </p:sp>
      <p:sp>
        <p:nvSpPr>
          <p:cNvPr id="3" name="Slide Number Placeholder 2">
            <a:extLst>
              <a:ext uri="{FF2B5EF4-FFF2-40B4-BE49-F238E27FC236}">
                <a16:creationId xmlns:a16="http://schemas.microsoft.com/office/drawing/2014/main" id="{CC9D5B3D-529B-4F66-AD68-A006BA0A3DF0}"/>
              </a:ext>
            </a:extLst>
          </p:cNvPr>
          <p:cNvSpPr>
            <a:spLocks noGrp="1"/>
          </p:cNvSpPr>
          <p:nvPr>
            <p:ph type="sldNum" sz="quarter" idx="14"/>
          </p:nvPr>
        </p:nvSpPr>
        <p:spPr/>
        <p:txBody>
          <a:bodyPr/>
          <a:lstStyle/>
          <a:p>
            <a:fld id="{BC8D7E44-7D4F-4942-A8C9-2DF6BF8399E8}" type="slidenum">
              <a:rPr lang="en-US" smtClean="0"/>
              <a:pPr/>
              <a:t>74</a:t>
            </a:fld>
            <a:endParaRPr lang="en-US" dirty="0"/>
          </a:p>
        </p:txBody>
      </p:sp>
    </p:spTree>
    <p:extLst>
      <p:ext uri="{BB962C8B-B14F-4D97-AF65-F5344CB8AC3E}">
        <p14:creationId xmlns:p14="http://schemas.microsoft.com/office/powerpoint/2010/main" val="38723247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buFont typeface="Arial" pitchFamily="34" charset="0"/>
              <a:buChar char="•"/>
            </a:pPr>
            <a:r>
              <a:rPr lang="en-US" dirty="0"/>
              <a:t>Architectural elements can be composed in ways that solve particular problems. </a:t>
            </a:r>
          </a:p>
          <a:p>
            <a:pPr lvl="1"/>
            <a:r>
              <a:rPr lang="en-US" dirty="0"/>
              <a:t>The compositions have been found useful over time, and over many different domains</a:t>
            </a:r>
          </a:p>
          <a:p>
            <a:pPr lvl="1"/>
            <a:r>
              <a:rPr lang="en-US" dirty="0"/>
              <a:t>They have been documented and disseminated. </a:t>
            </a:r>
          </a:p>
          <a:p>
            <a:pPr lvl="1"/>
            <a:r>
              <a:rPr lang="en-US" dirty="0"/>
              <a:t>These compositions of architectural elements, called architectural patterns.</a:t>
            </a:r>
          </a:p>
          <a:p>
            <a:pPr lvl="1"/>
            <a:r>
              <a:rPr lang="en-US" dirty="0"/>
              <a:t>Patterns provide packaged strategies for solving some of the problems facing a system.</a:t>
            </a:r>
          </a:p>
          <a:p>
            <a:pPr>
              <a:buFont typeface="Arial" pitchFamily="34" charset="0"/>
              <a:buChar char="•"/>
            </a:pPr>
            <a:r>
              <a:rPr lang="pl-PL" dirty="0" err="1"/>
              <a:t>An</a:t>
            </a:r>
            <a:r>
              <a:rPr lang="pl-PL" dirty="0"/>
              <a:t> </a:t>
            </a:r>
            <a:r>
              <a:rPr lang="pl-PL" dirty="0" err="1"/>
              <a:t>architectural</a:t>
            </a:r>
            <a:r>
              <a:rPr lang="pl-PL" dirty="0"/>
              <a:t> </a:t>
            </a:r>
            <a:r>
              <a:rPr lang="pl-PL" dirty="0" err="1"/>
              <a:t>pattern</a:t>
            </a:r>
            <a:r>
              <a:rPr lang="pl-PL" dirty="0"/>
              <a:t> </a:t>
            </a:r>
            <a:r>
              <a:rPr lang="pl-PL" dirty="0" err="1"/>
              <a:t>delineates</a:t>
            </a:r>
            <a:r>
              <a:rPr lang="pl-PL" dirty="0"/>
              <a:t> the element </a:t>
            </a:r>
            <a:r>
              <a:rPr lang="pl-PL" dirty="0" err="1"/>
              <a:t>types</a:t>
            </a:r>
            <a:r>
              <a:rPr lang="pl-PL" dirty="0"/>
              <a:t> and </a:t>
            </a:r>
            <a:r>
              <a:rPr lang="pl-PL" dirty="0" err="1"/>
              <a:t>their</a:t>
            </a:r>
            <a:r>
              <a:rPr lang="pl-PL" dirty="0"/>
              <a:t> </a:t>
            </a:r>
            <a:r>
              <a:rPr lang="pl-PL" dirty="0" err="1"/>
              <a:t>forms</a:t>
            </a:r>
            <a:r>
              <a:rPr lang="pl-PL" dirty="0"/>
              <a:t> of </a:t>
            </a:r>
            <a:r>
              <a:rPr lang="pl-PL" dirty="0" err="1"/>
              <a:t>interaction</a:t>
            </a:r>
            <a:r>
              <a:rPr lang="pl-PL" dirty="0"/>
              <a:t> </a:t>
            </a:r>
            <a:r>
              <a:rPr lang="pl-PL" dirty="0" err="1"/>
              <a:t>used</a:t>
            </a:r>
            <a:r>
              <a:rPr lang="pl-PL" dirty="0"/>
              <a:t> in </a:t>
            </a:r>
            <a:r>
              <a:rPr lang="pl-PL" dirty="0" err="1"/>
              <a:t>solving</a:t>
            </a:r>
            <a:r>
              <a:rPr lang="pl-PL" dirty="0"/>
              <a:t> the problem.</a:t>
            </a:r>
          </a:p>
          <a:p>
            <a:endParaRPr lang="pl-PL" dirty="0"/>
          </a:p>
          <a:p>
            <a:pPr>
              <a:buFont typeface="Arial" pitchFamily="34" charset="0"/>
              <a:buChar char="•"/>
            </a:pPr>
            <a:r>
              <a:rPr lang="pl-PL" dirty="0"/>
              <a:t>A </a:t>
            </a:r>
            <a:r>
              <a:rPr lang="pl-PL" dirty="0" err="1"/>
              <a:t>common</a:t>
            </a:r>
            <a:r>
              <a:rPr lang="pl-PL" dirty="0"/>
              <a:t> module </a:t>
            </a:r>
            <a:r>
              <a:rPr lang="pl-PL" dirty="0" err="1"/>
              <a:t>type</a:t>
            </a:r>
            <a:r>
              <a:rPr lang="pl-PL" dirty="0"/>
              <a:t> </a:t>
            </a:r>
            <a:r>
              <a:rPr lang="pl-PL" dirty="0" err="1"/>
              <a:t>pattern</a:t>
            </a:r>
            <a:r>
              <a:rPr lang="pl-PL" dirty="0"/>
              <a:t> </a:t>
            </a:r>
            <a:r>
              <a:rPr lang="pl-PL" dirty="0" err="1"/>
              <a:t>is</a:t>
            </a:r>
            <a:r>
              <a:rPr lang="pl-PL" dirty="0"/>
              <a:t> the </a:t>
            </a:r>
            <a:r>
              <a:rPr lang="pl-PL" dirty="0" err="1"/>
              <a:t>Layered</a:t>
            </a:r>
            <a:r>
              <a:rPr lang="pl-PL" dirty="0"/>
              <a:t> </a:t>
            </a:r>
            <a:r>
              <a:rPr lang="pl-PL" dirty="0" err="1"/>
              <a:t>pattern</a:t>
            </a:r>
            <a:r>
              <a:rPr lang="pl-PL" dirty="0"/>
              <a:t>. </a:t>
            </a:r>
          </a:p>
          <a:p>
            <a:pPr lvl="1"/>
            <a:r>
              <a:rPr lang="pl-PL" dirty="0" err="1"/>
              <a:t>When</a:t>
            </a:r>
            <a:r>
              <a:rPr lang="pl-PL" dirty="0"/>
              <a:t> the </a:t>
            </a:r>
            <a:r>
              <a:rPr lang="pl-PL" dirty="0" err="1"/>
              <a:t>uses</a:t>
            </a:r>
            <a:r>
              <a:rPr lang="pl-PL" dirty="0"/>
              <a:t> </a:t>
            </a:r>
            <a:r>
              <a:rPr lang="pl-PL" dirty="0" err="1"/>
              <a:t>relation</a:t>
            </a:r>
            <a:r>
              <a:rPr lang="pl-PL" dirty="0"/>
              <a:t> </a:t>
            </a:r>
            <a:r>
              <a:rPr lang="pl-PL" dirty="0" err="1"/>
              <a:t>among</a:t>
            </a:r>
            <a:r>
              <a:rPr lang="pl-PL" dirty="0"/>
              <a:t> software </a:t>
            </a:r>
            <a:r>
              <a:rPr lang="pl-PL" dirty="0" err="1"/>
              <a:t>elements</a:t>
            </a:r>
            <a:r>
              <a:rPr lang="pl-PL" dirty="0"/>
              <a:t> </a:t>
            </a:r>
            <a:r>
              <a:rPr lang="pl-PL" dirty="0" err="1"/>
              <a:t>is</a:t>
            </a:r>
            <a:r>
              <a:rPr lang="pl-PL" dirty="0"/>
              <a:t> </a:t>
            </a:r>
            <a:r>
              <a:rPr lang="pl-PL" dirty="0" err="1"/>
              <a:t>strictly</a:t>
            </a:r>
            <a:r>
              <a:rPr lang="pl-PL" dirty="0"/>
              <a:t> </a:t>
            </a:r>
            <a:r>
              <a:rPr lang="pl-PL" dirty="0" err="1"/>
              <a:t>unidirectional</a:t>
            </a:r>
            <a:r>
              <a:rPr lang="pl-PL" dirty="0"/>
              <a:t>, a system of </a:t>
            </a:r>
            <a:r>
              <a:rPr lang="pl-PL" dirty="0" err="1"/>
              <a:t>layers</a:t>
            </a:r>
            <a:r>
              <a:rPr lang="pl-PL" dirty="0"/>
              <a:t> </a:t>
            </a:r>
            <a:r>
              <a:rPr lang="pl-PL" dirty="0" err="1"/>
              <a:t>emerges</a:t>
            </a:r>
            <a:r>
              <a:rPr lang="pl-PL" dirty="0"/>
              <a:t>. </a:t>
            </a:r>
          </a:p>
          <a:p>
            <a:pPr lvl="1"/>
            <a:r>
              <a:rPr lang="pl-PL" dirty="0"/>
              <a:t>A </a:t>
            </a:r>
            <a:r>
              <a:rPr lang="pl-PL" dirty="0" err="1"/>
              <a:t>layer</a:t>
            </a:r>
            <a:r>
              <a:rPr lang="pl-PL" dirty="0"/>
              <a:t> </a:t>
            </a:r>
            <a:r>
              <a:rPr lang="pl-PL" dirty="0" err="1"/>
              <a:t>is</a:t>
            </a:r>
            <a:r>
              <a:rPr lang="pl-PL" dirty="0"/>
              <a:t> a </a:t>
            </a:r>
            <a:r>
              <a:rPr lang="pl-PL" dirty="0" err="1"/>
              <a:t>coherent</a:t>
            </a:r>
            <a:r>
              <a:rPr lang="pl-PL" dirty="0"/>
              <a:t> set of </a:t>
            </a:r>
            <a:r>
              <a:rPr lang="pl-PL" dirty="0" err="1"/>
              <a:t>related</a:t>
            </a:r>
            <a:r>
              <a:rPr lang="pl-PL" dirty="0"/>
              <a:t> </a:t>
            </a:r>
            <a:r>
              <a:rPr lang="pl-PL" dirty="0" err="1"/>
              <a:t>functionality</a:t>
            </a:r>
            <a:r>
              <a:rPr lang="pl-PL" dirty="0"/>
              <a:t>. </a:t>
            </a:r>
          </a:p>
          <a:p>
            <a:pPr lvl="1"/>
            <a:r>
              <a:rPr lang="pl-PL" dirty="0"/>
              <a:t>Many </a:t>
            </a:r>
            <a:r>
              <a:rPr lang="pl-PL" dirty="0" err="1"/>
              <a:t>variations</a:t>
            </a:r>
            <a:r>
              <a:rPr lang="pl-PL" dirty="0"/>
              <a:t> of </a:t>
            </a:r>
            <a:r>
              <a:rPr lang="pl-PL" dirty="0" err="1"/>
              <a:t>this</a:t>
            </a:r>
            <a:r>
              <a:rPr lang="pl-PL" dirty="0"/>
              <a:t> </a:t>
            </a:r>
            <a:r>
              <a:rPr lang="pl-PL" dirty="0" err="1"/>
              <a:t>pattern</a:t>
            </a:r>
            <a:r>
              <a:rPr lang="pl-PL" dirty="0"/>
              <a:t>, </a:t>
            </a:r>
            <a:r>
              <a:rPr lang="pl-PL" dirty="0" err="1"/>
              <a:t>lessening</a:t>
            </a:r>
            <a:r>
              <a:rPr lang="pl-PL" dirty="0"/>
              <a:t> the </a:t>
            </a:r>
            <a:r>
              <a:rPr lang="pl-PL" dirty="0" err="1"/>
              <a:t>structural</a:t>
            </a:r>
            <a:r>
              <a:rPr lang="pl-PL" dirty="0"/>
              <a:t> </a:t>
            </a:r>
            <a:r>
              <a:rPr lang="pl-PL" dirty="0" err="1"/>
              <a:t>restriction</a:t>
            </a:r>
            <a:r>
              <a:rPr lang="pl-PL" dirty="0"/>
              <a:t>, </a:t>
            </a:r>
            <a:r>
              <a:rPr lang="pl-PL" dirty="0" err="1"/>
              <a:t>occur</a:t>
            </a:r>
            <a:r>
              <a:rPr lang="pl-PL" dirty="0"/>
              <a:t> in </a:t>
            </a:r>
            <a:r>
              <a:rPr lang="pl-PL" dirty="0" err="1"/>
              <a:t>practice</a:t>
            </a:r>
            <a:r>
              <a:rPr lang="pl-PL" dirty="0"/>
              <a:t>.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Architectural Patterns</a:t>
            </a:r>
          </a:p>
        </p:txBody>
      </p:sp>
      <p:sp>
        <p:nvSpPr>
          <p:cNvPr id="2" name="Date Placeholder 1">
            <a:extLst>
              <a:ext uri="{FF2B5EF4-FFF2-40B4-BE49-F238E27FC236}">
                <a16:creationId xmlns:a16="http://schemas.microsoft.com/office/drawing/2014/main" id="{C0CA26AC-54E0-4D49-B6CF-B16843C7DBA6}"/>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CA909E9E-42A5-4E54-BD90-AE668AE0D1DE}"/>
              </a:ext>
            </a:extLst>
          </p:cNvPr>
          <p:cNvSpPr>
            <a:spLocks noGrp="1"/>
          </p:cNvSpPr>
          <p:nvPr>
            <p:ph type="sldNum" sz="quarter" idx="14"/>
          </p:nvPr>
        </p:nvSpPr>
        <p:spPr/>
        <p:txBody>
          <a:bodyPr/>
          <a:lstStyle/>
          <a:p>
            <a:fld id="{BC8D7E44-7D4F-4942-A8C9-2DF6BF8399E8}" type="slidenum">
              <a:rPr lang="en-US" smtClean="0"/>
              <a:pPr/>
              <a:t>75</a:t>
            </a:fld>
            <a:endParaRPr lang="en-US" dirty="0"/>
          </a:p>
        </p:txBody>
      </p:sp>
    </p:spTree>
    <p:extLst>
      <p:ext uri="{BB962C8B-B14F-4D97-AF65-F5344CB8AC3E}">
        <p14:creationId xmlns:p14="http://schemas.microsoft.com/office/powerpoint/2010/main" val="8367719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pl-PL" dirty="0" err="1"/>
              <a:t>Common</a:t>
            </a:r>
            <a:r>
              <a:rPr lang="pl-PL" dirty="0"/>
              <a:t> component-and-</a:t>
            </a:r>
            <a:r>
              <a:rPr lang="pl-PL" dirty="0" err="1"/>
              <a:t>connector</a:t>
            </a:r>
            <a:r>
              <a:rPr lang="pl-PL" dirty="0"/>
              <a:t> </a:t>
            </a:r>
            <a:r>
              <a:rPr lang="pl-PL" dirty="0" err="1"/>
              <a:t>type</a:t>
            </a:r>
            <a:r>
              <a:rPr lang="pl-PL" dirty="0"/>
              <a:t> </a:t>
            </a:r>
            <a:r>
              <a:rPr lang="pl-PL" dirty="0" err="1"/>
              <a:t>patterns</a:t>
            </a:r>
            <a:r>
              <a:rPr lang="pl-PL" dirty="0"/>
              <a:t>:</a:t>
            </a:r>
          </a:p>
          <a:p>
            <a:pPr>
              <a:buFont typeface="Arial" pitchFamily="34" charset="0"/>
              <a:buChar char="•"/>
            </a:pPr>
            <a:r>
              <a:rPr lang="pl-PL" dirty="0" err="1"/>
              <a:t>Shared</a:t>
            </a:r>
            <a:r>
              <a:rPr lang="pl-PL" dirty="0"/>
              <a:t>-data (</a:t>
            </a:r>
            <a:r>
              <a:rPr lang="pl-PL" dirty="0" err="1"/>
              <a:t>or</a:t>
            </a:r>
            <a:r>
              <a:rPr lang="pl-PL" dirty="0"/>
              <a:t> </a:t>
            </a:r>
            <a:r>
              <a:rPr lang="pl-PL" dirty="0" err="1"/>
              <a:t>repository</a:t>
            </a:r>
            <a:r>
              <a:rPr lang="pl-PL" dirty="0"/>
              <a:t>) </a:t>
            </a:r>
            <a:r>
              <a:rPr lang="pl-PL" dirty="0" err="1"/>
              <a:t>pattern</a:t>
            </a:r>
            <a:r>
              <a:rPr lang="pl-PL" dirty="0"/>
              <a:t>. </a:t>
            </a:r>
          </a:p>
          <a:p>
            <a:pPr lvl="1"/>
            <a:r>
              <a:rPr lang="pl-PL" dirty="0" err="1"/>
              <a:t>This</a:t>
            </a:r>
            <a:r>
              <a:rPr lang="pl-PL" dirty="0"/>
              <a:t> </a:t>
            </a:r>
            <a:r>
              <a:rPr lang="pl-PL" dirty="0" err="1"/>
              <a:t>pattern</a:t>
            </a:r>
            <a:r>
              <a:rPr lang="pl-PL" dirty="0"/>
              <a:t> </a:t>
            </a:r>
            <a:r>
              <a:rPr lang="pl-PL" dirty="0" err="1"/>
              <a:t>comprises</a:t>
            </a:r>
            <a:r>
              <a:rPr lang="pl-PL" dirty="0"/>
              <a:t> </a:t>
            </a:r>
            <a:r>
              <a:rPr lang="pl-PL" dirty="0" err="1"/>
              <a:t>components</a:t>
            </a:r>
            <a:r>
              <a:rPr lang="pl-PL" dirty="0"/>
              <a:t> and </a:t>
            </a:r>
            <a:r>
              <a:rPr lang="pl-PL" dirty="0" err="1"/>
              <a:t>connectors</a:t>
            </a:r>
            <a:r>
              <a:rPr lang="pl-PL" dirty="0"/>
              <a:t> </a:t>
            </a:r>
            <a:r>
              <a:rPr lang="pl-PL" dirty="0" err="1"/>
              <a:t>that</a:t>
            </a:r>
            <a:r>
              <a:rPr lang="pl-PL" dirty="0"/>
              <a:t> </a:t>
            </a:r>
            <a:r>
              <a:rPr lang="pl-PL" dirty="0" err="1"/>
              <a:t>create</a:t>
            </a:r>
            <a:r>
              <a:rPr lang="pl-PL" dirty="0"/>
              <a:t>, </a:t>
            </a:r>
            <a:r>
              <a:rPr lang="pl-PL" dirty="0" err="1"/>
              <a:t>store</a:t>
            </a:r>
            <a:r>
              <a:rPr lang="pl-PL" dirty="0"/>
              <a:t>, and </a:t>
            </a:r>
            <a:r>
              <a:rPr lang="pl-PL" dirty="0" err="1"/>
              <a:t>access</a:t>
            </a:r>
            <a:r>
              <a:rPr lang="pl-PL" dirty="0"/>
              <a:t> </a:t>
            </a:r>
            <a:r>
              <a:rPr lang="pl-PL" dirty="0" err="1"/>
              <a:t>persistent</a:t>
            </a:r>
            <a:r>
              <a:rPr lang="pl-PL" dirty="0"/>
              <a:t> data. </a:t>
            </a:r>
          </a:p>
          <a:p>
            <a:pPr lvl="1"/>
            <a:r>
              <a:rPr lang="pl-PL" dirty="0"/>
              <a:t>The </a:t>
            </a:r>
            <a:r>
              <a:rPr lang="pl-PL" dirty="0" err="1"/>
              <a:t>repository</a:t>
            </a:r>
            <a:r>
              <a:rPr lang="pl-PL" dirty="0"/>
              <a:t> </a:t>
            </a:r>
            <a:r>
              <a:rPr lang="pl-PL" dirty="0" err="1"/>
              <a:t>usually</a:t>
            </a:r>
            <a:r>
              <a:rPr lang="pl-PL" dirty="0"/>
              <a:t> </a:t>
            </a:r>
            <a:r>
              <a:rPr lang="pl-PL" dirty="0" err="1"/>
              <a:t>takes</a:t>
            </a:r>
            <a:r>
              <a:rPr lang="pl-PL" dirty="0"/>
              <a:t> the form of a (</a:t>
            </a:r>
            <a:r>
              <a:rPr lang="pl-PL" dirty="0" err="1"/>
              <a:t>commercial</a:t>
            </a:r>
            <a:r>
              <a:rPr lang="pl-PL" dirty="0"/>
              <a:t>) </a:t>
            </a:r>
            <a:r>
              <a:rPr lang="pl-PL" dirty="0" err="1"/>
              <a:t>database</a:t>
            </a:r>
            <a:r>
              <a:rPr lang="pl-PL" dirty="0"/>
              <a:t>. </a:t>
            </a:r>
          </a:p>
          <a:p>
            <a:pPr lvl="1"/>
            <a:r>
              <a:rPr lang="pl-PL" dirty="0"/>
              <a:t>The </a:t>
            </a:r>
            <a:r>
              <a:rPr lang="pl-PL" dirty="0" err="1"/>
              <a:t>connectors</a:t>
            </a:r>
            <a:r>
              <a:rPr lang="pl-PL" dirty="0"/>
              <a:t> </a:t>
            </a:r>
            <a:r>
              <a:rPr lang="pl-PL" dirty="0" err="1"/>
              <a:t>are</a:t>
            </a:r>
            <a:r>
              <a:rPr lang="pl-PL" dirty="0"/>
              <a:t> </a:t>
            </a:r>
            <a:r>
              <a:rPr lang="pl-PL" dirty="0" err="1"/>
              <a:t>protocols</a:t>
            </a:r>
            <a:r>
              <a:rPr lang="pl-PL" dirty="0"/>
              <a:t> for </a:t>
            </a:r>
            <a:r>
              <a:rPr lang="pl-PL" dirty="0" err="1"/>
              <a:t>managing</a:t>
            </a:r>
            <a:r>
              <a:rPr lang="pl-PL" dirty="0"/>
              <a:t> the data, </a:t>
            </a:r>
            <a:r>
              <a:rPr lang="pl-PL" dirty="0" err="1"/>
              <a:t>such</a:t>
            </a:r>
            <a:r>
              <a:rPr lang="pl-PL" dirty="0"/>
              <a:t> as SQL.</a:t>
            </a:r>
          </a:p>
          <a:p>
            <a:pPr>
              <a:buFont typeface="Arial" pitchFamily="34" charset="0"/>
              <a:buChar char="•"/>
            </a:pPr>
            <a:r>
              <a:rPr lang="pl-PL" dirty="0" err="1"/>
              <a:t>Client-server</a:t>
            </a:r>
            <a:r>
              <a:rPr lang="pl-PL" dirty="0"/>
              <a:t> </a:t>
            </a:r>
            <a:r>
              <a:rPr lang="pl-PL" dirty="0" err="1"/>
              <a:t>pattern</a:t>
            </a:r>
            <a:r>
              <a:rPr lang="pl-PL" dirty="0"/>
              <a:t>. </a:t>
            </a:r>
          </a:p>
          <a:p>
            <a:pPr lvl="1"/>
            <a:r>
              <a:rPr lang="pl-PL" dirty="0"/>
              <a:t>The </a:t>
            </a:r>
            <a:r>
              <a:rPr lang="pl-PL" dirty="0" err="1"/>
              <a:t>components</a:t>
            </a:r>
            <a:r>
              <a:rPr lang="pl-PL" dirty="0"/>
              <a:t> </a:t>
            </a:r>
            <a:r>
              <a:rPr lang="pl-PL" dirty="0" err="1"/>
              <a:t>are</a:t>
            </a:r>
            <a:r>
              <a:rPr lang="pl-PL" dirty="0"/>
              <a:t> the </a:t>
            </a:r>
            <a:r>
              <a:rPr lang="pl-PL" dirty="0" err="1"/>
              <a:t>clients</a:t>
            </a:r>
            <a:r>
              <a:rPr lang="pl-PL" dirty="0"/>
              <a:t> and the </a:t>
            </a:r>
            <a:r>
              <a:rPr lang="pl-PL" dirty="0" err="1"/>
              <a:t>servers</a:t>
            </a:r>
            <a:r>
              <a:rPr lang="pl-PL" dirty="0"/>
              <a:t>.</a:t>
            </a:r>
          </a:p>
          <a:p>
            <a:pPr lvl="1"/>
            <a:r>
              <a:rPr lang="pl-PL" dirty="0"/>
              <a:t>The </a:t>
            </a:r>
            <a:r>
              <a:rPr lang="pl-PL" dirty="0" err="1"/>
              <a:t>connectors</a:t>
            </a:r>
            <a:r>
              <a:rPr lang="pl-PL" dirty="0"/>
              <a:t> </a:t>
            </a:r>
            <a:r>
              <a:rPr lang="pl-PL" dirty="0" err="1"/>
              <a:t>are</a:t>
            </a:r>
            <a:r>
              <a:rPr lang="pl-PL" dirty="0"/>
              <a:t> </a:t>
            </a:r>
            <a:r>
              <a:rPr lang="pl-PL" dirty="0" err="1"/>
              <a:t>protocols</a:t>
            </a:r>
            <a:r>
              <a:rPr lang="pl-PL" dirty="0"/>
              <a:t> and </a:t>
            </a:r>
            <a:r>
              <a:rPr lang="pl-PL" dirty="0" err="1"/>
              <a:t>messages</a:t>
            </a:r>
            <a:r>
              <a:rPr lang="pl-PL" dirty="0"/>
              <a:t> </a:t>
            </a:r>
            <a:r>
              <a:rPr lang="pl-PL" dirty="0" err="1"/>
              <a:t>they</a:t>
            </a:r>
            <a:r>
              <a:rPr lang="pl-PL" dirty="0"/>
              <a:t> </a:t>
            </a:r>
            <a:r>
              <a:rPr lang="pl-PL" dirty="0" err="1"/>
              <a:t>share</a:t>
            </a:r>
            <a:r>
              <a:rPr lang="pl-PL" dirty="0"/>
              <a:t> </a:t>
            </a:r>
            <a:r>
              <a:rPr lang="pl-PL" dirty="0" err="1"/>
              <a:t>among</a:t>
            </a:r>
            <a:r>
              <a:rPr lang="pl-PL" dirty="0"/>
              <a:t> </a:t>
            </a:r>
            <a:r>
              <a:rPr lang="pl-PL" dirty="0" err="1"/>
              <a:t>each</a:t>
            </a:r>
            <a:r>
              <a:rPr lang="pl-PL" dirty="0"/>
              <a:t> </a:t>
            </a:r>
            <a:r>
              <a:rPr lang="pl-PL" dirty="0" err="1"/>
              <a:t>other</a:t>
            </a:r>
            <a:r>
              <a:rPr lang="pl-PL" dirty="0"/>
              <a:t> to </a:t>
            </a:r>
            <a:r>
              <a:rPr lang="pl-PL" dirty="0" err="1"/>
              <a:t>carry</a:t>
            </a:r>
            <a:r>
              <a:rPr lang="pl-PL" dirty="0"/>
              <a:t> out the </a:t>
            </a:r>
            <a:r>
              <a:rPr lang="pl-PL" dirty="0" err="1"/>
              <a:t>system’s</a:t>
            </a:r>
            <a:r>
              <a:rPr lang="pl-PL" dirty="0"/>
              <a:t> </a:t>
            </a:r>
            <a:r>
              <a:rPr lang="pl-PL" dirty="0" err="1"/>
              <a:t>work</a:t>
            </a:r>
            <a:r>
              <a:rPr lang="pl-PL" dirty="0"/>
              <a: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Architectural Patterns</a:t>
            </a:r>
          </a:p>
        </p:txBody>
      </p:sp>
      <p:sp>
        <p:nvSpPr>
          <p:cNvPr id="2" name="Date Placeholder 1">
            <a:extLst>
              <a:ext uri="{FF2B5EF4-FFF2-40B4-BE49-F238E27FC236}">
                <a16:creationId xmlns:a16="http://schemas.microsoft.com/office/drawing/2014/main" id="{DF7AC492-0774-4137-B943-06DA3910653C}"/>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879F8E25-CBA7-471E-91CC-134E69B84AAB}"/>
              </a:ext>
            </a:extLst>
          </p:cNvPr>
          <p:cNvSpPr>
            <a:spLocks noGrp="1"/>
          </p:cNvSpPr>
          <p:nvPr>
            <p:ph type="sldNum" sz="quarter" idx="14"/>
          </p:nvPr>
        </p:nvSpPr>
        <p:spPr/>
        <p:txBody>
          <a:bodyPr/>
          <a:lstStyle/>
          <a:p>
            <a:fld id="{BC8D7E44-7D4F-4942-A8C9-2DF6BF8399E8}" type="slidenum">
              <a:rPr lang="en-US" smtClean="0"/>
              <a:pPr/>
              <a:t>76</a:t>
            </a:fld>
            <a:endParaRPr lang="en-US" dirty="0"/>
          </a:p>
        </p:txBody>
      </p:sp>
    </p:spTree>
    <p:extLst>
      <p:ext uri="{BB962C8B-B14F-4D97-AF65-F5344CB8AC3E}">
        <p14:creationId xmlns:p14="http://schemas.microsoft.com/office/powerpoint/2010/main" val="29680587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pl-PL" dirty="0" err="1"/>
              <a:t>Common</a:t>
            </a:r>
            <a:r>
              <a:rPr lang="pl-PL" dirty="0"/>
              <a:t> </a:t>
            </a:r>
            <a:r>
              <a:rPr lang="pl-PL" dirty="0" err="1"/>
              <a:t>allocation</a:t>
            </a:r>
            <a:r>
              <a:rPr lang="pl-PL" dirty="0"/>
              <a:t> </a:t>
            </a:r>
            <a:r>
              <a:rPr lang="pl-PL" dirty="0" err="1"/>
              <a:t>patterns</a:t>
            </a:r>
            <a:r>
              <a:rPr lang="pl-PL" dirty="0"/>
              <a:t>:</a:t>
            </a:r>
          </a:p>
          <a:p>
            <a:pPr>
              <a:buFont typeface="Arial" pitchFamily="34" charset="0"/>
              <a:buChar char="•"/>
            </a:pPr>
            <a:r>
              <a:rPr lang="pl-PL" dirty="0"/>
              <a:t>Multi-</a:t>
            </a:r>
            <a:r>
              <a:rPr lang="pl-PL" dirty="0" err="1"/>
              <a:t>tier</a:t>
            </a:r>
            <a:r>
              <a:rPr lang="pl-PL" dirty="0"/>
              <a:t> </a:t>
            </a:r>
            <a:r>
              <a:rPr lang="pl-PL" dirty="0" err="1"/>
              <a:t>pattern</a:t>
            </a:r>
            <a:endParaRPr lang="pl-PL" dirty="0"/>
          </a:p>
          <a:p>
            <a:pPr lvl="1"/>
            <a:r>
              <a:rPr lang="pl-PL" dirty="0" err="1"/>
              <a:t>Describes</a:t>
            </a:r>
            <a:r>
              <a:rPr lang="pl-PL" dirty="0"/>
              <a:t> </a:t>
            </a:r>
            <a:r>
              <a:rPr lang="pl-PL" dirty="0" err="1"/>
              <a:t>how</a:t>
            </a:r>
            <a:r>
              <a:rPr lang="pl-PL" dirty="0"/>
              <a:t> to </a:t>
            </a:r>
            <a:r>
              <a:rPr lang="pl-PL" dirty="0" err="1"/>
              <a:t>distribute</a:t>
            </a:r>
            <a:r>
              <a:rPr lang="pl-PL" dirty="0"/>
              <a:t> and </a:t>
            </a:r>
            <a:r>
              <a:rPr lang="pl-PL" dirty="0" err="1"/>
              <a:t>allocate</a:t>
            </a:r>
            <a:r>
              <a:rPr lang="pl-PL" dirty="0"/>
              <a:t> the </a:t>
            </a:r>
            <a:r>
              <a:rPr lang="pl-PL" dirty="0" err="1"/>
              <a:t>components</a:t>
            </a:r>
            <a:r>
              <a:rPr lang="pl-PL" dirty="0"/>
              <a:t> of a system in </a:t>
            </a:r>
            <a:r>
              <a:rPr lang="pl-PL" dirty="0" err="1"/>
              <a:t>distinct</a:t>
            </a:r>
            <a:r>
              <a:rPr lang="pl-PL" dirty="0"/>
              <a:t> </a:t>
            </a:r>
            <a:r>
              <a:rPr lang="pl-PL" dirty="0" err="1"/>
              <a:t>subsets</a:t>
            </a:r>
            <a:r>
              <a:rPr lang="pl-PL" dirty="0"/>
              <a:t> of hardware and software, </a:t>
            </a:r>
            <a:r>
              <a:rPr lang="pl-PL" dirty="0" err="1"/>
              <a:t>connected</a:t>
            </a:r>
            <a:r>
              <a:rPr lang="pl-PL" dirty="0"/>
              <a:t> by </a:t>
            </a:r>
            <a:r>
              <a:rPr lang="pl-PL" dirty="0" err="1"/>
              <a:t>some</a:t>
            </a:r>
            <a:r>
              <a:rPr lang="pl-PL" dirty="0"/>
              <a:t> </a:t>
            </a:r>
            <a:r>
              <a:rPr lang="pl-PL" dirty="0" err="1"/>
              <a:t>communication</a:t>
            </a:r>
            <a:r>
              <a:rPr lang="pl-PL" dirty="0"/>
              <a:t> medium. </a:t>
            </a:r>
          </a:p>
          <a:p>
            <a:pPr lvl="1"/>
            <a:r>
              <a:rPr lang="pl-PL" dirty="0" err="1"/>
              <a:t>This</a:t>
            </a:r>
            <a:r>
              <a:rPr lang="pl-PL" dirty="0"/>
              <a:t> </a:t>
            </a:r>
            <a:r>
              <a:rPr lang="pl-PL" dirty="0" err="1"/>
              <a:t>pattern</a:t>
            </a:r>
            <a:r>
              <a:rPr lang="pl-PL" dirty="0"/>
              <a:t> </a:t>
            </a:r>
            <a:r>
              <a:rPr lang="pl-PL" dirty="0" err="1"/>
              <a:t>specializes</a:t>
            </a:r>
            <a:r>
              <a:rPr lang="pl-PL" dirty="0"/>
              <a:t> the </a:t>
            </a:r>
            <a:r>
              <a:rPr lang="pl-PL" dirty="0" err="1"/>
              <a:t>generic</a:t>
            </a:r>
            <a:r>
              <a:rPr lang="pl-PL" dirty="0"/>
              <a:t> </a:t>
            </a:r>
            <a:r>
              <a:rPr lang="pl-PL" dirty="0" err="1"/>
              <a:t>deployment</a:t>
            </a:r>
            <a:r>
              <a:rPr lang="pl-PL" dirty="0"/>
              <a:t> (software-to-hardware </a:t>
            </a:r>
            <a:r>
              <a:rPr lang="pl-PL" dirty="0" err="1"/>
              <a:t>allocation</a:t>
            </a:r>
            <a:r>
              <a:rPr lang="pl-PL" dirty="0"/>
              <a:t>) </a:t>
            </a:r>
            <a:r>
              <a:rPr lang="pl-PL" dirty="0" err="1"/>
              <a:t>structure</a:t>
            </a:r>
            <a:r>
              <a:rPr lang="pl-PL" dirty="0"/>
              <a:t>.</a:t>
            </a:r>
          </a:p>
          <a:p>
            <a:pPr>
              <a:buFont typeface="Arial" pitchFamily="34" charset="0"/>
              <a:buChar char="•"/>
            </a:pPr>
            <a:r>
              <a:rPr lang="pl-PL" dirty="0" err="1"/>
              <a:t>Competence</a:t>
            </a:r>
            <a:r>
              <a:rPr lang="pl-PL" dirty="0"/>
              <a:t> </a:t>
            </a:r>
            <a:r>
              <a:rPr lang="pl-PL" dirty="0" err="1"/>
              <a:t>center</a:t>
            </a:r>
            <a:r>
              <a:rPr lang="pl-PL" dirty="0"/>
              <a:t> </a:t>
            </a:r>
            <a:r>
              <a:rPr lang="pl-PL" dirty="0" err="1"/>
              <a:t>pattern</a:t>
            </a:r>
            <a:r>
              <a:rPr lang="pl-PL" dirty="0"/>
              <a:t> and platform </a:t>
            </a:r>
            <a:r>
              <a:rPr lang="pl-PL" dirty="0" err="1"/>
              <a:t>pattern</a:t>
            </a:r>
            <a:endParaRPr lang="pl-PL" dirty="0"/>
          </a:p>
          <a:p>
            <a:pPr lvl="1"/>
            <a:r>
              <a:rPr lang="pl-PL" dirty="0" err="1"/>
              <a:t>These</a:t>
            </a:r>
            <a:r>
              <a:rPr lang="pl-PL" dirty="0"/>
              <a:t> </a:t>
            </a:r>
            <a:r>
              <a:rPr lang="pl-PL" dirty="0" err="1"/>
              <a:t>patterns</a:t>
            </a:r>
            <a:r>
              <a:rPr lang="pl-PL" dirty="0"/>
              <a:t> </a:t>
            </a:r>
            <a:r>
              <a:rPr lang="pl-PL" dirty="0" err="1"/>
              <a:t>specialize</a:t>
            </a:r>
            <a:r>
              <a:rPr lang="pl-PL" dirty="0"/>
              <a:t> a software </a:t>
            </a:r>
            <a:r>
              <a:rPr lang="pl-PL" dirty="0" err="1"/>
              <a:t>system’s</a:t>
            </a:r>
            <a:r>
              <a:rPr lang="pl-PL" dirty="0"/>
              <a:t> </a:t>
            </a:r>
            <a:r>
              <a:rPr lang="pl-PL" dirty="0" err="1"/>
              <a:t>work</a:t>
            </a:r>
            <a:r>
              <a:rPr lang="pl-PL" dirty="0"/>
              <a:t> </a:t>
            </a:r>
            <a:r>
              <a:rPr lang="pl-PL" dirty="0" err="1"/>
              <a:t>assignment</a:t>
            </a:r>
            <a:r>
              <a:rPr lang="pl-PL" dirty="0"/>
              <a:t> </a:t>
            </a:r>
            <a:r>
              <a:rPr lang="pl-PL" dirty="0" err="1"/>
              <a:t>structure</a:t>
            </a:r>
            <a:r>
              <a:rPr lang="pl-PL" dirty="0"/>
              <a:t>. </a:t>
            </a:r>
          </a:p>
          <a:p>
            <a:pPr lvl="1"/>
            <a:r>
              <a:rPr lang="pl-PL" dirty="0"/>
              <a:t>In </a:t>
            </a:r>
            <a:r>
              <a:rPr lang="pl-PL" dirty="0" err="1"/>
              <a:t>competence</a:t>
            </a:r>
            <a:r>
              <a:rPr lang="pl-PL" dirty="0"/>
              <a:t> </a:t>
            </a:r>
            <a:r>
              <a:rPr lang="pl-PL" dirty="0" err="1"/>
              <a:t>center</a:t>
            </a:r>
            <a:r>
              <a:rPr lang="pl-PL" dirty="0"/>
              <a:t>, </a:t>
            </a:r>
            <a:r>
              <a:rPr lang="pl-PL" dirty="0" err="1"/>
              <a:t>work</a:t>
            </a:r>
            <a:r>
              <a:rPr lang="pl-PL" dirty="0"/>
              <a:t> </a:t>
            </a:r>
            <a:r>
              <a:rPr lang="pl-PL" dirty="0" err="1"/>
              <a:t>is</a:t>
            </a:r>
            <a:r>
              <a:rPr lang="pl-PL" dirty="0"/>
              <a:t> </a:t>
            </a:r>
            <a:r>
              <a:rPr lang="pl-PL" dirty="0" err="1"/>
              <a:t>allocated</a:t>
            </a:r>
            <a:r>
              <a:rPr lang="pl-PL" dirty="0"/>
              <a:t> to </a:t>
            </a:r>
            <a:r>
              <a:rPr lang="pl-PL" dirty="0" err="1"/>
              <a:t>sites</a:t>
            </a:r>
            <a:r>
              <a:rPr lang="pl-PL" dirty="0"/>
              <a:t> </a:t>
            </a:r>
            <a:r>
              <a:rPr lang="pl-PL" dirty="0" err="1"/>
              <a:t>depending</a:t>
            </a:r>
            <a:r>
              <a:rPr lang="pl-PL" dirty="0"/>
              <a:t> on the </a:t>
            </a:r>
            <a:r>
              <a:rPr lang="pl-PL" dirty="0" err="1"/>
              <a:t>technical</a:t>
            </a:r>
            <a:r>
              <a:rPr lang="pl-PL" dirty="0"/>
              <a:t> </a:t>
            </a:r>
            <a:r>
              <a:rPr lang="pl-PL" dirty="0" err="1"/>
              <a:t>or</a:t>
            </a:r>
            <a:r>
              <a:rPr lang="pl-PL" dirty="0"/>
              <a:t> </a:t>
            </a:r>
            <a:r>
              <a:rPr lang="pl-PL" dirty="0" err="1"/>
              <a:t>domain</a:t>
            </a:r>
            <a:r>
              <a:rPr lang="pl-PL" dirty="0"/>
              <a:t> </a:t>
            </a:r>
            <a:r>
              <a:rPr lang="pl-PL" dirty="0" err="1"/>
              <a:t>expertise</a:t>
            </a:r>
            <a:r>
              <a:rPr lang="pl-PL" dirty="0"/>
              <a:t> </a:t>
            </a:r>
            <a:r>
              <a:rPr lang="pl-PL" dirty="0" err="1"/>
              <a:t>located</a:t>
            </a:r>
            <a:r>
              <a:rPr lang="pl-PL" dirty="0"/>
              <a:t> </a:t>
            </a:r>
            <a:r>
              <a:rPr lang="pl-PL" dirty="0" err="1"/>
              <a:t>at</a:t>
            </a:r>
            <a:r>
              <a:rPr lang="pl-PL" dirty="0"/>
              <a:t> a </a:t>
            </a:r>
            <a:r>
              <a:rPr lang="pl-PL" dirty="0" err="1"/>
              <a:t>site</a:t>
            </a:r>
            <a:r>
              <a:rPr lang="pl-PL" dirty="0"/>
              <a:t>. </a:t>
            </a:r>
          </a:p>
          <a:p>
            <a:pPr lvl="1"/>
            <a:r>
              <a:rPr lang="pl-PL" dirty="0"/>
              <a:t>In platform, one </a:t>
            </a:r>
            <a:r>
              <a:rPr lang="pl-PL" dirty="0" err="1"/>
              <a:t>site</a:t>
            </a:r>
            <a:r>
              <a:rPr lang="pl-PL" dirty="0"/>
              <a:t> </a:t>
            </a:r>
            <a:r>
              <a:rPr lang="pl-PL" dirty="0" err="1"/>
              <a:t>is</a:t>
            </a:r>
            <a:r>
              <a:rPr lang="pl-PL" dirty="0"/>
              <a:t> </a:t>
            </a:r>
            <a:r>
              <a:rPr lang="pl-PL" dirty="0" err="1"/>
              <a:t>tasked</a:t>
            </a:r>
            <a:r>
              <a:rPr lang="pl-PL" dirty="0"/>
              <a:t> with developing </a:t>
            </a:r>
            <a:r>
              <a:rPr lang="pl-PL" dirty="0" err="1"/>
              <a:t>reusable</a:t>
            </a:r>
            <a:r>
              <a:rPr lang="pl-PL" dirty="0"/>
              <a:t> </a:t>
            </a:r>
            <a:r>
              <a:rPr lang="pl-PL" dirty="0" err="1"/>
              <a:t>core</a:t>
            </a:r>
            <a:r>
              <a:rPr lang="pl-PL" dirty="0"/>
              <a:t> </a:t>
            </a:r>
            <a:r>
              <a:rPr lang="pl-PL" dirty="0" err="1"/>
              <a:t>assets</a:t>
            </a:r>
            <a:r>
              <a:rPr lang="pl-PL" dirty="0"/>
              <a:t> of a software </a:t>
            </a:r>
            <a:r>
              <a:rPr lang="pl-PL" dirty="0" err="1"/>
              <a:t>product</a:t>
            </a:r>
            <a:r>
              <a:rPr lang="pl-PL" dirty="0"/>
              <a:t> </a:t>
            </a:r>
            <a:r>
              <a:rPr lang="pl-PL" dirty="0" err="1"/>
              <a:t>line</a:t>
            </a:r>
            <a:r>
              <a:rPr lang="pl-PL" dirty="0"/>
              <a:t>, and </a:t>
            </a:r>
            <a:r>
              <a:rPr lang="pl-PL" dirty="0" err="1"/>
              <a:t>other</a:t>
            </a:r>
            <a:r>
              <a:rPr lang="pl-PL" dirty="0"/>
              <a:t> </a:t>
            </a:r>
            <a:r>
              <a:rPr lang="pl-PL" dirty="0" err="1"/>
              <a:t>sites</a:t>
            </a:r>
            <a:r>
              <a:rPr lang="pl-PL" dirty="0"/>
              <a:t> </a:t>
            </a:r>
            <a:r>
              <a:rPr lang="pl-PL" dirty="0" err="1"/>
              <a:t>develop</a:t>
            </a:r>
            <a:r>
              <a:rPr lang="pl-PL" dirty="0"/>
              <a:t> </a:t>
            </a:r>
            <a:r>
              <a:rPr lang="pl-PL" dirty="0" err="1"/>
              <a:t>applications</a:t>
            </a:r>
            <a:r>
              <a:rPr lang="pl-PL" dirty="0"/>
              <a:t> </a:t>
            </a:r>
            <a:r>
              <a:rPr lang="pl-PL" dirty="0" err="1"/>
              <a:t>that</a:t>
            </a:r>
            <a:r>
              <a:rPr lang="pl-PL" dirty="0"/>
              <a:t> </a:t>
            </a:r>
            <a:r>
              <a:rPr lang="pl-PL" dirty="0" err="1"/>
              <a:t>use</a:t>
            </a:r>
            <a:r>
              <a:rPr lang="pl-PL" dirty="0"/>
              <a:t> the </a:t>
            </a:r>
            <a:r>
              <a:rPr lang="pl-PL" dirty="0" err="1"/>
              <a:t>core</a:t>
            </a:r>
            <a:r>
              <a:rPr lang="pl-PL" dirty="0"/>
              <a:t> </a:t>
            </a:r>
            <a:r>
              <a:rPr lang="pl-PL" dirty="0" err="1"/>
              <a:t>assets</a:t>
            </a:r>
            <a:r>
              <a:rPr lang="pl-PL" dirty="0"/>
              <a:t>.</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Architectural Patterns</a:t>
            </a:r>
          </a:p>
        </p:txBody>
      </p:sp>
      <p:sp>
        <p:nvSpPr>
          <p:cNvPr id="2" name="Date Placeholder 1">
            <a:extLst>
              <a:ext uri="{FF2B5EF4-FFF2-40B4-BE49-F238E27FC236}">
                <a16:creationId xmlns:a16="http://schemas.microsoft.com/office/drawing/2014/main" id="{5799EC79-E76B-42D7-BDE9-B07496504BCB}"/>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8535995F-1977-4EDD-BF61-686BA094978E}"/>
              </a:ext>
            </a:extLst>
          </p:cNvPr>
          <p:cNvSpPr>
            <a:spLocks noGrp="1"/>
          </p:cNvSpPr>
          <p:nvPr>
            <p:ph type="sldNum" sz="quarter" idx="14"/>
          </p:nvPr>
        </p:nvSpPr>
        <p:spPr/>
        <p:txBody>
          <a:bodyPr/>
          <a:lstStyle/>
          <a:p>
            <a:fld id="{BC8D7E44-7D4F-4942-A8C9-2DF6BF8399E8}" type="slidenum">
              <a:rPr lang="en-US" smtClean="0"/>
              <a:pPr/>
              <a:t>77</a:t>
            </a:fld>
            <a:endParaRPr lang="en-US" dirty="0"/>
          </a:p>
        </p:txBody>
      </p:sp>
    </p:spTree>
    <p:extLst>
      <p:ext uri="{BB962C8B-B14F-4D97-AF65-F5344CB8AC3E}">
        <p14:creationId xmlns:p14="http://schemas.microsoft.com/office/powerpoint/2010/main" val="39434163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There is no such thing as an inherently good or bad architecture. </a:t>
            </a:r>
          </a:p>
          <a:p>
            <a:pPr>
              <a:buFont typeface="Arial" pitchFamily="34" charset="0"/>
              <a:buChar char="•"/>
            </a:pPr>
            <a:r>
              <a:rPr lang="en-US" dirty="0"/>
              <a:t>Architectures are either more or less fit for some purpose</a:t>
            </a:r>
          </a:p>
          <a:p>
            <a:pPr>
              <a:buFont typeface="Arial" pitchFamily="34" charset="0"/>
              <a:buChar char="•"/>
            </a:pPr>
            <a:r>
              <a:rPr lang="pl-PL" dirty="0" err="1"/>
              <a:t>Architectures</a:t>
            </a:r>
            <a:r>
              <a:rPr lang="pl-PL" dirty="0"/>
              <a:t> </a:t>
            </a:r>
            <a:r>
              <a:rPr lang="pl-PL" dirty="0" err="1"/>
              <a:t>can</a:t>
            </a:r>
            <a:r>
              <a:rPr lang="pl-PL" dirty="0"/>
              <a:t> be </a:t>
            </a:r>
            <a:r>
              <a:rPr lang="pl-PL" dirty="0" err="1"/>
              <a:t>evaluated</a:t>
            </a:r>
            <a:r>
              <a:rPr lang="pl-PL" dirty="0"/>
              <a:t> but </a:t>
            </a:r>
            <a:r>
              <a:rPr lang="pl-PL" dirty="0" err="1"/>
              <a:t>only</a:t>
            </a:r>
            <a:r>
              <a:rPr lang="pl-PL" dirty="0"/>
              <a:t> in the </a:t>
            </a:r>
            <a:r>
              <a:rPr lang="pl-PL" dirty="0" err="1"/>
              <a:t>context</a:t>
            </a:r>
            <a:r>
              <a:rPr lang="pl-PL" dirty="0"/>
              <a:t> of </a:t>
            </a:r>
            <a:r>
              <a:rPr lang="pl-PL" dirty="0" err="1"/>
              <a:t>specific</a:t>
            </a:r>
            <a:r>
              <a:rPr lang="pl-PL" dirty="0"/>
              <a:t> </a:t>
            </a:r>
            <a:r>
              <a:rPr lang="pl-PL" dirty="0" err="1"/>
              <a:t>stated</a:t>
            </a:r>
            <a:r>
              <a:rPr lang="pl-PL" dirty="0"/>
              <a:t> </a:t>
            </a:r>
            <a:r>
              <a:rPr lang="pl-PL" dirty="0" err="1"/>
              <a:t>goals</a:t>
            </a:r>
            <a:r>
              <a:rPr lang="pl-PL" dirty="0"/>
              <a:t>.</a:t>
            </a:r>
          </a:p>
          <a:p>
            <a:pPr>
              <a:buFont typeface="Arial" pitchFamily="34" charset="0"/>
              <a:buChar char="•"/>
            </a:pPr>
            <a:endParaRPr lang="pl-PL" dirty="0"/>
          </a:p>
          <a:p>
            <a:pPr>
              <a:buFont typeface="Arial" pitchFamily="34" charset="0"/>
              <a:buChar char="•"/>
            </a:pPr>
            <a:r>
              <a:rPr lang="pl-PL" dirty="0" err="1"/>
              <a:t>There</a:t>
            </a:r>
            <a:r>
              <a:rPr lang="pl-PL" dirty="0"/>
              <a:t> </a:t>
            </a:r>
            <a:r>
              <a:rPr lang="pl-PL" dirty="0" err="1"/>
              <a:t>are</a:t>
            </a:r>
            <a:r>
              <a:rPr lang="pl-PL" dirty="0"/>
              <a:t>, </a:t>
            </a:r>
            <a:r>
              <a:rPr lang="pl-PL" dirty="0" err="1"/>
              <a:t>however</a:t>
            </a:r>
            <a:r>
              <a:rPr lang="pl-PL" dirty="0"/>
              <a:t>, </a:t>
            </a:r>
            <a:r>
              <a:rPr lang="pl-PL" dirty="0" err="1"/>
              <a:t>good</a:t>
            </a:r>
            <a:r>
              <a:rPr lang="pl-PL" dirty="0"/>
              <a:t> </a:t>
            </a:r>
            <a:r>
              <a:rPr lang="pl-PL" dirty="0" err="1"/>
              <a:t>rules</a:t>
            </a:r>
            <a:r>
              <a:rPr lang="pl-PL" dirty="0"/>
              <a:t> of </a:t>
            </a:r>
            <a:r>
              <a:rPr lang="pl-PL" dirty="0" err="1"/>
              <a:t>thumb</a:t>
            </a:r>
            <a:r>
              <a:rPr lang="pl-PL" dirty="0"/>
              <a: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What Makes a “Good” Architecture?</a:t>
            </a:r>
          </a:p>
        </p:txBody>
      </p:sp>
      <p:sp>
        <p:nvSpPr>
          <p:cNvPr id="2" name="Date Placeholder 1">
            <a:extLst>
              <a:ext uri="{FF2B5EF4-FFF2-40B4-BE49-F238E27FC236}">
                <a16:creationId xmlns:a16="http://schemas.microsoft.com/office/drawing/2014/main" id="{8738C9FF-E1F4-46DF-8C9D-CA40BD993C8E}"/>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126FEE2D-D333-40EE-9BD3-C49069F31BBA}"/>
              </a:ext>
            </a:extLst>
          </p:cNvPr>
          <p:cNvSpPr>
            <a:spLocks noGrp="1"/>
          </p:cNvSpPr>
          <p:nvPr>
            <p:ph type="sldNum" sz="quarter" idx="14"/>
          </p:nvPr>
        </p:nvSpPr>
        <p:spPr/>
        <p:txBody>
          <a:bodyPr/>
          <a:lstStyle/>
          <a:p>
            <a:fld id="{BC8D7E44-7D4F-4942-A8C9-2DF6BF8399E8}" type="slidenum">
              <a:rPr lang="en-US" smtClean="0"/>
              <a:pPr/>
              <a:t>78</a:t>
            </a:fld>
            <a:endParaRPr lang="en-US" dirty="0"/>
          </a:p>
        </p:txBody>
      </p:sp>
    </p:spTree>
    <p:extLst>
      <p:ext uri="{BB962C8B-B14F-4D97-AF65-F5344CB8AC3E}">
        <p14:creationId xmlns:p14="http://schemas.microsoft.com/office/powerpoint/2010/main" val="15344188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150F2E71-6F9B-BE80-910D-9E8C9EBF0857}"/>
              </a:ext>
            </a:extLst>
          </p:cNvPr>
          <p:cNvGraphicFramePr>
            <a:graphicFrameLocks noGrp="1"/>
          </p:cNvGraphicFramePr>
          <p:nvPr>
            <p:ph idx="1"/>
            <p:extLst>
              <p:ext uri="{D42A27DB-BD31-4B8C-83A1-F6EECF244321}">
                <p14:modId xmlns:p14="http://schemas.microsoft.com/office/powerpoint/2010/main" val="241054550"/>
              </p:ext>
            </p:extLst>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5C826F13-D99B-D477-3898-D4F6F1CCFC7D}"/>
              </a:ext>
            </a:extLst>
          </p:cNvPr>
          <p:cNvSpPr>
            <a:spLocks noGrp="1"/>
          </p:cNvSpPr>
          <p:nvPr>
            <p:ph sz="quarter" idx="10"/>
          </p:nvPr>
        </p:nvSpPr>
        <p:spPr/>
        <p:txBody>
          <a:bodyPr/>
          <a:lstStyle/>
          <a:p>
            <a:r>
              <a:rPr lang="en-IN" dirty="0"/>
              <a:t>Rule of Thumb</a:t>
            </a:r>
          </a:p>
        </p:txBody>
      </p:sp>
      <p:sp>
        <p:nvSpPr>
          <p:cNvPr id="4" name="Content Placeholder 3">
            <a:extLst>
              <a:ext uri="{FF2B5EF4-FFF2-40B4-BE49-F238E27FC236}">
                <a16:creationId xmlns:a16="http://schemas.microsoft.com/office/drawing/2014/main" id="{0E3703CC-10D7-A6B9-B212-95A06545A1C1}"/>
              </a:ext>
            </a:extLst>
          </p:cNvPr>
          <p:cNvSpPr>
            <a:spLocks noGrp="1"/>
          </p:cNvSpPr>
          <p:nvPr>
            <p:ph sz="quarter" idx="11"/>
          </p:nvPr>
        </p:nvSpPr>
        <p:spPr/>
        <p:txBody>
          <a:bodyPr/>
          <a:lstStyle/>
          <a:p>
            <a:endParaRPr lang="en-IN"/>
          </a:p>
        </p:txBody>
      </p:sp>
      <p:sp>
        <p:nvSpPr>
          <p:cNvPr id="5" name="Date Placeholder 4">
            <a:extLst>
              <a:ext uri="{FF2B5EF4-FFF2-40B4-BE49-F238E27FC236}">
                <a16:creationId xmlns:a16="http://schemas.microsoft.com/office/drawing/2014/main" id="{3E8E9BB8-A619-1987-2F95-E9D9EB900C11}"/>
              </a:ext>
            </a:extLst>
          </p:cNvPr>
          <p:cNvSpPr>
            <a:spLocks noGrp="1"/>
          </p:cNvSpPr>
          <p:nvPr>
            <p:ph type="dt" sz="half" idx="12"/>
          </p:nvPr>
        </p:nvSpPr>
        <p:spPr/>
        <p:txBody>
          <a:bodyPr/>
          <a:lstStyle/>
          <a:p>
            <a:r>
              <a:rPr lang="en-US"/>
              <a:t>July 25, 2026</a:t>
            </a:r>
          </a:p>
        </p:txBody>
      </p:sp>
      <p:sp>
        <p:nvSpPr>
          <p:cNvPr id="6" name="Footer Placeholder 5">
            <a:extLst>
              <a:ext uri="{FF2B5EF4-FFF2-40B4-BE49-F238E27FC236}">
                <a16:creationId xmlns:a16="http://schemas.microsoft.com/office/drawing/2014/main" id="{A884CC4A-7204-BC3E-C4EE-161708DA756E}"/>
              </a:ext>
            </a:extLst>
          </p:cNvPr>
          <p:cNvSpPr>
            <a:spLocks noGrp="1"/>
          </p:cNvSpPr>
          <p:nvPr>
            <p:ph type="ftr" sz="quarter" idx="13"/>
          </p:nvPr>
        </p:nvSpPr>
        <p:spPr/>
        <p:txBody>
          <a:bodyPr/>
          <a:lstStyle/>
          <a:p>
            <a:r>
              <a:rPr lang="en-US"/>
              <a:t>SEZG651/SSZG653 Software Architectures</a:t>
            </a:r>
          </a:p>
        </p:txBody>
      </p:sp>
      <p:sp>
        <p:nvSpPr>
          <p:cNvPr id="7" name="Slide Number Placeholder 6">
            <a:extLst>
              <a:ext uri="{FF2B5EF4-FFF2-40B4-BE49-F238E27FC236}">
                <a16:creationId xmlns:a16="http://schemas.microsoft.com/office/drawing/2014/main" id="{986EC633-B889-916B-F5A9-B449EAB4ADF1}"/>
              </a:ext>
            </a:extLst>
          </p:cNvPr>
          <p:cNvSpPr>
            <a:spLocks noGrp="1"/>
          </p:cNvSpPr>
          <p:nvPr>
            <p:ph type="sldNum" sz="quarter" idx="14"/>
          </p:nvPr>
        </p:nvSpPr>
        <p:spPr/>
        <p:txBody>
          <a:bodyPr/>
          <a:lstStyle/>
          <a:p>
            <a:fld id="{BC8D7E44-7D4F-4942-A8C9-2DF6BF8399E8}" type="slidenum">
              <a:rPr lang="en-US" smtClean="0"/>
              <a:pPr/>
              <a:t>79</a:t>
            </a:fld>
            <a:endParaRPr lang="en-US" dirty="0"/>
          </a:p>
        </p:txBody>
      </p:sp>
    </p:spTree>
    <p:extLst>
      <p:ext uri="{BB962C8B-B14F-4D97-AF65-F5344CB8AC3E}">
        <p14:creationId xmlns:p14="http://schemas.microsoft.com/office/powerpoint/2010/main" val="37021784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Font typeface="Arial" pitchFamily="34" charset="0"/>
              <a:buChar char="•"/>
            </a:pPr>
            <a:r>
              <a:rPr lang="pl-PL" sz="2000" dirty="0"/>
              <a:t>The </a:t>
            </a:r>
            <a:r>
              <a:rPr lang="pl-PL" sz="2000" dirty="0" err="1"/>
              <a:t>architecture</a:t>
            </a:r>
            <a:r>
              <a:rPr lang="pl-PL" sz="2000" dirty="0"/>
              <a:t> </a:t>
            </a:r>
            <a:r>
              <a:rPr lang="pl-PL" sz="2000" dirty="0" err="1"/>
              <a:t>should</a:t>
            </a:r>
            <a:r>
              <a:rPr lang="pl-PL" sz="2000" dirty="0"/>
              <a:t> be the </a:t>
            </a:r>
            <a:r>
              <a:rPr lang="pl-PL" sz="2000" dirty="0" err="1"/>
              <a:t>product</a:t>
            </a:r>
            <a:r>
              <a:rPr lang="pl-PL" sz="2000" dirty="0"/>
              <a:t> of a single </a:t>
            </a:r>
            <a:r>
              <a:rPr lang="pl-PL" sz="2000" dirty="0" err="1"/>
              <a:t>architect</a:t>
            </a:r>
            <a:r>
              <a:rPr lang="pl-PL" sz="2000" dirty="0"/>
              <a:t> </a:t>
            </a:r>
            <a:r>
              <a:rPr lang="pl-PL" sz="2000" dirty="0" err="1"/>
              <a:t>or</a:t>
            </a:r>
            <a:r>
              <a:rPr lang="pl-PL" sz="2000" dirty="0"/>
              <a:t> a small </a:t>
            </a:r>
            <a:r>
              <a:rPr lang="pl-PL" sz="2000" dirty="0" err="1"/>
              <a:t>group</a:t>
            </a:r>
            <a:r>
              <a:rPr lang="pl-PL" sz="2000" dirty="0"/>
              <a:t> of </a:t>
            </a:r>
            <a:r>
              <a:rPr lang="pl-PL" sz="2000" dirty="0" err="1"/>
              <a:t>architects</a:t>
            </a:r>
            <a:r>
              <a:rPr lang="pl-PL" sz="2000" dirty="0"/>
              <a:t> with </a:t>
            </a:r>
            <a:r>
              <a:rPr lang="pl-PL" sz="2000" dirty="0" err="1"/>
              <a:t>an</a:t>
            </a:r>
            <a:r>
              <a:rPr lang="pl-PL" sz="2000" dirty="0"/>
              <a:t> </a:t>
            </a:r>
            <a:r>
              <a:rPr lang="pl-PL" sz="2000" dirty="0" err="1"/>
              <a:t>identified</a:t>
            </a:r>
            <a:r>
              <a:rPr lang="pl-PL" sz="2000" dirty="0"/>
              <a:t> </a:t>
            </a:r>
            <a:r>
              <a:rPr lang="pl-PL" sz="2000" dirty="0" err="1"/>
              <a:t>technical</a:t>
            </a:r>
            <a:r>
              <a:rPr lang="pl-PL" sz="2000" dirty="0"/>
              <a:t> leader. </a:t>
            </a:r>
          </a:p>
          <a:p>
            <a:pPr lvl="1"/>
            <a:r>
              <a:rPr lang="pl-PL" sz="1600" dirty="0" err="1"/>
              <a:t>This</a:t>
            </a:r>
            <a:r>
              <a:rPr lang="pl-PL" sz="1600" dirty="0"/>
              <a:t> </a:t>
            </a:r>
            <a:r>
              <a:rPr lang="pl-PL" sz="1600" dirty="0" err="1"/>
              <a:t>approach</a:t>
            </a:r>
            <a:r>
              <a:rPr lang="pl-PL" sz="1600" dirty="0"/>
              <a:t> </a:t>
            </a:r>
            <a:r>
              <a:rPr lang="pl-PL" sz="1600" dirty="0" err="1"/>
              <a:t>gives</a:t>
            </a:r>
            <a:r>
              <a:rPr lang="pl-PL" sz="1600" dirty="0"/>
              <a:t> the </a:t>
            </a:r>
            <a:r>
              <a:rPr lang="pl-PL" sz="1600" dirty="0" err="1"/>
              <a:t>architecture</a:t>
            </a:r>
            <a:r>
              <a:rPr lang="pl-PL" sz="1600" dirty="0"/>
              <a:t> </a:t>
            </a:r>
            <a:r>
              <a:rPr lang="pl-PL" sz="1600" dirty="0" err="1"/>
              <a:t>its</a:t>
            </a:r>
            <a:r>
              <a:rPr lang="pl-PL" sz="1600" dirty="0"/>
              <a:t> </a:t>
            </a:r>
            <a:r>
              <a:rPr lang="pl-PL" sz="1600" dirty="0" err="1"/>
              <a:t>conceptual</a:t>
            </a:r>
            <a:r>
              <a:rPr lang="pl-PL" sz="1600" dirty="0"/>
              <a:t> </a:t>
            </a:r>
            <a:r>
              <a:rPr lang="pl-PL" sz="1600" dirty="0" err="1"/>
              <a:t>integrity</a:t>
            </a:r>
            <a:r>
              <a:rPr lang="pl-PL" sz="1600" dirty="0"/>
              <a:t> and </a:t>
            </a:r>
            <a:r>
              <a:rPr lang="pl-PL" sz="1600" dirty="0" err="1"/>
              <a:t>technical</a:t>
            </a:r>
            <a:r>
              <a:rPr lang="pl-PL" sz="1600" dirty="0"/>
              <a:t> </a:t>
            </a:r>
            <a:r>
              <a:rPr lang="pl-PL" sz="1600" dirty="0" err="1"/>
              <a:t>consistency</a:t>
            </a:r>
            <a:r>
              <a:rPr lang="pl-PL" sz="1600" dirty="0"/>
              <a:t>. </a:t>
            </a:r>
          </a:p>
          <a:p>
            <a:pPr lvl="1"/>
            <a:r>
              <a:rPr lang="pl-PL" sz="1600" dirty="0" err="1"/>
              <a:t>This</a:t>
            </a:r>
            <a:r>
              <a:rPr lang="pl-PL" sz="1600" dirty="0"/>
              <a:t> </a:t>
            </a:r>
            <a:r>
              <a:rPr lang="pl-PL" sz="1600" dirty="0" err="1"/>
              <a:t>recommendation</a:t>
            </a:r>
            <a:r>
              <a:rPr lang="pl-PL" sz="1600" dirty="0"/>
              <a:t> </a:t>
            </a:r>
            <a:r>
              <a:rPr lang="pl-PL" sz="1600" dirty="0" err="1"/>
              <a:t>holds</a:t>
            </a:r>
            <a:r>
              <a:rPr lang="pl-PL" sz="1600" dirty="0"/>
              <a:t> for Agile and open </a:t>
            </a:r>
            <a:r>
              <a:rPr lang="pl-PL" sz="1600" dirty="0" err="1"/>
              <a:t>source</a:t>
            </a:r>
            <a:r>
              <a:rPr lang="pl-PL" sz="1600" dirty="0"/>
              <a:t> </a:t>
            </a:r>
            <a:r>
              <a:rPr lang="pl-PL" sz="1600" dirty="0" err="1"/>
              <a:t>projects</a:t>
            </a:r>
            <a:r>
              <a:rPr lang="pl-PL" sz="1600" dirty="0"/>
              <a:t> as </a:t>
            </a:r>
            <a:r>
              <a:rPr lang="pl-PL" sz="1600" dirty="0" err="1"/>
              <a:t>well</a:t>
            </a:r>
            <a:r>
              <a:rPr lang="pl-PL" sz="1600" dirty="0"/>
              <a:t> as “</a:t>
            </a:r>
            <a:r>
              <a:rPr lang="pl-PL" sz="1600" dirty="0" err="1"/>
              <a:t>traditional</a:t>
            </a:r>
            <a:r>
              <a:rPr lang="pl-PL" sz="1600" dirty="0"/>
              <a:t>” </a:t>
            </a:r>
            <a:r>
              <a:rPr lang="pl-PL" sz="1600" dirty="0" err="1"/>
              <a:t>ones</a:t>
            </a:r>
            <a:r>
              <a:rPr lang="pl-PL" sz="1600" dirty="0"/>
              <a:t>. </a:t>
            </a:r>
          </a:p>
          <a:p>
            <a:pPr lvl="1"/>
            <a:r>
              <a:rPr lang="pl-PL" sz="1600" dirty="0" err="1"/>
              <a:t>There</a:t>
            </a:r>
            <a:r>
              <a:rPr lang="pl-PL" sz="1600" dirty="0"/>
              <a:t> </a:t>
            </a:r>
            <a:r>
              <a:rPr lang="pl-PL" sz="1600" dirty="0" err="1"/>
              <a:t>should</a:t>
            </a:r>
            <a:r>
              <a:rPr lang="pl-PL" sz="1600" dirty="0"/>
              <a:t> be a </a:t>
            </a:r>
            <a:r>
              <a:rPr lang="pl-PL" sz="1600" dirty="0" err="1"/>
              <a:t>strong</a:t>
            </a:r>
            <a:r>
              <a:rPr lang="pl-PL" sz="1600" dirty="0"/>
              <a:t> </a:t>
            </a:r>
            <a:r>
              <a:rPr lang="pl-PL" sz="1600" dirty="0" err="1"/>
              <a:t>connection</a:t>
            </a:r>
            <a:r>
              <a:rPr lang="pl-PL" sz="1600" dirty="0"/>
              <a:t> </a:t>
            </a:r>
            <a:r>
              <a:rPr lang="pl-PL" sz="1600" dirty="0" err="1"/>
              <a:t>between</a:t>
            </a:r>
            <a:r>
              <a:rPr lang="pl-PL" sz="1600" dirty="0"/>
              <a:t> the </a:t>
            </a:r>
            <a:r>
              <a:rPr lang="pl-PL" sz="1600" dirty="0" err="1"/>
              <a:t>architect</a:t>
            </a:r>
            <a:r>
              <a:rPr lang="pl-PL" sz="1600" dirty="0"/>
              <a:t>(s) and the development team.</a:t>
            </a:r>
          </a:p>
          <a:p>
            <a:pPr>
              <a:buFont typeface="Arial" pitchFamily="34" charset="0"/>
              <a:buChar char="•"/>
            </a:pPr>
            <a:r>
              <a:rPr lang="pl-PL" sz="2000" dirty="0"/>
              <a:t>The </a:t>
            </a:r>
            <a:r>
              <a:rPr lang="pl-PL" sz="2000" dirty="0" err="1"/>
              <a:t>architect</a:t>
            </a:r>
            <a:r>
              <a:rPr lang="pl-PL" sz="2000" dirty="0"/>
              <a:t> (</a:t>
            </a:r>
            <a:r>
              <a:rPr lang="pl-PL" sz="2000" dirty="0" err="1"/>
              <a:t>or</a:t>
            </a:r>
            <a:r>
              <a:rPr lang="pl-PL" sz="2000" dirty="0"/>
              <a:t> </a:t>
            </a:r>
            <a:r>
              <a:rPr lang="pl-PL" sz="2000" dirty="0" err="1"/>
              <a:t>architecture</a:t>
            </a:r>
            <a:r>
              <a:rPr lang="pl-PL" sz="2000" dirty="0"/>
              <a:t> team) </a:t>
            </a:r>
            <a:r>
              <a:rPr lang="pl-PL" sz="2000" dirty="0" err="1"/>
              <a:t>should</a:t>
            </a:r>
            <a:r>
              <a:rPr lang="pl-PL" sz="2000" dirty="0"/>
              <a:t> </a:t>
            </a:r>
            <a:r>
              <a:rPr lang="pl-PL" sz="2000" dirty="0" err="1"/>
              <a:t>base</a:t>
            </a:r>
            <a:r>
              <a:rPr lang="pl-PL" sz="2000" dirty="0"/>
              <a:t> the </a:t>
            </a:r>
            <a:r>
              <a:rPr lang="pl-PL" sz="2000" dirty="0" err="1"/>
              <a:t>architecture</a:t>
            </a:r>
            <a:r>
              <a:rPr lang="pl-PL" sz="2000" dirty="0"/>
              <a:t> on a </a:t>
            </a:r>
            <a:r>
              <a:rPr lang="pl-PL" sz="2000" dirty="0" err="1"/>
              <a:t>prioritized</a:t>
            </a:r>
            <a:r>
              <a:rPr lang="pl-PL" sz="2000" dirty="0"/>
              <a:t> list of </a:t>
            </a:r>
            <a:r>
              <a:rPr lang="pl-PL" sz="2000" dirty="0" err="1"/>
              <a:t>well-specified</a:t>
            </a:r>
            <a:r>
              <a:rPr lang="pl-PL" sz="2000" dirty="0"/>
              <a:t> </a:t>
            </a:r>
            <a:r>
              <a:rPr lang="pl-PL" sz="2000" dirty="0" err="1"/>
              <a:t>quality</a:t>
            </a:r>
            <a:r>
              <a:rPr lang="pl-PL" sz="2000" dirty="0"/>
              <a:t> </a:t>
            </a:r>
            <a:r>
              <a:rPr lang="pl-PL" sz="2000" dirty="0" err="1"/>
              <a:t>attribute</a:t>
            </a:r>
            <a:r>
              <a:rPr lang="pl-PL" sz="2000" dirty="0"/>
              <a:t> </a:t>
            </a:r>
            <a:r>
              <a:rPr lang="pl-PL" sz="2000" dirty="0" err="1"/>
              <a:t>requirements</a:t>
            </a:r>
            <a:r>
              <a:rPr lang="pl-PL" sz="2000" dirty="0"/>
              <a:t>. </a:t>
            </a:r>
          </a:p>
          <a:p>
            <a:pPr>
              <a:buFont typeface="Arial" pitchFamily="34" charset="0"/>
              <a:buChar char="•"/>
            </a:pPr>
            <a:r>
              <a:rPr lang="pl-PL" sz="2000" dirty="0"/>
              <a:t>The </a:t>
            </a:r>
            <a:r>
              <a:rPr lang="pl-PL" sz="2000" dirty="0" err="1"/>
              <a:t>architecture</a:t>
            </a:r>
            <a:r>
              <a:rPr lang="pl-PL" sz="2000" dirty="0"/>
              <a:t> </a:t>
            </a:r>
            <a:r>
              <a:rPr lang="pl-PL" sz="2000" dirty="0" err="1"/>
              <a:t>should</a:t>
            </a:r>
            <a:r>
              <a:rPr lang="pl-PL" sz="2000" dirty="0"/>
              <a:t> be </a:t>
            </a:r>
            <a:r>
              <a:rPr lang="pl-PL" sz="2000" dirty="0" err="1"/>
              <a:t>documented</a:t>
            </a:r>
            <a:r>
              <a:rPr lang="pl-PL" sz="2000" dirty="0"/>
              <a:t> </a:t>
            </a:r>
            <a:r>
              <a:rPr lang="pl-PL" sz="2000" dirty="0" err="1"/>
              <a:t>using</a:t>
            </a:r>
            <a:r>
              <a:rPr lang="pl-PL" sz="2000" dirty="0"/>
              <a:t> </a:t>
            </a:r>
            <a:r>
              <a:rPr lang="pl-PL" sz="2000" dirty="0" err="1"/>
              <a:t>views</a:t>
            </a:r>
            <a:r>
              <a:rPr lang="pl-PL" sz="2000" dirty="0"/>
              <a:t>. The </a:t>
            </a:r>
            <a:r>
              <a:rPr lang="pl-PL" sz="2000" dirty="0" err="1"/>
              <a:t>views</a:t>
            </a:r>
            <a:r>
              <a:rPr lang="pl-PL" sz="2000" dirty="0"/>
              <a:t> </a:t>
            </a:r>
            <a:r>
              <a:rPr lang="pl-PL" sz="2000" dirty="0" err="1"/>
              <a:t>should</a:t>
            </a:r>
            <a:r>
              <a:rPr lang="pl-PL" sz="2000" dirty="0"/>
              <a:t> </a:t>
            </a:r>
            <a:r>
              <a:rPr lang="pl-PL" sz="2000" dirty="0" err="1"/>
              <a:t>address</a:t>
            </a:r>
            <a:r>
              <a:rPr lang="pl-PL" sz="2000" dirty="0"/>
              <a:t> the </a:t>
            </a:r>
            <a:r>
              <a:rPr lang="pl-PL" sz="2000" dirty="0" err="1"/>
              <a:t>concerns</a:t>
            </a:r>
            <a:r>
              <a:rPr lang="pl-PL" sz="2000" dirty="0"/>
              <a:t> of the most </a:t>
            </a:r>
            <a:r>
              <a:rPr lang="pl-PL" sz="2000" dirty="0" err="1"/>
              <a:t>important</a:t>
            </a:r>
            <a:r>
              <a:rPr lang="pl-PL" sz="2000" dirty="0"/>
              <a:t> </a:t>
            </a:r>
            <a:r>
              <a:rPr lang="pl-PL" sz="2000" dirty="0" err="1"/>
              <a:t>stakeholders</a:t>
            </a:r>
            <a:r>
              <a:rPr lang="pl-PL" sz="2000" dirty="0"/>
              <a:t> in </a:t>
            </a:r>
            <a:r>
              <a:rPr lang="pl-PL" sz="2000" dirty="0" err="1"/>
              <a:t>support</a:t>
            </a:r>
            <a:r>
              <a:rPr lang="pl-PL" sz="2000" dirty="0"/>
              <a:t> of the </a:t>
            </a:r>
            <a:r>
              <a:rPr lang="pl-PL" sz="2000" dirty="0" err="1"/>
              <a:t>project</a:t>
            </a:r>
            <a:r>
              <a:rPr lang="pl-PL" sz="2000" dirty="0"/>
              <a:t> </a:t>
            </a:r>
            <a:r>
              <a:rPr lang="pl-PL" sz="2000" dirty="0" err="1"/>
              <a:t>timeline</a:t>
            </a:r>
            <a:r>
              <a:rPr lang="pl-PL" sz="2000" dirty="0"/>
              <a:t>. </a:t>
            </a:r>
          </a:p>
          <a:p>
            <a:pPr>
              <a:buFont typeface="Arial" pitchFamily="34" charset="0"/>
              <a:buChar char="•"/>
            </a:pPr>
            <a:r>
              <a:rPr lang="pl-PL" sz="2000" dirty="0"/>
              <a:t>The </a:t>
            </a:r>
            <a:r>
              <a:rPr lang="pl-PL" sz="2000" dirty="0" err="1"/>
              <a:t>architecture</a:t>
            </a:r>
            <a:r>
              <a:rPr lang="pl-PL" sz="2000" dirty="0"/>
              <a:t> </a:t>
            </a:r>
            <a:r>
              <a:rPr lang="pl-PL" sz="2000" dirty="0" err="1"/>
              <a:t>should</a:t>
            </a:r>
            <a:r>
              <a:rPr lang="pl-PL" sz="2000" dirty="0"/>
              <a:t> be </a:t>
            </a:r>
            <a:r>
              <a:rPr lang="pl-PL" sz="2000" dirty="0" err="1"/>
              <a:t>evaluated</a:t>
            </a:r>
            <a:r>
              <a:rPr lang="pl-PL" sz="2000" dirty="0"/>
              <a:t> for </a:t>
            </a:r>
            <a:r>
              <a:rPr lang="pl-PL" sz="2000" dirty="0" err="1"/>
              <a:t>its</a:t>
            </a:r>
            <a:r>
              <a:rPr lang="pl-PL" sz="2000" dirty="0"/>
              <a:t> </a:t>
            </a:r>
            <a:r>
              <a:rPr lang="pl-PL" sz="2000" dirty="0" err="1"/>
              <a:t>ability</a:t>
            </a:r>
            <a:r>
              <a:rPr lang="pl-PL" sz="2000" dirty="0"/>
              <a:t> to </a:t>
            </a:r>
            <a:r>
              <a:rPr lang="pl-PL" sz="2000" dirty="0" err="1"/>
              <a:t>deliver</a:t>
            </a:r>
            <a:r>
              <a:rPr lang="pl-PL" sz="2000" dirty="0"/>
              <a:t> the </a:t>
            </a:r>
            <a:r>
              <a:rPr lang="pl-PL" sz="2000" dirty="0" err="1"/>
              <a:t>system’s</a:t>
            </a:r>
            <a:r>
              <a:rPr lang="pl-PL" sz="2000" dirty="0"/>
              <a:t> </a:t>
            </a:r>
            <a:r>
              <a:rPr lang="pl-PL" sz="2000" dirty="0" err="1"/>
              <a:t>important</a:t>
            </a:r>
            <a:r>
              <a:rPr lang="pl-PL" sz="2000" dirty="0"/>
              <a:t> </a:t>
            </a:r>
            <a:r>
              <a:rPr lang="pl-PL" sz="2000" dirty="0" err="1"/>
              <a:t>quality</a:t>
            </a:r>
            <a:r>
              <a:rPr lang="pl-PL" sz="2000" dirty="0"/>
              <a:t> </a:t>
            </a:r>
            <a:r>
              <a:rPr lang="pl-PL" sz="2000" dirty="0" err="1"/>
              <a:t>attributes</a:t>
            </a:r>
            <a:r>
              <a:rPr lang="pl-PL" sz="2000" dirty="0"/>
              <a:t>. </a:t>
            </a:r>
          </a:p>
          <a:p>
            <a:pPr lvl="1"/>
            <a:r>
              <a:rPr lang="pl-PL" sz="1600" dirty="0" err="1"/>
              <a:t>This</a:t>
            </a:r>
            <a:r>
              <a:rPr lang="pl-PL" sz="1600" dirty="0"/>
              <a:t> </a:t>
            </a:r>
            <a:r>
              <a:rPr lang="pl-PL" sz="1600" dirty="0" err="1"/>
              <a:t>should</a:t>
            </a:r>
            <a:r>
              <a:rPr lang="pl-PL" sz="1600" dirty="0"/>
              <a:t> </a:t>
            </a:r>
            <a:r>
              <a:rPr lang="pl-PL" sz="1600" dirty="0" err="1"/>
              <a:t>occur</a:t>
            </a:r>
            <a:r>
              <a:rPr lang="pl-PL" sz="1600" dirty="0"/>
              <a:t> </a:t>
            </a:r>
            <a:r>
              <a:rPr lang="pl-PL" sz="1600" dirty="0" err="1"/>
              <a:t>early</a:t>
            </a:r>
            <a:r>
              <a:rPr lang="pl-PL" sz="1600" dirty="0"/>
              <a:t> in the life </a:t>
            </a:r>
            <a:r>
              <a:rPr lang="pl-PL" sz="1600" dirty="0" err="1"/>
              <a:t>cycle</a:t>
            </a:r>
            <a:r>
              <a:rPr lang="pl-PL" sz="1600" dirty="0"/>
              <a:t> and </a:t>
            </a:r>
            <a:r>
              <a:rPr lang="pl-PL" sz="1600" dirty="0" err="1"/>
              <a:t>repeated</a:t>
            </a:r>
            <a:r>
              <a:rPr lang="pl-PL" sz="1600" dirty="0"/>
              <a:t> as </a:t>
            </a:r>
            <a:r>
              <a:rPr lang="pl-PL" sz="1600" dirty="0" err="1"/>
              <a:t>appropriate</a:t>
            </a:r>
            <a:r>
              <a:rPr lang="pl-PL" sz="1600" dirty="0"/>
              <a:t>.</a:t>
            </a:r>
          </a:p>
          <a:p>
            <a:pPr>
              <a:buFont typeface="Arial" pitchFamily="34" charset="0"/>
              <a:buChar char="•"/>
            </a:pPr>
            <a:r>
              <a:rPr lang="pl-PL" sz="2000" dirty="0"/>
              <a:t>The </a:t>
            </a:r>
            <a:r>
              <a:rPr lang="pl-PL" sz="2000" dirty="0" err="1"/>
              <a:t>architecture</a:t>
            </a:r>
            <a:r>
              <a:rPr lang="pl-PL" sz="2000" dirty="0"/>
              <a:t> </a:t>
            </a:r>
            <a:r>
              <a:rPr lang="pl-PL" sz="2000" dirty="0" err="1"/>
              <a:t>should</a:t>
            </a:r>
            <a:r>
              <a:rPr lang="pl-PL" sz="2000" dirty="0"/>
              <a:t> </a:t>
            </a:r>
            <a:r>
              <a:rPr lang="pl-PL" sz="2000" dirty="0" err="1"/>
              <a:t>lend</a:t>
            </a:r>
            <a:r>
              <a:rPr lang="pl-PL" sz="2000" dirty="0"/>
              <a:t> </a:t>
            </a:r>
            <a:r>
              <a:rPr lang="pl-PL" sz="2000" dirty="0" err="1"/>
              <a:t>itself</a:t>
            </a:r>
            <a:r>
              <a:rPr lang="pl-PL" sz="2000" dirty="0"/>
              <a:t> to </a:t>
            </a:r>
            <a:r>
              <a:rPr lang="pl-PL" sz="2000" dirty="0" err="1"/>
              <a:t>incremental</a:t>
            </a:r>
            <a:r>
              <a:rPr lang="pl-PL" sz="2000" dirty="0"/>
              <a:t> </a:t>
            </a:r>
            <a:r>
              <a:rPr lang="pl-PL" sz="2000" dirty="0" err="1"/>
              <a:t>implementation</a:t>
            </a:r>
            <a:r>
              <a:rPr lang="pl-PL" sz="2000" dirty="0"/>
              <a:t>, </a:t>
            </a:r>
          </a:p>
          <a:p>
            <a:pPr lvl="1"/>
            <a:r>
              <a:rPr lang="pl-PL" sz="1600" dirty="0" err="1"/>
              <a:t>Create</a:t>
            </a:r>
            <a:r>
              <a:rPr lang="pl-PL" sz="1600" dirty="0"/>
              <a:t> a “</a:t>
            </a:r>
            <a:r>
              <a:rPr lang="pl-PL" sz="1600" dirty="0" err="1"/>
              <a:t>skeletal</a:t>
            </a:r>
            <a:r>
              <a:rPr lang="pl-PL" sz="1600" dirty="0"/>
              <a:t>” system in </a:t>
            </a:r>
            <a:r>
              <a:rPr lang="pl-PL" sz="1600" dirty="0" err="1"/>
              <a:t>which</a:t>
            </a:r>
            <a:r>
              <a:rPr lang="pl-PL" sz="1600" dirty="0"/>
              <a:t> the </a:t>
            </a:r>
            <a:r>
              <a:rPr lang="pl-PL" sz="1600" dirty="0" err="1"/>
              <a:t>communication</a:t>
            </a:r>
            <a:r>
              <a:rPr lang="pl-PL" sz="1600" dirty="0"/>
              <a:t> </a:t>
            </a:r>
            <a:r>
              <a:rPr lang="pl-PL" sz="1600" dirty="0" err="1"/>
              <a:t>paths</a:t>
            </a:r>
            <a:r>
              <a:rPr lang="pl-PL" sz="1600" dirty="0"/>
              <a:t> </a:t>
            </a:r>
            <a:r>
              <a:rPr lang="pl-PL" sz="1600" dirty="0" err="1"/>
              <a:t>are</a:t>
            </a:r>
            <a:r>
              <a:rPr lang="pl-PL" sz="1600" dirty="0"/>
              <a:t> </a:t>
            </a:r>
            <a:r>
              <a:rPr lang="pl-PL" sz="1600" dirty="0" err="1"/>
              <a:t>exercised</a:t>
            </a:r>
            <a:r>
              <a:rPr lang="pl-PL" sz="1600" dirty="0"/>
              <a:t> but </a:t>
            </a:r>
            <a:r>
              <a:rPr lang="pl-PL" sz="1600" dirty="0" err="1"/>
              <a:t>which</a:t>
            </a:r>
            <a:r>
              <a:rPr lang="pl-PL" sz="1600" dirty="0"/>
              <a:t> </a:t>
            </a:r>
            <a:r>
              <a:rPr lang="pl-PL" sz="1600" dirty="0" err="1"/>
              <a:t>at</a:t>
            </a:r>
            <a:r>
              <a:rPr lang="pl-PL" sz="1600" dirty="0"/>
              <a:t> </a:t>
            </a:r>
            <a:r>
              <a:rPr lang="pl-PL" sz="1600" dirty="0" err="1"/>
              <a:t>first</a:t>
            </a:r>
            <a:r>
              <a:rPr lang="pl-PL" sz="1600" dirty="0"/>
              <a:t> </a:t>
            </a:r>
            <a:r>
              <a:rPr lang="pl-PL" sz="1600" dirty="0" err="1"/>
              <a:t>has</a:t>
            </a:r>
            <a:r>
              <a:rPr lang="pl-PL" sz="1600" dirty="0"/>
              <a:t> </a:t>
            </a:r>
            <a:r>
              <a:rPr lang="pl-PL" sz="1600" dirty="0" err="1"/>
              <a:t>minimal</a:t>
            </a:r>
            <a:r>
              <a:rPr lang="pl-PL" sz="1600" dirty="0"/>
              <a:t> </a:t>
            </a:r>
            <a:r>
              <a:rPr lang="pl-PL" sz="1600" dirty="0" err="1"/>
              <a:t>functionality</a:t>
            </a:r>
            <a:r>
              <a:rPr lang="pl-PL" sz="1600" dirty="0"/>
              <a: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Structural “Rules of Thumb”</a:t>
            </a:r>
          </a:p>
        </p:txBody>
      </p:sp>
      <p:sp>
        <p:nvSpPr>
          <p:cNvPr id="2" name="Date Placeholder 1">
            <a:extLst>
              <a:ext uri="{FF2B5EF4-FFF2-40B4-BE49-F238E27FC236}">
                <a16:creationId xmlns:a16="http://schemas.microsoft.com/office/drawing/2014/main" id="{4E4FAEC4-9D40-42F8-806A-161CDA3401AE}"/>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C49F34DE-0058-47D6-8E90-C143A0D10C35}"/>
              </a:ext>
            </a:extLst>
          </p:cNvPr>
          <p:cNvSpPr>
            <a:spLocks noGrp="1"/>
          </p:cNvSpPr>
          <p:nvPr>
            <p:ph type="sldNum" sz="quarter" idx="14"/>
          </p:nvPr>
        </p:nvSpPr>
        <p:spPr/>
        <p:txBody>
          <a:bodyPr/>
          <a:lstStyle/>
          <a:p>
            <a:fld id="{BC8D7E44-7D4F-4942-A8C9-2DF6BF8399E8}" type="slidenum">
              <a:rPr lang="en-US" smtClean="0"/>
              <a:pPr/>
              <a:t>80</a:t>
            </a:fld>
            <a:endParaRPr lang="en-US" dirty="0"/>
          </a:p>
        </p:txBody>
      </p:sp>
    </p:spTree>
    <p:extLst>
      <p:ext uri="{BB962C8B-B14F-4D97-AF65-F5344CB8AC3E}">
        <p14:creationId xmlns:p14="http://schemas.microsoft.com/office/powerpoint/2010/main" val="15137749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a:buFont typeface="Arial" pitchFamily="34" charset="0"/>
              <a:buChar char="•"/>
            </a:pPr>
            <a:r>
              <a:rPr lang="pl-PL" dirty="0"/>
              <a:t>The </a:t>
            </a:r>
            <a:r>
              <a:rPr lang="pl-PL" dirty="0" err="1"/>
              <a:t>architecture</a:t>
            </a:r>
            <a:r>
              <a:rPr lang="pl-PL" dirty="0"/>
              <a:t> </a:t>
            </a:r>
            <a:r>
              <a:rPr lang="pl-PL" dirty="0" err="1"/>
              <a:t>should</a:t>
            </a:r>
            <a:r>
              <a:rPr lang="pl-PL" dirty="0"/>
              <a:t> </a:t>
            </a:r>
            <a:r>
              <a:rPr lang="pl-PL" dirty="0" err="1"/>
              <a:t>feature</a:t>
            </a:r>
            <a:r>
              <a:rPr lang="pl-PL" dirty="0"/>
              <a:t> </a:t>
            </a:r>
            <a:r>
              <a:rPr lang="pl-PL" dirty="0" err="1"/>
              <a:t>well-defined</a:t>
            </a:r>
            <a:r>
              <a:rPr lang="pl-PL" dirty="0"/>
              <a:t> </a:t>
            </a:r>
            <a:r>
              <a:rPr lang="pl-PL" dirty="0" err="1"/>
              <a:t>modules</a:t>
            </a:r>
            <a:r>
              <a:rPr lang="pl-PL" dirty="0"/>
              <a:t> </a:t>
            </a:r>
            <a:r>
              <a:rPr lang="pl-PL" dirty="0" err="1"/>
              <a:t>whose</a:t>
            </a:r>
            <a:r>
              <a:rPr lang="pl-PL" dirty="0"/>
              <a:t> </a:t>
            </a:r>
            <a:r>
              <a:rPr lang="pl-PL" dirty="0" err="1"/>
              <a:t>functional</a:t>
            </a:r>
            <a:r>
              <a:rPr lang="pl-PL" dirty="0"/>
              <a:t> </a:t>
            </a:r>
            <a:r>
              <a:rPr lang="pl-PL" dirty="0" err="1"/>
              <a:t>responsibilities</a:t>
            </a:r>
            <a:r>
              <a:rPr lang="pl-PL" dirty="0"/>
              <a:t> </a:t>
            </a:r>
            <a:r>
              <a:rPr lang="pl-PL" dirty="0" err="1"/>
              <a:t>are</a:t>
            </a:r>
            <a:r>
              <a:rPr lang="pl-PL" dirty="0"/>
              <a:t> </a:t>
            </a:r>
            <a:r>
              <a:rPr lang="pl-PL" dirty="0" err="1"/>
              <a:t>assigned</a:t>
            </a:r>
            <a:r>
              <a:rPr lang="pl-PL" dirty="0"/>
              <a:t> on the </a:t>
            </a:r>
            <a:r>
              <a:rPr lang="pl-PL" dirty="0" err="1"/>
              <a:t>principles</a:t>
            </a:r>
            <a:r>
              <a:rPr lang="pl-PL" dirty="0"/>
              <a:t> of </a:t>
            </a:r>
            <a:r>
              <a:rPr lang="pl-PL" dirty="0" err="1"/>
              <a:t>information</a:t>
            </a:r>
            <a:r>
              <a:rPr lang="pl-PL" dirty="0"/>
              <a:t> </a:t>
            </a:r>
            <a:r>
              <a:rPr lang="pl-PL" dirty="0" err="1"/>
              <a:t>hiding</a:t>
            </a:r>
            <a:r>
              <a:rPr lang="pl-PL" dirty="0"/>
              <a:t> and </a:t>
            </a:r>
            <a:r>
              <a:rPr lang="en-US" dirty="0"/>
              <a:t>separation of concerns. </a:t>
            </a:r>
          </a:p>
          <a:p>
            <a:pPr lvl="1"/>
            <a:r>
              <a:rPr lang="en-US" dirty="0"/>
              <a:t>The information-hiding modules should encapsulate things likely to change</a:t>
            </a:r>
          </a:p>
          <a:p>
            <a:pPr lvl="1"/>
            <a:r>
              <a:rPr lang="en-US" dirty="0"/>
              <a:t>Each module should have a well-defined interface that encapsulates or “hides” the changeable aspects from other software </a:t>
            </a:r>
          </a:p>
          <a:p>
            <a:pPr>
              <a:buFont typeface="Arial" pitchFamily="34" charset="0"/>
              <a:buChar char="•"/>
            </a:pPr>
            <a:r>
              <a:rPr lang="en-US" dirty="0"/>
              <a:t>Unless your requirements are unprecedented your quality attributes should be achieved using well-known architectural patterns and tactics specific to each attribute.</a:t>
            </a:r>
          </a:p>
          <a:p>
            <a:pPr>
              <a:buFont typeface="Arial" pitchFamily="34" charset="0"/>
              <a:buChar char="•"/>
            </a:pPr>
            <a:r>
              <a:rPr lang="en-US" dirty="0"/>
              <a:t>The architecture should never depend on a particular version of a commercial product or tool. If it must, it should be structured so that changing to a different version is straightforward and inexpensive.</a:t>
            </a:r>
          </a:p>
          <a:p>
            <a:pPr>
              <a:buFont typeface="Arial" pitchFamily="34" charset="0"/>
              <a:buChar char="•"/>
            </a:pPr>
            <a:r>
              <a:rPr lang="en-US" dirty="0"/>
              <a:t>Modules that produce data should be separate from modules that consume data. </a:t>
            </a:r>
          </a:p>
          <a:p>
            <a:pPr lvl="1"/>
            <a:r>
              <a:rPr lang="en-US" dirty="0"/>
              <a:t>This tends to increase modifiability </a:t>
            </a:r>
          </a:p>
          <a:p>
            <a:pPr lvl="1"/>
            <a:r>
              <a:rPr lang="en-US" dirty="0"/>
              <a:t>Changes are frequently confined to either the production or the consumption side of data.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Structural “Rules of Thumb”</a:t>
            </a:r>
          </a:p>
        </p:txBody>
      </p:sp>
      <p:sp>
        <p:nvSpPr>
          <p:cNvPr id="2" name="Date Placeholder 1">
            <a:extLst>
              <a:ext uri="{FF2B5EF4-FFF2-40B4-BE49-F238E27FC236}">
                <a16:creationId xmlns:a16="http://schemas.microsoft.com/office/drawing/2014/main" id="{D645D42F-B1F8-44FE-AF3C-8D23CF1FC2AC}"/>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89ABFDBC-6D3D-40AE-97BD-88C8CE8DED5C}"/>
              </a:ext>
            </a:extLst>
          </p:cNvPr>
          <p:cNvSpPr>
            <a:spLocks noGrp="1"/>
          </p:cNvSpPr>
          <p:nvPr>
            <p:ph type="sldNum" sz="quarter" idx="14"/>
          </p:nvPr>
        </p:nvSpPr>
        <p:spPr/>
        <p:txBody>
          <a:bodyPr/>
          <a:lstStyle/>
          <a:p>
            <a:fld id="{BC8D7E44-7D4F-4942-A8C9-2DF6BF8399E8}" type="slidenum">
              <a:rPr lang="en-US" smtClean="0"/>
              <a:pPr/>
              <a:t>81</a:t>
            </a:fld>
            <a:endParaRPr lang="en-US" dirty="0"/>
          </a:p>
        </p:txBody>
      </p:sp>
    </p:spTree>
    <p:extLst>
      <p:ext uri="{BB962C8B-B14F-4D97-AF65-F5344CB8AC3E}">
        <p14:creationId xmlns:p14="http://schemas.microsoft.com/office/powerpoint/2010/main" val="39790797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dirty="0"/>
              <a:t>Don’t expect a one-to-one correspondence between modules and components. </a:t>
            </a:r>
          </a:p>
          <a:p>
            <a:pPr>
              <a:buFont typeface="Arial" pitchFamily="34" charset="0"/>
              <a:buChar char="•"/>
            </a:pPr>
            <a:r>
              <a:rPr lang="en-US" dirty="0"/>
              <a:t>Every process should be written so that its assignment to a specific processor can be easily changed, perhaps even at runtime.</a:t>
            </a:r>
          </a:p>
          <a:p>
            <a:pPr>
              <a:buFont typeface="Arial" pitchFamily="34" charset="0"/>
              <a:buChar char="•"/>
            </a:pPr>
            <a:r>
              <a:rPr lang="en-US" dirty="0"/>
              <a:t>The architecture should feature a small number of ways for components to interact. </a:t>
            </a:r>
          </a:p>
          <a:p>
            <a:pPr lvl="1"/>
            <a:r>
              <a:rPr lang="en-US" dirty="0"/>
              <a:t>The system should do the same things in the same way throughout. </a:t>
            </a:r>
          </a:p>
          <a:p>
            <a:pPr lvl="1"/>
            <a:r>
              <a:rPr lang="en-US" dirty="0"/>
              <a:t>This will aid in understandability, reduce development time, increase reliability, and enhance modifiability.</a:t>
            </a:r>
          </a:p>
          <a:p>
            <a:pPr>
              <a:buFont typeface="Arial" pitchFamily="34" charset="0"/>
              <a:buChar char="•"/>
            </a:pPr>
            <a:r>
              <a:rPr lang="en-US" dirty="0"/>
              <a:t>The architecture should contain a specific (and small) set of resource contention areas, the resolution of which is clearly specified and maintained. </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Structural “Rules of Thumb”</a:t>
            </a:r>
          </a:p>
        </p:txBody>
      </p:sp>
      <p:sp>
        <p:nvSpPr>
          <p:cNvPr id="2" name="Date Placeholder 1">
            <a:extLst>
              <a:ext uri="{FF2B5EF4-FFF2-40B4-BE49-F238E27FC236}">
                <a16:creationId xmlns:a16="http://schemas.microsoft.com/office/drawing/2014/main" id="{469C7E13-F03C-43A5-A338-14BB0323B8DB}"/>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B7B3F620-DCD3-472F-83A2-255AB4799AAF}"/>
              </a:ext>
            </a:extLst>
          </p:cNvPr>
          <p:cNvSpPr>
            <a:spLocks noGrp="1"/>
          </p:cNvSpPr>
          <p:nvPr>
            <p:ph type="sldNum" sz="quarter" idx="14"/>
          </p:nvPr>
        </p:nvSpPr>
        <p:spPr/>
        <p:txBody>
          <a:bodyPr/>
          <a:lstStyle/>
          <a:p>
            <a:fld id="{BC8D7E44-7D4F-4942-A8C9-2DF6BF8399E8}" type="slidenum">
              <a:rPr lang="en-US" smtClean="0"/>
              <a:pPr/>
              <a:t>82</a:t>
            </a:fld>
            <a:endParaRPr lang="en-US" dirty="0"/>
          </a:p>
        </p:txBody>
      </p:sp>
    </p:spTree>
    <p:extLst>
      <p:ext uri="{BB962C8B-B14F-4D97-AF65-F5344CB8AC3E}">
        <p14:creationId xmlns:p14="http://schemas.microsoft.com/office/powerpoint/2010/main" val="180204820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sz="2400" dirty="0"/>
              <a:t>The software architecture of a system is the set of structures needed to reason about the system, which comprise software elements, relations among them, and properties of both.</a:t>
            </a:r>
          </a:p>
          <a:p>
            <a:pPr>
              <a:buFont typeface="Arial" pitchFamily="34" charset="0"/>
              <a:buChar char="•"/>
            </a:pPr>
            <a:r>
              <a:rPr lang="pl-PL" sz="2400" dirty="0"/>
              <a:t>A </a:t>
            </a:r>
            <a:r>
              <a:rPr lang="pl-PL" sz="2400" dirty="0" err="1"/>
              <a:t>structure</a:t>
            </a:r>
            <a:r>
              <a:rPr lang="pl-PL" sz="2400" dirty="0"/>
              <a:t> </a:t>
            </a:r>
            <a:r>
              <a:rPr lang="pl-PL" sz="2400" dirty="0" err="1"/>
              <a:t>is</a:t>
            </a:r>
            <a:r>
              <a:rPr lang="pl-PL" sz="2400" dirty="0"/>
              <a:t> a set of </a:t>
            </a:r>
            <a:r>
              <a:rPr lang="pl-PL" sz="2400" dirty="0" err="1"/>
              <a:t>elements</a:t>
            </a:r>
            <a:r>
              <a:rPr lang="pl-PL" sz="2400" dirty="0"/>
              <a:t> and the relations </a:t>
            </a:r>
            <a:r>
              <a:rPr lang="pl-PL" sz="2400" dirty="0" err="1"/>
              <a:t>among</a:t>
            </a:r>
            <a:r>
              <a:rPr lang="pl-PL" sz="2400" dirty="0"/>
              <a:t> </a:t>
            </a:r>
            <a:r>
              <a:rPr lang="pl-PL" sz="2400" dirty="0" err="1"/>
              <a:t>them</a:t>
            </a:r>
            <a:r>
              <a:rPr lang="pl-PL" sz="2400" dirty="0"/>
              <a:t>.</a:t>
            </a:r>
          </a:p>
          <a:p>
            <a:pPr>
              <a:buFont typeface="Arial" pitchFamily="34" charset="0"/>
              <a:buChar char="•"/>
            </a:pPr>
            <a:r>
              <a:rPr lang="pl-PL" sz="2400" dirty="0"/>
              <a:t>A </a:t>
            </a:r>
            <a:r>
              <a:rPr lang="pl-PL" sz="2400" dirty="0" err="1"/>
              <a:t>view</a:t>
            </a:r>
            <a:r>
              <a:rPr lang="pl-PL" sz="2400" dirty="0"/>
              <a:t> </a:t>
            </a:r>
            <a:r>
              <a:rPr lang="pl-PL" sz="2400" dirty="0" err="1"/>
              <a:t>is</a:t>
            </a:r>
            <a:r>
              <a:rPr lang="pl-PL" sz="2400" dirty="0"/>
              <a:t> a </a:t>
            </a:r>
            <a:r>
              <a:rPr lang="pl-PL" sz="2400" dirty="0" err="1"/>
              <a:t>representation</a:t>
            </a:r>
            <a:r>
              <a:rPr lang="pl-PL" sz="2400" dirty="0"/>
              <a:t> of a </a:t>
            </a:r>
            <a:r>
              <a:rPr lang="pl-PL" sz="2400" dirty="0" err="1"/>
              <a:t>coherent</a:t>
            </a:r>
            <a:r>
              <a:rPr lang="pl-PL" sz="2400" dirty="0"/>
              <a:t> set of </a:t>
            </a:r>
            <a:r>
              <a:rPr lang="pl-PL" sz="2400" dirty="0" err="1"/>
              <a:t>architectural</a:t>
            </a:r>
            <a:r>
              <a:rPr lang="pl-PL" sz="2400" dirty="0"/>
              <a:t> </a:t>
            </a:r>
            <a:r>
              <a:rPr lang="pl-PL" sz="2400" dirty="0" err="1"/>
              <a:t>elements</a:t>
            </a:r>
            <a:r>
              <a:rPr lang="pl-PL" sz="2400" dirty="0"/>
              <a:t>. A </a:t>
            </a:r>
            <a:r>
              <a:rPr lang="pl-PL" sz="2400" dirty="0" err="1"/>
              <a:t>view</a:t>
            </a:r>
            <a:r>
              <a:rPr lang="pl-PL" sz="2400" dirty="0"/>
              <a:t> </a:t>
            </a:r>
            <a:r>
              <a:rPr lang="pl-PL" sz="2400" dirty="0" err="1"/>
              <a:t>is</a:t>
            </a:r>
            <a:r>
              <a:rPr lang="pl-PL" sz="2400" dirty="0"/>
              <a:t> a </a:t>
            </a:r>
            <a:r>
              <a:rPr lang="pl-PL" sz="2400" dirty="0" err="1"/>
              <a:t>representation</a:t>
            </a:r>
            <a:r>
              <a:rPr lang="pl-PL" sz="2400" dirty="0"/>
              <a:t> of one </a:t>
            </a:r>
            <a:r>
              <a:rPr lang="pl-PL" sz="2400" dirty="0" err="1"/>
              <a:t>or</a:t>
            </a:r>
            <a:r>
              <a:rPr lang="pl-PL" sz="2400" dirty="0"/>
              <a:t> </a:t>
            </a:r>
            <a:r>
              <a:rPr lang="pl-PL" sz="2400" dirty="0" err="1"/>
              <a:t>more</a:t>
            </a:r>
            <a:r>
              <a:rPr lang="pl-PL" sz="2400" dirty="0"/>
              <a:t> </a:t>
            </a:r>
            <a:r>
              <a:rPr lang="pl-PL" sz="2400" dirty="0" err="1"/>
              <a:t>structures</a:t>
            </a:r>
            <a:r>
              <a:rPr lang="pl-PL" sz="2400" dirty="0"/>
              <a: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279BCAE1-B39B-4325-99D8-151707581332}"/>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9BEA88C0-80BD-4E2F-AE64-A40B2337D6B3}"/>
              </a:ext>
            </a:extLst>
          </p:cNvPr>
          <p:cNvSpPr>
            <a:spLocks noGrp="1"/>
          </p:cNvSpPr>
          <p:nvPr>
            <p:ph type="sldNum" sz="quarter" idx="14"/>
          </p:nvPr>
        </p:nvSpPr>
        <p:spPr/>
        <p:txBody>
          <a:bodyPr/>
          <a:lstStyle/>
          <a:p>
            <a:fld id="{BC8D7E44-7D4F-4942-A8C9-2DF6BF8399E8}" type="slidenum">
              <a:rPr lang="en-US" smtClean="0"/>
              <a:pPr/>
              <a:t>83</a:t>
            </a:fld>
            <a:endParaRPr lang="en-US" dirty="0"/>
          </a:p>
        </p:txBody>
      </p:sp>
    </p:spTree>
    <p:extLst>
      <p:ext uri="{BB962C8B-B14F-4D97-AF65-F5344CB8AC3E}">
        <p14:creationId xmlns:p14="http://schemas.microsoft.com/office/powerpoint/2010/main" val="5455760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Font typeface="Arial" pitchFamily="34" charset="0"/>
              <a:buChar char="•"/>
            </a:pPr>
            <a:r>
              <a:rPr lang="pl-PL" sz="2400" dirty="0" err="1"/>
              <a:t>There</a:t>
            </a:r>
            <a:r>
              <a:rPr lang="pl-PL" sz="2400" dirty="0"/>
              <a:t> </a:t>
            </a:r>
            <a:r>
              <a:rPr lang="pl-PL" sz="2400" dirty="0" err="1"/>
              <a:t>are</a:t>
            </a:r>
            <a:r>
              <a:rPr lang="pl-PL" sz="2400" dirty="0"/>
              <a:t> </a:t>
            </a:r>
            <a:r>
              <a:rPr lang="pl-PL" sz="2400" dirty="0" err="1"/>
              <a:t>three</a:t>
            </a:r>
            <a:r>
              <a:rPr lang="pl-PL" sz="2400" dirty="0"/>
              <a:t> </a:t>
            </a:r>
            <a:r>
              <a:rPr lang="pl-PL" sz="2400" dirty="0" err="1"/>
              <a:t>categories</a:t>
            </a:r>
            <a:r>
              <a:rPr lang="pl-PL" sz="2400" dirty="0"/>
              <a:t> of </a:t>
            </a:r>
            <a:r>
              <a:rPr lang="pl-PL" sz="2400" dirty="0" err="1"/>
              <a:t>structures</a:t>
            </a:r>
            <a:r>
              <a:rPr lang="pl-PL" sz="2400" dirty="0"/>
              <a:t>:</a:t>
            </a:r>
          </a:p>
          <a:p>
            <a:pPr lvl="1"/>
            <a:r>
              <a:rPr lang="pl-PL" sz="1800" dirty="0"/>
              <a:t> Module </a:t>
            </a:r>
            <a:r>
              <a:rPr lang="pl-PL" sz="1800" dirty="0" err="1"/>
              <a:t>structures</a:t>
            </a:r>
            <a:r>
              <a:rPr lang="pl-PL" sz="1800" dirty="0"/>
              <a:t> show </a:t>
            </a:r>
            <a:r>
              <a:rPr lang="pl-PL" sz="1800" dirty="0" err="1"/>
              <a:t>how</a:t>
            </a:r>
            <a:r>
              <a:rPr lang="pl-PL" sz="1800" dirty="0"/>
              <a:t> a system </a:t>
            </a:r>
            <a:r>
              <a:rPr lang="pl-PL" sz="1800" dirty="0" err="1"/>
              <a:t>is</a:t>
            </a:r>
            <a:r>
              <a:rPr lang="pl-PL" sz="1800" dirty="0"/>
              <a:t> to be </a:t>
            </a:r>
            <a:r>
              <a:rPr lang="pl-PL" sz="1800" dirty="0" err="1"/>
              <a:t>structured</a:t>
            </a:r>
            <a:r>
              <a:rPr lang="pl-PL" sz="1800" dirty="0"/>
              <a:t> as a set of </a:t>
            </a:r>
            <a:r>
              <a:rPr lang="pl-PL" sz="1800" dirty="0" err="1"/>
              <a:t>code</a:t>
            </a:r>
            <a:r>
              <a:rPr lang="pl-PL" sz="1800" dirty="0"/>
              <a:t> </a:t>
            </a:r>
            <a:r>
              <a:rPr lang="pl-PL" sz="1800" dirty="0" err="1"/>
              <a:t>or</a:t>
            </a:r>
            <a:r>
              <a:rPr lang="pl-PL" sz="1800" dirty="0"/>
              <a:t> data </a:t>
            </a:r>
            <a:r>
              <a:rPr lang="pl-PL" sz="1800" dirty="0" err="1"/>
              <a:t>units</a:t>
            </a:r>
            <a:r>
              <a:rPr lang="pl-PL" sz="1800" dirty="0"/>
              <a:t> </a:t>
            </a:r>
            <a:r>
              <a:rPr lang="pl-PL" sz="1800" dirty="0" err="1"/>
              <a:t>that</a:t>
            </a:r>
            <a:r>
              <a:rPr lang="pl-PL" sz="1800" dirty="0"/>
              <a:t> </a:t>
            </a:r>
            <a:r>
              <a:rPr lang="pl-PL" sz="1800" dirty="0" err="1"/>
              <a:t>have</a:t>
            </a:r>
            <a:r>
              <a:rPr lang="pl-PL" sz="1800" dirty="0"/>
              <a:t> to be </a:t>
            </a:r>
            <a:r>
              <a:rPr lang="pl-PL" sz="1800" dirty="0" err="1"/>
              <a:t>constructed</a:t>
            </a:r>
            <a:r>
              <a:rPr lang="pl-PL" sz="1800" dirty="0"/>
              <a:t> </a:t>
            </a:r>
            <a:r>
              <a:rPr lang="pl-PL" sz="1800" dirty="0" err="1"/>
              <a:t>or</a:t>
            </a:r>
            <a:r>
              <a:rPr lang="pl-PL" sz="1800" dirty="0"/>
              <a:t> </a:t>
            </a:r>
            <a:r>
              <a:rPr lang="pl-PL" sz="1800" dirty="0" err="1"/>
              <a:t>procured</a:t>
            </a:r>
            <a:r>
              <a:rPr lang="pl-PL" sz="1800" dirty="0"/>
              <a:t>.</a:t>
            </a:r>
          </a:p>
          <a:p>
            <a:pPr lvl="1"/>
            <a:r>
              <a:rPr lang="pl-PL" sz="1800" dirty="0"/>
              <a:t>Component-and-</a:t>
            </a:r>
            <a:r>
              <a:rPr lang="pl-PL" sz="1800" dirty="0" err="1"/>
              <a:t>connector</a:t>
            </a:r>
            <a:r>
              <a:rPr lang="pl-PL" sz="1800" dirty="0"/>
              <a:t> </a:t>
            </a:r>
            <a:r>
              <a:rPr lang="pl-PL" sz="1800" dirty="0" err="1"/>
              <a:t>structures</a:t>
            </a:r>
            <a:r>
              <a:rPr lang="pl-PL" sz="1800" dirty="0"/>
              <a:t> show </a:t>
            </a:r>
            <a:r>
              <a:rPr lang="pl-PL" sz="1800" dirty="0" err="1"/>
              <a:t>how</a:t>
            </a:r>
            <a:r>
              <a:rPr lang="pl-PL" sz="1800" dirty="0"/>
              <a:t> the system </a:t>
            </a:r>
            <a:r>
              <a:rPr lang="pl-PL" sz="1800" dirty="0" err="1"/>
              <a:t>is</a:t>
            </a:r>
            <a:r>
              <a:rPr lang="pl-PL" sz="1800" dirty="0"/>
              <a:t> to be </a:t>
            </a:r>
            <a:r>
              <a:rPr lang="pl-PL" sz="1800" dirty="0" err="1"/>
              <a:t>structured</a:t>
            </a:r>
            <a:r>
              <a:rPr lang="pl-PL" sz="1800" dirty="0"/>
              <a:t> as a set of </a:t>
            </a:r>
            <a:r>
              <a:rPr lang="pl-PL" sz="1800" dirty="0" err="1"/>
              <a:t>elements</a:t>
            </a:r>
            <a:r>
              <a:rPr lang="pl-PL" sz="1800" dirty="0"/>
              <a:t> </a:t>
            </a:r>
            <a:r>
              <a:rPr lang="pl-PL" sz="1800" dirty="0" err="1"/>
              <a:t>that</a:t>
            </a:r>
            <a:r>
              <a:rPr lang="pl-PL" sz="1800" dirty="0"/>
              <a:t> </a:t>
            </a:r>
            <a:r>
              <a:rPr lang="pl-PL" sz="1800" dirty="0" err="1"/>
              <a:t>have</a:t>
            </a:r>
            <a:r>
              <a:rPr lang="pl-PL" sz="1800" dirty="0"/>
              <a:t> </a:t>
            </a:r>
            <a:r>
              <a:rPr lang="pl-PL" sz="1800" dirty="0" err="1"/>
              <a:t>runtime</a:t>
            </a:r>
            <a:r>
              <a:rPr lang="pl-PL" sz="1800" dirty="0"/>
              <a:t> </a:t>
            </a:r>
            <a:r>
              <a:rPr lang="pl-PL" sz="1800" dirty="0" err="1"/>
              <a:t>behavior</a:t>
            </a:r>
            <a:r>
              <a:rPr lang="pl-PL" sz="1800" dirty="0"/>
              <a:t> (</a:t>
            </a:r>
            <a:r>
              <a:rPr lang="pl-PL" sz="1800" dirty="0" err="1"/>
              <a:t>components</a:t>
            </a:r>
            <a:r>
              <a:rPr lang="pl-PL" sz="1800" dirty="0"/>
              <a:t>) and </a:t>
            </a:r>
            <a:r>
              <a:rPr lang="pl-PL" sz="1800" dirty="0" err="1"/>
              <a:t>interactions</a:t>
            </a:r>
            <a:r>
              <a:rPr lang="pl-PL" sz="1800" dirty="0"/>
              <a:t> (</a:t>
            </a:r>
            <a:r>
              <a:rPr lang="pl-PL" sz="1800" dirty="0" err="1"/>
              <a:t>connectors</a:t>
            </a:r>
            <a:r>
              <a:rPr lang="pl-PL" sz="1800" dirty="0"/>
              <a:t>).</a:t>
            </a:r>
          </a:p>
          <a:p>
            <a:pPr lvl="1"/>
            <a:r>
              <a:rPr lang="pl-PL" sz="1800" dirty="0" err="1"/>
              <a:t>Allocation</a:t>
            </a:r>
            <a:r>
              <a:rPr lang="pl-PL" sz="1800" dirty="0"/>
              <a:t> </a:t>
            </a:r>
            <a:r>
              <a:rPr lang="pl-PL" sz="1800" dirty="0" err="1"/>
              <a:t>structures</a:t>
            </a:r>
            <a:r>
              <a:rPr lang="pl-PL" sz="1800" dirty="0"/>
              <a:t> show </a:t>
            </a:r>
            <a:r>
              <a:rPr lang="pl-PL" sz="1800" dirty="0" err="1"/>
              <a:t>how</a:t>
            </a:r>
            <a:r>
              <a:rPr lang="pl-PL" sz="1800" dirty="0"/>
              <a:t> the system </a:t>
            </a:r>
            <a:r>
              <a:rPr lang="pl-PL" sz="1800" dirty="0" err="1"/>
              <a:t>will</a:t>
            </a:r>
            <a:r>
              <a:rPr lang="pl-PL" sz="1800" dirty="0"/>
              <a:t> </a:t>
            </a:r>
            <a:r>
              <a:rPr lang="pl-PL" sz="1800" dirty="0" err="1"/>
              <a:t>relate</a:t>
            </a:r>
            <a:r>
              <a:rPr lang="pl-PL" sz="1800" dirty="0"/>
              <a:t> to </a:t>
            </a:r>
            <a:r>
              <a:rPr lang="pl-PL" sz="1800" dirty="0" err="1"/>
              <a:t>nonsoftware</a:t>
            </a:r>
            <a:r>
              <a:rPr lang="pl-PL" sz="1800" dirty="0"/>
              <a:t> </a:t>
            </a:r>
            <a:r>
              <a:rPr lang="pl-PL" sz="1800" dirty="0" err="1"/>
              <a:t>structures</a:t>
            </a:r>
            <a:r>
              <a:rPr lang="pl-PL" sz="1800" dirty="0"/>
              <a:t> in </a:t>
            </a:r>
            <a:r>
              <a:rPr lang="pl-PL" sz="1800" dirty="0" err="1"/>
              <a:t>its</a:t>
            </a:r>
            <a:r>
              <a:rPr lang="pl-PL" sz="1800" dirty="0"/>
              <a:t> environment (</a:t>
            </a:r>
            <a:r>
              <a:rPr lang="pl-PL" sz="1800" dirty="0" err="1"/>
              <a:t>such</a:t>
            </a:r>
            <a:r>
              <a:rPr lang="pl-PL" sz="1800" dirty="0"/>
              <a:t> as </a:t>
            </a:r>
            <a:r>
              <a:rPr lang="pl-PL" sz="1800" dirty="0" err="1"/>
              <a:t>CPUs</a:t>
            </a:r>
            <a:r>
              <a:rPr lang="pl-PL" sz="1800" dirty="0"/>
              <a:t>, file </a:t>
            </a:r>
            <a:r>
              <a:rPr lang="pl-PL" sz="1800" dirty="0" err="1"/>
              <a:t>systems</a:t>
            </a:r>
            <a:r>
              <a:rPr lang="pl-PL" sz="1800" dirty="0"/>
              <a:t>, networks, development </a:t>
            </a:r>
            <a:r>
              <a:rPr lang="pl-PL" sz="1800" dirty="0" err="1"/>
              <a:t>teams</a:t>
            </a:r>
            <a:r>
              <a:rPr lang="pl-PL" sz="1800" dirty="0"/>
              <a:t>, etc.).</a:t>
            </a:r>
          </a:p>
          <a:p>
            <a:pPr>
              <a:buFont typeface="Arial" pitchFamily="34" charset="0"/>
              <a:buChar char="•"/>
            </a:pPr>
            <a:r>
              <a:rPr lang="pl-PL" sz="2400" dirty="0" err="1"/>
              <a:t>Structures</a:t>
            </a:r>
            <a:r>
              <a:rPr lang="pl-PL" sz="2400" dirty="0"/>
              <a:t> </a:t>
            </a:r>
            <a:r>
              <a:rPr lang="pl-PL" sz="2400" dirty="0" err="1"/>
              <a:t>represent</a:t>
            </a:r>
            <a:r>
              <a:rPr lang="pl-PL" sz="2400" dirty="0"/>
              <a:t> the </a:t>
            </a:r>
            <a:r>
              <a:rPr lang="pl-PL" sz="2400" dirty="0" err="1"/>
              <a:t>primary</a:t>
            </a:r>
            <a:r>
              <a:rPr lang="pl-PL" sz="2400" dirty="0"/>
              <a:t> engineering </a:t>
            </a:r>
            <a:r>
              <a:rPr lang="pl-PL" sz="2400" dirty="0" err="1"/>
              <a:t>leverage</a:t>
            </a:r>
            <a:r>
              <a:rPr lang="pl-PL" sz="2400" dirty="0"/>
              <a:t> </a:t>
            </a:r>
            <a:r>
              <a:rPr lang="pl-PL" sz="2400" dirty="0" err="1"/>
              <a:t>points</a:t>
            </a:r>
            <a:r>
              <a:rPr lang="pl-PL" sz="2400" dirty="0"/>
              <a:t> of </a:t>
            </a:r>
            <a:r>
              <a:rPr lang="pl-PL" sz="2400" dirty="0" err="1"/>
              <a:t>an</a:t>
            </a:r>
            <a:r>
              <a:rPr lang="pl-PL" sz="2400" dirty="0"/>
              <a:t> </a:t>
            </a:r>
            <a:r>
              <a:rPr lang="pl-PL" sz="2400" dirty="0" err="1"/>
              <a:t>architecture</a:t>
            </a:r>
            <a:r>
              <a:rPr lang="pl-PL" sz="2400" dirty="0"/>
              <a:t>.</a:t>
            </a:r>
          </a:p>
          <a:p>
            <a:pPr>
              <a:buFont typeface="Arial" pitchFamily="34" charset="0"/>
              <a:buChar char="•"/>
            </a:pPr>
            <a:r>
              <a:rPr lang="pl-PL" sz="2400" dirty="0" err="1"/>
              <a:t>Every</a:t>
            </a:r>
            <a:r>
              <a:rPr lang="pl-PL" sz="2400" dirty="0"/>
              <a:t> system </a:t>
            </a:r>
            <a:r>
              <a:rPr lang="pl-PL" sz="2400" dirty="0" err="1"/>
              <a:t>has</a:t>
            </a:r>
            <a:r>
              <a:rPr lang="pl-PL" sz="2400" dirty="0"/>
              <a:t> a software </a:t>
            </a:r>
            <a:r>
              <a:rPr lang="pl-PL" sz="2400" dirty="0" err="1"/>
              <a:t>architecture</a:t>
            </a:r>
            <a:r>
              <a:rPr lang="pl-PL" sz="2400" dirty="0"/>
              <a:t>, but </a:t>
            </a:r>
            <a:r>
              <a:rPr lang="pl-PL" sz="2400" dirty="0" err="1"/>
              <a:t>this</a:t>
            </a:r>
            <a:r>
              <a:rPr lang="pl-PL" sz="2400" dirty="0"/>
              <a:t> </a:t>
            </a:r>
            <a:r>
              <a:rPr lang="pl-PL" sz="2400" dirty="0" err="1"/>
              <a:t>architecture</a:t>
            </a:r>
            <a:r>
              <a:rPr lang="pl-PL" sz="2400" dirty="0"/>
              <a:t> </a:t>
            </a:r>
            <a:r>
              <a:rPr lang="pl-PL" sz="2400" dirty="0" err="1"/>
              <a:t>may</a:t>
            </a:r>
            <a:r>
              <a:rPr lang="pl-PL" sz="2400" dirty="0"/>
              <a:t> be </a:t>
            </a:r>
            <a:r>
              <a:rPr lang="pl-PL" sz="2400" dirty="0" err="1"/>
              <a:t>documented</a:t>
            </a:r>
            <a:r>
              <a:rPr lang="pl-PL" sz="2400" dirty="0"/>
              <a:t> and </a:t>
            </a:r>
            <a:r>
              <a:rPr lang="pl-PL" sz="2400" dirty="0" err="1"/>
              <a:t>disseminated</a:t>
            </a:r>
            <a:r>
              <a:rPr lang="pl-PL" sz="2400" dirty="0"/>
              <a:t>, </a:t>
            </a:r>
            <a:r>
              <a:rPr lang="pl-PL" sz="2400" dirty="0" err="1"/>
              <a:t>or</a:t>
            </a:r>
            <a:r>
              <a:rPr lang="pl-PL" sz="2400" dirty="0"/>
              <a:t> </a:t>
            </a:r>
            <a:r>
              <a:rPr lang="pl-PL" sz="2400" dirty="0" err="1"/>
              <a:t>it</a:t>
            </a:r>
            <a:r>
              <a:rPr lang="pl-PL" sz="2400" dirty="0"/>
              <a:t> </a:t>
            </a:r>
            <a:r>
              <a:rPr lang="pl-PL" sz="2400" dirty="0" err="1"/>
              <a:t>may</a:t>
            </a:r>
            <a:r>
              <a:rPr lang="pl-PL" sz="2400" dirty="0"/>
              <a:t> not be.</a:t>
            </a:r>
          </a:p>
          <a:p>
            <a:pPr>
              <a:buFont typeface="Arial" pitchFamily="34" charset="0"/>
              <a:buChar char="•"/>
            </a:pPr>
            <a:r>
              <a:rPr lang="pl-PL" sz="2400" dirty="0" err="1"/>
              <a:t>There</a:t>
            </a:r>
            <a:r>
              <a:rPr lang="pl-PL" sz="2400" dirty="0"/>
              <a:t> </a:t>
            </a:r>
            <a:r>
              <a:rPr lang="pl-PL" sz="2400" dirty="0" err="1"/>
              <a:t>is</a:t>
            </a:r>
            <a:r>
              <a:rPr lang="pl-PL" sz="2400" dirty="0"/>
              <a:t> no </a:t>
            </a:r>
            <a:r>
              <a:rPr lang="pl-PL" sz="2400" dirty="0" err="1"/>
              <a:t>such</a:t>
            </a:r>
            <a:r>
              <a:rPr lang="pl-PL" sz="2400" dirty="0"/>
              <a:t> </a:t>
            </a:r>
            <a:r>
              <a:rPr lang="pl-PL" sz="2400" dirty="0" err="1"/>
              <a:t>thing</a:t>
            </a:r>
            <a:r>
              <a:rPr lang="pl-PL" sz="2400" dirty="0"/>
              <a:t> as </a:t>
            </a:r>
            <a:r>
              <a:rPr lang="pl-PL" sz="2400" dirty="0" err="1"/>
              <a:t>an</a:t>
            </a:r>
            <a:r>
              <a:rPr lang="pl-PL" sz="2400" dirty="0"/>
              <a:t> </a:t>
            </a:r>
            <a:r>
              <a:rPr lang="pl-PL" sz="2400" dirty="0" err="1"/>
              <a:t>inherently</a:t>
            </a:r>
            <a:r>
              <a:rPr lang="pl-PL" sz="2400" dirty="0"/>
              <a:t> </a:t>
            </a:r>
            <a:r>
              <a:rPr lang="pl-PL" sz="2400" dirty="0" err="1"/>
              <a:t>good</a:t>
            </a:r>
            <a:r>
              <a:rPr lang="pl-PL" sz="2400" dirty="0"/>
              <a:t> </a:t>
            </a:r>
            <a:r>
              <a:rPr lang="pl-PL" sz="2400" dirty="0" err="1"/>
              <a:t>or</a:t>
            </a:r>
            <a:r>
              <a:rPr lang="pl-PL" sz="2400" dirty="0"/>
              <a:t> </a:t>
            </a:r>
            <a:r>
              <a:rPr lang="pl-PL" sz="2400" dirty="0" err="1"/>
              <a:t>bad</a:t>
            </a:r>
            <a:r>
              <a:rPr lang="pl-PL" sz="2400" dirty="0"/>
              <a:t> </a:t>
            </a:r>
            <a:r>
              <a:rPr lang="pl-PL" sz="2400" dirty="0" err="1"/>
              <a:t>architecture</a:t>
            </a:r>
            <a:r>
              <a:rPr lang="pl-PL" sz="2400" dirty="0"/>
              <a:t>. </a:t>
            </a:r>
            <a:r>
              <a:rPr lang="pl-PL" sz="2400" dirty="0" err="1"/>
              <a:t>Architectures</a:t>
            </a:r>
            <a:r>
              <a:rPr lang="pl-PL" sz="2400" dirty="0"/>
              <a:t> </a:t>
            </a:r>
            <a:r>
              <a:rPr lang="pl-PL" sz="2400" dirty="0" err="1"/>
              <a:t>are</a:t>
            </a:r>
            <a:r>
              <a:rPr lang="pl-PL" sz="2400" dirty="0"/>
              <a:t> </a:t>
            </a:r>
            <a:r>
              <a:rPr lang="pl-PL" sz="2400" dirty="0" err="1"/>
              <a:t>either</a:t>
            </a:r>
            <a:r>
              <a:rPr lang="pl-PL" sz="2400" dirty="0"/>
              <a:t> </a:t>
            </a:r>
            <a:r>
              <a:rPr lang="pl-PL" sz="2400" dirty="0" err="1"/>
              <a:t>more</a:t>
            </a:r>
            <a:r>
              <a:rPr lang="pl-PL" sz="2400" dirty="0"/>
              <a:t> </a:t>
            </a:r>
            <a:r>
              <a:rPr lang="pl-PL" sz="2400" dirty="0" err="1"/>
              <a:t>or</a:t>
            </a:r>
            <a:r>
              <a:rPr lang="pl-PL" sz="2400" dirty="0"/>
              <a:t> less </a:t>
            </a:r>
            <a:r>
              <a:rPr lang="pl-PL" sz="2400" dirty="0" err="1"/>
              <a:t>fit</a:t>
            </a:r>
            <a:r>
              <a:rPr lang="pl-PL" sz="2400" dirty="0"/>
              <a:t> for </a:t>
            </a:r>
            <a:r>
              <a:rPr lang="pl-PL" sz="2400" dirty="0" err="1"/>
              <a:t>some</a:t>
            </a:r>
            <a:r>
              <a:rPr lang="pl-PL" sz="2400" dirty="0"/>
              <a:t> </a:t>
            </a:r>
            <a:r>
              <a:rPr lang="pl-PL" sz="2400" dirty="0" err="1"/>
              <a:t>purpose</a:t>
            </a:r>
            <a:r>
              <a:rPr lang="pl-PL" sz="2400" dirty="0"/>
              <a:t>.</a:t>
            </a:r>
            <a:endParaRPr lang="en-US" sz="24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BF2EC150-C585-4281-B054-32A92BCEA3F2}"/>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848AD8B6-5857-4BEA-B099-FB309E0D555D}"/>
              </a:ext>
            </a:extLst>
          </p:cNvPr>
          <p:cNvSpPr>
            <a:spLocks noGrp="1"/>
          </p:cNvSpPr>
          <p:nvPr>
            <p:ph type="sldNum" sz="quarter" idx="14"/>
          </p:nvPr>
        </p:nvSpPr>
        <p:spPr/>
        <p:txBody>
          <a:bodyPr/>
          <a:lstStyle/>
          <a:p>
            <a:fld id="{BC8D7E44-7D4F-4942-A8C9-2DF6BF8399E8}" type="slidenum">
              <a:rPr lang="en-US" smtClean="0"/>
              <a:pPr/>
              <a:t>84</a:t>
            </a:fld>
            <a:endParaRPr lang="en-US" dirty="0"/>
          </a:p>
        </p:txBody>
      </p:sp>
    </p:spTree>
    <p:extLst>
      <p:ext uri="{BB962C8B-B14F-4D97-AF65-F5344CB8AC3E}">
        <p14:creationId xmlns:p14="http://schemas.microsoft.com/office/powerpoint/2010/main" val="612441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A4A848A-CAC1-4114-B38C-5EE19ECDBC83}"/>
</file>

<file path=customXml/itemProps2.xml><?xml version="1.0" encoding="utf-8"?>
<ds:datastoreItem xmlns:ds="http://schemas.openxmlformats.org/officeDocument/2006/customXml" ds:itemID="{51A12E5F-86EF-4EE0-B187-7EFC5F308FBE}"/>
</file>

<file path=customXml/itemProps3.xml><?xml version="1.0" encoding="utf-8"?>
<ds:datastoreItem xmlns:ds="http://schemas.openxmlformats.org/officeDocument/2006/customXml" ds:itemID="{5733748F-E530-47DE-B17A-EB07E08E9107}"/>
</file>

<file path=docProps/app.xml><?xml version="1.0" encoding="utf-8"?>
<Properties xmlns="http://schemas.openxmlformats.org/officeDocument/2006/extended-properties" xmlns:vt="http://schemas.openxmlformats.org/officeDocument/2006/docPropsVTypes">
  <Template/>
  <TotalTime>47</TotalTime>
  <Words>8728</Words>
  <Application>Microsoft Office PowerPoint</Application>
  <PresentationFormat>On-screen Show (4:3)</PresentationFormat>
  <Paragraphs>862</Paragraphs>
  <Slides>84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84</vt:i4>
      </vt:variant>
    </vt:vector>
  </HeadingPairs>
  <TitlesOfParts>
    <vt:vector size="89" baseType="lpstr">
      <vt:lpstr>Arial</vt:lpstr>
      <vt:lpstr>Calibri</vt:lpstr>
      <vt:lpstr>Courier New</vt:lpstr>
      <vt:lpstr>Wingdings</vt:lpstr>
      <vt:lpstr>Office Theme</vt:lpstr>
      <vt:lpstr>Software Architecture CS01 Introduction</vt:lpstr>
      <vt:lpstr>Why Software Architecture is Important?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Many Contexts of Software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Software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Harvinder Jabbal</cp:lastModifiedBy>
  <cp:revision>8</cp:revision>
  <dcterms:created xsi:type="dcterms:W3CDTF">2025-07-25T12:09:13Z</dcterms:created>
  <dcterms:modified xsi:type="dcterms:W3CDTF">2026-07-25T02:48:28Z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