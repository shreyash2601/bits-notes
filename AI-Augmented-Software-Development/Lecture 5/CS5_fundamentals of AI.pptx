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311" r:id="rId2"/>
    <p:sldId id="312" r:id="rId3"/>
    <p:sldId id="366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28" r:id="rId17"/>
    <p:sldId id="26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1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nvidia.com/blog/ai-tokens-explained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5 </a:t>
            </a:r>
            <a:r>
              <a:rPr lang="en-US" dirty="0">
                <a:latin typeface="Arial" charset="0"/>
                <a:cs typeface="Arial" charset="0"/>
              </a:rPr>
              <a:t>– Fundamentals of AI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1B4CE3-B451-A4A0-F418-8F4610C98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BAA3D-F67D-9E0E-88FB-FD40E29025B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 token can be a character, a word, or a part of a word (like -</a:t>
            </a:r>
            <a:r>
              <a:rPr lang="en-US" dirty="0" err="1"/>
              <a:t>tion</a:t>
            </a:r>
            <a:r>
              <a:rPr lang="en-US" dirty="0"/>
              <a:t>), depending on the model.</a:t>
            </a:r>
          </a:p>
          <a:p>
            <a:r>
              <a:rPr lang="en-US" dirty="0"/>
              <a:t>The process of breaking the original text into tokens is called </a:t>
            </a:r>
            <a:r>
              <a:rPr lang="en-US" i="1" dirty="0"/>
              <a:t>tokenization</a:t>
            </a:r>
            <a:r>
              <a:rPr lang="en-US" dirty="0"/>
              <a:t>.</a:t>
            </a:r>
          </a:p>
          <a:p>
            <a:r>
              <a:rPr lang="en-US" dirty="0">
                <a:hlinkClick r:id="rId2"/>
              </a:rPr>
              <a:t>https://platform.openai.com/tokenizer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616CA-88E4-DA34-140C-130AE1FB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1" dirty="0"/>
            </a:br>
            <a:r>
              <a:rPr lang="en-US" i="1" dirty="0"/>
              <a:t>AI Tokenization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2D8D3-6972-ACA3-7B2D-249603A9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82" y="4088358"/>
            <a:ext cx="9054790" cy="4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C778CC-52ED-4F7D-D457-C831AB294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8B127-FB40-E38B-A933-BC2BBFB5D6F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large language models (LLMs), tokens are usually fragments of text. </a:t>
            </a:r>
          </a:p>
          <a:p>
            <a:r>
              <a:rPr lang="en-US" dirty="0"/>
              <a:t>A common rule of thumb, based on models like OpenAI's GPT family, is that one token approximates four characters of English text, meaning 100 tokens translates to roughly 75 words. </a:t>
            </a:r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Short, common words ("is," "the," "and") often occupy a single token each.</a:t>
            </a:r>
          </a:p>
          <a:p>
            <a:pPr lvl="1"/>
            <a:r>
              <a:rPr lang="en-US" dirty="0"/>
              <a:t>Longer or rarer words get split into multiple tokens. "Tokenization" might become "token" + "</a:t>
            </a:r>
            <a:r>
              <a:rPr lang="en-US" dirty="0" err="1"/>
              <a:t>ization</a:t>
            </a:r>
            <a:r>
              <a:rPr lang="en-US" dirty="0"/>
              <a:t>."</a:t>
            </a:r>
          </a:p>
          <a:p>
            <a:pPr lvl="1"/>
            <a:r>
              <a:rPr lang="en-US" dirty="0"/>
              <a:t>Punctuation, spaces, and line breaks consume tokens too.</a:t>
            </a:r>
          </a:p>
          <a:p>
            <a:r>
              <a:rPr lang="en-US" dirty="0"/>
              <a:t>Tokens are not exclusive to text. In vision models, pixels serve as the unit of measurement. Audio models convert sound into spectrograms that are then tokenized.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ED7356-6D1B-72C2-B853-8DAF3E53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Tokens</a:t>
            </a:r>
          </a:p>
        </p:txBody>
      </p:sp>
    </p:spTree>
    <p:extLst>
      <p:ext uri="{BB962C8B-B14F-4D97-AF65-F5344CB8AC3E}">
        <p14:creationId xmlns:p14="http://schemas.microsoft.com/office/powerpoint/2010/main" val="93712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9C163A-34FB-F9B9-A221-5951999F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6166-CFD4-AAA8-0746-D7AFBA6561F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Why do language models use </a:t>
            </a:r>
            <a:r>
              <a:rPr lang="en-US" i="1" dirty="0"/>
              <a:t>token </a:t>
            </a:r>
            <a:r>
              <a:rPr lang="en-US" dirty="0"/>
              <a:t>as their unit instead of </a:t>
            </a:r>
            <a:r>
              <a:rPr lang="en-US" i="1" dirty="0"/>
              <a:t>word </a:t>
            </a:r>
            <a:r>
              <a:rPr lang="en-US" dirty="0"/>
              <a:t>or </a:t>
            </a:r>
            <a:r>
              <a:rPr lang="en-US" i="1" dirty="0"/>
              <a:t>character</a:t>
            </a:r>
            <a:r>
              <a:rPr lang="en-US" dirty="0"/>
              <a:t>??</a:t>
            </a:r>
          </a:p>
          <a:p>
            <a:pPr lvl="1"/>
            <a:r>
              <a:rPr lang="en-US" dirty="0"/>
              <a:t>Compared to characters, tokens allow the model to break words into meaningful components. </a:t>
            </a:r>
          </a:p>
          <a:p>
            <a:pPr lvl="1"/>
            <a:r>
              <a:rPr lang="en-US" dirty="0"/>
              <a:t>Because there are fewer unique tokens than unique words, this reduces the model’s vocabulary size, making the model more efficient.</a:t>
            </a:r>
          </a:p>
          <a:p>
            <a:pPr lvl="1"/>
            <a:r>
              <a:rPr lang="en-US" dirty="0"/>
              <a:t>Tokens also help the model process unknown words.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2C1C54-000A-EA01-C33B-AE946FB5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Tokens?</a:t>
            </a:r>
          </a:p>
        </p:txBody>
      </p:sp>
    </p:spTree>
    <p:extLst>
      <p:ext uri="{BB962C8B-B14F-4D97-AF65-F5344CB8AC3E}">
        <p14:creationId xmlns:p14="http://schemas.microsoft.com/office/powerpoint/2010/main" val="218874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B860F6-84BD-C538-0DC1-8A4974B04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00BE-A328-B2A3-C85C-F4714442313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Word tokenization </a:t>
            </a:r>
          </a:p>
          <a:p>
            <a:pPr lvl="1"/>
            <a:r>
              <a:rPr lang="en-US" dirty="0"/>
              <a:t>Word tokenization splits text on whitespace and punctuation, treating whole words as individual tokens.</a:t>
            </a:r>
            <a:endParaRPr lang="en-US" i="1" dirty="0"/>
          </a:p>
          <a:p>
            <a:r>
              <a:rPr lang="en-US" i="1" dirty="0"/>
              <a:t>Character tokenization</a:t>
            </a:r>
          </a:p>
          <a:p>
            <a:pPr lvl="1"/>
            <a:r>
              <a:rPr lang="en-US" dirty="0"/>
              <a:t>Character tokenization strips away the concept of words entirely, converting every single character (letters, numbers, spaces, punctuation) into its own token.</a:t>
            </a:r>
          </a:p>
          <a:p>
            <a:r>
              <a:rPr lang="en-US" i="1" dirty="0" err="1"/>
              <a:t>Subword</a:t>
            </a:r>
            <a:r>
              <a:rPr lang="en-US" i="1" dirty="0"/>
              <a:t> tokenization</a:t>
            </a:r>
          </a:p>
          <a:p>
            <a:pPr lvl="1"/>
            <a:r>
              <a:rPr lang="en-US" i="1" dirty="0"/>
              <a:t>It dynamically balances vocabulary size and sequence length by treating frequent words as single tokens while breaking rare words into common </a:t>
            </a:r>
            <a:r>
              <a:rPr lang="en-US" i="1" dirty="0" err="1"/>
              <a:t>subword</a:t>
            </a:r>
            <a:r>
              <a:rPr lang="en-US" i="1" dirty="0"/>
              <a:t> chunks.</a:t>
            </a:r>
          </a:p>
          <a:p>
            <a:r>
              <a:rPr lang="en-US" i="1" dirty="0"/>
              <a:t>Morphological tokenization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942602-92B4-D8F7-0C16-449F0F81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3149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246D78-7017-28C0-BB0B-AED1E8D1B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B5293-3DBA-BA28-3167-3E4A6C94723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Most modern LLMs use </a:t>
            </a:r>
            <a:r>
              <a:rPr lang="en-US" dirty="0" err="1"/>
              <a:t>Subword</a:t>
            </a:r>
            <a:r>
              <a:rPr lang="en-US" dirty="0"/>
              <a:t> Tokenization (such as Byte-Pair Encoding or </a:t>
            </a:r>
            <a:r>
              <a:rPr lang="en-US" dirty="0" err="1"/>
              <a:t>SentencePiece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Raw Code: </a:t>
            </a: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calculate_sum</a:t>
            </a:r>
            <a:r>
              <a:rPr lang="en-US" dirty="0">
                <a:solidFill>
                  <a:schemeClr val="accent6"/>
                </a:solidFill>
              </a:rPr>
              <a:t>(a, b): </a:t>
            </a:r>
          </a:p>
          <a:p>
            <a:r>
              <a:rPr lang="en-US" dirty="0"/>
              <a:t>Tokens: </a:t>
            </a:r>
            <a:r>
              <a:rPr lang="en-US" dirty="0">
                <a:solidFill>
                  <a:schemeClr val="accent2"/>
                </a:solidFill>
              </a:rPr>
              <a:t>["def", " calculate", "_", "sum", "(a", ",", " b", "):"] </a:t>
            </a:r>
          </a:p>
          <a:p>
            <a:r>
              <a:rPr lang="en-US" dirty="0"/>
              <a:t>Token IDs: [1314, 17950, 29859, 6271, 11, 287, 3127, 220]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/>
              <a:t>Rule of Thumb:</a:t>
            </a:r>
            <a:r>
              <a:rPr lang="en-US" dirty="0"/>
              <a:t> 1 token ≈ 4 characters or ~0.75 words of natural English.</a:t>
            </a:r>
          </a:p>
          <a:p>
            <a:r>
              <a:rPr lang="en-US" dirty="0"/>
              <a:t>Code Overhead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A7C30-E3EC-0E2D-9BAE-BE580167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example</a:t>
            </a:r>
          </a:p>
        </p:txBody>
      </p:sp>
    </p:spTree>
    <p:extLst>
      <p:ext uri="{BB962C8B-B14F-4D97-AF65-F5344CB8AC3E}">
        <p14:creationId xmlns:p14="http://schemas.microsoft.com/office/powerpoint/2010/main" val="1471128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4B138-A631-F994-1437-AC8C96EDE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A0EA5-BB18-125F-BB58-3624C0AD90C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Humans read code semantically </a:t>
            </a:r>
          </a:p>
          <a:p>
            <a:r>
              <a:rPr lang="en-US" dirty="0"/>
              <a:t>The tokenizer breaks text down using statistical patterns based on its training vocabulary.</a:t>
            </a:r>
          </a:p>
          <a:p>
            <a:r>
              <a:rPr lang="en-US" b="1" dirty="0"/>
              <a:t>Common Words = Single Token</a:t>
            </a:r>
          </a:p>
          <a:p>
            <a:r>
              <a:rPr lang="en-US" dirty="0"/>
              <a:t>Custom Identifiers = Split Tokens (Eg: </a:t>
            </a:r>
            <a:r>
              <a:rPr lang="en-US" dirty="0" err="1"/>
              <a:t>getUserPaymentHistory</a:t>
            </a:r>
            <a:r>
              <a:rPr lang="en-US" dirty="0"/>
              <a:t>)</a:t>
            </a:r>
          </a:p>
          <a:p>
            <a:r>
              <a:rPr lang="en-US" dirty="0"/>
              <a:t>Cryptic Identifiers = High Token Cost</a:t>
            </a:r>
          </a:p>
          <a:p>
            <a:r>
              <a:rPr lang="en-US" dirty="0"/>
              <a:t>Because models operate on </a:t>
            </a:r>
            <a:r>
              <a:rPr lang="en-US" dirty="0" err="1"/>
              <a:t>subword</a:t>
            </a:r>
            <a:r>
              <a:rPr lang="en-US" dirty="0"/>
              <a:t> IDs rather than raw text, tokenization creates subtle failure modes during code generation and analysis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FF2DA8-D262-018D-1CEA-E063AE5D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Model "Sees" Code</a:t>
            </a:r>
          </a:p>
        </p:txBody>
      </p:sp>
    </p:spTree>
    <p:extLst>
      <p:ext uri="{BB962C8B-B14F-4D97-AF65-F5344CB8AC3E}">
        <p14:creationId xmlns:p14="http://schemas.microsoft.com/office/powerpoint/2010/main" val="389404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D8E10B-F2D8-8D6E-1926-6EB1214A1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8A461-FD15-2486-8FCF-0624966D83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Older tokenizers (like GPT-2/3) treated code like regular English text, causing whitespace and symbols to fragment awkwardly. </a:t>
            </a:r>
          </a:p>
          <a:p>
            <a:r>
              <a:rPr lang="en-US" dirty="0"/>
              <a:t>Modern models (GPT-4, Llama 3, Claude 3) use purpose-built tokenizers that explicitly accommodate code structure.</a:t>
            </a:r>
          </a:p>
          <a:p>
            <a:r>
              <a:rPr lang="en-US" dirty="0"/>
              <a:t>In early models, the attention mechanism only "saw" token positions (Token 1, Token 2), concealing how many characters were inside Token 1.</a:t>
            </a:r>
          </a:p>
          <a:p>
            <a:r>
              <a:rPr lang="en-US" dirty="0"/>
              <a:t>Many modern architectures incorporate positional metadata that tracks both token index and precise character offsets.</a:t>
            </a:r>
          </a:p>
          <a:p>
            <a:r>
              <a:rPr lang="en-US" b="1" dirty="0"/>
              <a:t>Syntax-Guided Pre-training:</a:t>
            </a:r>
            <a:r>
              <a:rPr lang="en-US" dirty="0"/>
              <a:t> Training data incorporates Abstract Syntax Trees (ASTs) and linter feedback, teaching the model to treat syntax blocks as cohesive structural units rather than arbitrary strings.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523CA9-F4A5-701C-22DE-AE0FAFAC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Re-Engineered Code-Aware Tokenizers</a:t>
            </a:r>
          </a:p>
        </p:txBody>
      </p:sp>
    </p:spTree>
    <p:extLst>
      <p:ext uri="{BB962C8B-B14F-4D97-AF65-F5344CB8AC3E}">
        <p14:creationId xmlns:p14="http://schemas.microsoft.com/office/powerpoint/2010/main" val="380153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6025A-7A97-2927-5DDC-210D48437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def </a:t>
            </a:r>
            <a:r>
              <a:rPr lang="en-US" dirty="0" err="1"/>
              <a:t>process_data</a:t>
            </a:r>
            <a:r>
              <a:rPr lang="en-US" dirty="0"/>
              <a:t>(</a:t>
            </a:r>
            <a:r>
              <a:rPr lang="en-US" dirty="0" err="1"/>
              <a:t>item_id</a:t>
            </a:r>
            <a:r>
              <a:rPr lang="en-US" dirty="0"/>
              <a:t>):</a:t>
            </a:r>
          </a:p>
          <a:p>
            <a:pPr>
              <a:lnSpc>
                <a:spcPct val="90000"/>
              </a:lnSpc>
            </a:pPr>
            <a:r>
              <a:rPr lang="en-US" dirty="0"/>
              <a:t>    if </a:t>
            </a:r>
            <a:r>
              <a:rPr lang="en-US" dirty="0" err="1"/>
              <a:t>item_id</a:t>
            </a:r>
            <a:r>
              <a:rPr lang="en-US" dirty="0"/>
              <a:t> == None:</a:t>
            </a:r>
          </a:p>
          <a:p>
            <a:pPr>
              <a:lnSpc>
                <a:spcPct val="90000"/>
              </a:lnSpc>
            </a:pPr>
            <a:r>
              <a:rPr lang="en-US" dirty="0"/>
              <a:t>        return []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Old </a:t>
            </a:r>
            <a:r>
              <a:rPr lang="en-US" dirty="0" err="1"/>
              <a:t>model:Token</a:t>
            </a:r>
            <a:r>
              <a:rPr lang="en-US" dirty="0"/>
              <a:t> Stream (~19 tokens): </a:t>
            </a:r>
          </a:p>
          <a:p>
            <a:pPr>
              <a:lnSpc>
                <a:spcPct val="90000"/>
              </a:lnSpc>
            </a:pPr>
            <a:r>
              <a:rPr lang="en-US" dirty="0"/>
              <a:t>["def", " process", "_", "data", "(", "item", "_", "id", "):", "\n", " ", " ", " ", " ", "if", " item", "_", "id", " ==", " None", ":", "\n", " ", " ", " ", " ", "return", " [", "]"]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New Model: Token Stream (~10 tokens):</a:t>
            </a:r>
          </a:p>
          <a:p>
            <a:pPr>
              <a:lnSpc>
                <a:spcPct val="90000"/>
              </a:lnSpc>
            </a:pPr>
            <a:r>
              <a:rPr lang="en-US" dirty="0"/>
              <a:t>["def", " </a:t>
            </a:r>
            <a:r>
              <a:rPr lang="en-US" dirty="0" err="1"/>
              <a:t>process_data</a:t>
            </a:r>
            <a:r>
              <a:rPr lang="en-US" dirty="0"/>
              <a:t>", "(", "</a:t>
            </a:r>
            <a:r>
              <a:rPr lang="en-US" dirty="0" err="1"/>
              <a:t>item_id</a:t>
            </a:r>
            <a:r>
              <a:rPr lang="en-US" dirty="0"/>
              <a:t>", "):", "\n ", "if", " </a:t>
            </a:r>
            <a:r>
              <a:rPr lang="en-US" dirty="0" err="1"/>
              <a:t>item_id</a:t>
            </a:r>
            <a:r>
              <a:rPr lang="en-US" dirty="0"/>
              <a:t>", " == ", "None:\n return []"]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62E71-25F1-56F9-D3F9-8514375B2C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315086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FDF78D-8CBB-E874-F911-B67E800C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Interpreters &amp; Latching Tools (Delegating the Task)</a:t>
            </a:r>
          </a:p>
          <a:p>
            <a:r>
              <a:rPr lang="en-US" dirty="0"/>
              <a:t>	Instead of forcing the model to guess the result of a character-level manipulation, the system allows the model to write code to solve it, run that code in an isolated environment, and read the answer.</a:t>
            </a:r>
          </a:p>
          <a:p>
            <a:endParaRPr lang="en-US" dirty="0"/>
          </a:p>
          <a:p>
            <a:r>
              <a:rPr lang="en-US" dirty="0"/>
              <a:t>Structured Output Enforcers &amp; Constrained Decoding (Guarding the Syntax)</a:t>
            </a:r>
          </a:p>
          <a:p>
            <a:r>
              <a:rPr lang="en-US" dirty="0"/>
              <a:t>	When an LLM generates code or JSON, it normally produces a list of probabilities (called </a:t>
            </a:r>
            <a:r>
              <a:rPr lang="en-US" b="1" dirty="0"/>
              <a:t>logits</a:t>
            </a:r>
            <a:r>
              <a:rPr lang="en-US" dirty="0"/>
              <a:t>) . </a:t>
            </a:r>
          </a:p>
          <a:p>
            <a:r>
              <a:rPr lang="en-US" dirty="0"/>
              <a:t>	</a:t>
            </a:r>
            <a:r>
              <a:rPr lang="en-US" b="1" dirty="0"/>
              <a:t>Invalid Token Blocking: </a:t>
            </a:r>
            <a:r>
              <a:rPr lang="en-US" dirty="0"/>
              <a:t>Any token that would violate the syntax rule (e.g., an </a:t>
            </a:r>
            <a:r>
              <a:rPr lang="en-US" dirty="0" err="1"/>
              <a:t>unindented</a:t>
            </a:r>
            <a:r>
              <a:rPr lang="en-US" dirty="0"/>
              <a:t> line inside an if block, or a missing quote in JSON) is masked out (its probability is set to zero).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A679C-4A0D-A653-A48A-5664D5B757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System-Level Interventions</a:t>
            </a:r>
          </a:p>
        </p:txBody>
      </p:sp>
    </p:spTree>
    <p:extLst>
      <p:ext uri="{BB962C8B-B14F-4D97-AF65-F5344CB8AC3E}">
        <p14:creationId xmlns:p14="http://schemas.microsoft.com/office/powerpoint/2010/main" val="589751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78DDF6-9048-6562-435E-AF80E82BA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context window (or “context length”) of a large language model (LLM) is the amount of text, in tokens, that the model can consider or “remember” at any one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Tokens are the "unit of measurement" for the context window.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model has an upper limit to the number of tokens in the input prompt plus the number of tokens in the generated output from the model.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D645-9AA1-721E-6570-360C85EC2E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Context window</a:t>
            </a:r>
          </a:p>
        </p:txBody>
      </p:sp>
    </p:spTree>
    <p:extLst>
      <p:ext uri="{BB962C8B-B14F-4D97-AF65-F5344CB8AC3E}">
        <p14:creationId xmlns:p14="http://schemas.microsoft.com/office/powerpoint/2010/main" val="23313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2F1F-DA45-DA8E-A94D-FAD45BCA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FDF379-A051-F1C2-D9DA-5808B66B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Counts Toward the Context Window?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Everything in the request, plus everything in the response.</a:t>
            </a:r>
            <a:r>
              <a:rPr lang="en-US" dirty="0"/>
              <a:t> </a:t>
            </a:r>
          </a:p>
          <a:p>
            <a:pPr lvl="1"/>
            <a:r>
              <a:rPr lang="en-US" b="1" dirty="0"/>
              <a:t>System Prompt &amp; Custom Instructions</a:t>
            </a:r>
            <a:endParaRPr lang="en-US" dirty="0"/>
          </a:p>
          <a:p>
            <a:pPr lvl="1"/>
            <a:r>
              <a:rPr lang="en-US" b="1" dirty="0"/>
              <a:t>Conversation History</a:t>
            </a:r>
            <a:r>
              <a:rPr lang="en-US" dirty="0"/>
              <a:t> (your past messages and the model's past answers)</a:t>
            </a:r>
          </a:p>
          <a:p>
            <a:pPr lvl="1"/>
            <a:r>
              <a:rPr lang="en-US" b="1" dirty="0"/>
              <a:t>Current User Prompt</a:t>
            </a:r>
            <a:r>
              <a:rPr lang="en-US" dirty="0"/>
              <a:t> (plus attached files/images)</a:t>
            </a:r>
          </a:p>
          <a:p>
            <a:pPr lvl="1"/>
            <a:r>
              <a:rPr lang="en-US" b="1" dirty="0"/>
              <a:t>The Response</a:t>
            </a:r>
            <a:r>
              <a:rPr lang="en-US" dirty="0"/>
              <a:t> the model is currently generating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token limit (also called a context limit or maximum context length) is the hard ceiling on the total number of AI tokens that a large language model can process in a single inference call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70E75-61C1-7002-A9AB-998DA6EEA9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Context window</a:t>
            </a:r>
          </a:p>
        </p:txBody>
      </p:sp>
    </p:spTree>
    <p:extLst>
      <p:ext uri="{BB962C8B-B14F-4D97-AF65-F5344CB8AC3E}">
        <p14:creationId xmlns:p14="http://schemas.microsoft.com/office/powerpoint/2010/main" val="164350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B3D03A-3E44-2BBC-6205-F8ADCFFE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common context window failures:</a:t>
            </a:r>
          </a:p>
          <a:p>
            <a:pPr lvl="1"/>
            <a:r>
              <a:rPr lang="en-US" dirty="0"/>
              <a:t>1. Silent Degradation</a:t>
            </a:r>
          </a:p>
          <a:p>
            <a:pPr lvl="1"/>
            <a:r>
              <a:rPr lang="en-US" dirty="0"/>
              <a:t>2. Attention Dilution (“Lost in the Middle”)</a:t>
            </a:r>
          </a:p>
          <a:p>
            <a:pPr lvl="1"/>
            <a:r>
              <a:rPr lang="en-US" dirty="0"/>
              <a:t>3. Inconsistent Behavior</a:t>
            </a:r>
          </a:p>
          <a:p>
            <a:pPr lvl="1"/>
            <a:r>
              <a:rPr lang="en-US" dirty="0"/>
              <a:t>4. Cascading Failures</a:t>
            </a:r>
          </a:p>
          <a:p>
            <a:r>
              <a:rPr lang="en-US" dirty="0">
                <a:solidFill>
                  <a:srgbClr val="FF0000"/>
                </a:solidFill>
              </a:rPr>
              <a:t>You wouldn’t build a web service without monitoring memory usage</a:t>
            </a:r>
            <a:r>
              <a:rPr lang="en-US" dirty="0"/>
              <a:t>. </a:t>
            </a:r>
            <a:r>
              <a:rPr lang="en-US" dirty="0">
                <a:solidFill>
                  <a:srgbClr val="FF0000"/>
                </a:solidFill>
              </a:rPr>
              <a:t>Don’t build agents without tracking token consumption.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B021-9A9C-C1FD-1F09-D1373A5430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Context Limits</a:t>
            </a:r>
          </a:p>
        </p:txBody>
      </p:sp>
    </p:spTree>
    <p:extLst>
      <p:ext uri="{BB962C8B-B14F-4D97-AF65-F5344CB8AC3E}">
        <p14:creationId xmlns:p14="http://schemas.microsoft.com/office/powerpoint/2010/main" val="359127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F5358F-38CF-270B-3362-F86C2784F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"Black Box" of AI Billing and Pricing</a:t>
            </a:r>
          </a:p>
          <a:p>
            <a:r>
              <a:rPr lang="en-US" dirty="0"/>
              <a:t>Hidden Costs Beyond the Token</a:t>
            </a:r>
          </a:p>
          <a:p>
            <a:r>
              <a:rPr lang="en-US" dirty="0"/>
              <a:t>Inability to Calculate AI Return on Investment (ROI)</a:t>
            </a:r>
          </a:p>
          <a:p>
            <a:r>
              <a:rPr lang="en-US" dirty="0"/>
              <a:t>Inefficient Model Routing and Waste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Linux Foundation Launches the </a:t>
            </a:r>
            <a:r>
              <a:rPr lang="en-US" dirty="0" err="1"/>
              <a:t>Tokenomics</a:t>
            </a:r>
            <a:r>
              <a:rPr lang="en-US" dirty="0"/>
              <a:t> Foundation to Define the Economics and ROI of AI Value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6F65-FD87-F129-AB0F-EA187AA59D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b="0" dirty="0"/>
          </a:p>
          <a:p>
            <a:r>
              <a:rPr lang="en-US" b="0" dirty="0" err="1"/>
              <a:t>Tokenomics</a:t>
            </a:r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311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https://blogs.nvidia.com/blog/ai-tokens-explained/</a:t>
            </a:r>
            <a:endParaRPr lang="en-IN" dirty="0"/>
          </a:p>
          <a:p>
            <a:r>
              <a:rPr lang="en-IN" dirty="0"/>
              <a:t>AI Engineering: Building Applications with Foundation Models by Chip Huyen , Oreilly, 2025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3" ma:contentTypeDescription="Create a new document." ma:contentTypeScope="" ma:versionID="c20ae23d9ac856c6053e676649c543ef">
  <xsd:schema xmlns:xsd="http://www.w3.org/2001/XMLSchema" xmlns:xs="http://www.w3.org/2001/XMLSchema" xmlns:p="http://schemas.microsoft.com/office/2006/metadata/properties" xmlns:ns2="3719838a-b8de-4044-bbc5-cde9575f33d8" targetNamespace="http://schemas.microsoft.com/office/2006/metadata/properties" ma:root="true" ma:fieldsID="5bcd724bed00bb7cfe4f11aa70afd346" ns2:_="">
    <xsd:import namespace="3719838a-b8de-4044-bbc5-cde9575f33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9838a-b8de-4044-bbc5-cde9575f33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3566CA-C278-4249-A219-8162AD13873C}"/>
</file>

<file path=customXml/itemProps2.xml><?xml version="1.0" encoding="utf-8"?>
<ds:datastoreItem xmlns:ds="http://schemas.openxmlformats.org/officeDocument/2006/customXml" ds:itemID="{ABA12C30-796E-424D-B11A-7BFB48012D97}"/>
</file>

<file path=customXml/itemProps3.xml><?xml version="1.0" encoding="utf-8"?>
<ds:datastoreItem xmlns:ds="http://schemas.openxmlformats.org/officeDocument/2006/customXml" ds:itemID="{C378738E-0B61-45AF-A6C0-FBD595854B6A}"/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1191</Words>
  <Application>Microsoft Office PowerPoint</Application>
  <PresentationFormat>Widescreen</PresentationFormat>
  <Paragraphs>100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Helvetica</vt:lpstr>
      <vt:lpstr>1_Office Theme</vt:lpstr>
      <vt:lpstr>AI-Augmented Software Development Life Cycle  SEZG534</vt:lpstr>
      <vt:lpstr>PowerPoint Presentation</vt:lpstr>
      <vt:lpstr> AI Tokenization. </vt:lpstr>
      <vt:lpstr>AI Tokens</vt:lpstr>
      <vt:lpstr>Why Tokens?</vt:lpstr>
      <vt:lpstr>Tokenization techniques</vt:lpstr>
      <vt:lpstr>Tokenization example</vt:lpstr>
      <vt:lpstr>How the Model "Sees" Code</vt:lpstr>
      <vt:lpstr>Re-Engineered Code-Aware Tokenizers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78</cp:revision>
  <dcterms:created xsi:type="dcterms:W3CDTF">2022-09-26T09:02:06Z</dcterms:created>
  <dcterms:modified xsi:type="dcterms:W3CDTF">2026-08-22T08:40:53Z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