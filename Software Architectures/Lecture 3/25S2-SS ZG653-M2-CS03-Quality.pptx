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7" r:id="rId2"/>
    <p:sldId id="260" r:id="rId3"/>
    <p:sldId id="280" r:id="rId4"/>
    <p:sldId id="281"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16-08-2026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August 16,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August 16,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August 16,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August 16,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August 16,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August 16,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August 16,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August 16,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August 16,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284127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August 16,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08C5D9-A13E-486C-5724-938B49E6D52D}"/>
              </a:ext>
            </a:extLst>
          </p:cNvPr>
          <p:cNvSpPr>
            <a:spLocks noGrp="1"/>
          </p:cNvSpPr>
          <p:nvPr>
            <p:ph type="title"/>
          </p:nvPr>
        </p:nvSpPr>
        <p:spPr>
          <a:xfrm>
            <a:off x="2514600" y="3810000"/>
            <a:ext cx="6019800" cy="1981200"/>
          </a:xfrm>
        </p:spPr>
        <p:txBody>
          <a:bodyPr/>
          <a:lstStyle/>
          <a:p>
            <a:r>
              <a:rPr lang="en-US" dirty="0"/>
              <a:t>SEZG651/ SSZG653 </a:t>
            </a:r>
            <a:br>
              <a:rPr lang="en-US" dirty="0"/>
            </a:br>
            <a:r>
              <a:rPr lang="en-US" dirty="0"/>
              <a:t>Software Architectures</a:t>
            </a:r>
            <a:br>
              <a:rPr lang="en-US" dirty="0"/>
            </a:br>
            <a:br>
              <a:rPr lang="en-US"/>
            </a:br>
            <a:r>
              <a:rPr lang="en-US" sz="3200"/>
              <a:t>CS03 </a:t>
            </a:r>
            <a:r>
              <a:rPr lang="en-US" sz="3200" dirty="0"/>
              <a:t>Quality </a:t>
            </a:r>
            <a:r>
              <a:rPr lang="en-US" sz="3200"/>
              <a:t>Attributes 2 of 2</a:t>
            </a:r>
            <a:endParaRPr lang="en-IN" sz="3200"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0"/>
          </p:nvPr>
        </p:nvSpPr>
        <p:spPr/>
        <p:txBody>
          <a:bodyPr/>
          <a:lstStyle/>
          <a:p>
            <a:r>
              <a:rPr lang="en-US"/>
              <a:t>August 16, 2026</a:t>
            </a:r>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1"/>
          </p:nvPr>
        </p:nvSpPr>
        <p:spPr/>
        <p:txBody>
          <a:bodyPr/>
          <a:lstStyle/>
          <a:p>
            <a:r>
              <a:rPr lang="en-US"/>
              <a:t>SSZG653 Software Architectures</a:t>
            </a:r>
            <a:endParaRPr lang="en-US" dirty="0"/>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2"/>
          </p:nvPr>
        </p:nvSpPr>
        <p:spPr/>
        <p:txBody>
          <a:bodyPr/>
          <a:lstStyle/>
          <a:p>
            <a:fld id="{BC8D7E44-7D4F-4942-A8C9-2DF6BF8399E8}"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dirty="0"/>
              <a:t>Interoperability</a:t>
            </a:r>
            <a:br>
              <a:rPr lang="en-AU" dirty="0"/>
            </a:br>
            <a:r>
              <a:rPr lang="en-AU" dirty="0"/>
              <a:t>Module 2 – L3</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dirty="0"/>
              <a:t>SSZG653 Software Architectures</a:t>
            </a:r>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August 16, 2026</a:t>
            </a:r>
          </a:p>
        </p:txBody>
      </p:sp>
    </p:spTree>
    <p:extLst>
      <p:ext uri="{BB962C8B-B14F-4D97-AF65-F5344CB8AC3E}">
        <p14:creationId xmlns:p14="http://schemas.microsoft.com/office/powerpoint/2010/main" val="144564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SEZG651/ SSZG653 </a:t>
            </a:r>
          </a:p>
          <a:p>
            <a:r>
              <a:rPr lang="en-US" dirty="0"/>
              <a:t>Software Architectures</a:t>
            </a:r>
          </a:p>
          <a:p>
            <a:r>
              <a:rPr lang="en-US" dirty="0"/>
              <a:t>Module 2-CS03C</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fld id="{BC8D7E44-7D4F-4942-A8C9-2DF6BF8399E8}" type="slidenum">
              <a:rPr lang="en-US" smtClean="0"/>
              <a:pPr/>
              <a:t>3</a:t>
            </a:fld>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r>
              <a:rPr lang="en-US"/>
              <a:t>SSZG653 Software Architectures</a:t>
            </a:r>
            <a:endParaRPr lang="en-US"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r>
              <a:rPr lang="en-US"/>
              <a:t>August 16, 2026</a:t>
            </a:r>
            <a:endParaRPr lang="en-US" dirty="0"/>
          </a:p>
        </p:txBody>
      </p:sp>
    </p:spTree>
    <p:extLst>
      <p:ext uri="{BB962C8B-B14F-4D97-AF65-F5344CB8AC3E}">
        <p14:creationId xmlns:p14="http://schemas.microsoft.com/office/powerpoint/2010/main" val="240552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B5B899-CF70-4BBB-AE4C-DA5A083B6D4B}"/>
              </a:ext>
            </a:extLst>
          </p:cNvPr>
          <p:cNvSpPr>
            <a:spLocks noGrp="1"/>
          </p:cNvSpPr>
          <p:nvPr>
            <p:ph idx="1"/>
          </p:nvPr>
        </p:nvSpPr>
        <p:spPr/>
        <p:txBody>
          <a:bodyPr/>
          <a:lstStyle/>
          <a:p>
            <a:r>
              <a:rPr lang="en-IN" dirty="0"/>
              <a:t>These Slides are based on</a:t>
            </a:r>
          </a:p>
          <a:p>
            <a:endParaRPr lang="en-IN" dirty="0"/>
          </a:p>
          <a:p>
            <a:pPr>
              <a:buFont typeface="Arial" panose="020B0604020202020204" pitchFamily="34" charset="0"/>
              <a:buChar char="•"/>
            </a:pPr>
            <a:r>
              <a:rPr lang="en-IN" dirty="0"/>
              <a:t>Software Architecture in Practice by</a:t>
            </a:r>
          </a:p>
          <a:p>
            <a:pPr lvl="1">
              <a:buFont typeface="Arial" panose="020B0604020202020204" pitchFamily="34" charset="0"/>
              <a:buChar char="•"/>
            </a:pPr>
            <a:r>
              <a:rPr lang="en-IN" dirty="0"/>
              <a:t>Len Bass, Paul Clement and Rick </a:t>
            </a:r>
            <a:r>
              <a:rPr lang="en-IN" dirty="0" err="1"/>
              <a:t>Kazman</a:t>
            </a:r>
            <a:endParaRPr lang="en-IN" dirty="0"/>
          </a:p>
          <a:p>
            <a:pPr lvl="1">
              <a:buFont typeface="Arial" panose="020B0604020202020204" pitchFamily="34" charset="0"/>
              <a:buChar char="•"/>
            </a:pPr>
            <a:r>
              <a:rPr lang="en-IN" dirty="0"/>
              <a:t>Pearson © 2013</a:t>
            </a:r>
          </a:p>
        </p:txBody>
      </p:sp>
      <p:sp>
        <p:nvSpPr>
          <p:cNvPr id="3" name="Content Placeholder 2">
            <a:extLst>
              <a:ext uri="{FF2B5EF4-FFF2-40B4-BE49-F238E27FC236}">
                <a16:creationId xmlns:a16="http://schemas.microsoft.com/office/drawing/2014/main" id="{0C22A11F-9BDD-40EA-9108-79A98E7C22C1}"/>
              </a:ext>
            </a:extLst>
          </p:cNvPr>
          <p:cNvSpPr>
            <a:spLocks noGrp="1"/>
          </p:cNvSpPr>
          <p:nvPr>
            <p:ph sz="quarter" idx="10"/>
          </p:nvPr>
        </p:nvSpPr>
        <p:spPr/>
        <p:txBody>
          <a:bodyPr/>
          <a:lstStyle/>
          <a:p>
            <a:r>
              <a:rPr lang="en-IN" dirty="0"/>
              <a:t>Credits</a:t>
            </a:r>
          </a:p>
        </p:txBody>
      </p:sp>
      <p:sp>
        <p:nvSpPr>
          <p:cNvPr id="5" name="Date Placeholder 4">
            <a:extLst>
              <a:ext uri="{FF2B5EF4-FFF2-40B4-BE49-F238E27FC236}">
                <a16:creationId xmlns:a16="http://schemas.microsoft.com/office/drawing/2014/main" id="{298DE30B-B871-430C-81AD-5250AE771657}"/>
              </a:ext>
            </a:extLst>
          </p:cNvPr>
          <p:cNvSpPr>
            <a:spLocks noGrp="1"/>
          </p:cNvSpPr>
          <p:nvPr>
            <p:ph type="dt" sz="half" idx="12"/>
          </p:nvPr>
        </p:nvSpPr>
        <p:spPr/>
        <p:txBody>
          <a:bodyPr/>
          <a:lstStyle/>
          <a:p>
            <a:r>
              <a:rPr lang="en-US"/>
              <a:t>August 16, 2026</a:t>
            </a:r>
          </a:p>
        </p:txBody>
      </p:sp>
      <p:sp>
        <p:nvSpPr>
          <p:cNvPr id="6" name="Footer Placeholder 5">
            <a:extLst>
              <a:ext uri="{FF2B5EF4-FFF2-40B4-BE49-F238E27FC236}">
                <a16:creationId xmlns:a16="http://schemas.microsoft.com/office/drawing/2014/main" id="{38C4A635-2A3B-40FD-84B2-C6B1E4D0D048}"/>
              </a:ext>
            </a:extLst>
          </p:cNvPr>
          <p:cNvSpPr>
            <a:spLocks noGrp="1"/>
          </p:cNvSpPr>
          <p:nvPr>
            <p:ph type="ftr" sz="quarter" idx="13"/>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B733C520-AD81-45FC-BF10-1F5FD9ADD202}"/>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Tree>
    <p:extLst>
      <p:ext uri="{BB962C8B-B14F-4D97-AF65-F5344CB8AC3E}">
        <p14:creationId xmlns:p14="http://schemas.microsoft.com/office/powerpoint/2010/main" val="19378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US" sz="3200" b="0" i="0" u="none" strike="noStrike" kern="1200" baseline="0" dirty="0">
                <a:solidFill>
                  <a:schemeClr val="tx1"/>
                </a:solidFill>
                <a:latin typeface="+mn-lt"/>
                <a:ea typeface="+mn-ea"/>
                <a:cs typeface="+mn-cs"/>
              </a:rPr>
              <a:t>What is Interoperability?</a:t>
            </a:r>
          </a:p>
          <a:p>
            <a:pPr lvl="1">
              <a:buFont typeface="Arial" panose="020B0604020202020204" pitchFamily="34" charset="0"/>
              <a:buChar char="•"/>
            </a:pPr>
            <a:r>
              <a:rPr lang="en-US" dirty="0"/>
              <a:t>Interoperability General </a:t>
            </a:r>
            <a:r>
              <a:rPr lang="en-US" sz="2400" b="0" i="0" u="none" strike="noStrike" kern="1200" baseline="0" dirty="0">
                <a:solidFill>
                  <a:schemeClr val="tx1"/>
                </a:solidFill>
                <a:latin typeface="+mn-lt"/>
                <a:ea typeface="+mn-ea"/>
                <a:cs typeface="+mn-cs"/>
              </a:rPr>
              <a:t>Scenario</a:t>
            </a:r>
          </a:p>
          <a:p>
            <a:pPr marL="457200" indent="-457200">
              <a:buFont typeface="Arial" panose="020B0604020202020204" pitchFamily="34" charset="0"/>
              <a:buChar char="•"/>
            </a:pPr>
            <a:r>
              <a:rPr lang="en-US" sz="3200" b="0" i="0" u="none" strike="noStrike" kern="1200" baseline="0" dirty="0">
                <a:solidFill>
                  <a:schemeClr val="tx1"/>
                </a:solidFill>
                <a:latin typeface="+mn-lt"/>
                <a:ea typeface="+mn-ea"/>
                <a:cs typeface="+mn-cs"/>
              </a:rPr>
              <a:t>Tactics for </a:t>
            </a:r>
            <a:r>
              <a:rPr lang="en-US" dirty="0"/>
              <a:t>Interoperability</a:t>
            </a:r>
            <a:endParaRPr lang="en-US" sz="3200" b="0" i="0" u="none" strike="noStrike" kern="1200" baseline="0" dirty="0">
              <a:solidFill>
                <a:schemeClr val="tx1"/>
              </a:solidFill>
              <a:latin typeface="+mn-lt"/>
              <a:ea typeface="+mn-ea"/>
              <a:cs typeface="+mn-cs"/>
            </a:endParaRPr>
          </a:p>
          <a:p>
            <a:pPr lvl="1">
              <a:buFont typeface="Arial" panose="020B0604020202020204" pitchFamily="34" charset="0"/>
              <a:buChar char="•"/>
            </a:pPr>
            <a:r>
              <a:rPr lang="en-US" dirty="0"/>
              <a:t>A Design Checklist for Interoperability</a:t>
            </a:r>
            <a:endParaRPr lang="en-US" sz="2400" b="0" i="0" u="none" strike="noStrike" kern="1200" baseline="0" dirty="0">
              <a:solidFill>
                <a:schemeClr val="tx1"/>
              </a:solidFill>
              <a:latin typeface="+mn-lt"/>
              <a:ea typeface="+mn-ea"/>
              <a:cs typeface="+mn-cs"/>
            </a:endParaRPr>
          </a:p>
          <a:p>
            <a:pPr marL="457200" indent="-457200">
              <a:buFont typeface="Arial" panose="020B0604020202020204" pitchFamily="34" charset="0"/>
              <a:buChar char="•"/>
            </a:pPr>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0FA44A36-80D0-43CE-A613-2862B06B8957}"/>
              </a:ext>
            </a:extLst>
          </p:cNvPr>
          <p:cNvSpPr>
            <a:spLocks noGrp="1"/>
          </p:cNvSpPr>
          <p:nvPr>
            <p:ph sz="quarter" idx="10"/>
          </p:nvPr>
        </p:nvSpPr>
        <p:spPr/>
        <p:txBody>
          <a:bodyPr/>
          <a:lstStyle/>
          <a:p>
            <a:r>
              <a:rPr lang="en-AU" dirty="0"/>
              <a:t>Outline</a:t>
            </a:r>
          </a:p>
        </p:txBody>
      </p:sp>
      <p:sp>
        <p:nvSpPr>
          <p:cNvPr id="2" name="Date Placeholder 1">
            <a:extLst>
              <a:ext uri="{FF2B5EF4-FFF2-40B4-BE49-F238E27FC236}">
                <a16:creationId xmlns:a16="http://schemas.microsoft.com/office/drawing/2014/main" id="{E672A7C4-117C-4881-BCD1-FD0A7597F95A}"/>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CFDA3CB2-A3BD-495D-B91E-F802045A0BCE}"/>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96686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Interoperability is about the degree to which two or more systems can usefully exchange meaningful information. </a:t>
            </a:r>
          </a:p>
          <a:p>
            <a:pPr>
              <a:buFont typeface="Arial" panose="020B0604020202020204" pitchFamily="34" charset="0"/>
              <a:buChar char="•"/>
            </a:pPr>
            <a:r>
              <a:rPr lang="en-US" dirty="0"/>
              <a:t>Like all quality attributes, interoperability is not a yes-or-no proposition but has shades of meaning. </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04BEE44C-0284-4257-85CF-C128114C73C4}"/>
              </a:ext>
            </a:extLst>
          </p:cNvPr>
          <p:cNvSpPr>
            <a:spLocks noGrp="1"/>
          </p:cNvSpPr>
          <p:nvPr>
            <p:ph sz="quarter" idx="10"/>
          </p:nvPr>
        </p:nvSpPr>
        <p:spPr/>
        <p:txBody>
          <a:bodyPr/>
          <a:lstStyle/>
          <a:p>
            <a:r>
              <a:rPr lang="en-US" dirty="0"/>
              <a:t>What is Interoperability?</a:t>
            </a:r>
          </a:p>
        </p:txBody>
      </p:sp>
      <p:sp>
        <p:nvSpPr>
          <p:cNvPr id="2" name="Date Placeholder 1">
            <a:extLst>
              <a:ext uri="{FF2B5EF4-FFF2-40B4-BE49-F238E27FC236}">
                <a16:creationId xmlns:a16="http://schemas.microsoft.com/office/drawing/2014/main" id="{36753AF9-F888-4B1C-B4F8-FF3A1F9D5765}"/>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30C9429B-45ED-4217-AB44-5C8B7D316E3E}"/>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113817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CBCD0ACC-08C2-46A3-B04C-B305B09158CA}"/>
              </a:ext>
            </a:extLst>
          </p:cNvPr>
          <p:cNvGraphicFramePr>
            <a:graphicFrameLocks noGrp="1"/>
          </p:cNvGraphicFramePr>
          <p:nvPr>
            <p:ph idx="1"/>
          </p:nvPr>
        </p:nvGraphicFramePr>
        <p:xfrm>
          <a:off x="304800" y="1493838"/>
          <a:ext cx="8610600" cy="4754562"/>
        </p:xfrm>
        <a:graphic>
          <a:graphicData uri="http://schemas.openxmlformats.org/drawingml/2006/table">
            <a:tbl>
              <a:tblPr firstRow="1" bandRow="1">
                <a:tableStyleId>{5C22544A-7EE6-4342-B048-85BDC9FD1C3A}</a:tableStyleId>
              </a:tblPr>
              <a:tblGrid>
                <a:gridCol w="1833739">
                  <a:extLst>
                    <a:ext uri="{9D8B030D-6E8A-4147-A177-3AD203B41FA5}">
                      <a16:colId xmlns:a16="http://schemas.microsoft.com/office/drawing/2014/main" val="4224239916"/>
                    </a:ext>
                  </a:extLst>
                </a:gridCol>
                <a:gridCol w="6776861">
                  <a:extLst>
                    <a:ext uri="{9D8B030D-6E8A-4147-A177-3AD203B41FA5}">
                      <a16:colId xmlns:a16="http://schemas.microsoft.com/office/drawing/2014/main" val="3833193528"/>
                    </a:ext>
                  </a:extLst>
                </a:gridCol>
              </a:tblGrid>
              <a:tr h="462206">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b="1" dirty="0">
                          <a:effectLst/>
                        </a:rPr>
                        <a:t>Possible Values</a:t>
                      </a:r>
                      <a:endParaRPr lang="en-US" sz="1400" b="1" dirty="0">
                        <a:effectLst/>
                        <a:latin typeface="Times"/>
                        <a:ea typeface="Times New Roman"/>
                        <a:cs typeface="Times New Roman"/>
                      </a:endParaRPr>
                    </a:p>
                  </a:txBody>
                  <a:tcPr marL="68580" marR="68580" marT="0" marB="0"/>
                </a:tc>
                <a:extLst>
                  <a:ext uri="{0D108BD9-81ED-4DB2-BD59-A6C34878D82A}">
                    <a16:rowId xmlns:a16="http://schemas.microsoft.com/office/drawing/2014/main" val="3802604319"/>
                  </a:ext>
                </a:extLst>
              </a:tr>
              <a:tr h="449881">
                <a:tc>
                  <a:txBody>
                    <a:bodyPr/>
                    <a:lstStyle/>
                    <a:p>
                      <a:pPr marL="0" marR="0">
                        <a:lnSpc>
                          <a:spcPts val="1450"/>
                        </a:lnSpc>
                        <a:spcBef>
                          <a:spcPts val="400"/>
                        </a:spcBef>
                        <a:spcAft>
                          <a:spcPts val="400"/>
                        </a:spcAft>
                      </a:pPr>
                      <a:r>
                        <a:rPr lang="en-US" sz="1400">
                          <a:effectLst/>
                        </a:rPr>
                        <a:t>Source</a:t>
                      </a:r>
                      <a:endParaRPr lang="en-US" sz="1400">
                        <a:effectLst/>
                        <a:latin typeface="Times"/>
                        <a:ea typeface="Times New Roman"/>
                        <a:cs typeface="Times New Roman"/>
                      </a:endParaRPr>
                    </a:p>
                  </a:txBody>
                  <a:tcPr marL="68580" marR="68580"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A system</a:t>
                      </a:r>
                      <a:endParaRPr lang="en-US" sz="1400" kern="1100" dirty="0">
                        <a:effectLst/>
                        <a:latin typeface="Times New Roman"/>
                        <a:ea typeface="Times New Roman"/>
                      </a:endParaRPr>
                    </a:p>
                  </a:txBody>
                  <a:tcPr marL="68580" marR="68580" marT="0" marB="0"/>
                </a:tc>
                <a:extLst>
                  <a:ext uri="{0D108BD9-81ED-4DB2-BD59-A6C34878D82A}">
                    <a16:rowId xmlns:a16="http://schemas.microsoft.com/office/drawing/2014/main" val="3777748910"/>
                  </a:ext>
                </a:extLst>
              </a:tr>
              <a:tr h="449881">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dirty="0">
                          <a:effectLst/>
                        </a:rPr>
                        <a:t>A request to exchange information among system(s).</a:t>
                      </a:r>
                      <a:endParaRPr lang="en-US" sz="1400" dirty="0">
                        <a:effectLst/>
                        <a:latin typeface="Times"/>
                        <a:ea typeface="Times New Roman"/>
                        <a:cs typeface="Times New Roman"/>
                      </a:endParaRPr>
                    </a:p>
                  </a:txBody>
                  <a:tcPr marL="68580" marR="68580" marT="0" marB="0"/>
                </a:tc>
                <a:extLst>
                  <a:ext uri="{0D108BD9-81ED-4DB2-BD59-A6C34878D82A}">
                    <a16:rowId xmlns:a16="http://schemas.microsoft.com/office/drawing/2014/main" val="2948445098"/>
                  </a:ext>
                </a:extLst>
              </a:tr>
              <a:tr h="449881">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a:effectLst/>
                        </a:rPr>
                        <a:t>The systems that wish to interoperate</a:t>
                      </a:r>
                      <a:endParaRPr lang="en-US" sz="1400">
                        <a:effectLst/>
                        <a:latin typeface="Times"/>
                        <a:ea typeface="Times New Roman"/>
                        <a:cs typeface="Times New Roman"/>
                      </a:endParaRPr>
                    </a:p>
                  </a:txBody>
                  <a:tcPr marL="68580" marR="68580" marT="0" marB="0"/>
                </a:tc>
                <a:extLst>
                  <a:ext uri="{0D108BD9-81ED-4DB2-BD59-A6C34878D82A}">
                    <a16:rowId xmlns:a16="http://schemas.microsoft.com/office/drawing/2014/main" val="2487775997"/>
                  </a:ext>
                </a:extLst>
              </a:tr>
              <a:tr h="462206">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a:effectLst/>
                        </a:rPr>
                        <a:t>System(s) wishing to interoperate are discovered at run time or known prior to run time.</a:t>
                      </a:r>
                      <a:endParaRPr lang="en-US" sz="1400">
                        <a:effectLst/>
                        <a:latin typeface="Times"/>
                        <a:ea typeface="Times New Roman"/>
                        <a:cs typeface="Times New Roman"/>
                      </a:endParaRPr>
                    </a:p>
                  </a:txBody>
                  <a:tcPr marL="68580" marR="68580" marT="0" marB="0"/>
                </a:tc>
                <a:extLst>
                  <a:ext uri="{0D108BD9-81ED-4DB2-BD59-A6C34878D82A}">
                    <a16:rowId xmlns:a16="http://schemas.microsoft.com/office/drawing/2014/main" val="2208592281"/>
                  </a:ext>
                </a:extLst>
              </a:tr>
              <a:tr h="1355805">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dirty="0">
                          <a:effectLst/>
                        </a:rPr>
                        <a:t>One or more of the following:</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the request is (appropriately) rejected and appropriate entities (people or systems) are notified</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the request is (appropriately) accepted and information is exchanged successfully</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the request is logged by one or more of the involved systems</a:t>
                      </a:r>
                      <a:endParaRPr lang="en-US" sz="1400" kern="1100" dirty="0">
                        <a:effectLst/>
                        <a:latin typeface="Times New Roman"/>
                        <a:ea typeface="Times New Roman"/>
                      </a:endParaRPr>
                    </a:p>
                  </a:txBody>
                  <a:tcPr marL="68580" marR="68580" marT="0" marB="0"/>
                </a:tc>
                <a:extLst>
                  <a:ext uri="{0D108BD9-81ED-4DB2-BD59-A6C34878D82A}">
                    <a16:rowId xmlns:a16="http://schemas.microsoft.com/office/drawing/2014/main" val="1320872923"/>
                  </a:ext>
                </a:extLst>
              </a:tr>
              <a:tr h="1124702">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a:cs typeface="Times New Roman"/>
                      </a:endParaRPr>
                    </a:p>
                  </a:txBody>
                  <a:tcPr marL="68580" marR="68580" marT="0" marB="0"/>
                </a:tc>
                <a:tc>
                  <a:txBody>
                    <a:bodyPr/>
                    <a:lstStyle/>
                    <a:p>
                      <a:pPr marL="0" marR="0">
                        <a:lnSpc>
                          <a:spcPts val="1450"/>
                        </a:lnSpc>
                        <a:spcBef>
                          <a:spcPts val="400"/>
                        </a:spcBef>
                        <a:spcAft>
                          <a:spcPts val="400"/>
                        </a:spcAft>
                      </a:pPr>
                      <a:r>
                        <a:rPr lang="en-US" sz="1400" dirty="0">
                          <a:effectLst/>
                        </a:rPr>
                        <a:t>One or more of the following:</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percentage of information exchanges correctly processed </a:t>
                      </a:r>
                    </a:p>
                    <a:p>
                      <a:pPr marL="342900" marR="0" lvl="0" indent="-342900">
                        <a:lnSpc>
                          <a:spcPts val="1450"/>
                        </a:lnSpc>
                        <a:spcBef>
                          <a:spcPts val="100"/>
                        </a:spcBef>
                        <a:spcAft>
                          <a:spcPts val="300"/>
                        </a:spcAft>
                        <a:buSzPts val="800"/>
                        <a:buFont typeface="Symbol"/>
                        <a:buChar char=""/>
                        <a:tabLst>
                          <a:tab pos="228600" algn="l"/>
                          <a:tab pos="274320" algn="l"/>
                        </a:tabLst>
                      </a:pPr>
                      <a:r>
                        <a:rPr lang="en-US" sz="1400" kern="1100" dirty="0">
                          <a:effectLst/>
                        </a:rPr>
                        <a:t>percentage of information exchanges correctly rejected </a:t>
                      </a:r>
                    </a:p>
                    <a:p>
                      <a:pPr marL="0" marR="0" indent="0">
                        <a:lnSpc>
                          <a:spcPts val="1450"/>
                        </a:lnSpc>
                        <a:spcBef>
                          <a:spcPts val="100"/>
                        </a:spcBef>
                        <a:spcAft>
                          <a:spcPts val="300"/>
                        </a:spcAft>
                        <a:tabLst>
                          <a:tab pos="228600" algn="l"/>
                          <a:tab pos="274320" algn="l"/>
                          <a:tab pos="274320" algn="l"/>
                        </a:tabLst>
                      </a:pPr>
                      <a:r>
                        <a:rPr lang="en-US" sz="1400" kern="1100" dirty="0">
                          <a:effectLst/>
                        </a:rPr>
                        <a:t> </a:t>
                      </a:r>
                      <a:endParaRPr lang="en-US" sz="1400" kern="1100" dirty="0">
                        <a:effectLst/>
                        <a:latin typeface="Times New Roman"/>
                        <a:ea typeface="Times New Roman"/>
                      </a:endParaRPr>
                    </a:p>
                  </a:txBody>
                  <a:tcPr marL="68580" marR="68580" marT="0" marB="0"/>
                </a:tc>
                <a:extLst>
                  <a:ext uri="{0D108BD9-81ED-4DB2-BD59-A6C34878D82A}">
                    <a16:rowId xmlns:a16="http://schemas.microsoft.com/office/drawing/2014/main" val="1418430417"/>
                  </a:ext>
                </a:extLst>
              </a:tr>
            </a:tbl>
          </a:graphicData>
        </a:graphic>
      </p:graphicFrame>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12" name="Title 1">
            <a:extLst>
              <a:ext uri="{FF2B5EF4-FFF2-40B4-BE49-F238E27FC236}">
                <a16:creationId xmlns:a16="http://schemas.microsoft.com/office/drawing/2014/main" id="{F0F14943-AAE3-42E4-91AE-4853F1E52525}"/>
              </a:ext>
            </a:extLst>
          </p:cNvPr>
          <p:cNvSpPr>
            <a:spLocks noGrp="1"/>
          </p:cNvSpPr>
          <p:nvPr>
            <p:ph sz="quarter" idx="10"/>
          </p:nvPr>
        </p:nvSpPr>
        <p:spPr/>
        <p:txBody>
          <a:bodyPr/>
          <a:lstStyle/>
          <a:p>
            <a:r>
              <a:rPr lang="en-US" dirty="0"/>
              <a:t>Interoperability General Scenario</a:t>
            </a:r>
          </a:p>
        </p:txBody>
      </p:sp>
      <p:sp>
        <p:nvSpPr>
          <p:cNvPr id="2" name="Date Placeholder 1">
            <a:extLst>
              <a:ext uri="{FF2B5EF4-FFF2-40B4-BE49-F238E27FC236}">
                <a16:creationId xmlns:a16="http://schemas.microsoft.com/office/drawing/2014/main" id="{DCD79059-DE2E-484C-B18B-DE89C6406F13}"/>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88886B47-864E-4693-9DD2-BF922DD46BB6}"/>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380022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Our vehicle information system sends our current location to the traffic monitoring system. </a:t>
            </a:r>
          </a:p>
          <a:p>
            <a:pPr>
              <a:buFont typeface="Arial" panose="020B0604020202020204" pitchFamily="34" charset="0"/>
              <a:buChar char="•"/>
            </a:pPr>
            <a:r>
              <a:rPr lang="en-US" dirty="0"/>
              <a:t>The traffic monitoring system combines our location with other information, overlays this information on a Google Map, and broadcasts it. </a:t>
            </a:r>
          </a:p>
          <a:p>
            <a:pPr>
              <a:buFont typeface="Arial" panose="020B0604020202020204" pitchFamily="34" charset="0"/>
              <a:buChar char="•"/>
            </a:pPr>
            <a:r>
              <a:rPr lang="en-US" dirty="0"/>
              <a:t>Our location information is correctly included with a probability of 99.9%.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E136EF29-3993-4298-90F5-6A226BBFE179}"/>
              </a:ext>
            </a:extLst>
          </p:cNvPr>
          <p:cNvSpPr>
            <a:spLocks noGrp="1"/>
          </p:cNvSpPr>
          <p:nvPr>
            <p:ph sz="quarter" idx="10"/>
          </p:nvPr>
        </p:nvSpPr>
        <p:spPr/>
        <p:txBody>
          <a:bodyPr>
            <a:normAutofit fontScale="97500"/>
          </a:bodyPr>
          <a:lstStyle/>
          <a:p>
            <a:r>
              <a:rPr lang="en-US" dirty="0"/>
              <a:t>Sample Concrete Interoperability Scenario</a:t>
            </a:r>
          </a:p>
        </p:txBody>
      </p:sp>
      <p:sp>
        <p:nvSpPr>
          <p:cNvPr id="2" name="Date Placeholder 1">
            <a:extLst>
              <a:ext uri="{FF2B5EF4-FFF2-40B4-BE49-F238E27FC236}">
                <a16:creationId xmlns:a16="http://schemas.microsoft.com/office/drawing/2014/main" id="{46A23CD2-ABC0-49FA-BE47-1A4D7BD33B84}"/>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E1D0114E-46F7-4F58-A174-84EA120C5531}"/>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1470384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F</a:t>
            </a:r>
            <a:r>
              <a:rPr lang="en-US" baseline="0" dirty="0"/>
              <a:t>or two or more systems to usefully exchange information they must</a:t>
            </a:r>
          </a:p>
          <a:p>
            <a:pPr lvl="1"/>
            <a:r>
              <a:rPr lang="en-US" dirty="0"/>
              <a:t>Know about each other. That is the purpose behind the locate</a:t>
            </a:r>
            <a:r>
              <a:rPr lang="en-US" baseline="0" dirty="0"/>
              <a:t> tactics.</a:t>
            </a:r>
          </a:p>
          <a:p>
            <a:pPr lvl="1"/>
            <a:r>
              <a:rPr lang="en-US" baseline="0" dirty="0"/>
              <a:t>Exchange information in a semantically meaningful fashion. That is the purpose behind the manage interfaces tactics. Two aspects of the exchange are</a:t>
            </a:r>
          </a:p>
          <a:p>
            <a:pPr lvl="2"/>
            <a:r>
              <a:rPr lang="en-US" dirty="0"/>
              <a:t>Provide services in the correct sequence</a:t>
            </a:r>
          </a:p>
          <a:p>
            <a:pPr lvl="2"/>
            <a:r>
              <a:rPr lang="en-US" dirty="0"/>
              <a:t>Modify information produced by one actor to a form acceptable to the second actor.</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46EB58EA-94A1-49B7-9E01-871B6F1298C7}"/>
              </a:ext>
            </a:extLst>
          </p:cNvPr>
          <p:cNvSpPr>
            <a:spLocks noGrp="1"/>
          </p:cNvSpPr>
          <p:nvPr>
            <p:ph sz="quarter" idx="10"/>
          </p:nvPr>
        </p:nvSpPr>
        <p:spPr/>
        <p:txBody>
          <a:bodyPr/>
          <a:lstStyle/>
          <a:p>
            <a:r>
              <a:rPr lang="en-US" dirty="0"/>
              <a:t>Goal of Interoperability Tactics</a:t>
            </a:r>
          </a:p>
        </p:txBody>
      </p:sp>
      <p:sp>
        <p:nvSpPr>
          <p:cNvPr id="2" name="Date Placeholder 1">
            <a:extLst>
              <a:ext uri="{FF2B5EF4-FFF2-40B4-BE49-F238E27FC236}">
                <a16:creationId xmlns:a16="http://schemas.microsoft.com/office/drawing/2014/main" id="{6B87A8ED-8A4D-4629-8DFF-3D70F0278161}"/>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E1CA5C60-1155-4475-81DB-64B460013345}"/>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3778358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04508F2E-0BB8-497A-98F4-2816A8F390C3}"/>
              </a:ext>
            </a:extLst>
          </p:cNvPr>
          <p:cNvSpPr>
            <a:spLocks noGrp="1"/>
          </p:cNvSpPr>
          <p:nvPr>
            <p:ph sz="quarter" idx="10"/>
          </p:nvPr>
        </p:nvSpPr>
        <p:spPr/>
        <p:txBody>
          <a:bodyPr/>
          <a:lstStyle/>
          <a:p>
            <a:r>
              <a:rPr lang="en-US" dirty="0"/>
              <a:t>Goal of Interoperability Tactics</a:t>
            </a:r>
          </a:p>
        </p:txBody>
      </p:sp>
      <p:pic>
        <p:nvPicPr>
          <p:cNvPr id="10" name="Content Placeholder 9">
            <a:extLst>
              <a:ext uri="{FF2B5EF4-FFF2-40B4-BE49-F238E27FC236}">
                <a16:creationId xmlns:a16="http://schemas.microsoft.com/office/drawing/2014/main" id="{F7B2B117-6A4B-4F2B-B508-F504445CBDBA}"/>
              </a:ext>
            </a:extLst>
          </p:cNvPr>
          <p:cNvPicPr>
            <a:picLocks noGrp="1" noChangeAspect="1"/>
          </p:cNvPicPr>
          <p:nvPr>
            <p:ph idx="1"/>
          </p:nvPr>
        </p:nvPicPr>
        <p:blipFill rotWithShape="1">
          <a:blip r:embed="rId2" cstate="print"/>
          <a:srcRect l="18387" t="40432" r="21557" b="37809"/>
          <a:stretch/>
        </p:blipFill>
        <p:spPr>
          <a:xfrm>
            <a:off x="509679" y="1752600"/>
            <a:ext cx="7895234" cy="4047083"/>
          </a:xfrm>
          <a:prstGeom prst="rect">
            <a:avLst/>
          </a:prstGeom>
        </p:spPr>
      </p:pic>
      <p:sp>
        <p:nvSpPr>
          <p:cNvPr id="2" name="Date Placeholder 1">
            <a:extLst>
              <a:ext uri="{FF2B5EF4-FFF2-40B4-BE49-F238E27FC236}">
                <a16:creationId xmlns:a16="http://schemas.microsoft.com/office/drawing/2014/main" id="{42E24090-1AEC-4DF3-858B-53088C689B8D}"/>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E8499BF4-D1D2-43B7-AD7D-071E63D85367}"/>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2042988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pic>
        <p:nvPicPr>
          <p:cNvPr id="9" name="Content Placeholder 8">
            <a:extLst>
              <a:ext uri="{FF2B5EF4-FFF2-40B4-BE49-F238E27FC236}">
                <a16:creationId xmlns:a16="http://schemas.microsoft.com/office/drawing/2014/main" id="{6AF5D0C7-0E08-4885-8DB4-DE7CC89EA160}"/>
              </a:ext>
            </a:extLst>
          </p:cNvPr>
          <p:cNvPicPr>
            <a:picLocks noGrp="1" noChangeAspect="1"/>
          </p:cNvPicPr>
          <p:nvPr>
            <p:ph idx="1"/>
          </p:nvPr>
        </p:nvPicPr>
        <p:blipFill rotWithShape="1">
          <a:blip r:embed="rId2" cstate="print"/>
          <a:srcRect t="3903" b="50663"/>
          <a:stretch/>
        </p:blipFill>
        <p:spPr>
          <a:xfrm>
            <a:off x="533400" y="1473199"/>
            <a:ext cx="8001000" cy="4701571"/>
          </a:xfrm>
          <a:prstGeom prst="rect">
            <a:avLst/>
          </a:prstGeom>
        </p:spPr>
      </p:pic>
      <p:sp>
        <p:nvSpPr>
          <p:cNvPr id="10" name="Title 1">
            <a:extLst>
              <a:ext uri="{FF2B5EF4-FFF2-40B4-BE49-F238E27FC236}">
                <a16:creationId xmlns:a16="http://schemas.microsoft.com/office/drawing/2014/main" id="{E973337C-6EF4-4004-B449-588FAF41D59C}"/>
              </a:ext>
            </a:extLst>
          </p:cNvPr>
          <p:cNvSpPr>
            <a:spLocks noGrp="1"/>
          </p:cNvSpPr>
          <p:nvPr>
            <p:ph sz="quarter" idx="10"/>
          </p:nvPr>
        </p:nvSpPr>
        <p:spPr/>
        <p:txBody>
          <a:bodyPr>
            <a:normAutofit/>
          </a:bodyPr>
          <a:lstStyle/>
          <a:p>
            <a:r>
              <a:rPr lang="en-US" dirty="0"/>
              <a:t>Interoperability Tactics</a:t>
            </a:r>
          </a:p>
        </p:txBody>
      </p:sp>
      <p:sp>
        <p:nvSpPr>
          <p:cNvPr id="2" name="Date Placeholder 1">
            <a:extLst>
              <a:ext uri="{FF2B5EF4-FFF2-40B4-BE49-F238E27FC236}">
                <a16:creationId xmlns:a16="http://schemas.microsoft.com/office/drawing/2014/main" id="{FBA84791-C07B-4552-A82B-A1CDE6C4D0F4}"/>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8EBC8694-A3B8-4540-A3A2-E1C26492D22E}"/>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4266928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800" dirty="0"/>
              <a:t>Discover service: </a:t>
            </a:r>
          </a:p>
          <a:p>
            <a:pPr lvl="1">
              <a:buFont typeface="Arial" panose="020B0604020202020204" pitchFamily="34" charset="0"/>
              <a:buChar char="•"/>
            </a:pPr>
            <a:r>
              <a:rPr lang="en-US" sz="2800" dirty="0"/>
              <a:t>Locate a service through searching a known directory service. </a:t>
            </a:r>
          </a:p>
          <a:p>
            <a:pPr lvl="1">
              <a:buFont typeface="Arial" panose="020B0604020202020204" pitchFamily="34" charset="0"/>
              <a:buChar char="•"/>
            </a:pPr>
            <a:r>
              <a:rPr lang="en-US" sz="2800" dirty="0"/>
              <a:t>There may be multiple levels of indirection in this location process </a:t>
            </a:r>
          </a:p>
          <a:p>
            <a:pPr lvl="2">
              <a:buFont typeface="Wingdings" panose="05000000000000000000" pitchFamily="2" charset="2"/>
              <a:buChar char="ü"/>
            </a:pPr>
            <a:r>
              <a:rPr lang="en-US" sz="2800" dirty="0"/>
              <a:t>– i.e. a known location points to another location that in turn can be searched for the service.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47AA7FAF-5260-40F2-947B-D1BDD53E44A6}"/>
              </a:ext>
            </a:extLst>
          </p:cNvPr>
          <p:cNvSpPr>
            <a:spLocks noGrp="1"/>
          </p:cNvSpPr>
          <p:nvPr>
            <p:ph sz="quarter" idx="10"/>
          </p:nvPr>
        </p:nvSpPr>
        <p:spPr/>
        <p:txBody>
          <a:bodyPr>
            <a:normAutofit/>
          </a:bodyPr>
          <a:lstStyle/>
          <a:p>
            <a:r>
              <a:rPr lang="en-US" dirty="0"/>
              <a:t>Locate</a:t>
            </a:r>
          </a:p>
        </p:txBody>
      </p:sp>
      <p:sp>
        <p:nvSpPr>
          <p:cNvPr id="2" name="Date Placeholder 1">
            <a:extLst>
              <a:ext uri="{FF2B5EF4-FFF2-40B4-BE49-F238E27FC236}">
                <a16:creationId xmlns:a16="http://schemas.microsoft.com/office/drawing/2014/main" id="{4457FE92-1BBD-413B-B043-8517E759B0D4}"/>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7C492435-864A-44C1-8433-B487C37AA494}"/>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2601889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Orchestrate: uses a control mechanism to coordinate, manage and sequence the invocation of services.  Orchestration is used when systems must interact in a complex fashion to accomplish a complex task.</a:t>
            </a:r>
          </a:p>
          <a:p>
            <a:pPr>
              <a:buFont typeface="Arial" panose="020B0604020202020204" pitchFamily="34" charset="0"/>
              <a:buChar char="•"/>
            </a:pPr>
            <a:r>
              <a:rPr lang="en-US" dirty="0"/>
              <a:t>Tailor Interface: add or remove capabilities to an interface such as translation, buffering, or data-smoothing.</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0B5A29FA-ABC3-4D3F-9593-3CB48BBC3588}"/>
              </a:ext>
            </a:extLst>
          </p:cNvPr>
          <p:cNvSpPr>
            <a:spLocks noGrp="1"/>
          </p:cNvSpPr>
          <p:nvPr>
            <p:ph sz="quarter" idx="10"/>
          </p:nvPr>
        </p:nvSpPr>
        <p:spPr/>
        <p:txBody>
          <a:bodyPr>
            <a:normAutofit/>
          </a:bodyPr>
          <a:lstStyle/>
          <a:p>
            <a:r>
              <a:rPr lang="en-US" dirty="0"/>
              <a:t>Manage Interfaces</a:t>
            </a:r>
          </a:p>
        </p:txBody>
      </p:sp>
      <p:sp>
        <p:nvSpPr>
          <p:cNvPr id="2" name="Date Placeholder 1">
            <a:extLst>
              <a:ext uri="{FF2B5EF4-FFF2-40B4-BE49-F238E27FC236}">
                <a16:creationId xmlns:a16="http://schemas.microsoft.com/office/drawing/2014/main" id="{C204F15A-B027-4B44-AD42-4512E7F309B5}"/>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B0F9963E-7BC7-4F54-8927-F522BB6A443C}"/>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987263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48D5E78-7B47-4319-ADB4-FE87E4E860FD}"/>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C1D514B2-0139-4EC2-87AF-1B549FAF1B9B}"/>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19498217-8E60-4A91-B4FE-010274F7B5B1}"/>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3E0FBB25-7C7B-433D-9BD2-B61DB8444C90}"/>
              </a:ext>
            </a:extLst>
          </p:cNvPr>
          <p:cNvSpPr>
            <a:spLocks noGrp="1"/>
          </p:cNvSpPr>
          <p:nvPr>
            <p:ph idx="1"/>
          </p:nvPr>
        </p:nvSpPr>
        <p:spPr/>
        <p:txBody>
          <a:bodyPr>
            <a:normAutofit fontScale="92500" lnSpcReduction="20000"/>
          </a:bodyPr>
          <a:lstStyle/>
          <a:p>
            <a:pPr marL="0" indent="0" fontAlgn="t"/>
            <a:r>
              <a:rPr lang="en-US" dirty="0"/>
              <a:t>Allocation of Responsibilities</a:t>
            </a:r>
            <a:endParaRPr lang="en-IN" dirty="0"/>
          </a:p>
          <a:p>
            <a:pPr fontAlgn="t">
              <a:buFont typeface="Arial" panose="020B0604020202020204" pitchFamily="34" charset="0"/>
              <a:buChar char="•"/>
            </a:pPr>
            <a:r>
              <a:rPr lang="en-US" dirty="0"/>
              <a:t>Determine which of your system responsibilities will need to interoperate with other systems.</a:t>
            </a:r>
            <a:endParaRPr lang="en-IN" dirty="0"/>
          </a:p>
          <a:p>
            <a:pPr fontAlgn="t">
              <a:buFont typeface="Arial" panose="020B0604020202020204" pitchFamily="34" charset="0"/>
              <a:buChar char="•"/>
            </a:pPr>
            <a:r>
              <a:rPr lang="en-US" dirty="0"/>
              <a:t>Ensure that responsibilities have been allocated to detect a request to interoperate with known or unknown external systems </a:t>
            </a:r>
            <a:endParaRPr lang="en-IN" dirty="0"/>
          </a:p>
          <a:p>
            <a:pPr fontAlgn="t">
              <a:buFont typeface="Arial" panose="020B0604020202020204" pitchFamily="34" charset="0"/>
              <a:buChar char="•"/>
            </a:pPr>
            <a:r>
              <a:rPr lang="en-US" dirty="0"/>
              <a:t>Ensure that responsibilities have been allocated to </a:t>
            </a:r>
            <a:endParaRPr lang="en-IN" dirty="0"/>
          </a:p>
          <a:p>
            <a:pPr fontAlgn="t">
              <a:buFont typeface="Arial" panose="020B0604020202020204" pitchFamily="34" charset="0"/>
              <a:buChar char="•"/>
            </a:pPr>
            <a:r>
              <a:rPr lang="en-US" dirty="0"/>
              <a:t>accept the request </a:t>
            </a:r>
            <a:endParaRPr lang="en-IN" dirty="0"/>
          </a:p>
          <a:p>
            <a:pPr fontAlgn="t">
              <a:buFont typeface="Arial" panose="020B0604020202020204" pitchFamily="34" charset="0"/>
              <a:buChar char="•"/>
            </a:pPr>
            <a:r>
              <a:rPr lang="en-US" dirty="0"/>
              <a:t>exchange information</a:t>
            </a:r>
            <a:endParaRPr lang="en-IN" dirty="0"/>
          </a:p>
          <a:p>
            <a:pPr fontAlgn="t">
              <a:buFont typeface="Arial" panose="020B0604020202020204" pitchFamily="34" charset="0"/>
              <a:buChar char="•"/>
            </a:pPr>
            <a:r>
              <a:rPr lang="en-US" dirty="0"/>
              <a:t>reject the request</a:t>
            </a:r>
            <a:endParaRPr lang="en-IN" dirty="0"/>
          </a:p>
          <a:p>
            <a:pPr fontAlgn="t">
              <a:buFont typeface="Arial" panose="020B0604020202020204" pitchFamily="34" charset="0"/>
              <a:buChar char="•"/>
            </a:pPr>
            <a:r>
              <a:rPr lang="en-US" dirty="0"/>
              <a:t>notify appropriate entities (people or systems)</a:t>
            </a:r>
            <a:endParaRPr lang="en-IN" dirty="0"/>
          </a:p>
          <a:p>
            <a:pPr fontAlgn="t">
              <a:buFont typeface="Arial" panose="020B0604020202020204" pitchFamily="34" charset="0"/>
              <a:buChar char="•"/>
            </a:pPr>
            <a:r>
              <a:rPr lang="en-US" dirty="0"/>
              <a:t>log the request (for interoperability in an untrusted environment, logging for non-repudiation is essential) </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7A58A284-3F1B-4626-8F6D-EE57C1DEA81D}"/>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7BC72846-F306-4CD3-A072-AA3C59BFACFF}"/>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3163107D-573E-4532-B9C1-942523B60669}"/>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1645824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2AA6278-F1B8-4338-94EC-84FC4CD107D4}"/>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C3A6D358-F3FD-46CC-BA51-EE9DB341E90A}"/>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0F8742F9-835D-45BB-B509-0886CF22421A}"/>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 name="Content Placeholder 4">
            <a:extLst>
              <a:ext uri="{FF2B5EF4-FFF2-40B4-BE49-F238E27FC236}">
                <a16:creationId xmlns:a16="http://schemas.microsoft.com/office/drawing/2014/main" id="{6B29ABD9-5D73-41A1-9109-0A8EDEE54AF5}"/>
              </a:ext>
            </a:extLst>
          </p:cNvPr>
          <p:cNvSpPr>
            <a:spLocks noGrp="1"/>
          </p:cNvSpPr>
          <p:nvPr>
            <p:ph idx="1"/>
          </p:nvPr>
        </p:nvSpPr>
        <p:spPr/>
        <p:txBody>
          <a:bodyPr>
            <a:normAutofit fontScale="92500" lnSpcReduction="10000"/>
          </a:bodyPr>
          <a:lstStyle/>
          <a:p>
            <a:pPr marL="0" indent="0" fontAlgn="t"/>
            <a:r>
              <a:rPr lang="en-US" dirty="0"/>
              <a:t>Coordination Model</a:t>
            </a:r>
            <a:endParaRPr lang="en-IN" dirty="0"/>
          </a:p>
          <a:p>
            <a:pPr fontAlgn="t">
              <a:buFont typeface="Arial" panose="020B0604020202020204" pitchFamily="34" charset="0"/>
              <a:buChar char="•"/>
            </a:pPr>
            <a:r>
              <a:rPr lang="en-US" dirty="0"/>
              <a:t>Ensure that the coordination mechanisms can meet the critical quality attribute requirements. Considerations for performance include:  </a:t>
            </a:r>
            <a:endParaRPr lang="en-IN" dirty="0"/>
          </a:p>
          <a:p>
            <a:pPr fontAlgn="t">
              <a:buFont typeface="Arial" panose="020B0604020202020204" pitchFamily="34" charset="0"/>
              <a:buChar char="•"/>
            </a:pPr>
            <a:r>
              <a:rPr lang="en-US" dirty="0"/>
              <a:t>Volume of traffic on the network both created by the systems under your control and generated by systems not under your control.</a:t>
            </a:r>
            <a:endParaRPr lang="en-IN" dirty="0"/>
          </a:p>
          <a:p>
            <a:pPr fontAlgn="t">
              <a:buFont typeface="Arial" panose="020B0604020202020204" pitchFamily="34" charset="0"/>
              <a:buChar char="•"/>
            </a:pPr>
            <a:r>
              <a:rPr lang="en-US" dirty="0"/>
              <a:t>Timeliness of the messages being sent by your systems</a:t>
            </a:r>
            <a:endParaRPr lang="en-IN" dirty="0"/>
          </a:p>
          <a:p>
            <a:pPr fontAlgn="t">
              <a:buFont typeface="Arial" panose="020B0604020202020204" pitchFamily="34" charset="0"/>
              <a:buChar char="•"/>
            </a:pPr>
            <a:r>
              <a:rPr lang="en-US" dirty="0"/>
              <a:t>Currency of the messages being sent by your systems</a:t>
            </a:r>
            <a:endParaRPr lang="en-IN" dirty="0"/>
          </a:p>
          <a:p>
            <a:pPr fontAlgn="t">
              <a:buFont typeface="Arial" panose="020B0604020202020204" pitchFamily="34" charset="0"/>
              <a:buChar char="•"/>
            </a:pPr>
            <a:r>
              <a:rPr lang="en-US" dirty="0"/>
              <a:t>Jitter of the messages arrival times.</a:t>
            </a:r>
            <a:endParaRPr lang="en-IN" dirty="0"/>
          </a:p>
          <a:p>
            <a:pPr fontAlgn="t">
              <a:buFont typeface="Arial" panose="020B0604020202020204" pitchFamily="34" charset="0"/>
              <a:buChar char="•"/>
            </a:pPr>
            <a:r>
              <a:rPr lang="en-US" dirty="0"/>
              <a:t>Ensure that all of the systems under your control make assumptions about protocols and underlying networks that are consistent with the systems not under your control.</a:t>
            </a: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A22DF6D6-3A1F-4AE0-9405-7CB29D7DC55A}"/>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1620A150-0CBD-4BFA-B410-38B9DCA4BB59}"/>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DD91A585-B6F3-471C-B73C-89212AFACB14}"/>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3143647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2C06AB2-6467-4217-8685-E1AAA1F79A2E}"/>
              </a:ext>
            </a:extLst>
          </p:cNvPr>
          <p:cNvGrpSpPr/>
          <p:nvPr/>
        </p:nvGrpSpPr>
        <p:grpSpPr>
          <a:xfrm>
            <a:off x="152400" y="1493837"/>
            <a:ext cx="8686800" cy="4525963"/>
            <a:chOff x="152400" y="1493837"/>
            <a:chExt cx="8686800" cy="4525963"/>
          </a:xfrm>
        </p:grpSpPr>
        <p:sp>
          <p:nvSpPr>
            <p:cNvPr id="12" name="Rectangle: Rounded Corners 11">
              <a:extLst>
                <a:ext uri="{FF2B5EF4-FFF2-40B4-BE49-F238E27FC236}">
                  <a16:creationId xmlns:a16="http://schemas.microsoft.com/office/drawing/2014/main" id="{62B7EE15-5329-4558-9032-FDADA41B4305}"/>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3" name="Rectangle 12">
              <a:extLst>
                <a:ext uri="{FF2B5EF4-FFF2-40B4-BE49-F238E27FC236}">
                  <a16:creationId xmlns:a16="http://schemas.microsoft.com/office/drawing/2014/main" id="{32319A8D-8E3B-4E4C-95BA-2DE042A7417A}"/>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2A2E1950-1B40-4CF0-9E09-E5FB35088EB3}"/>
              </a:ext>
            </a:extLst>
          </p:cNvPr>
          <p:cNvSpPr>
            <a:spLocks noGrp="1"/>
          </p:cNvSpPr>
          <p:nvPr>
            <p:ph idx="1"/>
          </p:nvPr>
        </p:nvSpPr>
        <p:spPr/>
        <p:txBody>
          <a:bodyPr/>
          <a:lstStyle/>
          <a:p>
            <a:pPr marL="0" indent="0" fontAlgn="t"/>
            <a:r>
              <a:rPr lang="en-US" dirty="0"/>
              <a:t>Data Model</a:t>
            </a:r>
            <a:endParaRPr lang="en-IN" dirty="0"/>
          </a:p>
          <a:p>
            <a:pPr fontAlgn="t">
              <a:buFont typeface="Arial" panose="020B0604020202020204" pitchFamily="34" charset="0"/>
              <a:buChar char="•"/>
            </a:pPr>
            <a:r>
              <a:rPr lang="en-US" dirty="0"/>
              <a:t>Determine the syntax and semantics of the major data abstractions that may be exchanged among interoperating systems.</a:t>
            </a:r>
            <a:endParaRPr lang="en-IN" dirty="0"/>
          </a:p>
          <a:p>
            <a:pPr fontAlgn="t">
              <a:buFont typeface="Arial" panose="020B0604020202020204" pitchFamily="34" charset="0"/>
              <a:buChar char="•"/>
            </a:pPr>
            <a:r>
              <a:rPr lang="en-US" dirty="0"/>
              <a:t>Ensure that these major data abstractions are consistent with data from the interoperating systems.  (If your system’s data model is confidential and must not be made public, you may have to apply transformations to and from the data abstractions of systems with which yours interoperates.)</a:t>
            </a:r>
            <a:endParaRPr lang="en-IN" dirty="0"/>
          </a:p>
          <a:p>
            <a:pPr>
              <a:buFont typeface="Arial" panose="020B0604020202020204" pitchFamily="34" charset="0"/>
              <a:buChar char="•"/>
            </a:pP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10" name="Title 1">
            <a:extLst>
              <a:ext uri="{FF2B5EF4-FFF2-40B4-BE49-F238E27FC236}">
                <a16:creationId xmlns:a16="http://schemas.microsoft.com/office/drawing/2014/main" id="{D1CBBA17-3D00-4121-9C84-03636FC15705}"/>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044CCB54-C97C-4C85-B758-A6972312ADB9}"/>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0B1C4B10-C416-4E73-BC78-9E8024350BDE}"/>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166874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C1A57D-7665-4388-9794-9C2746F6B08D}"/>
              </a:ext>
            </a:extLst>
          </p:cNvPr>
          <p:cNvGrpSpPr/>
          <p:nvPr/>
        </p:nvGrpSpPr>
        <p:grpSpPr>
          <a:xfrm>
            <a:off x="152400" y="1493837"/>
            <a:ext cx="8686800" cy="4525963"/>
            <a:chOff x="152400" y="1493837"/>
            <a:chExt cx="8686800" cy="4525963"/>
          </a:xfrm>
        </p:grpSpPr>
        <p:sp>
          <p:nvSpPr>
            <p:cNvPr id="12" name="Rectangle: Rounded Corners 11">
              <a:extLst>
                <a:ext uri="{FF2B5EF4-FFF2-40B4-BE49-F238E27FC236}">
                  <a16:creationId xmlns:a16="http://schemas.microsoft.com/office/drawing/2014/main" id="{9E3A9475-52E1-4D7F-93F5-F7EFF70A7C89}"/>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3" name="Rectangle 12">
              <a:extLst>
                <a:ext uri="{FF2B5EF4-FFF2-40B4-BE49-F238E27FC236}">
                  <a16:creationId xmlns:a16="http://schemas.microsoft.com/office/drawing/2014/main" id="{53E31F68-9D53-49A2-A8BE-0042AE386050}"/>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1E9C3A6D-0AF3-4089-AD5B-F9AAB7A80B59}"/>
              </a:ext>
            </a:extLst>
          </p:cNvPr>
          <p:cNvSpPr>
            <a:spLocks noGrp="1"/>
          </p:cNvSpPr>
          <p:nvPr>
            <p:ph idx="1"/>
          </p:nvPr>
        </p:nvSpPr>
        <p:spPr/>
        <p:txBody>
          <a:bodyPr/>
          <a:lstStyle/>
          <a:p>
            <a:pPr marL="0" indent="0" fontAlgn="t"/>
            <a:r>
              <a:rPr lang="en-US" dirty="0"/>
              <a:t>Mapping Among Architectural Elements</a:t>
            </a:r>
            <a:endParaRPr lang="en-IN" dirty="0"/>
          </a:p>
          <a:p>
            <a:pPr fontAlgn="t">
              <a:buFont typeface="Arial" panose="020B0604020202020204" pitchFamily="34" charset="0"/>
              <a:buChar char="•"/>
            </a:pPr>
            <a:r>
              <a:rPr lang="en-US" dirty="0"/>
              <a:t>For interoperability, the critical mapping is that of components to processors. Beyond the necessity of making sure that components that communicate externally are hosted on processors that can reach the network, the primary considerations deal with meeting the security, availability, and performance requirements for the communication.  </a:t>
            </a:r>
            <a:endParaRPr lang="en-IN" dirty="0"/>
          </a:p>
          <a:p>
            <a:pPr fontAlgn="t">
              <a:buFont typeface="Arial" panose="020B0604020202020204" pitchFamily="34" charset="0"/>
              <a:buChar char="•"/>
            </a:pPr>
            <a:r>
              <a:rPr lang="en-US" dirty="0"/>
              <a:t>These will be dealt with in their respective chapters.</a:t>
            </a: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10" name="Title 1">
            <a:extLst>
              <a:ext uri="{FF2B5EF4-FFF2-40B4-BE49-F238E27FC236}">
                <a16:creationId xmlns:a16="http://schemas.microsoft.com/office/drawing/2014/main" id="{7B666588-DB64-4669-98BF-6DE61479578C}"/>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184B0EE4-1944-44D6-8CB0-3CA164168F65}"/>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DC8F8B7E-A2C5-4440-9D95-715413AA498B}"/>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3549214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6C3E60E-C466-482E-96E2-CF7C259C8ADD}"/>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FC1FA9B0-0CF5-46E9-8F5B-E8BF53CB04DC}"/>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AC9BEC43-F905-4A1C-8148-94E0372FCCE9}"/>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13E61C2B-EDDC-4990-AD1A-8861A410B913}"/>
              </a:ext>
            </a:extLst>
          </p:cNvPr>
          <p:cNvSpPr>
            <a:spLocks noGrp="1"/>
          </p:cNvSpPr>
          <p:nvPr>
            <p:ph idx="1"/>
          </p:nvPr>
        </p:nvSpPr>
        <p:spPr/>
        <p:txBody>
          <a:bodyPr>
            <a:normAutofit lnSpcReduction="10000"/>
          </a:bodyPr>
          <a:lstStyle/>
          <a:p>
            <a:pPr marL="0" indent="0" fontAlgn="t"/>
            <a:r>
              <a:rPr lang="en-US" dirty="0"/>
              <a:t>Resource Management</a:t>
            </a:r>
            <a:endParaRPr lang="en-IN" dirty="0"/>
          </a:p>
          <a:p>
            <a:pPr fontAlgn="t">
              <a:buFont typeface="Arial" panose="020B0604020202020204" pitchFamily="34" charset="0"/>
              <a:buChar char="•"/>
            </a:pPr>
            <a:r>
              <a:rPr lang="en-US" dirty="0"/>
              <a:t>Ensure that interoperation with another system (accepting a request and/or rejecting a request) can never exhaust critical system resources (e.g., can a flood of such requests cause service to be denied to legitimate users?).</a:t>
            </a:r>
            <a:endParaRPr lang="en-IN" dirty="0"/>
          </a:p>
          <a:p>
            <a:pPr fontAlgn="t">
              <a:buFont typeface="Arial" panose="020B0604020202020204" pitchFamily="34" charset="0"/>
              <a:buChar char="•"/>
            </a:pPr>
            <a:r>
              <a:rPr lang="en-US" dirty="0"/>
              <a:t>Ensure that the resource load imposed by the communication requirements of interoperation is acceptable.</a:t>
            </a:r>
            <a:endParaRPr lang="en-IN" dirty="0"/>
          </a:p>
          <a:p>
            <a:pPr fontAlgn="t">
              <a:buFont typeface="Arial" panose="020B0604020202020204" pitchFamily="34" charset="0"/>
              <a:buChar char="•"/>
            </a:pPr>
            <a:r>
              <a:rPr lang="en-US" dirty="0"/>
              <a:t>Ensure that if interoperation requires that resources be shared among the participating systems, an adequate arbitration policy is in place.</a:t>
            </a: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006B6922-3B83-43F4-A5F1-52BE8366E61C}"/>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D5F28FD9-E4EB-49E7-A0AF-CDA9BCC11981}"/>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33CF4E4A-2B33-40B1-95CC-FBA9BB21FB5D}"/>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1122499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96DFEDF-ADB9-40E3-A869-359CD94E812D}"/>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B92616A0-AFF9-4DA6-BBFB-9D4B886D047A}"/>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D0BD6645-0A12-4CB3-AE59-116AB191E860}"/>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84135BD1-78CE-4DAD-85C0-123D68AF45D3}"/>
              </a:ext>
            </a:extLst>
          </p:cNvPr>
          <p:cNvSpPr>
            <a:spLocks noGrp="1"/>
          </p:cNvSpPr>
          <p:nvPr>
            <p:ph idx="1"/>
          </p:nvPr>
        </p:nvSpPr>
        <p:spPr/>
        <p:txBody>
          <a:bodyPr>
            <a:normAutofit lnSpcReduction="10000"/>
          </a:bodyPr>
          <a:lstStyle/>
          <a:p>
            <a:pPr marL="0" indent="0" fontAlgn="t"/>
            <a:r>
              <a:rPr lang="en-US" dirty="0"/>
              <a:t>Binding Time</a:t>
            </a:r>
            <a:endParaRPr lang="en-IN" dirty="0"/>
          </a:p>
          <a:p>
            <a:pPr fontAlgn="t">
              <a:buFont typeface="Arial" panose="020B0604020202020204" pitchFamily="34" charset="0"/>
              <a:buChar char="•"/>
            </a:pPr>
            <a:r>
              <a:rPr lang="en-US" dirty="0"/>
              <a:t>Determine the systems that may interoperate, and when they become known to each other.    For each system over which you have control</a:t>
            </a:r>
            <a:endParaRPr lang="en-IN" dirty="0"/>
          </a:p>
          <a:p>
            <a:pPr fontAlgn="t">
              <a:buFont typeface="Arial" panose="020B0604020202020204" pitchFamily="34" charset="0"/>
              <a:buChar char="•"/>
            </a:pPr>
            <a:r>
              <a:rPr lang="en-US" dirty="0"/>
              <a:t>Ensure that it has a policy for dealing with binding to both known and unknown external systems.  </a:t>
            </a:r>
            <a:endParaRPr lang="en-IN" dirty="0"/>
          </a:p>
          <a:p>
            <a:pPr fontAlgn="t">
              <a:buFont typeface="Arial" panose="020B0604020202020204" pitchFamily="34" charset="0"/>
              <a:buChar char="•"/>
            </a:pPr>
            <a:r>
              <a:rPr lang="en-US" dirty="0"/>
              <a:t>Ensure that it has mechanisms in place to reject unacceptable bindings and to log such requests.</a:t>
            </a:r>
            <a:endParaRPr lang="en-IN" dirty="0"/>
          </a:p>
          <a:p>
            <a:pPr fontAlgn="t">
              <a:buFont typeface="Arial" panose="020B0604020202020204" pitchFamily="34" charset="0"/>
              <a:buChar char="•"/>
            </a:pPr>
            <a:r>
              <a:rPr lang="en-US" dirty="0"/>
              <a:t>In the case of late binding, ensure that mechanisms will support the discovery of relevant new services or protocols, or the sending of information using chosen protocols.</a:t>
            </a: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45CF3A7E-41DC-4384-93E1-821EC8FBB4DF}"/>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0FE11C1E-4B3A-4892-9453-996923D4B1EF}"/>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EAE73C4B-34CC-409B-A228-047BEFBCD97F}"/>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530206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F2A2242-6E1B-456F-8DB4-0631A340CE5D}"/>
              </a:ext>
            </a:extLst>
          </p:cNvPr>
          <p:cNvGrpSpPr/>
          <p:nvPr/>
        </p:nvGrpSpPr>
        <p:grpSpPr>
          <a:xfrm>
            <a:off x="152400" y="1493837"/>
            <a:ext cx="8686800" cy="4525963"/>
            <a:chOff x="152400" y="1493837"/>
            <a:chExt cx="8686800" cy="4525963"/>
          </a:xfrm>
        </p:grpSpPr>
        <p:sp>
          <p:nvSpPr>
            <p:cNvPr id="11" name="Rectangle: Rounded Corners 10">
              <a:extLst>
                <a:ext uri="{FF2B5EF4-FFF2-40B4-BE49-F238E27FC236}">
                  <a16:creationId xmlns:a16="http://schemas.microsoft.com/office/drawing/2014/main" id="{E9232326-66C8-46ED-90B0-7C5EBC1203DE}"/>
                </a:ext>
              </a:extLst>
            </p:cNvPr>
            <p:cNvSpPr/>
            <p:nvPr/>
          </p:nvSpPr>
          <p:spPr>
            <a:xfrm>
              <a:off x="152400" y="1493837"/>
              <a:ext cx="8686800" cy="3349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solidFill>
              </a:endParaRPr>
            </a:p>
          </p:txBody>
        </p:sp>
        <p:sp>
          <p:nvSpPr>
            <p:cNvPr id="12" name="Rectangle 11">
              <a:extLst>
                <a:ext uri="{FF2B5EF4-FFF2-40B4-BE49-F238E27FC236}">
                  <a16:creationId xmlns:a16="http://schemas.microsoft.com/office/drawing/2014/main" id="{E6641E33-8372-42CB-85BC-FFD4712ABCC0}"/>
                </a:ext>
              </a:extLst>
            </p:cNvPr>
            <p:cNvSpPr/>
            <p:nvPr/>
          </p:nvSpPr>
          <p:spPr>
            <a:xfrm>
              <a:off x="152400" y="1828800"/>
              <a:ext cx="8686800" cy="419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Content Placeholder 5">
            <a:extLst>
              <a:ext uri="{FF2B5EF4-FFF2-40B4-BE49-F238E27FC236}">
                <a16:creationId xmlns:a16="http://schemas.microsoft.com/office/drawing/2014/main" id="{3CEA6377-31A1-4BE8-9E18-CCFD499A4E6A}"/>
              </a:ext>
            </a:extLst>
          </p:cNvPr>
          <p:cNvSpPr>
            <a:spLocks noGrp="1"/>
          </p:cNvSpPr>
          <p:nvPr>
            <p:ph idx="1"/>
          </p:nvPr>
        </p:nvSpPr>
        <p:spPr/>
        <p:txBody>
          <a:bodyPr/>
          <a:lstStyle/>
          <a:p>
            <a:pPr marL="0" indent="0" fontAlgn="t"/>
            <a:r>
              <a:rPr lang="en-US" dirty="0"/>
              <a:t>Choice of Technology</a:t>
            </a:r>
            <a:endParaRPr lang="en-IN" dirty="0"/>
          </a:p>
          <a:p>
            <a:pPr fontAlgn="t">
              <a:buFont typeface="Arial" panose="020B0604020202020204" pitchFamily="34" charset="0"/>
              <a:buChar char="•"/>
            </a:pPr>
            <a:r>
              <a:rPr lang="en-US" dirty="0"/>
              <a:t>For any of your chosen technologies, are they “visible” at interface boundary of a system?  If so, what interoperability effects do they have?  Do they support, undercut, or have no effect on the interoperability scenarios that apply to your system? Ensure the effects they have are acceptable.</a:t>
            </a:r>
            <a:endParaRPr lang="en-IN" dirty="0"/>
          </a:p>
          <a:p>
            <a:pPr fontAlgn="t">
              <a:buFont typeface="Arial" panose="020B0604020202020204" pitchFamily="34" charset="0"/>
              <a:buChar char="•"/>
            </a:pPr>
            <a:r>
              <a:rPr lang="en-US" dirty="0"/>
              <a:t>Consider technologies that are designed to support interoperability, e.g. Web Services. Can they be used to satisfy the interoperability requirements for the systems under your control?</a:t>
            </a:r>
            <a:endParaRPr lang="en-IN"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9" name="Title 1">
            <a:extLst>
              <a:ext uri="{FF2B5EF4-FFF2-40B4-BE49-F238E27FC236}">
                <a16:creationId xmlns:a16="http://schemas.microsoft.com/office/drawing/2014/main" id="{7BBDA73A-3436-40F7-947C-9851EC3C7450}"/>
              </a:ext>
            </a:extLst>
          </p:cNvPr>
          <p:cNvSpPr>
            <a:spLocks noGrp="1"/>
          </p:cNvSpPr>
          <p:nvPr>
            <p:ph sz="quarter" idx="10"/>
          </p:nvPr>
        </p:nvSpPr>
        <p:spPr/>
        <p:txBody>
          <a:bodyPr>
            <a:normAutofit fontScale="97500"/>
          </a:bodyPr>
          <a:lstStyle/>
          <a:p>
            <a:r>
              <a:rPr lang="en-US" sz="3200" dirty="0"/>
              <a:t>Design Checklist for Interoperability</a:t>
            </a:r>
          </a:p>
        </p:txBody>
      </p:sp>
      <p:sp>
        <p:nvSpPr>
          <p:cNvPr id="2" name="Date Placeholder 1">
            <a:extLst>
              <a:ext uri="{FF2B5EF4-FFF2-40B4-BE49-F238E27FC236}">
                <a16:creationId xmlns:a16="http://schemas.microsoft.com/office/drawing/2014/main" id="{5E9DCFC2-54AF-49ED-B3BA-1600E46EDFE7}"/>
              </a:ext>
            </a:extLst>
          </p:cNvPr>
          <p:cNvSpPr>
            <a:spLocks noGrp="1"/>
          </p:cNvSpPr>
          <p:nvPr>
            <p:ph type="dt" sz="half" idx="12"/>
          </p:nvPr>
        </p:nvSpPr>
        <p:spPr/>
        <p:txBody>
          <a:bodyPr/>
          <a:lstStyle/>
          <a:p>
            <a:r>
              <a:rPr lang="en-US"/>
              <a:t>August 16, 2026</a:t>
            </a:r>
          </a:p>
        </p:txBody>
      </p:sp>
      <p:sp>
        <p:nvSpPr>
          <p:cNvPr id="3" name="Slide Number Placeholder 2">
            <a:extLst>
              <a:ext uri="{FF2B5EF4-FFF2-40B4-BE49-F238E27FC236}">
                <a16:creationId xmlns:a16="http://schemas.microsoft.com/office/drawing/2014/main" id="{5BD8F149-ACF8-4C68-A99E-8B0757D50650}"/>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1231959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Interoperability refers to the ability of systems to usefully exchange information. </a:t>
            </a:r>
          </a:p>
          <a:p>
            <a:pPr>
              <a:buFont typeface="Arial" panose="020B0604020202020204" pitchFamily="34" charset="0"/>
              <a:buChar char="•"/>
            </a:pPr>
            <a:r>
              <a:rPr lang="en-US" dirty="0"/>
              <a:t>Achieving interoperability involves the relevant systems locating each other and then managing the interfaces so that they can exchange information.</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Title 1">
            <a:extLst>
              <a:ext uri="{FF2B5EF4-FFF2-40B4-BE49-F238E27FC236}">
                <a16:creationId xmlns:a16="http://schemas.microsoft.com/office/drawing/2014/main" id="{E391F94B-BC8D-4DA1-B497-EA171460612C}"/>
              </a:ext>
            </a:extLst>
          </p:cNvPr>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CDBB861B-153E-41BA-8858-C6ACD7034834}"/>
              </a:ext>
            </a:extLst>
          </p:cNvPr>
          <p:cNvSpPr>
            <a:spLocks noGrp="1"/>
          </p:cNvSpPr>
          <p:nvPr>
            <p:ph type="dt" sz="half" idx="12"/>
          </p:nvPr>
        </p:nvSpPr>
        <p:spPr/>
        <p:txBody>
          <a:bodyPr/>
          <a:lstStyle/>
          <a:p>
            <a:r>
              <a:rPr lang="en-US"/>
              <a:t>August 16, 2026</a:t>
            </a:r>
          </a:p>
        </p:txBody>
      </p:sp>
      <p:sp>
        <p:nvSpPr>
          <p:cNvPr id="5" name="Slide Number Placeholder 4">
            <a:extLst>
              <a:ext uri="{FF2B5EF4-FFF2-40B4-BE49-F238E27FC236}">
                <a16:creationId xmlns:a16="http://schemas.microsoft.com/office/drawing/2014/main" id="{CA32850C-D8EF-4616-BF9B-F37CC5F8EC48}"/>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Tree>
    <p:extLst>
      <p:ext uri="{BB962C8B-B14F-4D97-AF65-F5344CB8AC3E}">
        <p14:creationId xmlns:p14="http://schemas.microsoft.com/office/powerpoint/2010/main" val="1420907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Testability</a:t>
            </a:r>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dirty="0"/>
              <a:t>SSZG653 Software Architectures</a:t>
            </a:r>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August 16, 2026</a:t>
            </a:r>
          </a:p>
        </p:txBody>
      </p:sp>
    </p:spTree>
    <p:extLst>
      <p:ext uri="{BB962C8B-B14F-4D97-AF65-F5344CB8AC3E}">
        <p14:creationId xmlns:p14="http://schemas.microsoft.com/office/powerpoint/2010/main" val="3873633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SEZG651/ SSZG653 </a:t>
            </a:r>
          </a:p>
          <a:p>
            <a:r>
              <a:rPr lang="en-US" dirty="0"/>
              <a:t>Software Architectures</a:t>
            </a:r>
          </a:p>
          <a:p>
            <a:r>
              <a:rPr lang="en-US" dirty="0"/>
              <a:t>Module 2-CS05A</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fld id="{BC8D7E44-7D4F-4942-A8C9-2DF6BF8399E8}" type="slidenum">
              <a:rPr lang="en-US" smtClean="0"/>
              <a:pPr/>
              <a:t>23</a:t>
            </a:fld>
            <a:endParaRPr lang="en-US" dirty="0"/>
          </a:p>
        </p:txBody>
      </p:sp>
      <p:sp>
        <p:nvSpPr>
          <p:cNvPr id="4" name="Footer Placeholder 3">
            <a:extLst>
              <a:ext uri="{FF2B5EF4-FFF2-40B4-BE49-F238E27FC236}">
                <a16:creationId xmlns:a16="http://schemas.microsoft.com/office/drawing/2014/main" id="{8BC7C6D1-3127-44AB-815C-6CD30FAB8EDC}"/>
              </a:ext>
            </a:extLst>
          </p:cNvPr>
          <p:cNvSpPr>
            <a:spLocks noGrp="1"/>
          </p:cNvSpPr>
          <p:nvPr>
            <p:ph type="ftr" sz="quarter" idx="12"/>
          </p:nvPr>
        </p:nvSpPr>
        <p:spPr/>
        <p:txBody>
          <a:bodyPr/>
          <a:lstStyle/>
          <a:p>
            <a:r>
              <a:rPr lang="en-US"/>
              <a:t>SSZG653 Software Architectures</a:t>
            </a:r>
            <a:endParaRPr lang="en-US" dirty="0"/>
          </a:p>
        </p:txBody>
      </p:sp>
      <p:sp>
        <p:nvSpPr>
          <p:cNvPr id="5" name="Date Placeholder 4">
            <a:extLst>
              <a:ext uri="{FF2B5EF4-FFF2-40B4-BE49-F238E27FC236}">
                <a16:creationId xmlns:a16="http://schemas.microsoft.com/office/drawing/2014/main" id="{C8DB7FCC-1E1B-4ED6-A110-099AFCD682BC}"/>
              </a:ext>
            </a:extLst>
          </p:cNvPr>
          <p:cNvSpPr>
            <a:spLocks noGrp="1"/>
          </p:cNvSpPr>
          <p:nvPr>
            <p:ph type="dt" sz="half" idx="11"/>
          </p:nvPr>
        </p:nvSpPr>
        <p:spPr/>
        <p:txBody>
          <a:bodyPr/>
          <a:lstStyle/>
          <a:p>
            <a:r>
              <a:rPr lang="en-US"/>
              <a:t>August 16, 2026</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What is Testability?</a:t>
            </a:r>
          </a:p>
          <a:p>
            <a:r>
              <a:rPr lang="en-US" dirty="0"/>
              <a:t>Testability General </a:t>
            </a:r>
            <a:r>
              <a:rPr lang="en-US" sz="3200" b="0" i="0" u="none" strike="noStrike" kern="1200" baseline="0" dirty="0">
                <a:solidFill>
                  <a:schemeClr val="tx1"/>
                </a:solidFill>
                <a:latin typeface="+mn-lt"/>
                <a:ea typeface="+mn-ea"/>
                <a:cs typeface="+mn-cs"/>
              </a:rPr>
              <a:t>Scenario</a:t>
            </a:r>
          </a:p>
          <a:p>
            <a:r>
              <a:rPr lang="en-US" sz="3200" b="0" i="0" u="none" strike="noStrike" kern="1200" baseline="0" dirty="0">
                <a:solidFill>
                  <a:schemeClr val="tx1"/>
                </a:solidFill>
                <a:latin typeface="+mn-lt"/>
                <a:ea typeface="+mn-ea"/>
                <a:cs typeface="+mn-cs"/>
              </a:rPr>
              <a:t>Tactics for </a:t>
            </a:r>
            <a:r>
              <a:rPr lang="en-US" dirty="0"/>
              <a:t>Testability</a:t>
            </a:r>
            <a:endParaRPr lang="en-US" sz="3200" b="0" i="0" u="none" strike="noStrike" kern="1200" baseline="0" dirty="0">
              <a:solidFill>
                <a:schemeClr val="tx1"/>
              </a:solidFill>
              <a:latin typeface="+mn-lt"/>
              <a:ea typeface="+mn-ea"/>
              <a:cs typeface="+mn-cs"/>
            </a:endParaRPr>
          </a:p>
          <a:p>
            <a:r>
              <a:rPr lang="en-US" dirty="0"/>
              <a:t>A Design Checklist for Testability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Summary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3437A8D7-4A2F-4E07-BF1A-F58C6231BDB6}"/>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D3B673E4-F3A1-4011-83B8-229AA1683CA3}"/>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
        <p:nvSpPr>
          <p:cNvPr id="9" name="Title 1">
            <a:extLst>
              <a:ext uri="{FF2B5EF4-FFF2-40B4-BE49-F238E27FC236}">
                <a16:creationId xmlns:a16="http://schemas.microsoft.com/office/drawing/2014/main" id="{75A9CAE4-F90C-7782-F7F1-10DDB0F9C1B7}"/>
              </a:ext>
            </a:extLst>
          </p:cNvPr>
          <p:cNvSpPr>
            <a:spLocks noGrp="1"/>
          </p:cNvSpPr>
          <p:nvPr>
            <p:ph sz="quarter" idx="10"/>
          </p:nvPr>
        </p:nvSpPr>
        <p:spPr>
          <a:xfrm>
            <a:off x="304800" y="152400"/>
            <a:ext cx="6324600" cy="1143000"/>
          </a:xfrm>
        </p:spPr>
        <p:txBody>
          <a:bodyPr/>
          <a:lstStyle/>
          <a:p>
            <a:r>
              <a:rPr lang="en-AU" dirty="0"/>
              <a:t>Chapter Outline</a:t>
            </a:r>
          </a:p>
        </p:txBody>
      </p:sp>
    </p:spTree>
    <p:extLst>
      <p:ext uri="{BB962C8B-B14F-4D97-AF65-F5344CB8AC3E}">
        <p14:creationId xmlns:p14="http://schemas.microsoft.com/office/powerpoint/2010/main" val="1157043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Software testability refers to the ease with which software can be made to demonstrate its faults through (typically execution-based) testing.  </a:t>
            </a:r>
          </a:p>
          <a:p>
            <a:r>
              <a:rPr lang="en-US" dirty="0"/>
              <a:t>Specifically, testability refers to the probability, assuming that the software has at least one fault, that it will fail on its </a:t>
            </a:r>
            <a:r>
              <a:rPr lang="en-US" i="1" dirty="0"/>
              <a:t>next</a:t>
            </a:r>
            <a:r>
              <a:rPr lang="en-US" dirty="0"/>
              <a:t> test execution. </a:t>
            </a:r>
          </a:p>
          <a:p>
            <a:r>
              <a:rPr lang="en-US" dirty="0"/>
              <a:t>If a fault is present in a system, then we want it to fail during testing as quickly as possible.</a:t>
            </a:r>
          </a:p>
          <a:p>
            <a:endParaRPr lang="en-US" dirty="0"/>
          </a:p>
          <a:p>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ED7BCBFC-E657-4EEB-A092-BF13F4F25DF8}"/>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DAE311B1-060D-4D06-B113-E39B1E084229}"/>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
        <p:nvSpPr>
          <p:cNvPr id="9" name="Title 1">
            <a:extLst>
              <a:ext uri="{FF2B5EF4-FFF2-40B4-BE49-F238E27FC236}">
                <a16:creationId xmlns:a16="http://schemas.microsoft.com/office/drawing/2014/main" id="{AF558C3C-54FE-F9BD-4D40-51E9EF2990B1}"/>
              </a:ext>
            </a:extLst>
          </p:cNvPr>
          <p:cNvSpPr>
            <a:spLocks noGrp="1"/>
          </p:cNvSpPr>
          <p:nvPr>
            <p:ph sz="quarter" idx="10"/>
          </p:nvPr>
        </p:nvSpPr>
        <p:spPr>
          <a:xfrm>
            <a:off x="304800" y="152400"/>
            <a:ext cx="6324600" cy="1143000"/>
          </a:xfrm>
        </p:spPr>
        <p:txBody>
          <a:bodyPr/>
          <a:lstStyle/>
          <a:p>
            <a:r>
              <a:rPr lang="en-US" dirty="0"/>
              <a:t>What is Testability?</a:t>
            </a:r>
          </a:p>
        </p:txBody>
      </p:sp>
    </p:spTree>
    <p:extLst>
      <p:ext uri="{BB962C8B-B14F-4D97-AF65-F5344CB8AC3E}">
        <p14:creationId xmlns:p14="http://schemas.microsoft.com/office/powerpoint/2010/main" val="1023812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For a system to be properly testable, it must be possible to </a:t>
            </a:r>
            <a:r>
              <a:rPr lang="en-US" i="1" dirty="0"/>
              <a:t>control</a:t>
            </a:r>
            <a:r>
              <a:rPr lang="en-US" dirty="0"/>
              <a:t> each component’s inputs (and possibly manipulate its internal state) and then to </a:t>
            </a:r>
            <a:r>
              <a:rPr lang="en-US" i="1" dirty="0"/>
              <a:t>observe</a:t>
            </a:r>
            <a:r>
              <a:rPr lang="en-US" dirty="0"/>
              <a:t> its outputs (and possibly its internal state).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2BE4867D-4599-40A8-9D36-127CA8ABE856}"/>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FC167AF8-7D57-40A3-89F6-891EFF84F2F8}"/>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
        <p:nvSpPr>
          <p:cNvPr id="9" name="Title 1">
            <a:extLst>
              <a:ext uri="{FF2B5EF4-FFF2-40B4-BE49-F238E27FC236}">
                <a16:creationId xmlns:a16="http://schemas.microsoft.com/office/drawing/2014/main" id="{C33EFE9D-C24E-629E-A781-7FE6A9742771}"/>
              </a:ext>
            </a:extLst>
          </p:cNvPr>
          <p:cNvSpPr>
            <a:spLocks noGrp="1"/>
          </p:cNvSpPr>
          <p:nvPr>
            <p:ph sz="quarter" idx="10"/>
          </p:nvPr>
        </p:nvSpPr>
        <p:spPr>
          <a:xfrm>
            <a:off x="304800" y="152400"/>
            <a:ext cx="6324600" cy="1143000"/>
          </a:xfrm>
        </p:spPr>
        <p:txBody>
          <a:bodyPr/>
          <a:lstStyle/>
          <a:p>
            <a:r>
              <a:rPr lang="en-US" dirty="0"/>
              <a:t>What is Testability?</a:t>
            </a:r>
          </a:p>
        </p:txBody>
      </p:sp>
    </p:spTree>
    <p:extLst>
      <p:ext uri="{BB962C8B-B14F-4D97-AF65-F5344CB8AC3E}">
        <p14:creationId xmlns:p14="http://schemas.microsoft.com/office/powerpoint/2010/main" val="2703799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AEEF677B-8C0D-4361-9F7E-E1D7A0809C62}"/>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CFD8324F-4F62-4C3F-B4EF-52583E44FABA}"/>
              </a:ext>
            </a:extLst>
          </p:cNvPr>
          <p:cNvSpPr>
            <a:spLocks noGrp="1"/>
          </p:cNvSpPr>
          <p:nvPr>
            <p:ph type="sldNum" sz="quarter" idx="14"/>
          </p:nvPr>
        </p:nvSpPr>
        <p:spPr/>
        <p:txBody>
          <a:bodyPr/>
          <a:lstStyle/>
          <a:p>
            <a:fld id="{BC8D7E44-7D4F-4942-A8C9-2DF6BF8399E8}" type="slidenum">
              <a:rPr lang="en-US" smtClean="0"/>
              <a:pPr/>
              <a:t>27</a:t>
            </a:fld>
            <a:endParaRPr lang="en-US" dirty="0"/>
          </a:p>
        </p:txBody>
      </p:sp>
      <p:sp>
        <p:nvSpPr>
          <p:cNvPr id="10" name="Title 1">
            <a:extLst>
              <a:ext uri="{FF2B5EF4-FFF2-40B4-BE49-F238E27FC236}">
                <a16:creationId xmlns:a16="http://schemas.microsoft.com/office/drawing/2014/main" id="{6AFE3EDB-9FCA-F136-475A-109E57A2F4D0}"/>
              </a:ext>
            </a:extLst>
          </p:cNvPr>
          <p:cNvSpPr>
            <a:spLocks noGrp="1"/>
          </p:cNvSpPr>
          <p:nvPr>
            <p:ph sz="quarter" idx="10"/>
          </p:nvPr>
        </p:nvSpPr>
        <p:spPr>
          <a:xfrm>
            <a:off x="304800" y="152400"/>
            <a:ext cx="6324600" cy="1143000"/>
          </a:xfrm>
        </p:spPr>
        <p:txBody>
          <a:bodyPr/>
          <a:lstStyle/>
          <a:p>
            <a:r>
              <a:rPr lang="en-US" dirty="0"/>
              <a:t>Testability General Scenario</a:t>
            </a:r>
          </a:p>
        </p:txBody>
      </p:sp>
      <p:graphicFrame>
        <p:nvGraphicFramePr>
          <p:cNvPr id="11" name="Content Placeholder 10">
            <a:extLst>
              <a:ext uri="{FF2B5EF4-FFF2-40B4-BE49-F238E27FC236}">
                <a16:creationId xmlns:a16="http://schemas.microsoft.com/office/drawing/2014/main" id="{1ABDFA52-44BE-5CAF-7A43-F3D9FF0F3207}"/>
              </a:ext>
            </a:extLst>
          </p:cNvPr>
          <p:cNvGraphicFramePr>
            <a:graphicFrameLocks noGrp="1"/>
          </p:cNvGraphicFramePr>
          <p:nvPr>
            <p:ph idx="1"/>
          </p:nvPr>
        </p:nvGraphicFramePr>
        <p:xfrm>
          <a:off x="304800" y="1493838"/>
          <a:ext cx="8686800" cy="5155057"/>
        </p:xfrm>
        <a:graphic>
          <a:graphicData uri="http://schemas.openxmlformats.org/drawingml/2006/table">
            <a:tbl>
              <a:tblPr firstRow="1" firstCol="1" bandRow="1">
                <a:tableStyleId>{5C22544A-7EE6-4342-B048-85BDC9FD1C3A}</a:tableStyleId>
              </a:tblPr>
              <a:tblGrid>
                <a:gridCol w="1600199">
                  <a:extLst>
                    <a:ext uri="{9D8B030D-6E8A-4147-A177-3AD203B41FA5}">
                      <a16:colId xmlns:a16="http://schemas.microsoft.com/office/drawing/2014/main" val="20000"/>
                    </a:ext>
                  </a:extLst>
                </a:gridCol>
                <a:gridCol w="7086601">
                  <a:extLst>
                    <a:ext uri="{9D8B030D-6E8A-4147-A177-3AD203B41FA5}">
                      <a16:colId xmlns:a16="http://schemas.microsoft.com/office/drawing/2014/main" val="20001"/>
                    </a:ext>
                  </a:extLst>
                </a:gridCol>
              </a:tblGrid>
              <a:tr h="461787">
                <a:tc>
                  <a:txBody>
                    <a:bodyPr/>
                    <a:lstStyle/>
                    <a:p>
                      <a:pPr marL="0" marR="0">
                        <a:lnSpc>
                          <a:spcPct val="80000"/>
                        </a:lnSpc>
                        <a:spcBef>
                          <a:spcPts val="400"/>
                        </a:spcBef>
                        <a:spcAft>
                          <a:spcPts val="400"/>
                        </a:spcAft>
                      </a:pPr>
                      <a:r>
                        <a:rPr lang="en-US" sz="2000" b="1" dirty="0">
                          <a:solidFill>
                            <a:schemeClr val="tx1"/>
                          </a:solidFill>
                          <a:effectLst/>
                        </a:rPr>
                        <a:t>Portion of</a:t>
                      </a:r>
                      <a:br>
                        <a:rPr lang="en-US" sz="2000" b="1" dirty="0">
                          <a:solidFill>
                            <a:schemeClr val="tx1"/>
                          </a:solidFill>
                          <a:effectLst/>
                        </a:rPr>
                      </a:br>
                      <a:r>
                        <a:rPr lang="en-US" sz="2000" b="1" dirty="0">
                          <a:solidFill>
                            <a:schemeClr val="tx1"/>
                          </a:solidFill>
                          <a:effectLst/>
                        </a:rPr>
                        <a:t>Scenario</a:t>
                      </a:r>
                      <a:endParaRPr lang="en-US" sz="2000" b="1"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b="1" dirty="0">
                          <a:solidFill>
                            <a:schemeClr val="tx1"/>
                          </a:solidFill>
                          <a:effectLst/>
                        </a:rPr>
                        <a:t>Possible Values</a:t>
                      </a:r>
                      <a:endParaRPr lang="en-US" sz="2000" b="1"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extLst>
                  <a:ext uri="{0D108BD9-81ED-4DB2-BD59-A6C34878D82A}">
                    <a16:rowId xmlns:a16="http://schemas.microsoft.com/office/drawing/2014/main" val="10000"/>
                  </a:ext>
                </a:extLst>
              </a:tr>
              <a:tr h="629434">
                <a:tc>
                  <a:txBody>
                    <a:bodyPr/>
                    <a:lstStyle/>
                    <a:p>
                      <a:pPr marL="0" marR="0">
                        <a:lnSpc>
                          <a:spcPct val="80000"/>
                        </a:lnSpc>
                        <a:spcBef>
                          <a:spcPts val="400"/>
                        </a:spcBef>
                        <a:spcAft>
                          <a:spcPts val="400"/>
                        </a:spcAft>
                      </a:pPr>
                      <a:r>
                        <a:rPr lang="en-US" sz="2000" dirty="0">
                          <a:solidFill>
                            <a:schemeClr val="tx1"/>
                          </a:solidFill>
                          <a:effectLst/>
                        </a:rPr>
                        <a:t>Source</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effectLst/>
                        </a:rPr>
                        <a:t>Unit testers, integration testers, system testers, acceptance testers, end users, either running tests manually or using automated testing tools</a:t>
                      </a:r>
                      <a:endParaRPr lang="en-US" sz="2000" dirty="0">
                        <a:effectLst/>
                        <a:latin typeface="Times"/>
                        <a:ea typeface="Times New Roman"/>
                        <a:cs typeface="Times New Roman"/>
                      </a:endParaRPr>
                    </a:p>
                  </a:txBody>
                  <a:tcPr marL="68580" marR="68580" marT="0" marB="0">
                    <a:solidFill>
                      <a:schemeClr val="accent1">
                        <a:lumMod val="20000"/>
                        <a:lumOff val="80000"/>
                      </a:schemeClr>
                    </a:solidFill>
                  </a:tcPr>
                </a:tc>
                <a:extLst>
                  <a:ext uri="{0D108BD9-81ED-4DB2-BD59-A6C34878D82A}">
                    <a16:rowId xmlns:a16="http://schemas.microsoft.com/office/drawing/2014/main" val="10001"/>
                  </a:ext>
                </a:extLst>
              </a:tr>
              <a:tr h="839391">
                <a:tc>
                  <a:txBody>
                    <a:bodyPr/>
                    <a:lstStyle/>
                    <a:p>
                      <a:pPr marL="0" marR="0">
                        <a:lnSpc>
                          <a:spcPct val="80000"/>
                        </a:lnSpc>
                        <a:spcBef>
                          <a:spcPts val="400"/>
                        </a:spcBef>
                        <a:spcAft>
                          <a:spcPts val="400"/>
                        </a:spcAft>
                      </a:pPr>
                      <a:r>
                        <a:rPr lang="en-US" sz="2000" dirty="0">
                          <a:solidFill>
                            <a:schemeClr val="tx1"/>
                          </a:solidFill>
                          <a:effectLst/>
                        </a:rPr>
                        <a:t>Stimulus </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A set of tests are executed due to the completion of a coding increment such as a class, layer or service; the completed integration of a subsystem; the complete implementation of the system; or the delivery of the system to the customer.</a:t>
                      </a:r>
                    </a:p>
                  </a:txBody>
                  <a:tcPr marL="68580" marR="68580" marT="0" marB="0">
                    <a:solidFill>
                      <a:schemeClr val="accent1">
                        <a:lumMod val="20000"/>
                        <a:lumOff val="80000"/>
                      </a:schemeClr>
                    </a:solidFill>
                  </a:tcPr>
                </a:tc>
                <a:extLst>
                  <a:ext uri="{0D108BD9-81ED-4DB2-BD59-A6C34878D82A}">
                    <a16:rowId xmlns:a16="http://schemas.microsoft.com/office/drawing/2014/main" val="10002"/>
                  </a:ext>
                </a:extLst>
              </a:tr>
              <a:tr h="420890">
                <a:tc>
                  <a:txBody>
                    <a:bodyPr/>
                    <a:lstStyle/>
                    <a:p>
                      <a:pPr marL="0" marR="0">
                        <a:lnSpc>
                          <a:spcPct val="80000"/>
                        </a:lnSpc>
                        <a:spcBef>
                          <a:spcPts val="400"/>
                        </a:spcBef>
                        <a:spcAft>
                          <a:spcPts val="400"/>
                        </a:spcAft>
                      </a:pPr>
                      <a:r>
                        <a:rPr lang="en-US" sz="2000" dirty="0">
                          <a:solidFill>
                            <a:schemeClr val="tx1"/>
                          </a:solidFill>
                          <a:effectLst/>
                        </a:rPr>
                        <a:t>Environment </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effectLst/>
                        </a:rPr>
                        <a:t>Design time, development time, compile time, integration time, deployment time, run time</a:t>
                      </a:r>
                      <a:endParaRPr lang="en-US" sz="2000" dirty="0">
                        <a:effectLst/>
                        <a:latin typeface="Times"/>
                        <a:ea typeface="Times New Roman"/>
                        <a:cs typeface="Times New Roman"/>
                      </a:endParaRPr>
                    </a:p>
                  </a:txBody>
                  <a:tcPr marL="68580" marR="68580" marT="0" marB="0">
                    <a:solidFill>
                      <a:schemeClr val="accent1">
                        <a:lumMod val="20000"/>
                        <a:lumOff val="80000"/>
                      </a:schemeClr>
                    </a:solidFill>
                  </a:tcPr>
                </a:tc>
                <a:extLst>
                  <a:ext uri="{0D108BD9-81ED-4DB2-BD59-A6C34878D82A}">
                    <a16:rowId xmlns:a16="http://schemas.microsoft.com/office/drawing/2014/main" val="10003"/>
                  </a:ext>
                </a:extLst>
              </a:tr>
              <a:tr h="212346">
                <a:tc>
                  <a:txBody>
                    <a:bodyPr/>
                    <a:lstStyle/>
                    <a:p>
                      <a:pPr marL="0" marR="0">
                        <a:lnSpc>
                          <a:spcPct val="80000"/>
                        </a:lnSpc>
                        <a:spcBef>
                          <a:spcPts val="400"/>
                        </a:spcBef>
                        <a:spcAft>
                          <a:spcPts val="400"/>
                        </a:spcAft>
                      </a:pPr>
                      <a:r>
                        <a:rPr lang="en-US" sz="2000" dirty="0">
                          <a:solidFill>
                            <a:schemeClr val="tx1"/>
                          </a:solidFill>
                          <a:effectLst/>
                        </a:rPr>
                        <a:t>Artifacts </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effectLst/>
                        </a:rPr>
                        <a:t>The portion of the system being tested</a:t>
                      </a:r>
                      <a:endParaRPr lang="en-US" sz="2000" dirty="0">
                        <a:effectLst/>
                        <a:latin typeface="Times"/>
                        <a:ea typeface="Times New Roman"/>
                        <a:cs typeface="Times New Roman"/>
                      </a:endParaRPr>
                    </a:p>
                  </a:txBody>
                  <a:tcPr marL="68580" marR="68580" marT="0" marB="0">
                    <a:solidFill>
                      <a:schemeClr val="accent1">
                        <a:lumMod val="20000"/>
                        <a:lumOff val="80000"/>
                      </a:schemeClr>
                    </a:solidFill>
                  </a:tcPr>
                </a:tc>
                <a:extLst>
                  <a:ext uri="{0D108BD9-81ED-4DB2-BD59-A6C34878D82A}">
                    <a16:rowId xmlns:a16="http://schemas.microsoft.com/office/drawing/2014/main" val="10004"/>
                  </a:ext>
                </a:extLst>
              </a:tr>
              <a:tr h="629434">
                <a:tc>
                  <a:txBody>
                    <a:bodyPr/>
                    <a:lstStyle/>
                    <a:p>
                      <a:pPr marL="0" marR="0">
                        <a:lnSpc>
                          <a:spcPct val="80000"/>
                        </a:lnSpc>
                        <a:spcBef>
                          <a:spcPts val="400"/>
                        </a:spcBef>
                        <a:spcAft>
                          <a:spcPts val="400"/>
                        </a:spcAft>
                      </a:pPr>
                      <a:r>
                        <a:rPr lang="en-US" sz="2000" dirty="0">
                          <a:solidFill>
                            <a:schemeClr val="tx1"/>
                          </a:solidFill>
                          <a:effectLst/>
                        </a:rPr>
                        <a:t>Response </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effectLst/>
                        </a:rPr>
                        <a:t>One or more of the following: execute test suite and capture results; capture activity that resulted in the fault; control and monitor the state of the system </a:t>
                      </a:r>
                      <a:endParaRPr lang="en-US" sz="2000" dirty="0">
                        <a:effectLst/>
                        <a:latin typeface="Times"/>
                        <a:ea typeface="Times New Roman"/>
                        <a:cs typeface="Times New Roman"/>
                      </a:endParaRPr>
                    </a:p>
                  </a:txBody>
                  <a:tcPr marL="68580" marR="68580" marT="0" marB="0">
                    <a:solidFill>
                      <a:schemeClr val="accent1">
                        <a:lumMod val="20000"/>
                        <a:lumOff val="80000"/>
                      </a:schemeClr>
                    </a:solidFill>
                  </a:tcPr>
                </a:tc>
                <a:extLst>
                  <a:ext uri="{0D108BD9-81ED-4DB2-BD59-A6C34878D82A}">
                    <a16:rowId xmlns:a16="http://schemas.microsoft.com/office/drawing/2014/main" val="10005"/>
                  </a:ext>
                </a:extLst>
              </a:tr>
              <a:tr h="1256479">
                <a:tc>
                  <a:txBody>
                    <a:bodyPr/>
                    <a:lstStyle/>
                    <a:p>
                      <a:pPr marL="0" marR="0">
                        <a:lnSpc>
                          <a:spcPct val="80000"/>
                        </a:lnSpc>
                        <a:spcBef>
                          <a:spcPts val="400"/>
                        </a:spcBef>
                        <a:spcAft>
                          <a:spcPts val="400"/>
                        </a:spcAft>
                      </a:pPr>
                      <a:r>
                        <a:rPr lang="en-US" sz="2000" dirty="0">
                          <a:solidFill>
                            <a:schemeClr val="tx1"/>
                          </a:solidFill>
                          <a:effectLst/>
                        </a:rPr>
                        <a:t>Response </a:t>
                      </a:r>
                      <a:br>
                        <a:rPr lang="en-US" sz="2000" dirty="0">
                          <a:solidFill>
                            <a:schemeClr val="tx1"/>
                          </a:solidFill>
                          <a:effectLst/>
                        </a:rPr>
                      </a:br>
                      <a:r>
                        <a:rPr lang="en-US" sz="2000" dirty="0">
                          <a:solidFill>
                            <a:schemeClr val="tx1"/>
                          </a:solidFill>
                          <a:effectLst/>
                        </a:rPr>
                        <a:t>Measure </a:t>
                      </a:r>
                      <a:endParaRPr lang="en-US" sz="2000" dirty="0">
                        <a:solidFill>
                          <a:schemeClr val="tx1"/>
                        </a:solidFill>
                        <a:effectLst/>
                        <a:latin typeface="Times"/>
                        <a:ea typeface="Times New Roman"/>
                        <a:cs typeface="Times New Roman"/>
                      </a:endParaRPr>
                    </a:p>
                  </a:txBody>
                  <a:tcPr marL="68580" marR="68580" marT="0" marB="0">
                    <a:solidFill>
                      <a:schemeClr val="accent1">
                        <a:lumMod val="20000"/>
                        <a:lumOff val="80000"/>
                      </a:schemeClr>
                    </a:solidFill>
                  </a:tcPr>
                </a:tc>
                <a:tc>
                  <a:txBody>
                    <a:bodyPr/>
                    <a:lstStyle/>
                    <a:p>
                      <a:pPr marL="0" marR="0">
                        <a:lnSpc>
                          <a:spcPct val="80000"/>
                        </a:lnSpc>
                        <a:spcBef>
                          <a:spcPts val="400"/>
                        </a:spcBef>
                        <a:spcAft>
                          <a:spcPts val="400"/>
                        </a:spcAft>
                      </a:pPr>
                      <a:r>
                        <a:rPr lang="en-US" sz="2000" dirty="0">
                          <a:effectLst/>
                        </a:rPr>
                        <a:t>One or more of the following:  effort to find a fault or class of faults, effort to achieve a given percentage of state space coverage; probability of fault being revealed by the next test; time to perform tests; effort to detect faults; length of longest dependency chain in test; length of time to prepare test environment; reduction in risk exposure (size(loss) * </a:t>
                      </a:r>
                      <a:r>
                        <a:rPr lang="en-US" sz="2000" dirty="0" err="1">
                          <a:effectLst/>
                        </a:rPr>
                        <a:t>prob</a:t>
                      </a:r>
                      <a:r>
                        <a:rPr lang="en-US" sz="2000" dirty="0">
                          <a:effectLst/>
                        </a:rPr>
                        <a:t>(loss))</a:t>
                      </a:r>
                    </a:p>
                  </a:txBody>
                  <a:tcPr marL="68580" marR="68580" marT="0" marB="0">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80014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anose="020B0604020202020204" pitchFamily="34" charset="0"/>
              <a:buChar char="•"/>
            </a:pPr>
            <a:r>
              <a:rPr lang="en-US" dirty="0"/>
              <a:t>The unit tester completes a code unit during development and performs a test sequence whose results are captured and that gives 85% path coverage within 3 hours of testing.</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F8E37312-5BBE-4100-86E7-2B6CF401056A}"/>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111A4CDC-783F-45AB-8C38-EAF0F8C0D89B}"/>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
        <p:nvSpPr>
          <p:cNvPr id="9" name="Title 1">
            <a:extLst>
              <a:ext uri="{FF2B5EF4-FFF2-40B4-BE49-F238E27FC236}">
                <a16:creationId xmlns:a16="http://schemas.microsoft.com/office/drawing/2014/main" id="{83B1AE22-176E-F43D-1776-AF896E6A36D9}"/>
              </a:ext>
            </a:extLst>
          </p:cNvPr>
          <p:cNvSpPr>
            <a:spLocks noGrp="1"/>
          </p:cNvSpPr>
          <p:nvPr>
            <p:ph sz="quarter" idx="10"/>
          </p:nvPr>
        </p:nvSpPr>
        <p:spPr>
          <a:xfrm>
            <a:off x="304800" y="152400"/>
            <a:ext cx="6324600" cy="1143000"/>
          </a:xfrm>
        </p:spPr>
        <p:txBody>
          <a:bodyPr>
            <a:normAutofit fontScale="97500"/>
          </a:bodyPr>
          <a:lstStyle/>
          <a:p>
            <a:r>
              <a:rPr lang="en-US" dirty="0"/>
              <a:t>Sample Concrete Testability Scenario</a:t>
            </a:r>
          </a:p>
        </p:txBody>
      </p:sp>
    </p:spTree>
    <p:extLst>
      <p:ext uri="{BB962C8B-B14F-4D97-AF65-F5344CB8AC3E}">
        <p14:creationId xmlns:p14="http://schemas.microsoft.com/office/powerpoint/2010/main" val="2709049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The goal of tactics for testability is to allow for easier testing when an increment of software development has completed.</a:t>
            </a:r>
          </a:p>
          <a:p>
            <a:pPr>
              <a:buFont typeface="Arial" panose="020B0604020202020204" pitchFamily="34" charset="0"/>
              <a:buChar char="•"/>
            </a:pPr>
            <a:r>
              <a:rPr lang="en-US" dirty="0"/>
              <a:t>Anything the architect can do to reduce the high cost of testing will yield a significant benefit.</a:t>
            </a:r>
          </a:p>
          <a:p>
            <a:pPr>
              <a:buFont typeface="Arial" panose="020B0604020202020204" pitchFamily="34" charset="0"/>
              <a:buChar char="•"/>
            </a:pPr>
            <a:r>
              <a:rPr lang="en-US" dirty="0"/>
              <a:t>There are two categories of tactics for testability:</a:t>
            </a:r>
          </a:p>
          <a:p>
            <a:pPr lvl="1"/>
            <a:r>
              <a:rPr lang="en-US" dirty="0"/>
              <a:t>The first category deals with adding controllability and </a:t>
            </a:r>
            <a:r>
              <a:rPr lang="en-US" dirty="0" err="1"/>
              <a:t>observability</a:t>
            </a:r>
            <a:r>
              <a:rPr lang="en-US" dirty="0"/>
              <a:t> to the system.  </a:t>
            </a:r>
          </a:p>
          <a:p>
            <a:pPr lvl="1"/>
            <a:r>
              <a:rPr lang="en-US" dirty="0"/>
              <a:t>The second deals with limiting complexity in the system’s design. </a:t>
            </a:r>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E34AA83C-C61D-4AFF-8B65-AF7002BC5222}"/>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D9AEECF8-A689-4F64-9F73-DCAF73595E77}"/>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
        <p:nvSpPr>
          <p:cNvPr id="9" name="Title 1">
            <a:extLst>
              <a:ext uri="{FF2B5EF4-FFF2-40B4-BE49-F238E27FC236}">
                <a16:creationId xmlns:a16="http://schemas.microsoft.com/office/drawing/2014/main" id="{5FF47770-FBCE-F5AF-115B-4772A30AC617}"/>
              </a:ext>
            </a:extLst>
          </p:cNvPr>
          <p:cNvSpPr>
            <a:spLocks noGrp="1"/>
          </p:cNvSpPr>
          <p:nvPr>
            <p:ph sz="quarter" idx="10"/>
          </p:nvPr>
        </p:nvSpPr>
        <p:spPr>
          <a:xfrm>
            <a:off x="304800" y="152400"/>
            <a:ext cx="6324600" cy="1143000"/>
          </a:xfrm>
        </p:spPr>
        <p:txBody>
          <a:bodyPr/>
          <a:lstStyle/>
          <a:p>
            <a:r>
              <a:rPr lang="en-US" dirty="0"/>
              <a:t>Goal of Testability Tactics</a:t>
            </a:r>
          </a:p>
        </p:txBody>
      </p:sp>
    </p:spTree>
    <p:extLst>
      <p:ext uri="{BB962C8B-B14F-4D97-AF65-F5344CB8AC3E}">
        <p14:creationId xmlns:p14="http://schemas.microsoft.com/office/powerpoint/2010/main" val="3788550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CF007147-B497-463D-9DE9-53A35F12D76B}"/>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54C067A7-14C3-49FD-951E-25A24598E4CB}"/>
              </a:ext>
            </a:extLst>
          </p:cNvPr>
          <p:cNvSpPr>
            <a:spLocks noGrp="1"/>
          </p:cNvSpPr>
          <p:nvPr>
            <p:ph type="sldNum" sz="quarter" idx="14"/>
          </p:nvPr>
        </p:nvSpPr>
        <p:spPr/>
        <p:txBody>
          <a:bodyPr/>
          <a:lstStyle/>
          <a:p>
            <a:fld id="{BC8D7E44-7D4F-4942-A8C9-2DF6BF8399E8}" type="slidenum">
              <a:rPr lang="en-US" smtClean="0"/>
              <a:pPr/>
              <a:t>30</a:t>
            </a:fld>
            <a:endParaRPr lang="en-US" dirty="0"/>
          </a:p>
        </p:txBody>
      </p:sp>
      <p:pic>
        <p:nvPicPr>
          <p:cNvPr id="9" name="Picture 7">
            <a:extLst>
              <a:ext uri="{FF2B5EF4-FFF2-40B4-BE49-F238E27FC236}">
                <a16:creationId xmlns:a16="http://schemas.microsoft.com/office/drawing/2014/main" id="{C4F3B858-388A-6EBE-90B6-B9A223288F99}"/>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8650" y="2209800"/>
            <a:ext cx="8516408" cy="2971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Title 1">
            <a:extLst>
              <a:ext uri="{FF2B5EF4-FFF2-40B4-BE49-F238E27FC236}">
                <a16:creationId xmlns:a16="http://schemas.microsoft.com/office/drawing/2014/main" id="{F9AA933F-181D-15DE-CBE9-D132C65D01BA}"/>
              </a:ext>
            </a:extLst>
          </p:cNvPr>
          <p:cNvSpPr>
            <a:spLocks noGrp="1"/>
          </p:cNvSpPr>
          <p:nvPr>
            <p:ph sz="quarter" idx="10"/>
          </p:nvPr>
        </p:nvSpPr>
        <p:spPr>
          <a:xfrm>
            <a:off x="304800" y="152400"/>
            <a:ext cx="6324600" cy="1143000"/>
          </a:xfrm>
        </p:spPr>
        <p:txBody>
          <a:bodyPr/>
          <a:lstStyle/>
          <a:p>
            <a:r>
              <a:rPr lang="en-US" dirty="0"/>
              <a:t>Goal of Testability Tactics</a:t>
            </a:r>
          </a:p>
        </p:txBody>
      </p:sp>
    </p:spTree>
    <p:extLst>
      <p:ext uri="{BB962C8B-B14F-4D97-AF65-F5344CB8AC3E}">
        <p14:creationId xmlns:p14="http://schemas.microsoft.com/office/powerpoint/2010/main" val="892468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Date Placeholder 8">
            <a:extLst>
              <a:ext uri="{FF2B5EF4-FFF2-40B4-BE49-F238E27FC236}">
                <a16:creationId xmlns:a16="http://schemas.microsoft.com/office/drawing/2014/main" id="{A0844903-704D-4583-9FFF-660CA28F6EEB}"/>
              </a:ext>
            </a:extLst>
          </p:cNvPr>
          <p:cNvSpPr>
            <a:spLocks noGrp="1"/>
          </p:cNvSpPr>
          <p:nvPr>
            <p:ph type="dt" sz="half" idx="12"/>
          </p:nvPr>
        </p:nvSpPr>
        <p:spPr/>
        <p:txBody>
          <a:bodyPr/>
          <a:lstStyle/>
          <a:p>
            <a:r>
              <a:rPr lang="en-US"/>
              <a:t>August 16, 2026</a:t>
            </a:r>
          </a:p>
        </p:txBody>
      </p:sp>
      <p:sp>
        <p:nvSpPr>
          <p:cNvPr id="10" name="Slide Number Placeholder 9">
            <a:extLst>
              <a:ext uri="{FF2B5EF4-FFF2-40B4-BE49-F238E27FC236}">
                <a16:creationId xmlns:a16="http://schemas.microsoft.com/office/drawing/2014/main" id="{22AC17DE-A092-40FA-8C7F-2011367F4CA4}"/>
              </a:ext>
            </a:extLst>
          </p:cNvPr>
          <p:cNvSpPr>
            <a:spLocks noGrp="1"/>
          </p:cNvSpPr>
          <p:nvPr>
            <p:ph type="sldNum" sz="quarter" idx="14"/>
          </p:nvPr>
        </p:nvSpPr>
        <p:spPr/>
        <p:txBody>
          <a:bodyPr/>
          <a:lstStyle/>
          <a:p>
            <a:fld id="{BC8D7E44-7D4F-4942-A8C9-2DF6BF8399E8}" type="slidenum">
              <a:rPr lang="en-US" smtClean="0"/>
              <a:pPr/>
              <a:t>31</a:t>
            </a:fld>
            <a:endParaRPr lang="en-US" dirty="0"/>
          </a:p>
        </p:txBody>
      </p:sp>
      <p:pic>
        <p:nvPicPr>
          <p:cNvPr id="11" name="Picture 8">
            <a:extLst>
              <a:ext uri="{FF2B5EF4-FFF2-40B4-BE49-F238E27FC236}">
                <a16:creationId xmlns:a16="http://schemas.microsoft.com/office/drawing/2014/main" id="{B229949B-F1CB-509C-9B1C-3F687DC997F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82123" y="1493838"/>
            <a:ext cx="6074954" cy="4525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Title 1">
            <a:extLst>
              <a:ext uri="{FF2B5EF4-FFF2-40B4-BE49-F238E27FC236}">
                <a16:creationId xmlns:a16="http://schemas.microsoft.com/office/drawing/2014/main" id="{62B7EDEA-23D2-0565-28AB-23BC862FE053}"/>
              </a:ext>
            </a:extLst>
          </p:cNvPr>
          <p:cNvSpPr>
            <a:spLocks noGrp="1"/>
          </p:cNvSpPr>
          <p:nvPr>
            <p:ph sz="quarter" idx="10"/>
          </p:nvPr>
        </p:nvSpPr>
        <p:spPr>
          <a:xfrm>
            <a:off x="304800" y="152400"/>
            <a:ext cx="6324600" cy="1143000"/>
          </a:xfrm>
        </p:spPr>
        <p:txBody>
          <a:bodyPr>
            <a:normAutofit/>
          </a:bodyPr>
          <a:lstStyle/>
          <a:p>
            <a:r>
              <a:rPr lang="en-US" dirty="0"/>
              <a:t>Testability Tactics</a:t>
            </a:r>
          </a:p>
        </p:txBody>
      </p:sp>
    </p:spTree>
    <p:extLst>
      <p:ext uri="{BB962C8B-B14F-4D97-AF65-F5344CB8AC3E}">
        <p14:creationId xmlns:p14="http://schemas.microsoft.com/office/powerpoint/2010/main" val="3388798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Specialized Interfaces: to control or capture variable values for a component either through a test harness or through normal execution.</a:t>
            </a:r>
          </a:p>
          <a:p>
            <a:pPr lvl="0">
              <a:buFont typeface="Arial" panose="020B0604020202020204" pitchFamily="34" charset="0"/>
              <a:buChar char="•"/>
            </a:pPr>
            <a:r>
              <a:rPr lang="en-US" dirty="0"/>
              <a:t>Record/Playback: capturing information crossing an interface and using it as input for further testing.</a:t>
            </a:r>
          </a:p>
          <a:p>
            <a:pPr lvl="0">
              <a:buFont typeface="Arial" panose="020B0604020202020204" pitchFamily="34" charset="0"/>
              <a:buChar char="•"/>
            </a:pPr>
            <a:r>
              <a:rPr lang="en-US" dirty="0"/>
              <a:t>Localize State Storage: To start a system, subsystem, or module in an arbitrary state for a test, it is most convenient if that state is stored in a single place.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2870697C-65D8-4BAC-A355-66853458A8D6}"/>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42D04FE8-2904-4658-B4F2-287577E5DFE1}"/>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
        <p:nvSpPr>
          <p:cNvPr id="9" name="Title 1">
            <a:extLst>
              <a:ext uri="{FF2B5EF4-FFF2-40B4-BE49-F238E27FC236}">
                <a16:creationId xmlns:a16="http://schemas.microsoft.com/office/drawing/2014/main" id="{BB5A2A70-8339-79E6-D9B2-57C81577E4E9}"/>
              </a:ext>
            </a:extLst>
          </p:cNvPr>
          <p:cNvSpPr>
            <a:spLocks noGrp="1"/>
          </p:cNvSpPr>
          <p:nvPr>
            <p:ph sz="quarter" idx="10"/>
          </p:nvPr>
        </p:nvSpPr>
        <p:spPr>
          <a:xfrm>
            <a:off x="304800" y="152400"/>
            <a:ext cx="6324600" cy="1143000"/>
          </a:xfrm>
        </p:spPr>
        <p:txBody>
          <a:bodyPr>
            <a:normAutofit fontScale="97500"/>
          </a:bodyPr>
          <a:lstStyle/>
          <a:p>
            <a:r>
              <a:rPr lang="en-US" dirty="0"/>
              <a:t>Control and Observe System State</a:t>
            </a:r>
          </a:p>
        </p:txBody>
      </p:sp>
    </p:spTree>
    <p:extLst>
      <p:ext uri="{BB962C8B-B14F-4D97-AF65-F5344CB8AC3E}">
        <p14:creationId xmlns:p14="http://schemas.microsoft.com/office/powerpoint/2010/main" val="233538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Abstract Data Sources: Abstracting the interfaces lets you substitute test data more easily. </a:t>
            </a:r>
          </a:p>
          <a:p>
            <a:pPr lvl="0">
              <a:buFont typeface="Arial" panose="020B0604020202020204" pitchFamily="34" charset="0"/>
              <a:buChar char="•"/>
            </a:pPr>
            <a:r>
              <a:rPr lang="en-US" dirty="0"/>
              <a:t>Sandbox: isolate the system from the real world to enable experimentation that is unconstrained by the worry about having to undo the consequences of the experiment.</a:t>
            </a:r>
          </a:p>
          <a:p>
            <a:pPr lvl="0">
              <a:buFont typeface="Arial" panose="020B0604020202020204" pitchFamily="34" charset="0"/>
              <a:buChar char="•"/>
            </a:pPr>
            <a:r>
              <a:rPr lang="en-US" dirty="0"/>
              <a:t>Executable Assertions: assertions are (usually) hand coded and placed at desired locations to indicate when and where a program is in a faulty state. </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509C399E-C320-4159-A6D8-5633319C6B75}"/>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66BED20E-85A3-4275-8BC9-D76E079AE541}"/>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
        <p:nvSpPr>
          <p:cNvPr id="9" name="Title 1">
            <a:extLst>
              <a:ext uri="{FF2B5EF4-FFF2-40B4-BE49-F238E27FC236}">
                <a16:creationId xmlns:a16="http://schemas.microsoft.com/office/drawing/2014/main" id="{3184D009-C1E8-A401-213A-4625269D51C2}"/>
              </a:ext>
            </a:extLst>
          </p:cNvPr>
          <p:cNvSpPr>
            <a:spLocks noGrp="1"/>
          </p:cNvSpPr>
          <p:nvPr>
            <p:ph sz="quarter" idx="10"/>
          </p:nvPr>
        </p:nvSpPr>
        <p:spPr>
          <a:xfrm>
            <a:off x="304800" y="152400"/>
            <a:ext cx="6324600" cy="1143000"/>
          </a:xfrm>
        </p:spPr>
        <p:txBody>
          <a:bodyPr>
            <a:normAutofit fontScale="97500"/>
          </a:bodyPr>
          <a:lstStyle/>
          <a:p>
            <a:r>
              <a:rPr lang="en-US" dirty="0"/>
              <a:t>Control and Observe System State</a:t>
            </a:r>
          </a:p>
        </p:txBody>
      </p:sp>
    </p:spTree>
    <p:extLst>
      <p:ext uri="{BB962C8B-B14F-4D97-AF65-F5344CB8AC3E}">
        <p14:creationId xmlns:p14="http://schemas.microsoft.com/office/powerpoint/2010/main" val="88786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Font typeface="Arial" panose="020B0604020202020204" pitchFamily="34" charset="0"/>
              <a:buChar char="•"/>
            </a:pPr>
            <a:r>
              <a:rPr lang="en-US" dirty="0"/>
              <a:t>Limit Structural Complexity: avoiding or resolving cyclic dependencies between components, isolating and encapsulating dependencies on the external environment, and reducing dependencies between components in general.</a:t>
            </a:r>
          </a:p>
          <a:p>
            <a:pPr lvl="0">
              <a:buFont typeface="Arial" panose="020B0604020202020204" pitchFamily="34" charset="0"/>
              <a:buChar char="•"/>
            </a:pPr>
            <a:r>
              <a:rPr lang="en-US" dirty="0"/>
              <a:t>Limit Non-determinism: finding all the sources of non-determinism, such as unconstrained parallelism, and weeding them out as far as possible.</a:t>
            </a:r>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1AE2C6F1-CD49-482C-AB84-4EAA46955CDD}"/>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8DB22661-9A3D-4C97-8D60-A6D13D32F401}"/>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
        <p:nvSpPr>
          <p:cNvPr id="9" name="Title 1">
            <a:extLst>
              <a:ext uri="{FF2B5EF4-FFF2-40B4-BE49-F238E27FC236}">
                <a16:creationId xmlns:a16="http://schemas.microsoft.com/office/drawing/2014/main" id="{408D33B7-B657-2688-F8CF-17FD6FD456D8}"/>
              </a:ext>
            </a:extLst>
          </p:cNvPr>
          <p:cNvSpPr>
            <a:spLocks noGrp="1"/>
          </p:cNvSpPr>
          <p:nvPr>
            <p:ph sz="quarter" idx="10"/>
          </p:nvPr>
        </p:nvSpPr>
        <p:spPr>
          <a:xfrm>
            <a:off x="304800" y="152400"/>
            <a:ext cx="6324600" cy="1143000"/>
          </a:xfrm>
        </p:spPr>
        <p:txBody>
          <a:bodyPr>
            <a:normAutofit/>
          </a:bodyPr>
          <a:lstStyle/>
          <a:p>
            <a:r>
              <a:rPr lang="en-US" dirty="0"/>
              <a:t>Limit Complexity</a:t>
            </a:r>
          </a:p>
        </p:txBody>
      </p:sp>
    </p:spTree>
    <p:extLst>
      <p:ext uri="{BB962C8B-B14F-4D97-AF65-F5344CB8AC3E}">
        <p14:creationId xmlns:p14="http://schemas.microsoft.com/office/powerpoint/2010/main" val="699638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91EE9815-02D2-4C34-8838-55C4248CC46E}"/>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487C365A-DA14-42C3-8FA8-6328F05B0737}"/>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
        <p:nvSpPr>
          <p:cNvPr id="10" name="Title 1">
            <a:extLst>
              <a:ext uri="{FF2B5EF4-FFF2-40B4-BE49-F238E27FC236}">
                <a16:creationId xmlns:a16="http://schemas.microsoft.com/office/drawing/2014/main" id="{AF84EE45-2B9B-02B2-02E8-95ACD142B526}"/>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graphicFrame>
        <p:nvGraphicFramePr>
          <p:cNvPr id="11" name="Content Placeholder 10">
            <a:extLst>
              <a:ext uri="{FF2B5EF4-FFF2-40B4-BE49-F238E27FC236}">
                <a16:creationId xmlns:a16="http://schemas.microsoft.com/office/drawing/2014/main" id="{162DBC07-2486-D07B-6C3B-A5F3EA208DF8}"/>
              </a:ext>
            </a:extLst>
          </p:cNvPr>
          <p:cNvGraphicFramePr>
            <a:graphicFrameLocks noGrp="1"/>
          </p:cNvGraphicFramePr>
          <p:nvPr>
            <p:ph idx="1"/>
          </p:nvPr>
        </p:nvGraphicFramePr>
        <p:xfrm>
          <a:off x="304800" y="1493838"/>
          <a:ext cx="8534400" cy="4305846"/>
        </p:xfrm>
        <a:graphic>
          <a:graphicData uri="http://schemas.openxmlformats.org/drawingml/2006/table">
            <a:tbl>
              <a:tblPr firstRow="1" firstCol="1" bandRow="1">
                <a:tableStyleId>{5C22544A-7EE6-4342-B048-85BDC9FD1C3A}</a:tableStyleId>
              </a:tblPr>
              <a:tblGrid>
                <a:gridCol w="1905000">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tblGrid>
              <a:tr h="4305846">
                <a:tc>
                  <a:txBody>
                    <a:bodyPr/>
                    <a:lstStyle/>
                    <a:p>
                      <a:pPr marL="0" marR="0">
                        <a:lnSpc>
                          <a:spcPct val="80000"/>
                        </a:lnSpc>
                        <a:spcBef>
                          <a:spcPts val="400"/>
                        </a:spcBef>
                        <a:spcAft>
                          <a:spcPts val="400"/>
                        </a:spcAft>
                      </a:pPr>
                      <a:r>
                        <a:rPr lang="en-US" sz="2000" dirty="0">
                          <a:effectLst/>
                        </a:rPr>
                        <a:t>Allocation of Responsibilities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which system responsibilities are most critical and hence need to be most thoroughly tested.</a:t>
                      </a:r>
                    </a:p>
                    <a:p>
                      <a:pPr marL="0" marR="0">
                        <a:lnSpc>
                          <a:spcPct val="80000"/>
                        </a:lnSpc>
                        <a:spcBef>
                          <a:spcPts val="400"/>
                        </a:spcBef>
                        <a:spcAft>
                          <a:spcPts val="400"/>
                        </a:spcAft>
                      </a:pPr>
                      <a:r>
                        <a:rPr lang="en-US" sz="2000" dirty="0">
                          <a:effectLst/>
                        </a:rPr>
                        <a:t>Ensure that additional system responsibilities have been allocated to do the following:</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execute test suite and capture results (external test or self-test)</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capture (log) the activity that resulted in a fault or that resulted in unexpected (perhaps emergent) behavior that was not necessarily a fault</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control and observe relevant system state for testing</a:t>
                      </a:r>
                    </a:p>
                    <a:p>
                      <a:pPr marL="0" marR="0" indent="0">
                        <a:lnSpc>
                          <a:spcPct val="80000"/>
                        </a:lnSpc>
                        <a:spcBef>
                          <a:spcPts val="100"/>
                        </a:spcBef>
                        <a:spcAft>
                          <a:spcPts val="300"/>
                        </a:spcAft>
                        <a:tabLst>
                          <a:tab pos="228600" algn="l"/>
                          <a:tab pos="274320" algn="l"/>
                          <a:tab pos="274320" algn="l"/>
                        </a:tabLst>
                      </a:pPr>
                      <a:r>
                        <a:rPr lang="en-US" sz="2000" kern="1100" dirty="0">
                          <a:effectLst/>
                        </a:rPr>
                        <a:t>Make sure the allocation of functionality provides high cohesion, low coupling, strong separation of concerns, and low structural complexity.</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26139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34BC1583-2705-422B-BD23-5FB2B3A5A68F}"/>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A96DF3BE-EEBC-48EF-AD6B-6036044074F5}"/>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
        <p:nvSpPr>
          <p:cNvPr id="10" name="Title 1">
            <a:extLst>
              <a:ext uri="{FF2B5EF4-FFF2-40B4-BE49-F238E27FC236}">
                <a16:creationId xmlns:a16="http://schemas.microsoft.com/office/drawing/2014/main" id="{E8CC78AB-B2C6-801B-FFF9-B97182F70C52}"/>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graphicFrame>
        <p:nvGraphicFramePr>
          <p:cNvPr id="11" name="Content Placeholder 10">
            <a:extLst>
              <a:ext uri="{FF2B5EF4-FFF2-40B4-BE49-F238E27FC236}">
                <a16:creationId xmlns:a16="http://schemas.microsoft.com/office/drawing/2014/main" id="{DE0D94C0-4478-19AF-5A4A-0F6A16431EAA}"/>
              </a:ext>
            </a:extLst>
          </p:cNvPr>
          <p:cNvGraphicFramePr>
            <a:graphicFrameLocks noGrp="1"/>
          </p:cNvGraphicFramePr>
          <p:nvPr>
            <p:ph idx="1"/>
          </p:nvPr>
        </p:nvGraphicFramePr>
        <p:xfrm>
          <a:off x="304800" y="1493838"/>
          <a:ext cx="8534400" cy="3382962"/>
        </p:xfrm>
        <a:graphic>
          <a:graphicData uri="http://schemas.openxmlformats.org/drawingml/2006/table">
            <a:tbl>
              <a:tblPr firstRow="1" firstCol="1" bandRow="1">
                <a:tableStyleId>{5C22544A-7EE6-4342-B048-85BDC9FD1C3A}</a:tableStyleId>
              </a:tblPr>
              <a:tblGrid>
                <a:gridCol w="1751688">
                  <a:extLst>
                    <a:ext uri="{9D8B030D-6E8A-4147-A177-3AD203B41FA5}">
                      <a16:colId xmlns:a16="http://schemas.microsoft.com/office/drawing/2014/main" val="20000"/>
                    </a:ext>
                  </a:extLst>
                </a:gridCol>
                <a:gridCol w="6782712">
                  <a:extLst>
                    <a:ext uri="{9D8B030D-6E8A-4147-A177-3AD203B41FA5}">
                      <a16:colId xmlns:a16="http://schemas.microsoft.com/office/drawing/2014/main" val="20001"/>
                    </a:ext>
                  </a:extLst>
                </a:gridCol>
              </a:tblGrid>
              <a:tr h="3382962">
                <a:tc>
                  <a:txBody>
                    <a:bodyPr/>
                    <a:lstStyle/>
                    <a:p>
                      <a:pPr marL="0" marR="0">
                        <a:lnSpc>
                          <a:spcPct val="80000"/>
                        </a:lnSpc>
                        <a:spcBef>
                          <a:spcPts val="400"/>
                        </a:spcBef>
                        <a:spcAft>
                          <a:spcPts val="400"/>
                        </a:spcAft>
                      </a:pPr>
                      <a:r>
                        <a:rPr lang="en-US" sz="2000" dirty="0">
                          <a:effectLst/>
                        </a:rPr>
                        <a:t>Coordination Model</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the system’s coordination and communication mechanisms: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support the execution of a test suite and capture of the results within a system or between systems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support capturing activity that resulted in a fault within a system or between systems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support injection and monitoring of state into the communication channels for use in testing, within a system or between systems</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do not introduce needless non-determinism</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4231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278F3FBE-7AA2-405B-A8DD-5A3DC01A16C6}"/>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1AA3381A-985C-4DA0-9248-C925BA1602BC}"/>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
        <p:nvSpPr>
          <p:cNvPr id="10" name="Title 1">
            <a:extLst>
              <a:ext uri="{FF2B5EF4-FFF2-40B4-BE49-F238E27FC236}">
                <a16:creationId xmlns:a16="http://schemas.microsoft.com/office/drawing/2014/main" id="{CC7194AA-B7BE-EFE2-A623-894424F15B2D}"/>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graphicFrame>
        <p:nvGraphicFramePr>
          <p:cNvPr id="11" name="Content Placeholder 10">
            <a:extLst>
              <a:ext uri="{FF2B5EF4-FFF2-40B4-BE49-F238E27FC236}">
                <a16:creationId xmlns:a16="http://schemas.microsoft.com/office/drawing/2014/main" id="{0DD88712-5849-BF69-B904-CEC12480F500}"/>
              </a:ext>
            </a:extLst>
          </p:cNvPr>
          <p:cNvGraphicFramePr>
            <a:graphicFrameLocks noGrp="1"/>
          </p:cNvGraphicFramePr>
          <p:nvPr>
            <p:ph idx="1"/>
          </p:nvPr>
        </p:nvGraphicFramePr>
        <p:xfrm>
          <a:off x="304800" y="1493838"/>
          <a:ext cx="8610600" cy="3916362"/>
        </p:xfrm>
        <a:graphic>
          <a:graphicData uri="http://schemas.openxmlformats.org/drawingml/2006/table">
            <a:tbl>
              <a:tblPr firstRow="1" firstCol="1" bandRow="1">
                <a:tableStyleId>{5C22544A-7EE6-4342-B048-85BDC9FD1C3A}</a:tableStyleId>
              </a:tblPr>
              <a:tblGrid>
                <a:gridCol w="1579927">
                  <a:extLst>
                    <a:ext uri="{9D8B030D-6E8A-4147-A177-3AD203B41FA5}">
                      <a16:colId xmlns:a16="http://schemas.microsoft.com/office/drawing/2014/main" val="20000"/>
                    </a:ext>
                  </a:extLst>
                </a:gridCol>
                <a:gridCol w="7030673">
                  <a:extLst>
                    <a:ext uri="{9D8B030D-6E8A-4147-A177-3AD203B41FA5}">
                      <a16:colId xmlns:a16="http://schemas.microsoft.com/office/drawing/2014/main" val="20001"/>
                    </a:ext>
                  </a:extLst>
                </a:gridCol>
              </a:tblGrid>
              <a:tr h="3916362">
                <a:tc>
                  <a:txBody>
                    <a:bodyPr/>
                    <a:lstStyle/>
                    <a:p>
                      <a:pPr marL="0" marR="0">
                        <a:lnSpc>
                          <a:spcPct val="80000"/>
                        </a:lnSpc>
                        <a:spcBef>
                          <a:spcPts val="400"/>
                        </a:spcBef>
                        <a:spcAft>
                          <a:spcPts val="400"/>
                        </a:spcAft>
                      </a:pPr>
                      <a:r>
                        <a:rPr lang="en-US" sz="2000" dirty="0">
                          <a:effectLst/>
                        </a:rPr>
                        <a:t>Data Model</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the major data abstractions that must be tested to ensure the correct operation of the system.</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Ensure that it is possible to capture the values of instances of these data abstractions.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Ensure that the values of instances of these data abstractions can be set when state is injected into the system, so that system state leading to a fault may be re-created.</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Ensure that the creation, initialization, persistence, manipulation, translation, and destruction of instances of these data abstractions can be exercised and captured </a:t>
                      </a:r>
                    </a:p>
                    <a:p>
                      <a:pPr marL="0" marR="0">
                        <a:lnSpc>
                          <a:spcPts val="1450"/>
                        </a:lnSpc>
                        <a:spcBef>
                          <a:spcPts val="400"/>
                        </a:spcBef>
                        <a:spcAft>
                          <a:spcPts val="400"/>
                        </a:spcAft>
                      </a:pPr>
                      <a:r>
                        <a:rPr lang="en-US" sz="2000" dirty="0">
                          <a:effectLst/>
                        </a:rPr>
                        <a:t> </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982278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8BF5D9F-F7F3-4CB8-8F90-638C0415B6C6}"/>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graphicFrame>
        <p:nvGraphicFramePr>
          <p:cNvPr id="3" name="Table 2"/>
          <p:cNvGraphicFramePr>
            <a:graphicFrameLocks noGrp="1"/>
          </p:cNvGraphicFramePr>
          <p:nvPr/>
        </p:nvGraphicFramePr>
        <p:xfrm>
          <a:off x="611560" y="2564904"/>
          <a:ext cx="7920879" cy="2177455"/>
        </p:xfrm>
        <a:graphic>
          <a:graphicData uri="http://schemas.openxmlformats.org/drawingml/2006/table">
            <a:tbl>
              <a:tblPr firstRow="1" firstCol="1" bandRow="1">
                <a:tableStyleId>{5C22544A-7EE6-4342-B048-85BDC9FD1C3A}</a:tableStyleId>
              </a:tblPr>
              <a:tblGrid>
                <a:gridCol w="1904057">
                  <a:extLst>
                    <a:ext uri="{9D8B030D-6E8A-4147-A177-3AD203B41FA5}">
                      <a16:colId xmlns:a16="http://schemas.microsoft.com/office/drawing/2014/main" val="20000"/>
                    </a:ext>
                  </a:extLst>
                </a:gridCol>
                <a:gridCol w="6016822">
                  <a:extLst>
                    <a:ext uri="{9D8B030D-6E8A-4147-A177-3AD203B41FA5}">
                      <a16:colId xmlns:a16="http://schemas.microsoft.com/office/drawing/2014/main" val="20001"/>
                    </a:ext>
                  </a:extLst>
                </a:gridCol>
              </a:tblGrid>
              <a:tr h="2177455">
                <a:tc>
                  <a:txBody>
                    <a:bodyPr/>
                    <a:lstStyle/>
                    <a:p>
                      <a:pPr marL="0" marR="0">
                        <a:lnSpc>
                          <a:spcPct val="80000"/>
                        </a:lnSpc>
                        <a:spcBef>
                          <a:spcPts val="400"/>
                        </a:spcBef>
                        <a:spcAft>
                          <a:spcPts val="400"/>
                        </a:spcAft>
                      </a:pPr>
                      <a:r>
                        <a:rPr lang="en-US" sz="2000" dirty="0">
                          <a:effectLst/>
                        </a:rPr>
                        <a:t>Mapping Among Architectural Elements</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how to test the possible mappings of architectural elements (especially mappings of processes to processors, threads to processes, modules to components) so that the desired test response is achieved and potential race conditions identified.</a:t>
                      </a:r>
                    </a:p>
                    <a:p>
                      <a:pPr marL="0" marR="0">
                        <a:lnSpc>
                          <a:spcPct val="80000"/>
                        </a:lnSpc>
                        <a:spcBef>
                          <a:spcPts val="400"/>
                        </a:spcBef>
                        <a:spcAft>
                          <a:spcPts val="400"/>
                        </a:spcAft>
                      </a:pPr>
                      <a:r>
                        <a:rPr lang="en-US" sz="2000" dirty="0">
                          <a:effectLst/>
                        </a:rPr>
                        <a:t>In addition, determine whether it is possible to test for illegal mappings of architectural elements.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8" name="Date Placeholder 7">
            <a:extLst>
              <a:ext uri="{FF2B5EF4-FFF2-40B4-BE49-F238E27FC236}">
                <a16:creationId xmlns:a16="http://schemas.microsoft.com/office/drawing/2014/main" id="{8CE44B9C-DDAF-48E2-A926-6CF5F44F57CF}"/>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1E4319C6-FDF9-4786-A890-47591B141769}"/>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
        <p:nvSpPr>
          <p:cNvPr id="10" name="Title 1">
            <a:extLst>
              <a:ext uri="{FF2B5EF4-FFF2-40B4-BE49-F238E27FC236}">
                <a16:creationId xmlns:a16="http://schemas.microsoft.com/office/drawing/2014/main" id="{CDC4F17D-A285-99B6-4098-CFFB212F601C}"/>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spTree>
    <p:extLst>
      <p:ext uri="{BB962C8B-B14F-4D97-AF65-F5344CB8AC3E}">
        <p14:creationId xmlns:p14="http://schemas.microsoft.com/office/powerpoint/2010/main" val="3613451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85215F3C-6934-4359-A366-36A355515758}"/>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B2F38B71-E666-4FBC-9351-6F487DDEC0E3}"/>
              </a:ext>
            </a:extLst>
          </p:cNvPr>
          <p:cNvSpPr>
            <a:spLocks noGrp="1"/>
          </p:cNvSpPr>
          <p:nvPr>
            <p:ph type="sldNum" sz="quarter" idx="14"/>
          </p:nvPr>
        </p:nvSpPr>
        <p:spPr/>
        <p:txBody>
          <a:bodyPr/>
          <a:lstStyle/>
          <a:p>
            <a:fld id="{BC8D7E44-7D4F-4942-A8C9-2DF6BF8399E8}" type="slidenum">
              <a:rPr lang="en-US" smtClean="0"/>
              <a:pPr/>
              <a:t>39</a:t>
            </a:fld>
            <a:endParaRPr lang="en-US" dirty="0"/>
          </a:p>
        </p:txBody>
      </p:sp>
      <p:graphicFrame>
        <p:nvGraphicFramePr>
          <p:cNvPr id="10" name="Content Placeholder 9">
            <a:extLst>
              <a:ext uri="{FF2B5EF4-FFF2-40B4-BE49-F238E27FC236}">
                <a16:creationId xmlns:a16="http://schemas.microsoft.com/office/drawing/2014/main" id="{2B23BA96-EE3B-E68E-BC9F-1B46A2A0DC03}"/>
              </a:ext>
            </a:extLst>
          </p:cNvPr>
          <p:cNvGraphicFramePr>
            <a:graphicFrameLocks noGrp="1"/>
          </p:cNvGraphicFramePr>
          <p:nvPr>
            <p:ph idx="1"/>
          </p:nvPr>
        </p:nvGraphicFramePr>
        <p:xfrm>
          <a:off x="304800" y="1493838"/>
          <a:ext cx="8458200" cy="4144962"/>
        </p:xfrm>
        <a:graphic>
          <a:graphicData uri="http://schemas.openxmlformats.org/drawingml/2006/table">
            <a:tbl>
              <a:tblPr firstRow="1" firstCol="1" bandRow="1">
                <a:tableStyleId>{5C22544A-7EE6-4342-B048-85BDC9FD1C3A}</a:tableStyleId>
              </a:tblPr>
              <a:tblGrid>
                <a:gridCol w="1707160">
                  <a:extLst>
                    <a:ext uri="{9D8B030D-6E8A-4147-A177-3AD203B41FA5}">
                      <a16:colId xmlns:a16="http://schemas.microsoft.com/office/drawing/2014/main" val="20000"/>
                    </a:ext>
                  </a:extLst>
                </a:gridCol>
                <a:gridCol w="6751040">
                  <a:extLst>
                    <a:ext uri="{9D8B030D-6E8A-4147-A177-3AD203B41FA5}">
                      <a16:colId xmlns:a16="http://schemas.microsoft.com/office/drawing/2014/main" val="20001"/>
                    </a:ext>
                  </a:extLst>
                </a:gridCol>
              </a:tblGrid>
              <a:tr h="4144962">
                <a:tc>
                  <a:txBody>
                    <a:bodyPr/>
                    <a:lstStyle/>
                    <a:p>
                      <a:pPr marL="0" marR="0">
                        <a:lnSpc>
                          <a:spcPct val="80000"/>
                        </a:lnSpc>
                        <a:spcBef>
                          <a:spcPts val="400"/>
                        </a:spcBef>
                        <a:spcAft>
                          <a:spcPts val="400"/>
                        </a:spcAft>
                      </a:pPr>
                      <a:r>
                        <a:rPr lang="en-US" sz="2000" dirty="0">
                          <a:effectLst/>
                        </a:rPr>
                        <a:t>Resource Management</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there are sufficient resources available to execute a test suite and capture the results. </a:t>
                      </a:r>
                    </a:p>
                    <a:p>
                      <a:pPr marL="0" marR="0">
                        <a:lnSpc>
                          <a:spcPct val="80000"/>
                        </a:lnSpc>
                        <a:spcBef>
                          <a:spcPts val="400"/>
                        </a:spcBef>
                        <a:spcAft>
                          <a:spcPts val="400"/>
                        </a:spcAft>
                      </a:pPr>
                      <a:r>
                        <a:rPr lang="en-US" sz="2000" dirty="0">
                          <a:effectLst/>
                        </a:rPr>
                        <a:t>Ensure that your test environment is representative of (or better yet, identical to) the environment in which the system will run.   </a:t>
                      </a:r>
                    </a:p>
                    <a:p>
                      <a:pPr marL="0" marR="0">
                        <a:lnSpc>
                          <a:spcPct val="80000"/>
                        </a:lnSpc>
                        <a:spcBef>
                          <a:spcPts val="400"/>
                        </a:spcBef>
                        <a:spcAft>
                          <a:spcPts val="400"/>
                        </a:spcAft>
                      </a:pPr>
                      <a:r>
                        <a:rPr lang="en-US" sz="2000" dirty="0">
                          <a:effectLst/>
                        </a:rPr>
                        <a:t>Ensure that the system provides the means to:</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test resource limits </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capture detailed resource usage for analysis in the event of a failure</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inject new resources limits into the system for the purposes of testing</a:t>
                      </a:r>
                    </a:p>
                    <a:p>
                      <a:pPr marL="342900" marR="0" lvl="0" indent="-342900">
                        <a:lnSpc>
                          <a:spcPct val="80000"/>
                        </a:lnSpc>
                        <a:spcBef>
                          <a:spcPts val="100"/>
                        </a:spcBef>
                        <a:spcAft>
                          <a:spcPts val="300"/>
                        </a:spcAft>
                        <a:buSzPts val="800"/>
                        <a:buFont typeface="Symbol"/>
                        <a:buChar char=""/>
                        <a:tabLst>
                          <a:tab pos="228600" algn="l"/>
                          <a:tab pos="274320" algn="l"/>
                        </a:tabLst>
                      </a:pPr>
                      <a:r>
                        <a:rPr lang="en-US" sz="2000" kern="1100" dirty="0">
                          <a:effectLst/>
                        </a:rPr>
                        <a:t>provide virtualized resources for testing</a:t>
                      </a:r>
                      <a:endParaRPr lang="en-US" sz="2000" kern="11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bl>
          </a:graphicData>
        </a:graphic>
      </p:graphicFrame>
      <p:sp>
        <p:nvSpPr>
          <p:cNvPr id="11" name="Title 1">
            <a:extLst>
              <a:ext uri="{FF2B5EF4-FFF2-40B4-BE49-F238E27FC236}">
                <a16:creationId xmlns:a16="http://schemas.microsoft.com/office/drawing/2014/main" id="{CE0416A0-F66D-BE78-AB31-2DA4E2BE1BD6}"/>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spTree>
    <p:extLst>
      <p:ext uri="{BB962C8B-B14F-4D97-AF65-F5344CB8AC3E}">
        <p14:creationId xmlns:p14="http://schemas.microsoft.com/office/powerpoint/2010/main" val="42882718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75DEC507-2A64-47C9-8AD7-300885DCEC53}"/>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E75F339B-D20A-4066-BDB4-A65900DC5301}"/>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
        <p:nvSpPr>
          <p:cNvPr id="10" name="Title 1">
            <a:extLst>
              <a:ext uri="{FF2B5EF4-FFF2-40B4-BE49-F238E27FC236}">
                <a16:creationId xmlns:a16="http://schemas.microsoft.com/office/drawing/2014/main" id="{D5614A07-8A81-0DC0-A82A-9CAFC98BB4CC}"/>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graphicFrame>
        <p:nvGraphicFramePr>
          <p:cNvPr id="11" name="Content Placeholder 10">
            <a:extLst>
              <a:ext uri="{FF2B5EF4-FFF2-40B4-BE49-F238E27FC236}">
                <a16:creationId xmlns:a16="http://schemas.microsoft.com/office/drawing/2014/main" id="{F32E9456-1F42-3728-8D37-DFA827AC3A4F}"/>
              </a:ext>
            </a:extLst>
          </p:cNvPr>
          <p:cNvGraphicFramePr>
            <a:graphicFrameLocks noGrp="1"/>
          </p:cNvGraphicFramePr>
          <p:nvPr>
            <p:ph idx="1"/>
          </p:nvPr>
        </p:nvGraphicFramePr>
        <p:xfrm>
          <a:off x="304800" y="1493838"/>
          <a:ext cx="8534400" cy="3459162"/>
        </p:xfrm>
        <a:graphic>
          <a:graphicData uri="http://schemas.openxmlformats.org/drawingml/2006/table">
            <a:tbl>
              <a:tblPr firstRow="1" firstCol="1" bandRow="1">
                <a:tableStyleId>{5C22544A-7EE6-4342-B048-85BDC9FD1C3A}</a:tableStyleId>
              </a:tblPr>
              <a:tblGrid>
                <a:gridCol w="1185333">
                  <a:extLst>
                    <a:ext uri="{9D8B030D-6E8A-4147-A177-3AD203B41FA5}">
                      <a16:colId xmlns:a16="http://schemas.microsoft.com/office/drawing/2014/main" val="20000"/>
                    </a:ext>
                  </a:extLst>
                </a:gridCol>
                <a:gridCol w="7349067">
                  <a:extLst>
                    <a:ext uri="{9D8B030D-6E8A-4147-A177-3AD203B41FA5}">
                      <a16:colId xmlns:a16="http://schemas.microsoft.com/office/drawing/2014/main" val="20001"/>
                    </a:ext>
                  </a:extLst>
                </a:gridCol>
              </a:tblGrid>
              <a:tr h="3459162">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Ensure that components that are bound later than compile time can be tested in the late bound context. </a:t>
                      </a:r>
                    </a:p>
                    <a:p>
                      <a:pPr marL="0" marR="0">
                        <a:lnSpc>
                          <a:spcPct val="80000"/>
                        </a:lnSpc>
                        <a:spcBef>
                          <a:spcPts val="400"/>
                        </a:spcBef>
                        <a:spcAft>
                          <a:spcPts val="400"/>
                        </a:spcAft>
                      </a:pPr>
                      <a:r>
                        <a:rPr lang="en-US" sz="2000" dirty="0">
                          <a:effectLst/>
                        </a:rPr>
                        <a:t>Ensure that late bindings can be captured in the event of a failure, so that you can re-create the system’s state leading to the failure.  </a:t>
                      </a:r>
                    </a:p>
                    <a:p>
                      <a:pPr marL="0" marR="0">
                        <a:lnSpc>
                          <a:spcPct val="80000"/>
                        </a:lnSpc>
                        <a:spcBef>
                          <a:spcPts val="400"/>
                        </a:spcBef>
                        <a:spcAft>
                          <a:spcPts val="400"/>
                        </a:spcAft>
                      </a:pPr>
                      <a:r>
                        <a:rPr lang="en-US" sz="2000" dirty="0">
                          <a:effectLst/>
                        </a:rPr>
                        <a:t>Ensure that the full range of binding possibilities can be tested.</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15370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8" name="Date Placeholder 7">
            <a:extLst>
              <a:ext uri="{FF2B5EF4-FFF2-40B4-BE49-F238E27FC236}">
                <a16:creationId xmlns:a16="http://schemas.microsoft.com/office/drawing/2014/main" id="{74FAFE0B-B1DA-449A-8AE7-71590E1C6812}"/>
              </a:ext>
            </a:extLst>
          </p:cNvPr>
          <p:cNvSpPr>
            <a:spLocks noGrp="1"/>
          </p:cNvSpPr>
          <p:nvPr>
            <p:ph type="dt" sz="half" idx="12"/>
          </p:nvPr>
        </p:nvSpPr>
        <p:spPr/>
        <p:txBody>
          <a:bodyPr/>
          <a:lstStyle/>
          <a:p>
            <a:r>
              <a:rPr lang="en-US"/>
              <a:t>August 16, 2026</a:t>
            </a:r>
          </a:p>
        </p:txBody>
      </p:sp>
      <p:sp>
        <p:nvSpPr>
          <p:cNvPr id="9" name="Slide Number Placeholder 8">
            <a:extLst>
              <a:ext uri="{FF2B5EF4-FFF2-40B4-BE49-F238E27FC236}">
                <a16:creationId xmlns:a16="http://schemas.microsoft.com/office/drawing/2014/main" id="{AFCA8C19-59D7-4BE3-9B1D-D762E1DCF772}"/>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
        <p:nvSpPr>
          <p:cNvPr id="10" name="Title 1">
            <a:extLst>
              <a:ext uri="{FF2B5EF4-FFF2-40B4-BE49-F238E27FC236}">
                <a16:creationId xmlns:a16="http://schemas.microsoft.com/office/drawing/2014/main" id="{B8896BC2-E066-CE76-21C7-962F4C004B49}"/>
              </a:ext>
            </a:extLst>
          </p:cNvPr>
          <p:cNvSpPr>
            <a:spLocks noGrp="1"/>
          </p:cNvSpPr>
          <p:nvPr>
            <p:ph sz="quarter" idx="10"/>
          </p:nvPr>
        </p:nvSpPr>
        <p:spPr>
          <a:xfrm>
            <a:off x="304800" y="152400"/>
            <a:ext cx="6324600" cy="1143000"/>
          </a:xfrm>
        </p:spPr>
        <p:txBody>
          <a:bodyPr>
            <a:normAutofit/>
          </a:bodyPr>
          <a:lstStyle/>
          <a:p>
            <a:r>
              <a:rPr lang="en-US" dirty="0"/>
              <a:t>Design Checklist for Testability</a:t>
            </a:r>
          </a:p>
        </p:txBody>
      </p:sp>
      <p:graphicFrame>
        <p:nvGraphicFramePr>
          <p:cNvPr id="11" name="Content Placeholder 10">
            <a:extLst>
              <a:ext uri="{FF2B5EF4-FFF2-40B4-BE49-F238E27FC236}">
                <a16:creationId xmlns:a16="http://schemas.microsoft.com/office/drawing/2014/main" id="{57FDAE86-4DDF-F00E-CB7C-86E232579B8B}"/>
              </a:ext>
            </a:extLst>
          </p:cNvPr>
          <p:cNvGraphicFramePr>
            <a:graphicFrameLocks noGrp="1"/>
          </p:cNvGraphicFramePr>
          <p:nvPr>
            <p:ph idx="1"/>
          </p:nvPr>
        </p:nvGraphicFramePr>
        <p:xfrm>
          <a:off x="304800" y="1493838"/>
          <a:ext cx="8534400" cy="3763962"/>
        </p:xfrm>
        <a:graphic>
          <a:graphicData uri="http://schemas.openxmlformats.org/drawingml/2006/table">
            <a:tbl>
              <a:tblPr firstRow="1" firstCol="1" bandRow="1">
                <a:tableStyleId>{5C22544A-7EE6-4342-B048-85BDC9FD1C3A}</a:tableStyleId>
              </a:tblPr>
              <a:tblGrid>
                <a:gridCol w="1629272">
                  <a:extLst>
                    <a:ext uri="{9D8B030D-6E8A-4147-A177-3AD203B41FA5}">
                      <a16:colId xmlns:a16="http://schemas.microsoft.com/office/drawing/2014/main" val="20000"/>
                    </a:ext>
                  </a:extLst>
                </a:gridCol>
                <a:gridCol w="6905128">
                  <a:extLst>
                    <a:ext uri="{9D8B030D-6E8A-4147-A177-3AD203B41FA5}">
                      <a16:colId xmlns:a16="http://schemas.microsoft.com/office/drawing/2014/main" val="20001"/>
                    </a:ext>
                  </a:extLst>
                </a:gridCol>
              </a:tblGrid>
              <a:tr h="3763962">
                <a:tc>
                  <a:txBody>
                    <a:bodyPr/>
                    <a:lstStyle/>
                    <a:p>
                      <a:pPr marL="0" marR="0">
                        <a:lnSpc>
                          <a:spcPct val="80000"/>
                        </a:lnSpc>
                        <a:spcBef>
                          <a:spcPts val="400"/>
                        </a:spcBef>
                        <a:spcAft>
                          <a:spcPts val="400"/>
                        </a:spcAft>
                      </a:pPr>
                      <a:r>
                        <a:rPr lang="en-US" sz="2000" dirty="0">
                          <a:effectLst/>
                        </a:rPr>
                        <a:t>Choice of Technology</a:t>
                      </a:r>
                      <a:endParaRPr lang="en-US" sz="2000" dirty="0">
                        <a:effectLst/>
                        <a:latin typeface="Times"/>
                        <a:ea typeface="Times New Roman"/>
                        <a:cs typeface="Times New Roman"/>
                      </a:endParaRPr>
                    </a:p>
                  </a:txBody>
                  <a:tcPr marL="68580" marR="68580" marT="0" marB="0"/>
                </a:tc>
                <a:tc>
                  <a:txBody>
                    <a:bodyPr/>
                    <a:lstStyle/>
                    <a:p>
                      <a:pPr marL="0" marR="0">
                        <a:lnSpc>
                          <a:spcPct val="80000"/>
                        </a:lnSpc>
                        <a:spcBef>
                          <a:spcPts val="400"/>
                        </a:spcBef>
                        <a:spcAft>
                          <a:spcPts val="400"/>
                        </a:spcAft>
                      </a:pPr>
                      <a:r>
                        <a:rPr lang="en-US" sz="2000" dirty="0">
                          <a:effectLst/>
                        </a:rPr>
                        <a:t>Determine what technologies are available to help achieve the testability scenarios that apply to your architecture.  Are technologies available to help with regression testing, fault injection, recording and playback, and so on?</a:t>
                      </a:r>
                    </a:p>
                    <a:p>
                      <a:pPr marL="0" marR="0">
                        <a:lnSpc>
                          <a:spcPct val="80000"/>
                        </a:lnSpc>
                        <a:spcBef>
                          <a:spcPts val="400"/>
                        </a:spcBef>
                        <a:spcAft>
                          <a:spcPts val="400"/>
                        </a:spcAft>
                      </a:pPr>
                      <a:r>
                        <a:rPr lang="en-US" sz="2000" dirty="0">
                          <a:effectLst/>
                        </a:rPr>
                        <a:t>Determine how testable the technologies are that you have chosen (or are considering choosing in the future) and ensure that your chosen technologies support the level of testing appropriate for your system. For example, if your chosen technologies do not make it possible to inject state, it may be difficult to re-create fault scenarios.</a:t>
                      </a:r>
                      <a:endParaRPr lang="en-US" sz="2000" dirty="0">
                        <a:effectLst/>
                        <a:latin typeface="Times"/>
                        <a:ea typeface="Times New Roman"/>
                        <a:cs typeface="Times New Roman"/>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74251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Ensuring that a system is easily testable has payoffs both in terms of the cost of testing and the reliability of the system</a:t>
            </a:r>
            <a:r>
              <a:rPr lang="x-none" dirty="0"/>
              <a:t>.</a:t>
            </a:r>
            <a:endParaRPr lang="en-US" dirty="0"/>
          </a:p>
          <a:p>
            <a:pPr>
              <a:buFont typeface="Arial" panose="020B0604020202020204" pitchFamily="34" charset="0"/>
              <a:buChar char="•"/>
            </a:pPr>
            <a:r>
              <a:rPr lang="en-US" dirty="0"/>
              <a:t>Controlling and observing the system state are a major class of testability tactics.</a:t>
            </a:r>
          </a:p>
          <a:p>
            <a:pPr>
              <a:buFont typeface="Arial" panose="020B0604020202020204" pitchFamily="34" charset="0"/>
              <a:buChar char="•"/>
            </a:pPr>
            <a:r>
              <a:rPr lang="en-US" dirty="0"/>
              <a:t>Complex systems are difficult to test because of the large state space in which their computations take place, and because of the larger number of interconnections among the elements of the system. Consequently, keeping the system simple is another class of tactics that supports testability.</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Footer Placeholder 3"/>
          <p:cNvSpPr>
            <a:spLocks noGrp="1"/>
          </p:cNvSpPr>
          <p:nvPr>
            <p:ph type="ftr" sz="quarter" idx="13"/>
          </p:nvPr>
        </p:nvSpPr>
        <p:spPr/>
        <p:txBody>
          <a:bodyPr/>
          <a:lstStyle/>
          <a:p>
            <a:r>
              <a:rPr lang="en-AU"/>
              <a:t>SSZG653 Software Architectures</a:t>
            </a:r>
            <a:endParaRPr lang="en-AU" dirty="0"/>
          </a:p>
        </p:txBody>
      </p:sp>
      <p:sp>
        <p:nvSpPr>
          <p:cNvPr id="7" name="Date Placeholder 6">
            <a:extLst>
              <a:ext uri="{FF2B5EF4-FFF2-40B4-BE49-F238E27FC236}">
                <a16:creationId xmlns:a16="http://schemas.microsoft.com/office/drawing/2014/main" id="{0B13D4B5-83A8-4E97-866C-DA94B3B2FDCA}"/>
              </a:ext>
            </a:extLst>
          </p:cNvPr>
          <p:cNvSpPr>
            <a:spLocks noGrp="1"/>
          </p:cNvSpPr>
          <p:nvPr>
            <p:ph type="dt" sz="half" idx="12"/>
          </p:nvPr>
        </p:nvSpPr>
        <p:spPr/>
        <p:txBody>
          <a:bodyPr/>
          <a:lstStyle/>
          <a:p>
            <a:r>
              <a:rPr lang="en-US"/>
              <a:t>August 16, 2026</a:t>
            </a:r>
          </a:p>
        </p:txBody>
      </p:sp>
      <p:sp>
        <p:nvSpPr>
          <p:cNvPr id="8" name="Slide Number Placeholder 7">
            <a:extLst>
              <a:ext uri="{FF2B5EF4-FFF2-40B4-BE49-F238E27FC236}">
                <a16:creationId xmlns:a16="http://schemas.microsoft.com/office/drawing/2014/main" id="{2B6FE06C-9303-464F-BF4F-63637C657D28}"/>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
        <p:nvSpPr>
          <p:cNvPr id="9" name="Title 1">
            <a:extLst>
              <a:ext uri="{FF2B5EF4-FFF2-40B4-BE49-F238E27FC236}">
                <a16:creationId xmlns:a16="http://schemas.microsoft.com/office/drawing/2014/main" id="{D43783B3-7583-E395-E098-D98CCE72FD58}"/>
              </a:ext>
            </a:extLst>
          </p:cNvPr>
          <p:cNvSpPr>
            <a:spLocks noGrp="1"/>
          </p:cNvSpPr>
          <p:nvPr>
            <p:ph sz="quarter" idx="10"/>
          </p:nvPr>
        </p:nvSpPr>
        <p:spPr>
          <a:xfrm>
            <a:off x="304800" y="152400"/>
            <a:ext cx="6324600" cy="1143000"/>
          </a:xfrm>
        </p:spPr>
        <p:txBody>
          <a:bodyPr/>
          <a:lstStyle/>
          <a:p>
            <a:r>
              <a:rPr lang="en-US" dirty="0"/>
              <a:t>Summary</a:t>
            </a:r>
          </a:p>
        </p:txBody>
      </p:sp>
    </p:spTree>
    <p:extLst>
      <p:ext uri="{BB962C8B-B14F-4D97-AF65-F5344CB8AC3E}">
        <p14:creationId xmlns:p14="http://schemas.microsoft.com/office/powerpoint/2010/main" val="642860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4BFFE7-F8B7-4072-AE29-BEBC25C67F05}"/>
</file>

<file path=customXml/itemProps2.xml><?xml version="1.0" encoding="utf-8"?>
<ds:datastoreItem xmlns:ds="http://schemas.openxmlformats.org/officeDocument/2006/customXml" ds:itemID="{E2828CC3-D2DF-48D9-AFDB-E43F30DCCE42}"/>
</file>

<file path=customXml/itemProps3.xml><?xml version="1.0" encoding="utf-8"?>
<ds:datastoreItem xmlns:ds="http://schemas.openxmlformats.org/officeDocument/2006/customXml" ds:itemID="{C6DFAAFB-605E-40FF-94A7-E5DCB23F82AD}"/>
</file>

<file path=docProps/app.xml><?xml version="1.0" encoding="utf-8"?>
<Properties xmlns="http://schemas.openxmlformats.org/officeDocument/2006/extended-properties" xmlns:vt="http://schemas.openxmlformats.org/officeDocument/2006/docPropsVTypes">
  <Template/>
  <TotalTime>114</TotalTime>
  <Words>2827</Words>
  <Application>Microsoft Office PowerPoint</Application>
  <PresentationFormat>On-screen Show (4:3)</PresentationFormat>
  <Paragraphs>336</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Symbol</vt:lpstr>
      <vt:lpstr>Times</vt:lpstr>
      <vt:lpstr>Times New Roman</vt:lpstr>
      <vt:lpstr>Wingdings</vt:lpstr>
      <vt:lpstr>Office Theme</vt:lpstr>
      <vt:lpstr>SEZG651/ SSZG653  Software Architectures  CS03 Quality Attributes 2 of 2</vt:lpstr>
      <vt:lpstr>Interoperability Module 2 – L3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19</cp:revision>
  <dcterms:created xsi:type="dcterms:W3CDTF">2025-07-25T12:09:13Z</dcterms:created>
  <dcterms:modified xsi:type="dcterms:W3CDTF">2026-08-16T09:13:18Z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