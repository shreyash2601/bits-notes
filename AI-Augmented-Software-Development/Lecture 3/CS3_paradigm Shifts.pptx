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311" r:id="rId2"/>
    <p:sldId id="312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55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28" r:id="rId20"/>
    <p:sldId id="26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71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6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366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04188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8-01T14:10:26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3810 7673 0,'106'0'172,"300"0"-141,34 0 0,-263 0-15,-124 0-16,141-18 16,88-17 46,-141 35-46,53-18 31,-123 18-32,-54 0-15,36 0 16,53-17-1,-53 17 1,71 0 0,-54 0-1,1 0 1,-18 0 0,-18 0-16,71 0 31,-89 0-31,89 0 31,-18 0-15,-35 0-1,0 0 1,0 0 0,18 0-1,17 0 1,-53 0-1,36 0 1,-18 0 0,-1 0 15,37 0 0,34 0 0,18 0-15,-88 0 0,53 0-1,106 0 1,-124 0 0,106 0-1,-124 0-15,177 0 16,53 0-1,-229 0-15,105 17 16,71-17 0,106 0-1,35 0 17,-300 0-32,336 0 15,105 36 16,-265-36-15,107 17 0,-54-17-1,1 18 1,-54-18 0,124 18-1,-158-1 1,17 1-1,0-1 1,-18 1 0,282 0-1,-352-1 1,-18-17 0,-88 0-16,159 18 15,-89 0 1,54-1-1,-19-17 1,19 0 0,-89 0-1,0 0-15,36 0 16,-19 0 0,19 0-1,-36 0 1,-35 0-16,88 0 15,-35 0 1,18 0 0,52 0-1,-123 0 1,70 0 0,71-17-1,-70 17 16,-71 0-15,-18 0-16,0 0 16,18 0-1</inkml:trace>
  <inkml:trace contextRef="#ctx0" brushRef="#br0" timeOffset="8235.82">4568 9013 0,'36'0'78,"34"0"-62,177 0 31,476 0-16,689 0 16,-777 0-16,-388 0-15,-53 0-1,423 0 17,-388 0-17,18 0 1,-53 18 0,-106-18-1,230 0 16,-212 0-15,17 0 0,54 0-1,-72 0 1,19 0 0,-71 0-16,-18 0 15,36 0 1,52 0-1,-88 0 1,18 0 0,-17 0 15</inkml:trace>
  <inkml:trace contextRef="#ctx0" brushRef="#br0" timeOffset="78450.42">4233 6509 0,'-88'0'172,"35"0"-156,0 0-16,-141 0 31,36 0 0,16 0 16,89 0-31,18 0 15,18 0 0,17 17 94,-53 54-93,53-36-17,-18 36 1,0-18 0,-17 123 30,17-52-30,1-1 0,-18-70-16,35 0 15,-18 35 1,18-35-16,-35 70 16,17-17-1,0-18 1,1 54-1,17-125-15,0 160 16,0-89 0,0 18-1,0 35 17,0 35-17,0-17 16,0-18-15,0-18 0,0 54-1,0-107-15,0 36 16,0 53 0,0 17-1,0 1 1,17-89-16,-17 88 15,18 1 1,0-89 0,17 318-1,-17-301 1,-1 142 0,36 71 30,-53-177-30,18-88-16,-18 70 16,17 1-1,-17-36 1,0 36 0,0-72-16,0 1 15,0 0-15,0 53 16,0-18-1,0 18 1,18 18 15,-18-89-31,0 88 16,18-17 15,-18-53-15,35 88 15,-17-105-15,17 16-1,0-16 17,-17-19-17,17 19 1,53-1 15,-17 0-31,52 0 16,1 18 15,52-35-15,-123 0-16,53-1 31,-36-17-16,1 18 1,0 0 0,-36-18-1,18 0 1,-36 0 0,1 0-1,0 0 16,-1 0-15</inkml:trace>
  <inkml:trace contextRef="#ctx0" brushRef="#br0" timeOffset="79829.08">4145 6209 0,'35'35'78,"-17"-17"-62,35-1 15,-53 19 110,0-1-125,0 0-16,-18-17 15,1 35 1,-1-36-16,18 19 15,-35-19 1,35 1 0,0 0 15,0-1-15,-18 1 15,18 0 16</inkml:trace>
  <inkml:trace contextRef="#ctx0" brushRef="#br0" timeOffset="81315.13">4833 13406 0,'0'52'157,"35"1"-126,-17-35-31,-18 35 16,18-53-1,-18 35 16,0 18 1,0-35-17,0-1 1,0 1 0,-18-18-1,18 18 1,-18-18-1,18 17 48,71 19-32,-18-19-15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8/8/2026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9" r:id="rId4"/>
    <p:sldLayoutId id="2147483660" r:id="rId5"/>
    <p:sldLayoutId id="2147483661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3 </a:t>
            </a:r>
            <a:r>
              <a:rPr lang="en-US" dirty="0">
                <a:latin typeface="Arial" charset="0"/>
                <a:cs typeface="Arial" charset="0"/>
              </a:rPr>
              <a:t>- </a:t>
            </a:r>
            <a:r>
              <a:rPr lang="en-IN" sz="3600" dirty="0"/>
              <a:t>Foundations and Paradigm Shift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5FEFDC-1BCF-4DCC-0123-8351066F3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61DA4-2767-F2F1-3133-6403482EB80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List the major shifts in SE?</a:t>
            </a:r>
          </a:p>
          <a:p>
            <a:endParaRPr lang="en-US" dirty="0"/>
          </a:p>
          <a:p>
            <a:pPr lvl="0"/>
            <a:r>
              <a:rPr lang="en-US" dirty="0"/>
              <a:t>Dev effort is no longer the bottleneck,</a:t>
            </a:r>
          </a:p>
          <a:p>
            <a:pPr lvl="0"/>
            <a:r>
              <a:rPr lang="en-US" dirty="0"/>
              <a:t>Roles are less siloed (spec author, reviewer, operator blur),</a:t>
            </a:r>
          </a:p>
          <a:p>
            <a:pPr lvl="0"/>
            <a:r>
              <a:rPr lang="en-US" dirty="0"/>
              <a:t>Decisions are less "hard to change" since regenerating code is cheap,</a:t>
            </a:r>
          </a:p>
          <a:p>
            <a:pPr lvl="0"/>
            <a:r>
              <a:rPr lang="en-US" dirty="0"/>
              <a:t>Accountability is foggier when AI authors artefacts,</a:t>
            </a:r>
          </a:p>
          <a:p>
            <a:pPr lvl="0"/>
            <a:r>
              <a:rPr lang="en-US" dirty="0"/>
              <a:t>Outcomes are probabilistic, not guaranteed.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7B6DF3-60DC-3B86-AF48-04FCA1DA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 and 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D0B6ED-2816-C4E8-9B22-DB96BD11C37B}"/>
                  </a:ext>
                </a:extLst>
              </p14:cNvPr>
              <p14:cNvContentPartPr/>
              <p14:nvPr/>
            </p14:nvContentPartPr>
            <p14:xfrm>
              <a:off x="1130400" y="2235240"/>
              <a:ext cx="5232600" cy="2737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D0B6ED-2816-C4E8-9B22-DB96BD11C3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1040" y="2225880"/>
                <a:ext cx="5251320" cy="27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31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3C186-F9ED-EBE0-69A4-6352D3EC4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87BE1-E2DC-CECF-D075-F5950703806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Earlier, scarcity of dev effort drove practices like MVP scope-cutting, UX-first design, and rigorous prioritization. If implementation effort drops near zero, how should you think about Software Engineering now?</a:t>
            </a:r>
          </a:p>
          <a:p>
            <a:endParaRPr lang="en-US" dirty="0"/>
          </a:p>
          <a:p>
            <a:r>
              <a:rPr lang="en-US" dirty="0"/>
              <a:t>Example 1: MVP Scope-Cutting vs. Parallel Exploratory Prototypes</a:t>
            </a:r>
          </a:p>
          <a:p>
            <a:r>
              <a:rPr lang="en-US" dirty="0"/>
              <a:t>Example 2: Design Docs for Human Coordination vs. Design Docs as Machine Specifications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DFFC51-15A5-018A-1B3A-FE7D2CA1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1: Dev effort is no longer the bottleneck</a:t>
            </a:r>
          </a:p>
        </p:txBody>
      </p:sp>
    </p:spTree>
    <p:extLst>
      <p:ext uri="{BB962C8B-B14F-4D97-AF65-F5344CB8AC3E}">
        <p14:creationId xmlns:p14="http://schemas.microsoft.com/office/powerpoint/2010/main" val="157331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2DE1B8-6DCA-0887-A825-2D06399CA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D58EA-9492-49F4-72E9-64E7F0090F9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Earlier, clear handoffs defined roles (PM writes PRD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Dev writes code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QA tests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SRE deploys). How should you think about job roles and team structures now?</a:t>
            </a:r>
          </a:p>
          <a:p>
            <a:endParaRPr lang="en-US" dirty="0"/>
          </a:p>
          <a:p>
            <a:r>
              <a:rPr lang="en-US" dirty="0"/>
              <a:t>Example 1: The Product Manager / Developer Blur or The Developer / QA / SRE Blur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760EAE-3F15-3220-4B68-DDF32A6C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2: Roles are less siloed</a:t>
            </a:r>
          </a:p>
        </p:txBody>
      </p:sp>
    </p:spTree>
    <p:extLst>
      <p:ext uri="{BB962C8B-B14F-4D97-AF65-F5344CB8AC3E}">
        <p14:creationId xmlns:p14="http://schemas.microsoft.com/office/powerpoint/2010/main" val="426018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6897-B17B-D2D4-1574-4D8F37DE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73CA23-B0BC-BF05-DFAE-9017D908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C8EC4-C26E-AB56-936F-3700FF39019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Earlier, architectural decisions were treated as one-way doors because refactoring took months. How should you think about software architecture when code regeneration is virtually free?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 1:The Rise of "Disposable Microservices“</a:t>
            </a:r>
          </a:p>
          <a:p>
            <a:endParaRPr lang="en-US" dirty="0"/>
          </a:p>
          <a:p>
            <a:r>
              <a:rPr lang="en-US" dirty="0"/>
              <a:t>Code is now an abundant, disposable commodity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76D16A-3F86-5634-434E-D4C1E537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3: Decisions are less "hard to change"</a:t>
            </a:r>
          </a:p>
        </p:txBody>
      </p:sp>
    </p:spTree>
    <p:extLst>
      <p:ext uri="{BB962C8B-B14F-4D97-AF65-F5344CB8AC3E}">
        <p14:creationId xmlns:p14="http://schemas.microsoft.com/office/powerpoint/2010/main" val="156384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76BE-1604-C84B-B80A-B893DD2B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88BB29-45AC-FAD2-DFA8-385B3ABBE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371C9-5075-8CC1-574F-B2FEAEAE8CF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"Earlier, 'You built it, you run it' established clear human accountability. When AI generates 80% of code, tests, and PRDs, who is accountable when things break, and how do we enforce governance?“</a:t>
            </a:r>
          </a:p>
          <a:p>
            <a:endParaRPr lang="en-US" dirty="0"/>
          </a:p>
          <a:p>
            <a:r>
              <a:rPr lang="en-US" dirty="0"/>
              <a:t>Example 1: The Security Vulnerability / Supply Chain Attack</a:t>
            </a:r>
          </a:p>
          <a:p>
            <a:r>
              <a:rPr lang="en-US" dirty="0"/>
              <a:t>Example 2: Compliance &amp; Algorithmic Auditability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30B01D-7DE7-A8D7-7EF3-4E460003C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 4: Accountability is foggier when AI authors artefacts</a:t>
            </a:r>
          </a:p>
        </p:txBody>
      </p:sp>
    </p:spTree>
    <p:extLst>
      <p:ext uri="{BB962C8B-B14F-4D97-AF65-F5344CB8AC3E}">
        <p14:creationId xmlns:p14="http://schemas.microsoft.com/office/powerpoint/2010/main" val="338188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77DBE1-CC04-1FFF-A44C-5A5625A86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9F9941D-0AB6-E0D0-B850-F908690B5720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Earlier, software engineering was deterministic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𝑂𝑢𝑡𝑝𝑢𝑡</m:t>
                    </m:r>
                  </m:oMath>
                </a14:m>
                <a:r>
                  <a:rPr lang="en-US" dirty="0"/>
                  <a:t>). GenAI models are non-deterministic and probabilistic. How do you build mission-critical systems when your building tools and components are inherently uncertain?</a:t>
                </a:r>
              </a:p>
              <a:p>
                <a:endParaRPr lang="en-US" dirty="0"/>
              </a:p>
              <a:p>
                <a:r>
                  <a:rPr lang="en-US" dirty="0"/>
                  <a:t>Example 1: From Static Unit Tests to Continuous LLM Evaluation Suites (Evals)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9F9941D-0AB6-E0D0-B850-F908690B5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06C46C4F-4F20-35A8-9D8E-D717AC1D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 5: Outcomes are probabilistic, not guaranteed</a:t>
            </a:r>
          </a:p>
        </p:txBody>
      </p:sp>
    </p:spTree>
    <p:extLst>
      <p:ext uri="{BB962C8B-B14F-4D97-AF65-F5344CB8AC3E}">
        <p14:creationId xmlns:p14="http://schemas.microsoft.com/office/powerpoint/2010/main" val="70702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76057C-99A8-326A-3A14-D2B24885F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C18A-1219-0958-7986-56C0D7A05FC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RETHINKING SOFTWARE ENGINEERING ??</a:t>
            </a:r>
          </a:p>
          <a:p>
            <a:r>
              <a:rPr lang="en-US" dirty="0"/>
              <a:t>If source code can be produced cheap and at scale, </a:t>
            </a:r>
          </a:p>
          <a:p>
            <a:r>
              <a:rPr lang="en-US" dirty="0">
                <a:solidFill>
                  <a:srgbClr val="FF0000"/>
                </a:solidFill>
              </a:rPr>
              <a:t>What is the enduring value proposition of Software Engineers</a:t>
            </a:r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705775-904F-185F-4B2E-FC6CE228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RETHINKING SOFTWARE ENGINEERING </a:t>
            </a:r>
          </a:p>
        </p:txBody>
      </p:sp>
    </p:spTree>
    <p:extLst>
      <p:ext uri="{BB962C8B-B14F-4D97-AF65-F5344CB8AC3E}">
        <p14:creationId xmlns:p14="http://schemas.microsoft.com/office/powerpoint/2010/main" val="1490989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109655-DEE3-C935-56AB-D136E4FF8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E02FE-37B1-C897-6E00-E027EDC7F85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The future of software engineering is shifting from writing software to designing, orchestrating, verifying, and governing intelligent systems.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C0610C-3F9F-F5EF-FF7E-8A2AB9FB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RETHINKING SOFTWARE ENGINEERING </a:t>
            </a:r>
          </a:p>
        </p:txBody>
      </p:sp>
    </p:spTree>
    <p:extLst>
      <p:ext uri="{BB962C8B-B14F-4D97-AF65-F5344CB8AC3E}">
        <p14:creationId xmlns:p14="http://schemas.microsoft.com/office/powerpoint/2010/main" val="225274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89A1B4-4475-3910-6A82-260FB5FAF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0457" y="6532234"/>
            <a:ext cx="9698644" cy="93888"/>
          </a:xfrm>
        </p:spPr>
        <p:txBody>
          <a:bodyPr/>
          <a:lstStyle/>
          <a:p>
            <a:r>
              <a:rPr lang="en-US" dirty="0" err="1"/>
              <a:t>Reference:Rethinking</a:t>
            </a:r>
            <a:r>
              <a:rPr lang="en-US" dirty="0"/>
              <a:t> Software Engineering for Agentic AI Systems, https://arxiv.org/html/2604.10599v1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136CB-BD53-5649-E339-48D1FD78ECE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6F1182-693B-3717-94D0-7F7CD8C4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Inversion of engineering value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146BB-837D-789B-022F-76F184B31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71" y="1082507"/>
            <a:ext cx="10212309" cy="493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4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5C703-5ABD-4EC3-D462-450A097F596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42AF33-CB7A-3080-88A2-CF025524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F0041C-4F54-F4C1-510A-AD3BF9D43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8" y="1408891"/>
            <a:ext cx="9922598" cy="4665984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688B221-7A2D-28A6-9994-9E9CE329B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0600" y="6532563"/>
            <a:ext cx="9698038" cy="133350"/>
          </a:xfrm>
        </p:spPr>
        <p:txBody>
          <a:bodyPr/>
          <a:lstStyle/>
          <a:p>
            <a:r>
              <a:rPr lang="en-US" dirty="0" err="1"/>
              <a:t>Reference:Rethinking</a:t>
            </a:r>
            <a:r>
              <a:rPr lang="en-US" dirty="0"/>
              <a:t> Software Engineering for Agentic AI Systems, https://arxiv.org/html/2604.10599v1</a:t>
            </a:r>
          </a:p>
        </p:txBody>
      </p:sp>
    </p:spTree>
    <p:extLst>
      <p:ext uri="{BB962C8B-B14F-4D97-AF65-F5344CB8AC3E}">
        <p14:creationId xmlns:p14="http://schemas.microsoft.com/office/powerpoint/2010/main" val="85198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4913A-CB33-7FB0-A57A-0DC17A5BFC4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Intent Articulation and Architectural Control</a:t>
            </a:r>
          </a:p>
          <a:p>
            <a:r>
              <a:rPr lang="en-US" dirty="0"/>
              <a:t>Systematic Verification and Quality Assurance</a:t>
            </a:r>
          </a:p>
          <a:p>
            <a:r>
              <a:rPr lang="en-US" dirty="0"/>
              <a:t>Multi-Agent Orchestration</a:t>
            </a:r>
          </a:p>
          <a:p>
            <a:r>
              <a:rPr lang="en-US" dirty="0"/>
              <a:t>Human Judgment and Accountability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02873F-44F7-4601-24D7-5D0AD177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The New Core Competencies of Software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01FAC43-0A77-A313-D3FA-95AC473FB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0600" y="6532563"/>
            <a:ext cx="9698038" cy="133350"/>
          </a:xfrm>
        </p:spPr>
        <p:txBody>
          <a:bodyPr/>
          <a:lstStyle/>
          <a:p>
            <a:r>
              <a:rPr lang="en-US" dirty="0" err="1"/>
              <a:t>Reference:Rethinking</a:t>
            </a:r>
            <a:r>
              <a:rPr lang="en-US" dirty="0"/>
              <a:t> Software Engineering for Agentic AI Systems, https://arxiv.org/html/2604.10599v1</a:t>
            </a:r>
          </a:p>
        </p:txBody>
      </p:sp>
    </p:spTree>
    <p:extLst>
      <p:ext uri="{BB962C8B-B14F-4D97-AF65-F5344CB8AC3E}">
        <p14:creationId xmlns:p14="http://schemas.microsoft.com/office/powerpoint/2010/main" val="66589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24E268-9F7A-6777-2715-B40C9BD70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2B80D-3ADE-F26A-AB56-C980A2D32EB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transition to AI-augmented engineering requires coordinated transformation across four tightly coupled dimensions:</a:t>
            </a:r>
          </a:p>
          <a:p>
            <a:r>
              <a:rPr lang="en-US" dirty="0"/>
              <a:t>Education: From Syntax Mastery to Systems Curation</a:t>
            </a:r>
          </a:p>
          <a:p>
            <a:r>
              <a:rPr lang="en-US" dirty="0"/>
              <a:t>Tooling: Infrastructure for Orchestration and Verification</a:t>
            </a:r>
          </a:p>
          <a:p>
            <a:r>
              <a:rPr lang="en-US" dirty="0"/>
              <a:t>Processes: Verification-First and Human-in-the-Loop Lifecycles</a:t>
            </a:r>
          </a:p>
          <a:p>
            <a:r>
              <a:rPr lang="en-US" dirty="0"/>
              <a:t>Professional Practice: Roles, Metrics, and Governance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4AD752-22B0-164C-8B90-728ED734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to AI Augmented SDLC</a:t>
            </a:r>
          </a:p>
        </p:txBody>
      </p:sp>
    </p:spTree>
    <p:extLst>
      <p:ext uri="{BB962C8B-B14F-4D97-AF65-F5344CB8AC3E}">
        <p14:creationId xmlns:p14="http://schemas.microsoft.com/office/powerpoint/2010/main" val="409164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0188E-B928-A9A0-57C1-9A706158E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FC0953-B968-828E-B8B2-B083A69ADAA3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pPr marL="76200" indent="0">
                  <a:buNone/>
                </a:pPr>
                <a:r>
                  <a:rPr lang="en-US" b="1" dirty="0"/>
                  <a:t>The End of "Zero Marginal Cost" Software</a:t>
                </a:r>
              </a:p>
              <a:p>
                <a:pPr lvl="0"/>
                <a:r>
                  <a:rPr lang="en-US" dirty="0"/>
                  <a:t>The old Economic Assumption: Once software is built, running it costs fractions of a cent per user (hosting, bandwidth). Scale drives gross margins up to </a:t>
                </a:r>
                <a14:m>
                  <m:oMath xmlns:m="http://schemas.openxmlformats.org/officeDocument/2006/math">
                    <m:r>
                      <a:rPr lang="en-US" b="0">
                        <a:latin typeface="Cambria Math" panose="02040503050406030204" pitchFamily="18" charset="0"/>
                      </a:rPr>
                      <m:t>80%</m:t>
                    </m:r>
                    <m:r>
                      <m:rPr>
                        <m:nor/>
                      </m:rPr>
                      <a:rPr lang="en-US" i="0"/>
                      <m:t>–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New Shift: Software running on AI models carries a variable compute cost per transaction (inference tokens, API calls, vector DB searches). Scale now scales operational expense (COGS).</a:t>
                </a:r>
              </a:p>
              <a:p>
                <a:pPr lvl="0"/>
                <a:r>
                  <a:rPr lang="en-US" dirty="0"/>
                  <a:t>Engineering Impact: Engineers must design for Cost Efficiency per Query. A simple feature can destroy gross margins if it triggers an unoptimized </a:t>
                </a:r>
                <a14:m>
                  <m:oMath xmlns:m="http://schemas.openxmlformats.org/officeDocument/2006/math">
                    <m:r>
                      <a:rPr lang="en-US" b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-step LLM agent loop for every user click.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FC0953-B968-828E-B8B2-B083A69AD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l="-113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BBB68D2C-F929-7DEB-676B-A99470BC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in software economics - 1</a:t>
            </a:r>
          </a:p>
        </p:txBody>
      </p:sp>
    </p:spTree>
    <p:extLst>
      <p:ext uri="{BB962C8B-B14F-4D97-AF65-F5344CB8AC3E}">
        <p14:creationId xmlns:p14="http://schemas.microsoft.com/office/powerpoint/2010/main" val="287148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0222-1590-AB8F-FDEB-0A34C9AC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8EFD67-3FFA-F956-231A-616C57C56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5D86D-CDAE-4B7E-BCCA-08A7B405E2A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The Shift from "Build vs. Buy" to "Token Cost vs. Human Labor“</a:t>
            </a:r>
          </a:p>
          <a:p>
            <a:r>
              <a:rPr lang="en-US" b="1" dirty="0"/>
              <a:t>Old Economic Assumption:</a:t>
            </a:r>
            <a:r>
              <a:rPr lang="en-US" dirty="0"/>
              <a:t> Software cost trade-offs were evaluated as internal developer salary cost (Build) versus external vendor subscription fees (Buy).</a:t>
            </a:r>
          </a:p>
          <a:p>
            <a:r>
              <a:rPr lang="en-US" dirty="0"/>
              <a:t>The baseline equation shifts to </a:t>
            </a:r>
            <a:r>
              <a:rPr lang="en-US" b="1" dirty="0"/>
              <a:t>Inference Cost + Human Verification Cost vs. Full Human Execution Cost</a:t>
            </a:r>
            <a:r>
              <a:rPr lang="en-US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16035F-7FF0-470B-C9C2-764DC542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in software economics - 2</a:t>
            </a:r>
          </a:p>
        </p:txBody>
      </p:sp>
    </p:spTree>
    <p:extLst>
      <p:ext uri="{BB962C8B-B14F-4D97-AF65-F5344CB8AC3E}">
        <p14:creationId xmlns:p14="http://schemas.microsoft.com/office/powerpoint/2010/main" val="3752015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C5E7D-F6B6-8E45-DE39-2B010F4D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D8A1F1-B4FB-88C1-3FF1-FBD31AB66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0E82A9-6BF5-B536-873E-87B0F7C24754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Shift in Software Pricing: Per-Seat Subscriptions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Outcome/Value-Based Pricing</a:t>
                </a:r>
              </a:p>
              <a:p>
                <a:pPr lvl="0"/>
                <a:r>
                  <a:rPr lang="en-US" b="1" dirty="0"/>
                  <a:t>Old Economic Assumption:</a:t>
                </a:r>
                <a:r>
                  <a:rPr lang="en-US" dirty="0"/>
                  <a:t> SaaS vendors monetize software based on inputs and user count (</a:t>
                </a:r>
                <a:r>
                  <a:rPr lang="en-US" i="1" dirty="0"/>
                  <a:t>$30/user/month</a:t>
                </a:r>
                <a:r>
                  <a:rPr lang="en-US" dirty="0"/>
                  <a:t>).</a:t>
                </a:r>
              </a:p>
              <a:p>
                <a:pPr lvl="0"/>
                <a:r>
                  <a:rPr lang="en-US" b="1" dirty="0"/>
                  <a:t>New Cost Shift:</a:t>
                </a:r>
                <a:r>
                  <a:rPr lang="en-US" dirty="0"/>
                  <a:t> Because AI agents do the actual work previously done by humans, seat-based licensing collapses (fewer seats needed). Pricing pivots toward </a:t>
                </a:r>
                <a:r>
                  <a:rPr lang="en-US" b="1" dirty="0"/>
                  <a:t>per-outcome or usage-based models</a:t>
                </a:r>
                <a:r>
                  <a:rPr lang="en-US" dirty="0"/>
                  <a:t> (e.g.,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$2</m:t>
                    </m:r>
                  </m:oMath>
                </a14:m>
                <a:r>
                  <a:rPr lang="en-US" i="1" dirty="0"/>
                  <a:t>per resolved support ticket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$10</m:t>
                    </m:r>
                  </m:oMath>
                </a14:m>
                <a:r>
                  <a:rPr lang="en-US" i="1" dirty="0"/>
                  <a:t>per automated deployment</a:t>
                </a:r>
                <a:r>
                  <a:rPr lang="en-US" dirty="0"/>
                  <a:t>).</a:t>
                </a:r>
              </a:p>
              <a:p>
                <a:pPr lvl="0"/>
                <a:r>
                  <a:rPr lang="en-US" dirty="0"/>
                  <a:t>Software architects must measure and track system-level outcomes (resolutions, completed tasks) as core telemetry rather than just user login activity.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0E82A9-6BF5-B536-873E-87B0F7C24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r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BBE6BE5C-4847-107E-660F-D7084D10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in software economics - 3</a:t>
            </a:r>
          </a:p>
        </p:txBody>
      </p:sp>
    </p:spTree>
    <p:extLst>
      <p:ext uri="{BB962C8B-B14F-4D97-AF65-F5344CB8AC3E}">
        <p14:creationId xmlns:p14="http://schemas.microsoft.com/office/powerpoint/2010/main" val="1342950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0DB77E-3595-A5CB-1708-5799BE8B2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17075-44E0-6395-5419-8993A890DFA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Code Quality &amp; Security Vulnerabilities</a:t>
            </a:r>
          </a:p>
          <a:p>
            <a:pPr lvl="1"/>
            <a:r>
              <a:rPr lang="en-US" dirty="0"/>
              <a:t>Plausible but Insecure Code</a:t>
            </a:r>
          </a:p>
          <a:p>
            <a:pPr lvl="1"/>
            <a:r>
              <a:rPr lang="en-US" dirty="0"/>
              <a:t>Hallucinated Package Dependencies (Supply Chain Attacks)</a:t>
            </a:r>
          </a:p>
          <a:p>
            <a:pPr lvl="1"/>
            <a:r>
              <a:rPr lang="en-US" dirty="0"/>
              <a:t>Missing Edge Cases in Generated Tests</a:t>
            </a:r>
          </a:p>
          <a:p>
            <a:r>
              <a:rPr lang="en-US" b="1" dirty="0"/>
              <a:t>Architectural Drift or Unchecked Tech Debt ("Code Slop")</a:t>
            </a:r>
          </a:p>
          <a:p>
            <a:pPr lvl="1"/>
            <a:r>
              <a:rPr lang="en-US" dirty="0"/>
              <a:t>High-Volume "Code Bloat“</a:t>
            </a:r>
          </a:p>
          <a:p>
            <a:pPr lvl="1"/>
            <a:r>
              <a:rPr lang="en-US" dirty="0"/>
              <a:t>Context Blindness</a:t>
            </a:r>
          </a:p>
          <a:p>
            <a:r>
              <a:rPr lang="en-US" b="1" dirty="0"/>
              <a:t>Human Factor &amp; Cognitive Risks</a:t>
            </a:r>
          </a:p>
          <a:p>
            <a:pPr lvl="1"/>
            <a:r>
              <a:rPr lang="en-US" dirty="0"/>
              <a:t>Reviewer Fatigue</a:t>
            </a:r>
          </a:p>
          <a:p>
            <a:pPr lvl="1"/>
            <a:r>
              <a:rPr lang="en-US" dirty="0"/>
              <a:t>Atrophy of Fundamental Skills</a:t>
            </a:r>
          </a:p>
          <a:p>
            <a:r>
              <a:rPr lang="en-US" b="1" dirty="0"/>
              <a:t>Legal, IP, and Compliance Exposure</a:t>
            </a:r>
          </a:p>
          <a:p>
            <a:r>
              <a:rPr lang="en-US" b="1" dirty="0"/>
              <a:t>Economic &amp; Operational Risks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385720-7A93-948C-9A90-8BBB807A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Risks across the software development lifecycle (SDLC)</a:t>
            </a:r>
          </a:p>
        </p:txBody>
      </p:sp>
    </p:spTree>
    <p:extLst>
      <p:ext uri="{BB962C8B-B14F-4D97-AF65-F5344CB8AC3E}">
        <p14:creationId xmlns:p14="http://schemas.microsoft.com/office/powerpoint/2010/main" val="35278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9E487-BD1C-7792-633D-707F56FA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5B5C-777E-35B4-DE2C-D0C0E66D7D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Rethinking Software Engineering for Agentic AI Systems, https://arxiv.org/html/2604.10599v1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BB71B0-72B9-EFC3-EB0E-EAC3D5E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0054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2324A8A8974418F4287FF4BA2FD86" ma:contentTypeVersion="3" ma:contentTypeDescription="Create a new document." ma:contentTypeScope="" ma:versionID="c20ae23d9ac856c6053e676649c543ef">
  <xsd:schema xmlns:xsd="http://www.w3.org/2001/XMLSchema" xmlns:xs="http://www.w3.org/2001/XMLSchema" xmlns:p="http://schemas.microsoft.com/office/2006/metadata/properties" xmlns:ns2="3719838a-b8de-4044-bbc5-cde9575f33d8" targetNamespace="http://schemas.microsoft.com/office/2006/metadata/properties" ma:root="true" ma:fieldsID="5bcd724bed00bb7cfe4f11aa70afd346" ns2:_="">
    <xsd:import namespace="3719838a-b8de-4044-bbc5-cde9575f33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9838a-b8de-4044-bbc5-cde9575f33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1FA8EA-2305-4296-96BC-1FE84919BC04}"/>
</file>

<file path=customXml/itemProps2.xml><?xml version="1.0" encoding="utf-8"?>
<ds:datastoreItem xmlns:ds="http://schemas.openxmlformats.org/officeDocument/2006/customXml" ds:itemID="{6CA3386D-8C17-4280-8FE4-8E3F0BE26D85}"/>
</file>

<file path=customXml/itemProps3.xml><?xml version="1.0" encoding="utf-8"?>
<ds:datastoreItem xmlns:ds="http://schemas.openxmlformats.org/officeDocument/2006/customXml" ds:itemID="{5AEE4644-311C-4EB3-8054-F5911C23379A}"/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964</Words>
  <Application>Microsoft Office PowerPoint</Application>
  <PresentationFormat>Widescreen</PresentationFormat>
  <Paragraphs>87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Helvetica</vt:lpstr>
      <vt:lpstr>Wingdings</vt:lpstr>
      <vt:lpstr>1_Office Theme</vt:lpstr>
      <vt:lpstr>AI-Augmented Software Development Life Cycle  SEZG534</vt:lpstr>
      <vt:lpstr>PowerPoint Presentation</vt:lpstr>
      <vt:lpstr>Q and A</vt:lpstr>
      <vt:lpstr>Shift 1: Dev effort is no longer the bottleneck</vt:lpstr>
      <vt:lpstr>Shift 2: Roles are less siloed</vt:lpstr>
      <vt:lpstr>Shift 3: Decisions are less "hard to change"</vt:lpstr>
      <vt:lpstr>Shift 4: Accountability is foggier when AI authors artefacts</vt:lpstr>
      <vt:lpstr>Shift 5: Outcomes are probabilistic, not guaranteed</vt:lpstr>
      <vt:lpstr>RETHINKING SOFTWARE ENGINEERING </vt:lpstr>
      <vt:lpstr>RETHINKING SOFTWARE ENGINEERING </vt:lpstr>
      <vt:lpstr>Inversion of engineering value</vt:lpstr>
      <vt:lpstr>PowerPoint Presentation</vt:lpstr>
      <vt:lpstr> The New Core Competencies of Software Engineering </vt:lpstr>
      <vt:lpstr>Transition to AI Augmented SDLC</vt:lpstr>
      <vt:lpstr>Shift in software economics - 1</vt:lpstr>
      <vt:lpstr>Shift in software economics - 2</vt:lpstr>
      <vt:lpstr>Shift in software economics - 3</vt:lpstr>
      <vt:lpstr>Risks across the software development lifecycle (SDLC)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72</cp:revision>
  <dcterms:created xsi:type="dcterms:W3CDTF">2022-09-26T09:02:06Z</dcterms:created>
  <dcterms:modified xsi:type="dcterms:W3CDTF">2026-08-08T12:19:06Z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0x0101001EC2324A8A8974418F4287FF4BA2FD86</vt:lpwstr>
  </property>
</Properties>
</file>