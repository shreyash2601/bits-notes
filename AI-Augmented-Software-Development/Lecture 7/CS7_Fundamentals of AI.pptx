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Masters/slideMaster1.xml" ContentType="application/vnd.openxmlformats-officedocument.presentationml.slideMaster+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Slides/notesSlide1.xml" ContentType="application/vnd.openxmlformats-officedocument.presentationml.notes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Masters/notesMaster1.xml" ContentType="application/vnd.openxmlformats-officedocument.presentationml.notesMaster+xml"/>
  <Override PartName="/ppt/theme/theme1.xml" ContentType="application/vnd.openxmlformats-officedocument.theme+xml"/>
  <Override PartName="/ppt/tableStyles.xml" ContentType="application/vnd.openxmlformats-officedocument.presentationml.tableStyles+xml"/>
  <Override PartName="/ppt/viewProps.xml" ContentType="application/vnd.openxmlformats-officedocument.presentationml.viewProps+xml"/>
  <Override PartName="/ppt/presProps.xml" ContentType="application/vnd.openxmlformats-officedocument.presentationml.presProps+xml"/>
  <Override PartName="/docProps/custom.xml" ContentType="application/vnd.openxmlformats-officedocument.custom-properties+xml"/>
  <Override PartName="/docProps/core.xml" ContentType="application/vnd.openxmlformats-package.core-properties+xml"/>
  <Override PartName="/docProps/app.xml" ContentType="application/vnd.openxmlformats-officedocument.extended-properties+xml"/>
  <Override PartName="/ppt/metadata" ContentType="application/binary"/>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5"/>
  </p:notesMasterIdLst>
  <p:sldIdLst>
    <p:sldId id="311" r:id="rId2"/>
    <p:sldId id="312" r:id="rId3"/>
    <p:sldId id="356" r:id="rId4"/>
    <p:sldId id="361" r:id="rId5"/>
    <p:sldId id="357" r:id="rId6"/>
    <p:sldId id="362" r:id="rId7"/>
    <p:sldId id="363" r:id="rId8"/>
    <p:sldId id="364" r:id="rId9"/>
    <p:sldId id="358" r:id="rId10"/>
    <p:sldId id="359" r:id="rId11"/>
    <p:sldId id="360" r:id="rId12"/>
    <p:sldId id="328" r:id="rId13"/>
    <p:sldId id="265" r:id="rId14"/>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66" roundtripDataSignature="AMtx7mgo9uSRA0WETdhqdHWNBKCI42gcT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1A0E78D-CFBE-46A0-B656-1FB9B1C8EDF3}">
  <a:tblStyle styleId="{51A0E78D-CFBE-46A0-B656-1FB9B1C8EDF3}"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6" d="100"/>
          <a:sy n="106" d="100"/>
        </p:scale>
        <p:origin x="756"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72" Type="http://schemas.openxmlformats.org/officeDocument/2006/relationships/customXml" Target="../customXml/item2.xml"/><Relationship Id="rId3" Type="http://schemas.openxmlformats.org/officeDocument/2006/relationships/slide" Target="slides/slide2.xml"/><Relationship Id="rId68"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67" Type="http://schemas.openxmlformats.org/officeDocument/2006/relationships/presProps" Target="presProps.xml"/><Relationship Id="rId71" Type="http://schemas.openxmlformats.org/officeDocument/2006/relationships/customXml" Target="../customXml/item1.xml"/><Relationship Id="rId2" Type="http://schemas.openxmlformats.org/officeDocument/2006/relationships/slide" Target="slides/slide1.xml"/><Relationship Id="rId7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66" Type="http://customschemas.google.com/relationships/presentationmetadata" Target="metadata"/><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73" Type="http://schemas.openxmlformats.org/officeDocument/2006/relationships/customXml" Target="../customXml/item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6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9" name="Google Shape;179;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2_Two Content">
  <p:cSld name="2_Two Content">
    <p:spTree>
      <p:nvGrpSpPr>
        <p:cNvPr id="1" name="Shape 74"/>
        <p:cNvGrpSpPr/>
        <p:nvPr/>
      </p:nvGrpSpPr>
      <p:grpSpPr>
        <a:xfrm>
          <a:off x="0" y="0"/>
          <a:ext cx="0" cy="0"/>
          <a:chOff x="0" y="0"/>
          <a:chExt cx="0" cy="0"/>
        </a:xfrm>
      </p:grpSpPr>
      <p:pic>
        <p:nvPicPr>
          <p:cNvPr id="75" name="Google Shape;75;p18"/>
          <p:cNvPicPr preferRelativeResize="0"/>
          <p:nvPr/>
        </p:nvPicPr>
        <p:blipFill rotWithShape="1">
          <a:blip r:embed="rId2">
            <a:alphaModFix/>
          </a:blip>
          <a:srcRect l="13070" t="2102" r="13441" b="24408"/>
          <a:stretch/>
        </p:blipFill>
        <p:spPr>
          <a:xfrm>
            <a:off x="11131297" y="231878"/>
            <a:ext cx="828826" cy="828826"/>
          </a:xfrm>
          <a:prstGeom prst="rect">
            <a:avLst/>
          </a:prstGeom>
          <a:noFill/>
          <a:ln>
            <a:noFill/>
          </a:ln>
        </p:spPr>
      </p:pic>
      <p:grpSp>
        <p:nvGrpSpPr>
          <p:cNvPr id="76" name="Google Shape;76;p18"/>
          <p:cNvGrpSpPr/>
          <p:nvPr/>
        </p:nvGrpSpPr>
        <p:grpSpPr>
          <a:xfrm>
            <a:off x="2051531" y="5137310"/>
            <a:ext cx="10140469" cy="1726066"/>
            <a:chOff x="2051531" y="5793529"/>
            <a:chExt cx="10140469" cy="1726066"/>
          </a:xfrm>
        </p:grpSpPr>
        <p:pic>
          <p:nvPicPr>
            <p:cNvPr id="77" name="Google Shape;77;p18"/>
            <p:cNvPicPr preferRelativeResize="0"/>
            <p:nvPr/>
          </p:nvPicPr>
          <p:blipFill rotWithShape="1">
            <a:blip r:embed="rId3">
              <a:alphaModFix/>
            </a:blip>
            <a:srcRect/>
            <a:stretch/>
          </p:blipFill>
          <p:spPr>
            <a:xfrm>
              <a:off x="2116079" y="5959736"/>
              <a:ext cx="10075921" cy="1559859"/>
            </a:xfrm>
            <a:prstGeom prst="rect">
              <a:avLst/>
            </a:prstGeom>
            <a:noFill/>
            <a:ln>
              <a:noFill/>
            </a:ln>
          </p:spPr>
        </p:pic>
        <p:sp>
          <p:nvSpPr>
            <p:cNvPr id="78" name="Google Shape;78;p18"/>
            <p:cNvSpPr/>
            <p:nvPr/>
          </p:nvSpPr>
          <p:spPr>
            <a:xfrm>
              <a:off x="2051531" y="5793529"/>
              <a:ext cx="10075921" cy="1661521"/>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grpSp>
      <p:grpSp>
        <p:nvGrpSpPr>
          <p:cNvPr id="79" name="Google Shape;79;p18"/>
          <p:cNvGrpSpPr/>
          <p:nvPr/>
        </p:nvGrpSpPr>
        <p:grpSpPr>
          <a:xfrm>
            <a:off x="0" y="-3947"/>
            <a:ext cx="10151227" cy="1731985"/>
            <a:chOff x="2116079" y="5959736"/>
            <a:chExt cx="10151227" cy="1731985"/>
          </a:xfrm>
        </p:grpSpPr>
        <p:pic>
          <p:nvPicPr>
            <p:cNvPr id="80" name="Google Shape;80;p18"/>
            <p:cNvPicPr preferRelativeResize="0"/>
            <p:nvPr/>
          </p:nvPicPr>
          <p:blipFill rotWithShape="1">
            <a:blip r:embed="rId3">
              <a:alphaModFix/>
            </a:blip>
            <a:srcRect/>
            <a:stretch/>
          </p:blipFill>
          <p:spPr>
            <a:xfrm>
              <a:off x="2116079" y="5959736"/>
              <a:ext cx="10075921" cy="1559859"/>
            </a:xfrm>
            <a:prstGeom prst="rect">
              <a:avLst/>
            </a:prstGeom>
            <a:noFill/>
            <a:ln>
              <a:noFill/>
            </a:ln>
          </p:spPr>
        </p:pic>
        <p:sp>
          <p:nvSpPr>
            <p:cNvPr id="81" name="Google Shape;81;p18"/>
            <p:cNvSpPr/>
            <p:nvPr/>
          </p:nvSpPr>
          <p:spPr>
            <a:xfrm>
              <a:off x="2191385" y="6030200"/>
              <a:ext cx="10075921" cy="1661521"/>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grpSp>
      <p:sp>
        <p:nvSpPr>
          <p:cNvPr id="82" name="Google Shape;82;p18"/>
          <p:cNvSpPr txBox="1">
            <a:spLocks noGrp="1"/>
          </p:cNvSpPr>
          <p:nvPr>
            <p:ph type="title"/>
          </p:nvPr>
        </p:nvSpPr>
        <p:spPr>
          <a:xfrm>
            <a:off x="695325" y="231878"/>
            <a:ext cx="10801350" cy="828826"/>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rgbClr val="211D70"/>
              </a:buClr>
              <a:buSzPts val="3600"/>
              <a:buFont typeface="Arial"/>
              <a:buNone/>
              <a:defRPr sz="3600" b="1" i="0" u="none" strike="noStrike" cap="none">
                <a:solidFill>
                  <a:srgbClr val="211D70"/>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83" name="Google Shape;83;p18"/>
          <p:cNvSpPr txBox="1">
            <a:spLocks noGrp="1"/>
          </p:cNvSpPr>
          <p:nvPr>
            <p:ph type="body" idx="1"/>
          </p:nvPr>
        </p:nvSpPr>
        <p:spPr>
          <a:xfrm>
            <a:off x="695325" y="1226065"/>
            <a:ext cx="10801350" cy="4938048"/>
          </a:xfrm>
          <a:prstGeom prst="rect">
            <a:avLst/>
          </a:prstGeom>
          <a:noFill/>
          <a:ln>
            <a:noFill/>
          </a:ln>
        </p:spPr>
        <p:txBody>
          <a:bodyPr spcFirstLastPara="1" wrap="square" lIns="91425" tIns="45700" rIns="91425" bIns="45700" anchor="t" anchorCtr="0">
            <a:normAutofit/>
          </a:bodyPr>
          <a:lstStyle>
            <a:lvl1pPr marL="457200" marR="0" lvl="0" indent="-381000" algn="l" rtl="0">
              <a:lnSpc>
                <a:spcPct val="100000"/>
              </a:lnSpc>
              <a:spcBef>
                <a:spcPts val="10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1pPr>
            <a:lvl2pPr marL="914400" marR="0" lvl="1" indent="-368300" algn="l" rtl="0">
              <a:lnSpc>
                <a:spcPct val="100000"/>
              </a:lnSpc>
              <a:spcBef>
                <a:spcPts val="1000"/>
              </a:spcBef>
              <a:spcAft>
                <a:spcPts val="0"/>
              </a:spcAft>
              <a:buClr>
                <a:schemeClr val="dk1"/>
              </a:buClr>
              <a:buSzPts val="2200"/>
              <a:buFont typeface="Arial"/>
              <a:buChar char="•"/>
              <a:defRPr sz="2200" b="0" i="0" u="none" strike="noStrike" cap="none">
                <a:solidFill>
                  <a:schemeClr val="dk1"/>
                </a:solidFill>
                <a:latin typeface="Arial"/>
                <a:ea typeface="Arial"/>
                <a:cs typeface="Arial"/>
                <a:sym typeface="Arial"/>
              </a:defRPr>
            </a:lvl2pPr>
            <a:lvl3pPr marL="1371600" marR="0" lvl="2" indent="-355600" algn="l" rtl="0">
              <a:lnSpc>
                <a:spcPct val="100000"/>
              </a:lnSpc>
              <a:spcBef>
                <a:spcPts val="10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55600" algn="l" rtl="0">
              <a:lnSpc>
                <a:spcPct val="100000"/>
              </a:lnSpc>
              <a:spcBef>
                <a:spcPts val="10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4pPr>
            <a:lvl5pPr marL="2286000" marR="0" lvl="4" indent="-355600" algn="l" rtl="0">
              <a:lnSpc>
                <a:spcPct val="100000"/>
              </a:lnSpc>
              <a:spcBef>
                <a:spcPts val="10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4" name="Google Shape;84;p18"/>
          <p:cNvSpPr txBox="1">
            <a:spLocks noGrp="1"/>
          </p:cNvSpPr>
          <p:nvPr>
            <p:ph type="body" idx="2"/>
          </p:nvPr>
        </p:nvSpPr>
        <p:spPr>
          <a:xfrm>
            <a:off x="2260457" y="6532234"/>
            <a:ext cx="9698644" cy="133350"/>
          </a:xfrm>
          <a:prstGeom prst="rect">
            <a:avLst/>
          </a:prstGeom>
          <a:noFill/>
          <a:ln>
            <a:noFill/>
          </a:ln>
        </p:spPr>
        <p:txBody>
          <a:bodyPr spcFirstLastPara="1" wrap="square" lIns="91425" tIns="45700" rIns="91425" bIns="45700" anchor="ctr" anchorCtr="0">
            <a:noAutofit/>
          </a:bodyPr>
          <a:lstStyle>
            <a:lvl1pPr marL="457200" marR="0" lvl="0" indent="-228600" algn="r" rtl="0">
              <a:lnSpc>
                <a:spcPct val="90000"/>
              </a:lnSpc>
              <a:spcBef>
                <a:spcPts val="1000"/>
              </a:spcBef>
              <a:spcAft>
                <a:spcPts val="0"/>
              </a:spcAft>
              <a:buClr>
                <a:srgbClr val="3F3F3F"/>
              </a:buClr>
              <a:buSzPts val="800"/>
              <a:buFont typeface="Arial"/>
              <a:buNone/>
              <a:defRPr sz="800" b="0" i="0" u="none" strike="noStrike" cap="none">
                <a:solidFill>
                  <a:srgbClr val="3F3F3F"/>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pic>
        <p:nvPicPr>
          <p:cNvPr id="85" name="Google Shape;85;p18"/>
          <p:cNvPicPr preferRelativeResize="0"/>
          <p:nvPr/>
        </p:nvPicPr>
        <p:blipFill rotWithShape="1">
          <a:blip r:embed="rId4">
            <a:alphaModFix/>
          </a:blip>
          <a:srcRect/>
          <a:stretch/>
        </p:blipFill>
        <p:spPr>
          <a:xfrm>
            <a:off x="187994" y="6364482"/>
            <a:ext cx="1468823" cy="541779"/>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Comparison">
  <p:cSld name="Comparison">
    <p:spTree>
      <p:nvGrpSpPr>
        <p:cNvPr id="1" name="Shape 86"/>
        <p:cNvGrpSpPr/>
        <p:nvPr/>
      </p:nvGrpSpPr>
      <p:grpSpPr>
        <a:xfrm>
          <a:off x="0" y="0"/>
          <a:ext cx="0" cy="0"/>
          <a:chOff x="0" y="0"/>
          <a:chExt cx="0" cy="0"/>
        </a:xfrm>
      </p:grpSpPr>
      <p:grpSp>
        <p:nvGrpSpPr>
          <p:cNvPr id="87" name="Google Shape;87;p19"/>
          <p:cNvGrpSpPr/>
          <p:nvPr/>
        </p:nvGrpSpPr>
        <p:grpSpPr>
          <a:xfrm>
            <a:off x="0" y="-3947"/>
            <a:ext cx="10151227" cy="1731985"/>
            <a:chOff x="2116079" y="5959736"/>
            <a:chExt cx="10151227" cy="1731985"/>
          </a:xfrm>
        </p:grpSpPr>
        <p:pic>
          <p:nvPicPr>
            <p:cNvPr id="88" name="Google Shape;88;p19"/>
            <p:cNvPicPr preferRelativeResize="0"/>
            <p:nvPr/>
          </p:nvPicPr>
          <p:blipFill rotWithShape="1">
            <a:blip r:embed="rId2">
              <a:alphaModFix/>
            </a:blip>
            <a:srcRect/>
            <a:stretch/>
          </p:blipFill>
          <p:spPr>
            <a:xfrm>
              <a:off x="2116079" y="5959736"/>
              <a:ext cx="10075921" cy="1559859"/>
            </a:xfrm>
            <a:prstGeom prst="rect">
              <a:avLst/>
            </a:prstGeom>
            <a:noFill/>
            <a:ln>
              <a:noFill/>
            </a:ln>
          </p:spPr>
        </p:pic>
        <p:sp>
          <p:nvSpPr>
            <p:cNvPr id="89" name="Google Shape;89;p19"/>
            <p:cNvSpPr/>
            <p:nvPr/>
          </p:nvSpPr>
          <p:spPr>
            <a:xfrm>
              <a:off x="2191385" y="6030200"/>
              <a:ext cx="10075921" cy="1661521"/>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grpSp>
      <p:grpSp>
        <p:nvGrpSpPr>
          <p:cNvPr id="90" name="Google Shape;90;p19"/>
          <p:cNvGrpSpPr/>
          <p:nvPr/>
        </p:nvGrpSpPr>
        <p:grpSpPr>
          <a:xfrm>
            <a:off x="2051531" y="5137310"/>
            <a:ext cx="10140469" cy="1726066"/>
            <a:chOff x="2051531" y="5793529"/>
            <a:chExt cx="10140469" cy="1726066"/>
          </a:xfrm>
        </p:grpSpPr>
        <p:pic>
          <p:nvPicPr>
            <p:cNvPr id="91" name="Google Shape;91;p19"/>
            <p:cNvPicPr preferRelativeResize="0"/>
            <p:nvPr/>
          </p:nvPicPr>
          <p:blipFill rotWithShape="1">
            <a:blip r:embed="rId2">
              <a:alphaModFix/>
            </a:blip>
            <a:srcRect/>
            <a:stretch/>
          </p:blipFill>
          <p:spPr>
            <a:xfrm>
              <a:off x="2116079" y="5959736"/>
              <a:ext cx="10075921" cy="1559859"/>
            </a:xfrm>
            <a:prstGeom prst="rect">
              <a:avLst/>
            </a:prstGeom>
            <a:noFill/>
            <a:ln>
              <a:noFill/>
            </a:ln>
          </p:spPr>
        </p:pic>
        <p:sp>
          <p:nvSpPr>
            <p:cNvPr id="92" name="Google Shape;92;p19"/>
            <p:cNvSpPr/>
            <p:nvPr/>
          </p:nvSpPr>
          <p:spPr>
            <a:xfrm>
              <a:off x="2051531" y="5793529"/>
              <a:ext cx="10075921" cy="1661521"/>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grpSp>
      <p:sp>
        <p:nvSpPr>
          <p:cNvPr id="93" name="Google Shape;93;p19"/>
          <p:cNvSpPr txBox="1">
            <a:spLocks noGrp="1"/>
          </p:cNvSpPr>
          <p:nvPr>
            <p:ph type="body" idx="1"/>
          </p:nvPr>
        </p:nvSpPr>
        <p:spPr>
          <a:xfrm>
            <a:off x="2260457" y="6532234"/>
            <a:ext cx="9698644" cy="133350"/>
          </a:xfrm>
          <a:prstGeom prst="rect">
            <a:avLst/>
          </a:prstGeom>
          <a:noFill/>
          <a:ln>
            <a:noFill/>
          </a:ln>
        </p:spPr>
        <p:txBody>
          <a:bodyPr spcFirstLastPara="1" wrap="square" lIns="91425" tIns="45700" rIns="91425" bIns="45700" anchor="ctr" anchorCtr="0">
            <a:noAutofit/>
          </a:bodyPr>
          <a:lstStyle>
            <a:lvl1pPr marL="457200" marR="0" lvl="0" indent="-228600" algn="r" rtl="0">
              <a:lnSpc>
                <a:spcPct val="90000"/>
              </a:lnSpc>
              <a:spcBef>
                <a:spcPts val="1000"/>
              </a:spcBef>
              <a:spcAft>
                <a:spcPts val="0"/>
              </a:spcAft>
              <a:buClr>
                <a:srgbClr val="3F3F3F"/>
              </a:buClr>
              <a:buSzPts val="800"/>
              <a:buFont typeface="Arial"/>
              <a:buNone/>
              <a:defRPr sz="800" b="0" i="0" u="none" strike="noStrike" cap="none">
                <a:solidFill>
                  <a:srgbClr val="3F3F3F"/>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pic>
        <p:nvPicPr>
          <p:cNvPr id="94" name="Google Shape;94;p19"/>
          <p:cNvPicPr preferRelativeResize="0"/>
          <p:nvPr/>
        </p:nvPicPr>
        <p:blipFill rotWithShape="1">
          <a:blip r:embed="rId3">
            <a:alphaModFix/>
          </a:blip>
          <a:srcRect/>
          <a:stretch/>
        </p:blipFill>
        <p:spPr>
          <a:xfrm>
            <a:off x="187994" y="6364482"/>
            <a:ext cx="1468823" cy="541779"/>
          </a:xfrm>
          <a:prstGeom prst="rect">
            <a:avLst/>
          </a:prstGeom>
          <a:noFill/>
          <a:ln>
            <a:noFill/>
          </a:ln>
        </p:spPr>
      </p:pic>
      <p:sp>
        <p:nvSpPr>
          <p:cNvPr id="95" name="Google Shape;95;p19"/>
          <p:cNvSpPr txBox="1">
            <a:spLocks noGrp="1"/>
          </p:cNvSpPr>
          <p:nvPr>
            <p:ph type="body" idx="2"/>
          </p:nvPr>
        </p:nvSpPr>
        <p:spPr>
          <a:xfrm>
            <a:off x="695325" y="1226065"/>
            <a:ext cx="10801350" cy="4938048"/>
          </a:xfrm>
          <a:prstGeom prst="rect">
            <a:avLst/>
          </a:prstGeom>
          <a:noFill/>
          <a:ln>
            <a:noFill/>
          </a:ln>
        </p:spPr>
        <p:txBody>
          <a:bodyPr spcFirstLastPara="1" wrap="square" lIns="91425" tIns="45700" rIns="91425" bIns="45700" anchor="t" anchorCtr="0">
            <a:normAutofit/>
          </a:bodyPr>
          <a:lstStyle>
            <a:lvl1pPr marL="457200" marR="0" lvl="0" indent="-381000" algn="l" rtl="0">
              <a:lnSpc>
                <a:spcPct val="100000"/>
              </a:lnSpc>
              <a:spcBef>
                <a:spcPts val="10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1pPr>
            <a:lvl2pPr marL="914400" marR="0" lvl="1" indent="-368300" algn="l" rtl="0">
              <a:lnSpc>
                <a:spcPct val="100000"/>
              </a:lnSpc>
              <a:spcBef>
                <a:spcPts val="1000"/>
              </a:spcBef>
              <a:spcAft>
                <a:spcPts val="0"/>
              </a:spcAft>
              <a:buClr>
                <a:schemeClr val="dk1"/>
              </a:buClr>
              <a:buSzPts val="2200"/>
              <a:buFont typeface="Arial"/>
              <a:buChar char="•"/>
              <a:defRPr sz="2200" b="0" i="0" u="none" strike="noStrike" cap="none">
                <a:solidFill>
                  <a:schemeClr val="dk1"/>
                </a:solidFill>
                <a:latin typeface="Arial"/>
                <a:ea typeface="Arial"/>
                <a:cs typeface="Arial"/>
                <a:sym typeface="Arial"/>
              </a:defRPr>
            </a:lvl2pPr>
            <a:lvl3pPr marL="1371600" marR="0" lvl="2" indent="-355600" algn="l" rtl="0">
              <a:lnSpc>
                <a:spcPct val="100000"/>
              </a:lnSpc>
              <a:spcBef>
                <a:spcPts val="10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55600" algn="l" rtl="0">
              <a:lnSpc>
                <a:spcPct val="100000"/>
              </a:lnSpc>
              <a:spcBef>
                <a:spcPts val="10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4pPr>
            <a:lvl5pPr marL="2286000" marR="0" lvl="4" indent="-355600" algn="l" rtl="0">
              <a:lnSpc>
                <a:spcPct val="100000"/>
              </a:lnSpc>
              <a:spcBef>
                <a:spcPts val="10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pic>
        <p:nvPicPr>
          <p:cNvPr id="96" name="Google Shape;96;p19"/>
          <p:cNvPicPr preferRelativeResize="0"/>
          <p:nvPr/>
        </p:nvPicPr>
        <p:blipFill rotWithShape="1">
          <a:blip r:embed="rId4">
            <a:alphaModFix/>
          </a:blip>
          <a:srcRect l="13070" t="2102" r="13441" b="24408"/>
          <a:stretch/>
        </p:blipFill>
        <p:spPr>
          <a:xfrm>
            <a:off x="11131297" y="231878"/>
            <a:ext cx="828826" cy="828826"/>
          </a:xfrm>
          <a:prstGeom prst="rect">
            <a:avLst/>
          </a:prstGeom>
          <a:noFill/>
          <a:ln>
            <a:noFill/>
          </a:ln>
        </p:spPr>
      </p:pic>
      <p:sp>
        <p:nvSpPr>
          <p:cNvPr id="97" name="Google Shape;97;p19"/>
          <p:cNvSpPr txBox="1">
            <a:spLocks noGrp="1"/>
          </p:cNvSpPr>
          <p:nvPr>
            <p:ph type="title"/>
          </p:nvPr>
        </p:nvSpPr>
        <p:spPr>
          <a:xfrm>
            <a:off x="695325" y="231878"/>
            <a:ext cx="10801350" cy="828826"/>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rgbClr val="211D70"/>
              </a:buClr>
              <a:buSzPts val="3600"/>
              <a:buFont typeface="Arial"/>
              <a:buNone/>
              <a:defRPr sz="3600" b="1" i="0" u="none" strike="noStrike" cap="none">
                <a:solidFill>
                  <a:srgbClr val="211D70"/>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pic>
        <p:nvPicPr>
          <p:cNvPr id="9" name="Picture 8"/>
          <p:cNvPicPr>
            <a:picLocks noChangeAspect="1"/>
          </p:cNvPicPr>
          <p:nvPr userDrawn="1"/>
        </p:nvPicPr>
        <p:blipFill rotWithShape="1">
          <a:blip r:embed="rId2" cstate="print">
            <a:alphaModFix amt="50000"/>
            <a:extLst>
              <a:ext uri="{28A0092B-C50C-407E-A947-70E740481C1C}">
                <a14:useLocalDpi xmlns:a14="http://schemas.microsoft.com/office/drawing/2010/main" val="0"/>
              </a:ext>
            </a:extLst>
          </a:blip>
          <a:srcRect l="178" t="-543" r="178" b="-543"/>
          <a:stretch/>
        </p:blipFill>
        <p:spPr>
          <a:xfrm>
            <a:off x="4750810" y="2223656"/>
            <a:ext cx="2690381" cy="2729344"/>
          </a:xfrm>
          <a:prstGeom prst="rect">
            <a:avLst/>
          </a:prstGeom>
        </p:spPr>
      </p:pic>
      <p:pic>
        <p:nvPicPr>
          <p:cNvPr id="7" name="Picture 6"/>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6817420"/>
            <a:ext cx="12192000" cy="40580"/>
          </a:xfrm>
          <a:prstGeom prst="rect">
            <a:avLst/>
          </a:prstGeom>
        </p:spPr>
      </p:pic>
      <p:pic>
        <p:nvPicPr>
          <p:cNvPr id="8" name="Picture 7"/>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0" y="160569"/>
            <a:ext cx="10668000" cy="764364"/>
          </a:xfrm>
          <a:prstGeom prst="rect">
            <a:avLst/>
          </a:prstGeom>
        </p:spPr>
      </p:pic>
      <p:sp>
        <p:nvSpPr>
          <p:cNvPr id="2" name="Title 1"/>
          <p:cNvSpPr>
            <a:spLocks noGrp="1"/>
          </p:cNvSpPr>
          <p:nvPr>
            <p:ph type="title"/>
          </p:nvPr>
        </p:nvSpPr>
        <p:spPr>
          <a:xfrm>
            <a:off x="838200" y="160569"/>
            <a:ext cx="9321800" cy="764364"/>
          </a:xfrm>
        </p:spPr>
        <p:txBody>
          <a:bodyPr>
            <a:normAutofit/>
          </a:bodyPr>
          <a:lstStyle>
            <a:lvl1pPr>
              <a:defRPr sz="3200" b="1">
                <a:solidFill>
                  <a:schemeClr val="bg1"/>
                </a:solidFill>
                <a:latin typeface="Helvetica" panose="020B0604020202030204" pitchFamily="34" charset="0"/>
              </a:defRPr>
            </a:lvl1pPr>
          </a:lstStyle>
          <a:p>
            <a:r>
              <a:rPr lang="en-US"/>
              <a:t>Click to edit Master title style</a:t>
            </a:r>
          </a:p>
        </p:txBody>
      </p:sp>
      <p:sp>
        <p:nvSpPr>
          <p:cNvPr id="11" name="Text Placeholder 10"/>
          <p:cNvSpPr>
            <a:spLocks noGrp="1"/>
          </p:cNvSpPr>
          <p:nvPr>
            <p:ph type="body" sz="quarter" idx="13"/>
          </p:nvPr>
        </p:nvSpPr>
        <p:spPr>
          <a:xfrm>
            <a:off x="857739" y="1600201"/>
            <a:ext cx="10160000" cy="2728913"/>
          </a:xfrm>
        </p:spPr>
        <p:txBody>
          <a:bodyPr/>
          <a:lstStyle>
            <a:lvl1pPr>
              <a:defRPr sz="1800">
                <a:latin typeface="Helvetica" panose="020B0604020202030204" pitchFamily="34" charset="0"/>
              </a:defRPr>
            </a:lvl1pPr>
            <a:lvl2pPr>
              <a:defRPr sz="1600">
                <a:latin typeface="Helvetica" panose="020B0604020202030204" pitchFamily="34" charset="0"/>
              </a:defRPr>
            </a:lvl2pPr>
            <a:lvl3pPr>
              <a:defRPr sz="1400">
                <a:latin typeface="Helvetica" panose="020B0604020202030204" pitchFamily="34" charset="0"/>
              </a:defRPr>
            </a:lvl3pPr>
            <a:lvl4pPr>
              <a:defRPr sz="1200">
                <a:latin typeface="Helvetica" panose="020B0604020202030204" pitchFamily="34" charset="0"/>
              </a:defRPr>
            </a:lvl4pPr>
            <a:lvl5pPr>
              <a:defRPr sz="1200">
                <a:latin typeface="Helvetica" panose="020B060402020203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Text Placeholder 12"/>
          <p:cNvSpPr>
            <a:spLocks noGrp="1"/>
          </p:cNvSpPr>
          <p:nvPr>
            <p:ph type="body" sz="quarter" idx="14"/>
          </p:nvPr>
        </p:nvSpPr>
        <p:spPr>
          <a:xfrm>
            <a:off x="329247" y="1143001"/>
            <a:ext cx="11196956" cy="395287"/>
          </a:xfrm>
        </p:spPr>
        <p:txBody>
          <a:bodyPr>
            <a:normAutofit/>
          </a:bodyPr>
          <a:lstStyle>
            <a:lvl1pPr marL="0" indent="0">
              <a:buNone/>
              <a:defRPr sz="2000" b="1">
                <a:solidFill>
                  <a:srgbClr val="1C1573"/>
                </a:solidFill>
                <a:latin typeface="Helvetica" panose="020B0604020202030204" pitchFamily="34" charset="0"/>
              </a:defRPr>
            </a:lvl1pPr>
            <a:lvl2pPr>
              <a:defRPr b="1">
                <a:solidFill>
                  <a:srgbClr val="1C1573"/>
                </a:solidFill>
                <a:latin typeface="Helvetica" panose="020B0604020202030204" pitchFamily="34" charset="0"/>
              </a:defRPr>
            </a:lvl2pPr>
            <a:lvl3pPr>
              <a:defRPr b="1">
                <a:solidFill>
                  <a:srgbClr val="1C1573"/>
                </a:solidFill>
                <a:latin typeface="Helvetica" panose="020B0604020202030204" pitchFamily="34" charset="0"/>
              </a:defRPr>
            </a:lvl3pPr>
            <a:lvl4pPr>
              <a:defRPr b="1">
                <a:solidFill>
                  <a:srgbClr val="1C1573"/>
                </a:solidFill>
                <a:latin typeface="Helvetica" panose="020B0604020202030204" pitchFamily="34" charset="0"/>
              </a:defRPr>
            </a:lvl4pPr>
            <a:lvl5pPr>
              <a:defRPr b="1">
                <a:solidFill>
                  <a:srgbClr val="1C1573"/>
                </a:solidFill>
                <a:latin typeface="Helvetica" panose="020B0604020202030204" pitchFamily="34" charset="0"/>
              </a:defRPr>
            </a:lvl5pPr>
          </a:lstStyle>
          <a:p>
            <a:pPr lvl="0"/>
            <a:r>
              <a:rPr lang="en-US" dirty="0"/>
              <a:t>Click to edit Master text styles</a:t>
            </a:r>
          </a:p>
        </p:txBody>
      </p:sp>
    </p:spTree>
    <p:extLst>
      <p:ext uri="{BB962C8B-B14F-4D97-AF65-F5344CB8AC3E}">
        <p14:creationId xmlns:p14="http://schemas.microsoft.com/office/powerpoint/2010/main" val="7639995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Custom Layout">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4" name="Rectangle 3"/>
          <p:cNvSpPr/>
          <p:nvPr userDrawn="1"/>
        </p:nvSpPr>
        <p:spPr>
          <a:xfrm>
            <a:off x="0" y="3352800"/>
            <a:ext cx="115824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sz="1400" dirty="0">
              <a:latin typeface="Arial" pitchFamily="34" charset="0"/>
              <a:cs typeface="Arial" pitchFamily="34" charset="0"/>
            </a:endParaRPr>
          </a:p>
        </p:txBody>
      </p:sp>
      <p:sp>
        <p:nvSpPr>
          <p:cNvPr id="5" name="Rectangle 4"/>
          <p:cNvSpPr/>
          <p:nvPr userDrawn="1"/>
        </p:nvSpPr>
        <p:spPr>
          <a:xfrm>
            <a:off x="3860800" y="6096000"/>
            <a:ext cx="38608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sz="1400"/>
          </a:p>
        </p:txBody>
      </p:sp>
      <p:sp>
        <p:nvSpPr>
          <p:cNvPr id="6" name="Rectangle 5"/>
          <p:cNvSpPr/>
          <p:nvPr userDrawn="1"/>
        </p:nvSpPr>
        <p:spPr>
          <a:xfrm>
            <a:off x="0" y="6096000"/>
            <a:ext cx="38608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sz="1400"/>
          </a:p>
        </p:txBody>
      </p:sp>
      <p:sp>
        <p:nvSpPr>
          <p:cNvPr id="8" name="Rectangle 7"/>
          <p:cNvSpPr/>
          <p:nvPr userDrawn="1"/>
        </p:nvSpPr>
        <p:spPr>
          <a:xfrm>
            <a:off x="7721600" y="6096000"/>
            <a:ext cx="38608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sz="1400"/>
          </a:p>
        </p:txBody>
      </p:sp>
      <p:pic>
        <p:nvPicPr>
          <p:cNvPr id="9" name="Picture 10" descr="BITS_university_logo_whitevert.png"/>
          <p:cNvPicPr>
            <a:picLocks noChangeAspect="1"/>
          </p:cNvPicPr>
          <p:nvPr userDrawn="1"/>
        </p:nvPicPr>
        <p:blipFill>
          <a:blip r:embed="rId3">
            <a:extLst>
              <a:ext uri="{28A0092B-C50C-407E-A947-70E740481C1C}">
                <a14:useLocalDpi xmlns:a14="http://schemas.microsoft.com/office/drawing/2010/main" val="0"/>
              </a:ext>
            </a:extLst>
          </a:blip>
          <a:srcRect t="2" b="28592"/>
          <a:stretch>
            <a:fillRect/>
          </a:stretch>
        </p:blipFill>
        <p:spPr bwMode="auto">
          <a:xfrm>
            <a:off x="101600" y="3352801"/>
            <a:ext cx="2743200" cy="1979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TextBox 9"/>
          <p:cNvSpPr txBox="1"/>
          <p:nvPr userDrawn="1"/>
        </p:nvSpPr>
        <p:spPr>
          <a:xfrm>
            <a:off x="-101600" y="5257800"/>
            <a:ext cx="2946400" cy="554038"/>
          </a:xfrm>
          <a:prstGeom prst="rect">
            <a:avLst/>
          </a:prstGeom>
          <a:noFill/>
        </p:spPr>
        <p:txBody>
          <a:bodyPr>
            <a:spAutoFit/>
          </a:bodyPr>
          <a:lstStyle/>
          <a:p>
            <a:pPr algn="ctr" fontAlgn="auto">
              <a:spcBef>
                <a:spcPts val="0"/>
              </a:spcBef>
              <a:spcAft>
                <a:spcPts val="0"/>
              </a:spcAft>
              <a:defRPr/>
            </a:pPr>
            <a:r>
              <a:rPr lang="en-US" sz="2900" b="1" spc="-150" dirty="0">
                <a:solidFill>
                  <a:schemeClr val="bg1"/>
                </a:solidFill>
                <a:latin typeface="Arial"/>
                <a:cs typeface="Arial"/>
              </a:rPr>
              <a:t>BITS</a:t>
            </a:r>
            <a:r>
              <a:rPr lang="en-US" sz="2900" spc="-150" dirty="0">
                <a:solidFill>
                  <a:schemeClr val="bg1"/>
                </a:solidFill>
                <a:latin typeface="Arial"/>
                <a:cs typeface="Arial"/>
              </a:rPr>
              <a:t> Pilani</a:t>
            </a:r>
          </a:p>
        </p:txBody>
      </p:sp>
      <p:sp>
        <p:nvSpPr>
          <p:cNvPr id="11" name="TextBox 10"/>
          <p:cNvSpPr txBox="1"/>
          <p:nvPr userDrawn="1"/>
        </p:nvSpPr>
        <p:spPr>
          <a:xfrm>
            <a:off x="203200" y="5667376"/>
            <a:ext cx="2540000" cy="276225"/>
          </a:xfrm>
          <a:prstGeom prst="rect">
            <a:avLst/>
          </a:prstGeom>
          <a:noFill/>
        </p:spPr>
        <p:txBody>
          <a:bodyPr>
            <a:spAutoFit/>
          </a:bodyPr>
          <a:lstStyle/>
          <a:p>
            <a:pPr fontAlgn="auto">
              <a:spcBef>
                <a:spcPts val="0"/>
              </a:spcBef>
              <a:spcAft>
                <a:spcPts val="0"/>
              </a:spcAft>
              <a:defRPr/>
            </a:pPr>
            <a:r>
              <a:rPr lang="en-US" sz="1200" dirty="0">
                <a:solidFill>
                  <a:srgbClr val="FFFFFF"/>
                </a:solidFill>
                <a:latin typeface="Arial"/>
                <a:cs typeface="Arial"/>
              </a:rPr>
              <a:t>Pilani Campus</a:t>
            </a:r>
          </a:p>
        </p:txBody>
      </p:sp>
      <p:sp>
        <p:nvSpPr>
          <p:cNvPr id="7" name="Content Placeholder 6"/>
          <p:cNvSpPr>
            <a:spLocks noGrp="1"/>
          </p:cNvSpPr>
          <p:nvPr>
            <p:ph sz="quarter" idx="13"/>
          </p:nvPr>
        </p:nvSpPr>
        <p:spPr>
          <a:xfrm>
            <a:off x="3352800" y="5410200"/>
            <a:ext cx="8026400" cy="533400"/>
          </a:xfrm>
        </p:spPr>
        <p:txBody>
          <a:bodyPr anchor="b">
            <a:noAutofit/>
          </a:bodyPr>
          <a:lstStyle>
            <a:lvl1pPr marL="0" indent="0" algn="r">
              <a:lnSpc>
                <a:spcPts val="1800"/>
              </a:lnSpc>
              <a:spcBef>
                <a:spcPts val="0"/>
              </a:spcBef>
              <a:buNone/>
              <a:defRPr sz="1800" baseline="0">
                <a:solidFill>
                  <a:schemeClr val="bg1"/>
                </a:solidFill>
              </a:defRPr>
            </a:lvl1pPr>
          </a:lstStyle>
          <a:p>
            <a:pPr lvl="0"/>
            <a:r>
              <a:rPr lang="en-US"/>
              <a:t>Click to edit Master text styles</a:t>
            </a:r>
          </a:p>
          <a:p>
            <a:pPr lvl="1"/>
            <a:r>
              <a:rPr lang="en-US"/>
              <a:t>Second level</a:t>
            </a:r>
          </a:p>
        </p:txBody>
      </p:sp>
      <p:sp>
        <p:nvSpPr>
          <p:cNvPr id="2" name="Title 1"/>
          <p:cNvSpPr>
            <a:spLocks noGrp="1"/>
          </p:cNvSpPr>
          <p:nvPr>
            <p:ph type="title"/>
          </p:nvPr>
        </p:nvSpPr>
        <p:spPr>
          <a:xfrm>
            <a:off x="3352800" y="3810000"/>
            <a:ext cx="8026400" cy="1524000"/>
          </a:xfrm>
        </p:spPr>
        <p:txBody>
          <a:bodyPr anchorCtr="0">
            <a:noAutofit/>
          </a:bodyPr>
          <a:lstStyle>
            <a:lvl1pPr algn="l">
              <a:lnSpc>
                <a:spcPts val="4000"/>
              </a:lnSpc>
              <a:defRPr sz="4400" baseline="0">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12369433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Section Header">
    <p:spTree>
      <p:nvGrpSpPr>
        <p:cNvPr id="1" name=""/>
        <p:cNvGrpSpPr/>
        <p:nvPr/>
      </p:nvGrpSpPr>
      <p:grpSpPr>
        <a:xfrm>
          <a:off x="0" y="0"/>
          <a:ext cx="0" cy="0"/>
          <a:chOff x="0" y="0"/>
          <a:chExt cx="0" cy="0"/>
        </a:xfrm>
      </p:grpSpPr>
      <p:pic>
        <p:nvPicPr>
          <p:cNvPr id="3" name="Picture 6" descr="\\Server\D\jyoti\FI023_BITS_v1\styleguide img\IMG_5627_b.jp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3"/>
          <p:cNvSpPr/>
          <p:nvPr userDrawn="1"/>
        </p:nvSpPr>
        <p:spPr>
          <a:xfrm>
            <a:off x="0" y="4281488"/>
            <a:ext cx="12192000" cy="2576512"/>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sz="1400"/>
          </a:p>
        </p:txBody>
      </p:sp>
      <p:pic>
        <p:nvPicPr>
          <p:cNvPr id="5" name="Picture 8" descr="Picture 7.png"/>
          <p:cNvPicPr>
            <a:picLocks noChangeAspect="1"/>
          </p:cNvPicPr>
          <p:nvPr userDrawn="1"/>
        </p:nvPicPr>
        <p:blipFill>
          <a:blip r:embed="rId3">
            <a:extLst>
              <a:ext uri="{28A0092B-C50C-407E-A947-70E740481C1C}">
                <a14:useLocalDpi xmlns:a14="http://schemas.microsoft.com/office/drawing/2010/main" val="0"/>
              </a:ext>
            </a:extLst>
          </a:blip>
          <a:srcRect l="1923" b="5336"/>
          <a:stretch>
            <a:fillRect/>
          </a:stretch>
        </p:blipFill>
        <p:spPr bwMode="auto">
          <a:xfrm>
            <a:off x="8839201" y="0"/>
            <a:ext cx="2925233"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5"/>
          <p:cNvSpPr/>
          <p:nvPr userDrawn="1"/>
        </p:nvSpPr>
        <p:spPr>
          <a:xfrm>
            <a:off x="3843867" y="6775450"/>
            <a:ext cx="38608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sz="1400"/>
          </a:p>
        </p:txBody>
      </p:sp>
      <p:sp>
        <p:nvSpPr>
          <p:cNvPr id="7" name="Rectangle 6"/>
          <p:cNvSpPr/>
          <p:nvPr userDrawn="1"/>
        </p:nvSpPr>
        <p:spPr>
          <a:xfrm>
            <a:off x="-16933" y="6775450"/>
            <a:ext cx="38608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sz="1400"/>
          </a:p>
        </p:txBody>
      </p:sp>
      <p:sp>
        <p:nvSpPr>
          <p:cNvPr id="8" name="Rectangle 7"/>
          <p:cNvSpPr/>
          <p:nvPr userDrawn="1"/>
        </p:nvSpPr>
        <p:spPr>
          <a:xfrm>
            <a:off x="7704667" y="6775450"/>
            <a:ext cx="38608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sz="1400"/>
          </a:p>
        </p:txBody>
      </p:sp>
      <p:sp>
        <p:nvSpPr>
          <p:cNvPr id="9" name="TextBox 8"/>
          <p:cNvSpPr txBox="1"/>
          <p:nvPr userDrawn="1"/>
        </p:nvSpPr>
        <p:spPr>
          <a:xfrm>
            <a:off x="9144000" y="762000"/>
            <a:ext cx="2946400" cy="554038"/>
          </a:xfrm>
          <a:prstGeom prst="rect">
            <a:avLst/>
          </a:prstGeom>
          <a:noFill/>
        </p:spPr>
        <p:txBody>
          <a:bodyPr>
            <a:spAutoFit/>
          </a:bodyPr>
          <a:lstStyle/>
          <a:p>
            <a:pPr algn="ctr" fontAlgn="auto">
              <a:spcBef>
                <a:spcPts val="0"/>
              </a:spcBef>
              <a:spcAft>
                <a:spcPts val="0"/>
              </a:spcAft>
              <a:defRPr/>
            </a:pPr>
            <a:r>
              <a:rPr lang="en-US" sz="2900" b="1" spc="-150" dirty="0">
                <a:solidFill>
                  <a:schemeClr val="bg1"/>
                </a:solidFill>
                <a:latin typeface="Arial"/>
                <a:cs typeface="Arial"/>
              </a:rPr>
              <a:t>BITS</a:t>
            </a:r>
            <a:r>
              <a:rPr lang="en-US" sz="2900" spc="-150" dirty="0">
                <a:solidFill>
                  <a:schemeClr val="bg1"/>
                </a:solidFill>
                <a:latin typeface="Arial"/>
                <a:cs typeface="Arial"/>
              </a:rPr>
              <a:t> Pilani</a:t>
            </a:r>
          </a:p>
        </p:txBody>
      </p:sp>
      <p:sp>
        <p:nvSpPr>
          <p:cNvPr id="10" name="TextBox 9"/>
          <p:cNvSpPr txBox="1"/>
          <p:nvPr userDrawn="1"/>
        </p:nvSpPr>
        <p:spPr>
          <a:xfrm>
            <a:off x="9448800" y="1171576"/>
            <a:ext cx="2540000" cy="276225"/>
          </a:xfrm>
          <a:prstGeom prst="rect">
            <a:avLst/>
          </a:prstGeom>
          <a:noFill/>
        </p:spPr>
        <p:txBody>
          <a:bodyPr>
            <a:spAutoFit/>
          </a:bodyPr>
          <a:lstStyle/>
          <a:p>
            <a:pPr fontAlgn="auto">
              <a:spcBef>
                <a:spcPts val="0"/>
              </a:spcBef>
              <a:spcAft>
                <a:spcPts val="0"/>
              </a:spcAft>
              <a:defRPr/>
            </a:pPr>
            <a:r>
              <a:rPr lang="en-US" sz="1200" dirty="0">
                <a:solidFill>
                  <a:srgbClr val="FFFFFF"/>
                </a:solidFill>
                <a:latin typeface="Arial"/>
                <a:cs typeface="Arial"/>
              </a:rPr>
              <a:t>Pilani Campus</a:t>
            </a:r>
          </a:p>
        </p:txBody>
      </p:sp>
      <p:sp>
        <p:nvSpPr>
          <p:cNvPr id="17" name="Content Placeholder 16"/>
          <p:cNvSpPr>
            <a:spLocks noGrp="1"/>
          </p:cNvSpPr>
          <p:nvPr>
            <p:ph sz="quarter" idx="10"/>
          </p:nvPr>
        </p:nvSpPr>
        <p:spPr>
          <a:xfrm>
            <a:off x="406400" y="4648200"/>
            <a:ext cx="11277600" cy="1600200"/>
          </a:xfrm>
        </p:spPr>
        <p:txBody>
          <a:bodyPr>
            <a:noAutofit/>
          </a:bodyPr>
          <a:lstStyle>
            <a:lvl1pPr marL="0" indent="0">
              <a:lnSpc>
                <a:spcPts val="4200"/>
              </a:lnSpc>
              <a:spcBef>
                <a:spcPts val="0"/>
              </a:spcBef>
              <a:buNone/>
              <a:defRPr sz="4000" b="1" spc="-150" baseline="0">
                <a:latin typeface="Arial" pitchFamily="34" charset="0"/>
                <a:cs typeface="Arial" pitchFamily="34" charset="0"/>
              </a:defRPr>
            </a:lvl1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5611199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6_Title and Content">
    <p:spTree>
      <p:nvGrpSpPr>
        <p:cNvPr id="1" name=""/>
        <p:cNvGrpSpPr/>
        <p:nvPr/>
      </p:nvGrpSpPr>
      <p:grpSpPr>
        <a:xfrm>
          <a:off x="0" y="0"/>
          <a:ext cx="0" cy="0"/>
          <a:chOff x="0" y="0"/>
          <a:chExt cx="0" cy="0"/>
        </a:xfrm>
      </p:grpSpPr>
      <p:grpSp>
        <p:nvGrpSpPr>
          <p:cNvPr id="5" name="Group 11"/>
          <p:cNvGrpSpPr>
            <a:grpSpLocks/>
          </p:cNvGrpSpPr>
          <p:nvPr userDrawn="1"/>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sz="1400"/>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sz="1400"/>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sz="1400"/>
            </a:p>
          </p:txBody>
        </p:sp>
      </p:grpSp>
      <p:pic>
        <p:nvPicPr>
          <p:cNvPr id="9" name="Picture 11" descr="Picture 7.png"/>
          <p:cNvPicPr>
            <a:picLocks noChangeAspect="1"/>
          </p:cNvPicPr>
          <p:nvPr userDrawn="1"/>
        </p:nvPicPr>
        <p:blipFill>
          <a:blip r:embed="rId2">
            <a:extLst>
              <a:ext uri="{28A0092B-C50C-407E-A947-70E740481C1C}">
                <a14:useLocalDpi xmlns:a14="http://schemas.microsoft.com/office/drawing/2010/main" val="0"/>
              </a:ext>
            </a:extLst>
          </a:blip>
          <a:srcRect l="1923" b="5336"/>
          <a:stretch>
            <a:fillRect/>
          </a:stretch>
        </p:blipFill>
        <p:spPr bwMode="auto">
          <a:xfrm>
            <a:off x="8839201" y="0"/>
            <a:ext cx="2925233"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 name="Group 18"/>
          <p:cNvGrpSpPr>
            <a:grpSpLocks/>
          </p:cNvGrpSpPr>
          <p:nvPr userDrawn="1"/>
        </p:nvGrpSpPr>
        <p:grpSpPr bwMode="auto">
          <a:xfrm>
            <a:off x="2844800" y="6553200"/>
            <a:ext cx="93472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sz="1400"/>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sz="1400"/>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sz="1400"/>
            </a:p>
          </p:txBody>
        </p:sp>
      </p:grpSp>
      <p:grpSp>
        <p:nvGrpSpPr>
          <p:cNvPr id="14" name="Group 22"/>
          <p:cNvGrpSpPr>
            <a:grpSpLocks/>
          </p:cNvGrpSpPr>
          <p:nvPr userDrawn="1"/>
        </p:nvGrpSpPr>
        <p:grpSpPr bwMode="auto">
          <a:xfrm>
            <a:off x="0" y="1295400"/>
            <a:ext cx="9347200" cy="46038"/>
            <a:chOff x="1905000" y="6553200"/>
            <a:chExt cx="7010400" cy="45719"/>
          </a:xfrm>
        </p:grpSpPr>
        <p:sp>
          <p:nvSpPr>
            <p:cNvPr id="15" name="Rectangle 14"/>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sz="1400"/>
            </a:p>
          </p:txBody>
        </p:sp>
        <p:sp>
          <p:nvSpPr>
            <p:cNvPr id="16" name="Rectangle 1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sz="1400"/>
            </a:p>
          </p:txBody>
        </p:sp>
        <p:sp>
          <p:nvSpPr>
            <p:cNvPr id="17" name="Rectangle 1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sz="1400"/>
            </a:p>
          </p:txBody>
        </p:sp>
      </p:grpSp>
      <p:sp>
        <p:nvSpPr>
          <p:cNvPr id="3" name="Content Placeholder 2"/>
          <p:cNvSpPr>
            <a:spLocks noGrp="1"/>
          </p:cNvSpPr>
          <p:nvPr>
            <p:ph idx="1"/>
          </p:nvPr>
        </p:nvSpPr>
        <p:spPr>
          <a:xfrm>
            <a:off x="406400" y="1493838"/>
            <a:ext cx="109728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Arial" pitchFamily="34" charset="0"/>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406400" y="152400"/>
            <a:ext cx="84328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a:t>Click to edit Master text styles</a:t>
            </a:r>
          </a:p>
        </p:txBody>
      </p:sp>
      <p:sp>
        <p:nvSpPr>
          <p:cNvPr id="2" name="Date Placeholder 1"/>
          <p:cNvSpPr>
            <a:spLocks noGrp="1"/>
          </p:cNvSpPr>
          <p:nvPr>
            <p:ph type="dt" sz="half" idx="11"/>
          </p:nvPr>
        </p:nvSpPr>
        <p:spPr/>
        <p:txBody>
          <a:bodyPr/>
          <a:lstStyle/>
          <a:p>
            <a:fld id="{367210A1-D9D8-4406-AA8C-189570548DAB}" type="datetime1">
              <a:rPr lang="en-US" smtClean="0"/>
              <a:t>9/4/2026</a:t>
            </a:fld>
            <a:endParaRPr lang="en-US" dirty="0"/>
          </a:p>
        </p:txBody>
      </p:sp>
      <p:sp>
        <p:nvSpPr>
          <p:cNvPr id="18" name="Footer Placeholder 17"/>
          <p:cNvSpPr>
            <a:spLocks noGrp="1"/>
          </p:cNvSpPr>
          <p:nvPr>
            <p:ph type="ftr" sz="quarter" idx="12"/>
          </p:nvPr>
        </p:nvSpPr>
        <p:spPr/>
        <p:txBody>
          <a:bodyPr/>
          <a:lstStyle/>
          <a:p>
            <a:endParaRPr lang="en-US" dirty="0"/>
          </a:p>
        </p:txBody>
      </p:sp>
      <p:sp>
        <p:nvSpPr>
          <p:cNvPr id="19" name="Slide Number Placeholder 18"/>
          <p:cNvSpPr>
            <a:spLocks noGrp="1"/>
          </p:cNvSpPr>
          <p:nvPr>
            <p:ph type="sldNum" sz="quarter" idx="13"/>
          </p:nvPr>
        </p:nvSpPr>
        <p:spPr/>
        <p:txBody>
          <a:bodyPr/>
          <a:lstStyle/>
          <a:p>
            <a:fld id="{419D97FF-0E15-4DEA-9B96-99199D6F8EB2}" type="slidenum">
              <a:rPr lang="en-US" smtClean="0"/>
              <a:t>‹#›</a:t>
            </a:fld>
            <a:endParaRPr lang="en-US"/>
          </a:p>
        </p:txBody>
      </p:sp>
    </p:spTree>
    <p:extLst>
      <p:ext uri="{BB962C8B-B14F-4D97-AF65-F5344CB8AC3E}">
        <p14:creationId xmlns:p14="http://schemas.microsoft.com/office/powerpoint/2010/main" val="194165003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55" r:id="rId1"/>
    <p:sldLayoutId id="2147483656" r:id="rId2"/>
    <p:sldLayoutId id="2147483658" r:id="rId3"/>
    <p:sldLayoutId id="2147483659" r:id="rId4"/>
    <p:sldLayoutId id="2147483660" r:id="rId5"/>
    <p:sldLayoutId id="2147483663" r:id="rId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hyperlink" Target="https://ieeexplore.ieee.org/stamp/stamp.jsp?tp=&amp;arnumber=9121629"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2879003" y="3810000"/>
            <a:ext cx="8500198" cy="1524000"/>
          </a:xfrm>
        </p:spPr>
        <p:txBody>
          <a:bodyPr/>
          <a:lstStyle/>
          <a:p>
            <a:pPr>
              <a:defRPr/>
            </a:pPr>
            <a:r>
              <a:rPr lang="en-US" sz="4000" dirty="0"/>
              <a:t>AI-Augmented Software Development Life Cycle </a:t>
            </a:r>
            <a:br>
              <a:rPr lang="en-US" sz="4000" dirty="0"/>
            </a:br>
            <a:r>
              <a:rPr lang="en-US" sz="4000" dirty="0"/>
              <a:t>SEZG534</a:t>
            </a:r>
          </a:p>
        </p:txBody>
      </p:sp>
      <p:sp>
        <p:nvSpPr>
          <p:cNvPr id="13315" name="Content Placeholder 5"/>
          <p:cNvSpPr>
            <a:spLocks noGrp="1"/>
          </p:cNvSpPr>
          <p:nvPr>
            <p:ph sz="quarter" idx="13"/>
          </p:nvPr>
        </p:nvSpPr>
        <p:spPr/>
        <p:txBody>
          <a:bodyPr/>
          <a:lstStyle/>
          <a:p>
            <a:pPr eaLnBrk="1" hangingPunct="1">
              <a:spcBef>
                <a:spcPct val="0"/>
              </a:spcBef>
            </a:pPr>
            <a:r>
              <a:rPr lang="en-US" altLang="en-US" dirty="0" err="1"/>
              <a:t>Akshaya</a:t>
            </a:r>
            <a:r>
              <a:rPr lang="en-US" altLang="en-US" dirty="0"/>
              <a:t> </a:t>
            </a:r>
            <a:r>
              <a:rPr lang="en-US" altLang="en-US" dirty="0" err="1"/>
              <a:t>Ganesan</a:t>
            </a:r>
            <a:endParaRPr lang="en-US" altLang="en-US" dirty="0"/>
          </a:p>
          <a:p>
            <a:pPr eaLnBrk="1" hangingPunct="1">
              <a:spcBef>
                <a:spcPct val="0"/>
              </a:spcBef>
            </a:pPr>
            <a:r>
              <a:rPr lang="en-US" altLang="en-US" dirty="0"/>
              <a:t>CSIS, WILP</a:t>
            </a:r>
          </a:p>
        </p:txBody>
      </p:sp>
    </p:spTree>
    <p:extLst>
      <p:ext uri="{BB962C8B-B14F-4D97-AF65-F5344CB8AC3E}">
        <p14:creationId xmlns:p14="http://schemas.microsoft.com/office/powerpoint/2010/main" val="20187722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pPr>
              <a:spcBef>
                <a:spcPct val="0"/>
              </a:spcBef>
              <a:defRPr/>
            </a:pPr>
            <a:r>
              <a:rPr lang="en-US" sz="3600" dirty="0">
                <a:latin typeface="Arial" charset="0"/>
                <a:cs typeface="Arial" charset="0"/>
              </a:rPr>
              <a:t>Contact Session: 7 </a:t>
            </a:r>
            <a:r>
              <a:rPr lang="en-US" dirty="0">
                <a:latin typeface="Arial" charset="0"/>
                <a:cs typeface="Arial" charset="0"/>
              </a:rPr>
              <a:t>– Fundamentals of AI</a:t>
            </a:r>
            <a:endParaRPr lang="en-US" sz="3600" dirty="0">
              <a:latin typeface="Arial" charset="0"/>
              <a:cs typeface="Arial" charset="0"/>
            </a:endParaRPr>
          </a:p>
        </p:txBody>
      </p:sp>
    </p:spTree>
    <p:extLst>
      <p:ext uri="{BB962C8B-B14F-4D97-AF65-F5344CB8AC3E}">
        <p14:creationId xmlns:p14="http://schemas.microsoft.com/office/powerpoint/2010/main" val="9871699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6062F1B-79DE-437E-C0EB-7BD64039DB2C}"/>
              </a:ext>
            </a:extLst>
          </p:cNvPr>
          <p:cNvSpPr>
            <a:spLocks noGrp="1"/>
          </p:cNvSpPr>
          <p:nvPr>
            <p:ph type="body" idx="1"/>
          </p:nvPr>
        </p:nvSpPr>
        <p:spPr/>
        <p:txBody>
          <a:bodyPr/>
          <a:lstStyle/>
          <a:p>
            <a:endParaRPr lang="en-US"/>
          </a:p>
        </p:txBody>
      </p:sp>
      <p:sp>
        <p:nvSpPr>
          <p:cNvPr id="3" name="Text Placeholder 2">
            <a:extLst>
              <a:ext uri="{FF2B5EF4-FFF2-40B4-BE49-F238E27FC236}">
                <a16:creationId xmlns:a16="http://schemas.microsoft.com/office/drawing/2014/main" id="{FCA27244-84B9-36FE-9CFA-77D1332E41FB}"/>
              </a:ext>
            </a:extLst>
          </p:cNvPr>
          <p:cNvSpPr>
            <a:spLocks noGrp="1"/>
          </p:cNvSpPr>
          <p:nvPr>
            <p:ph type="body" idx="2"/>
          </p:nvPr>
        </p:nvSpPr>
        <p:spPr/>
        <p:txBody>
          <a:bodyPr/>
          <a:lstStyle/>
          <a:p>
            <a:r>
              <a:rPr lang="en-US" i="1" dirty="0"/>
              <a:t>Prompt-based techniques, which include prompt engineering, adapt a</a:t>
            </a:r>
          </a:p>
          <a:p>
            <a:pPr marL="76200" indent="0">
              <a:buNone/>
            </a:pPr>
            <a:r>
              <a:rPr lang="en-US" i="1" dirty="0"/>
              <a:t>	model without updating the model weights.</a:t>
            </a:r>
          </a:p>
          <a:p>
            <a:r>
              <a:rPr lang="en-US" i="1" dirty="0"/>
              <a:t>Finetuning, on the other hand, requires updating model weights.</a:t>
            </a:r>
          </a:p>
          <a:p>
            <a:endParaRPr lang="en-US" i="1" dirty="0"/>
          </a:p>
          <a:p>
            <a:endParaRPr lang="en-US" dirty="0"/>
          </a:p>
        </p:txBody>
      </p:sp>
      <p:sp>
        <p:nvSpPr>
          <p:cNvPr id="4" name="Title 3">
            <a:extLst>
              <a:ext uri="{FF2B5EF4-FFF2-40B4-BE49-F238E27FC236}">
                <a16:creationId xmlns:a16="http://schemas.microsoft.com/office/drawing/2014/main" id="{A83AF78E-846C-A315-C1DC-91235A3C305F}"/>
              </a:ext>
            </a:extLst>
          </p:cNvPr>
          <p:cNvSpPr>
            <a:spLocks noGrp="1"/>
          </p:cNvSpPr>
          <p:nvPr>
            <p:ph type="title"/>
          </p:nvPr>
        </p:nvSpPr>
        <p:spPr/>
        <p:txBody>
          <a:bodyPr/>
          <a:lstStyle/>
          <a:p>
            <a:r>
              <a:rPr lang="en-US" dirty="0"/>
              <a:t>Prompt Engineering Vs Finetuning</a:t>
            </a:r>
          </a:p>
        </p:txBody>
      </p:sp>
    </p:spTree>
    <p:extLst>
      <p:ext uri="{BB962C8B-B14F-4D97-AF65-F5344CB8AC3E}">
        <p14:creationId xmlns:p14="http://schemas.microsoft.com/office/powerpoint/2010/main" val="35700153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75E2406-D9B0-DC79-F5C6-5F353E08402B}"/>
              </a:ext>
            </a:extLst>
          </p:cNvPr>
          <p:cNvSpPr>
            <a:spLocks noGrp="1"/>
          </p:cNvSpPr>
          <p:nvPr>
            <p:ph type="body" idx="1"/>
          </p:nvPr>
        </p:nvSpPr>
        <p:spPr/>
        <p:txBody>
          <a:bodyPr/>
          <a:lstStyle/>
          <a:p>
            <a:endParaRPr lang="en-US"/>
          </a:p>
        </p:txBody>
      </p:sp>
      <p:sp>
        <p:nvSpPr>
          <p:cNvPr id="3" name="Text Placeholder 2">
            <a:extLst>
              <a:ext uri="{FF2B5EF4-FFF2-40B4-BE49-F238E27FC236}">
                <a16:creationId xmlns:a16="http://schemas.microsoft.com/office/drawing/2014/main" id="{8F3FC513-D948-9604-1F26-0249EA13C8F7}"/>
              </a:ext>
            </a:extLst>
          </p:cNvPr>
          <p:cNvSpPr>
            <a:spLocks noGrp="1"/>
          </p:cNvSpPr>
          <p:nvPr>
            <p:ph type="body" idx="2"/>
          </p:nvPr>
        </p:nvSpPr>
        <p:spPr/>
        <p:txBody>
          <a:bodyPr/>
          <a:lstStyle/>
          <a:p>
            <a:endParaRPr lang="en-US" dirty="0"/>
          </a:p>
        </p:txBody>
      </p:sp>
      <p:sp>
        <p:nvSpPr>
          <p:cNvPr id="4" name="Title 3">
            <a:extLst>
              <a:ext uri="{FF2B5EF4-FFF2-40B4-BE49-F238E27FC236}">
                <a16:creationId xmlns:a16="http://schemas.microsoft.com/office/drawing/2014/main" id="{776B2442-1054-21F9-693F-A83BE2C4DC49}"/>
              </a:ext>
            </a:extLst>
          </p:cNvPr>
          <p:cNvSpPr>
            <a:spLocks noGrp="1"/>
          </p:cNvSpPr>
          <p:nvPr>
            <p:ph type="title"/>
          </p:nvPr>
        </p:nvSpPr>
        <p:spPr/>
        <p:txBody>
          <a:bodyPr/>
          <a:lstStyle/>
          <a:p>
            <a:r>
              <a:rPr lang="en-US" dirty="0"/>
              <a:t>Prompt vs Context vs Harness</a:t>
            </a:r>
          </a:p>
        </p:txBody>
      </p:sp>
      <p:graphicFrame>
        <p:nvGraphicFramePr>
          <p:cNvPr id="5" name="Table 4">
            <a:extLst>
              <a:ext uri="{FF2B5EF4-FFF2-40B4-BE49-F238E27FC236}">
                <a16:creationId xmlns:a16="http://schemas.microsoft.com/office/drawing/2014/main" id="{EF693680-5EC1-300A-D4BE-5E408E4A8246}"/>
              </a:ext>
            </a:extLst>
          </p:cNvPr>
          <p:cNvGraphicFramePr>
            <a:graphicFrameLocks noGrp="1"/>
          </p:cNvGraphicFramePr>
          <p:nvPr>
            <p:extLst>
              <p:ext uri="{D42A27DB-BD31-4B8C-83A1-F6EECF244321}">
                <p14:modId xmlns:p14="http://schemas.microsoft.com/office/powerpoint/2010/main" val="1939450487"/>
              </p:ext>
            </p:extLst>
          </p:nvPr>
        </p:nvGraphicFramePr>
        <p:xfrm>
          <a:off x="838200" y="2236206"/>
          <a:ext cx="10515600" cy="2999528"/>
        </p:xfrm>
        <a:graphic>
          <a:graphicData uri="http://schemas.openxmlformats.org/drawingml/2006/table">
            <a:tbl>
              <a:tblPr>
                <a:tableStyleId>{51A0E78D-CFBE-46A0-B656-1FB9B1C8EDF3}</a:tableStyleId>
              </a:tblPr>
              <a:tblGrid>
                <a:gridCol w="2095123">
                  <a:extLst>
                    <a:ext uri="{9D8B030D-6E8A-4147-A177-3AD203B41FA5}">
                      <a16:colId xmlns:a16="http://schemas.microsoft.com/office/drawing/2014/main" val="2755860488"/>
                    </a:ext>
                  </a:extLst>
                </a:gridCol>
                <a:gridCol w="2752253">
                  <a:extLst>
                    <a:ext uri="{9D8B030D-6E8A-4147-A177-3AD203B41FA5}">
                      <a16:colId xmlns:a16="http://schemas.microsoft.com/office/drawing/2014/main" val="2463419065"/>
                    </a:ext>
                  </a:extLst>
                </a:gridCol>
                <a:gridCol w="2652666">
                  <a:extLst>
                    <a:ext uri="{9D8B030D-6E8A-4147-A177-3AD203B41FA5}">
                      <a16:colId xmlns:a16="http://schemas.microsoft.com/office/drawing/2014/main" val="255931293"/>
                    </a:ext>
                  </a:extLst>
                </a:gridCol>
                <a:gridCol w="3015558">
                  <a:extLst>
                    <a:ext uri="{9D8B030D-6E8A-4147-A177-3AD203B41FA5}">
                      <a16:colId xmlns:a16="http://schemas.microsoft.com/office/drawing/2014/main" val="2016187908"/>
                    </a:ext>
                  </a:extLst>
                </a:gridCol>
              </a:tblGrid>
              <a:tr h="486410">
                <a:tc>
                  <a:txBody>
                    <a:bodyPr/>
                    <a:lstStyle/>
                    <a:p>
                      <a:pPr marL="0" marR="0" rtl="0">
                        <a:spcAft>
                          <a:spcPts val="2400"/>
                        </a:spcAft>
                        <a:buNone/>
                      </a:pPr>
                      <a:r>
                        <a:rPr lang="en-US">
                          <a:effectLst/>
                        </a:rPr>
                        <a:t>Feature</a:t>
                      </a:r>
                      <a:endParaRPr lang="en-US">
                        <a:solidFill>
                          <a:srgbClr val="1F1F1F"/>
                        </a:solidFill>
                        <a:effectLst/>
                        <a:latin typeface="Google Sans Text"/>
                      </a:endParaRPr>
                    </a:p>
                  </a:txBody>
                  <a:tcPr marL="114300" marR="114300" marT="76200" marB="76200" anchor="ctr"/>
                </a:tc>
                <a:tc>
                  <a:txBody>
                    <a:bodyPr/>
                    <a:lstStyle/>
                    <a:p>
                      <a:pPr marL="0" marR="0" rtl="0">
                        <a:spcAft>
                          <a:spcPts val="2400"/>
                        </a:spcAft>
                        <a:buNone/>
                      </a:pPr>
                      <a:r>
                        <a:rPr lang="en-US">
                          <a:effectLst/>
                        </a:rPr>
                        <a:t>The Prompt</a:t>
                      </a:r>
                      <a:endParaRPr lang="en-US">
                        <a:solidFill>
                          <a:srgbClr val="1F1F1F"/>
                        </a:solidFill>
                        <a:effectLst/>
                        <a:latin typeface="Google Sans Text"/>
                      </a:endParaRPr>
                    </a:p>
                  </a:txBody>
                  <a:tcPr marL="114300" marR="114300" marT="76200" marB="76200" anchor="ctr"/>
                </a:tc>
                <a:tc>
                  <a:txBody>
                    <a:bodyPr/>
                    <a:lstStyle/>
                    <a:p>
                      <a:pPr marL="0" marR="0" rtl="0">
                        <a:spcAft>
                          <a:spcPts val="2400"/>
                        </a:spcAft>
                        <a:buNone/>
                      </a:pPr>
                      <a:r>
                        <a:rPr lang="en-US">
                          <a:effectLst/>
                        </a:rPr>
                        <a:t>The Context</a:t>
                      </a:r>
                      <a:endParaRPr lang="en-US">
                        <a:solidFill>
                          <a:srgbClr val="1F1F1F"/>
                        </a:solidFill>
                        <a:effectLst/>
                        <a:latin typeface="Google Sans Text"/>
                      </a:endParaRPr>
                    </a:p>
                  </a:txBody>
                  <a:tcPr marL="114300" marR="114300" marT="76200" marB="76200" anchor="ctr"/>
                </a:tc>
                <a:tc>
                  <a:txBody>
                    <a:bodyPr/>
                    <a:lstStyle/>
                    <a:p>
                      <a:pPr marL="0" marR="0" rtl="0">
                        <a:spcAft>
                          <a:spcPts val="2400"/>
                        </a:spcAft>
                        <a:buNone/>
                      </a:pPr>
                      <a:r>
                        <a:rPr lang="en-US" dirty="0">
                          <a:effectLst/>
                        </a:rPr>
                        <a:t>The Harness</a:t>
                      </a:r>
                      <a:endParaRPr lang="en-US" dirty="0">
                        <a:solidFill>
                          <a:srgbClr val="1F1F1F"/>
                        </a:solidFill>
                        <a:effectLst/>
                        <a:latin typeface="Google Sans Text"/>
                      </a:endParaRPr>
                    </a:p>
                  </a:txBody>
                  <a:tcPr marL="114300" marR="114300" marT="76200" marB="76200" anchor="ctr"/>
                </a:tc>
                <a:extLst>
                  <a:ext uri="{0D108BD9-81ED-4DB2-BD59-A6C34878D82A}">
                    <a16:rowId xmlns:a16="http://schemas.microsoft.com/office/drawing/2014/main" val="1088651137"/>
                  </a:ext>
                </a:extLst>
              </a:tr>
              <a:tr h="486410">
                <a:tc>
                  <a:txBody>
                    <a:bodyPr/>
                    <a:lstStyle/>
                    <a:p>
                      <a:pPr marL="0" marR="0" rtl="0">
                        <a:spcAft>
                          <a:spcPts val="2400"/>
                        </a:spcAft>
                        <a:buNone/>
                      </a:pPr>
                      <a:r>
                        <a:rPr lang="en-US">
                          <a:effectLst/>
                        </a:rPr>
                        <a:t>What it is</a:t>
                      </a:r>
                      <a:endParaRPr lang="en-US">
                        <a:solidFill>
                          <a:srgbClr val="1F1F1F"/>
                        </a:solidFill>
                        <a:effectLst/>
                        <a:latin typeface="Google Sans Text"/>
                      </a:endParaRPr>
                    </a:p>
                  </a:txBody>
                  <a:tcPr marL="114300" marR="114300" marT="76200" marB="76200" anchor="ctr"/>
                </a:tc>
                <a:tc>
                  <a:txBody>
                    <a:bodyPr/>
                    <a:lstStyle/>
                    <a:p>
                      <a:pPr marL="0" marR="0" rtl="0">
                        <a:spcAft>
                          <a:spcPts val="2400"/>
                        </a:spcAft>
                        <a:buNone/>
                      </a:pPr>
                      <a:r>
                        <a:rPr lang="en-US" dirty="0">
                          <a:effectLst/>
                        </a:rPr>
                        <a:t>The task or question.</a:t>
                      </a:r>
                      <a:endParaRPr lang="en-US" dirty="0">
                        <a:solidFill>
                          <a:srgbClr val="1F1F1F"/>
                        </a:solidFill>
                        <a:effectLst/>
                        <a:latin typeface="Google Sans Text"/>
                      </a:endParaRPr>
                    </a:p>
                  </a:txBody>
                  <a:tcPr marL="114300" marR="114300" marT="76200" marB="76200" anchor="ctr"/>
                </a:tc>
                <a:tc>
                  <a:txBody>
                    <a:bodyPr/>
                    <a:lstStyle/>
                    <a:p>
                      <a:pPr marL="0" marR="0" rtl="0">
                        <a:spcAft>
                          <a:spcPts val="2400"/>
                        </a:spcAft>
                        <a:buNone/>
                      </a:pPr>
                      <a:r>
                        <a:rPr lang="en-US">
                          <a:effectLst/>
                        </a:rPr>
                        <a:t>The reference material.</a:t>
                      </a:r>
                      <a:endParaRPr lang="en-US">
                        <a:solidFill>
                          <a:srgbClr val="1F1F1F"/>
                        </a:solidFill>
                        <a:effectLst/>
                        <a:latin typeface="Google Sans Text"/>
                      </a:endParaRPr>
                    </a:p>
                  </a:txBody>
                  <a:tcPr marL="114300" marR="114300" marT="76200" marB="76200" anchor="ctr"/>
                </a:tc>
                <a:tc>
                  <a:txBody>
                    <a:bodyPr/>
                    <a:lstStyle/>
                    <a:p>
                      <a:pPr marL="0" marR="0" rtl="0">
                        <a:spcAft>
                          <a:spcPts val="2400"/>
                        </a:spcAft>
                        <a:buNone/>
                      </a:pPr>
                      <a:r>
                        <a:rPr lang="en-US">
                          <a:effectLst/>
                        </a:rPr>
                        <a:t>The testing machinery.</a:t>
                      </a:r>
                      <a:endParaRPr lang="en-US">
                        <a:solidFill>
                          <a:srgbClr val="1F1F1F"/>
                        </a:solidFill>
                        <a:effectLst/>
                        <a:latin typeface="Google Sans Text"/>
                      </a:endParaRPr>
                    </a:p>
                  </a:txBody>
                  <a:tcPr marL="114300" marR="114300" marT="76200" marB="76200" anchor="ctr"/>
                </a:tc>
                <a:extLst>
                  <a:ext uri="{0D108BD9-81ED-4DB2-BD59-A6C34878D82A}">
                    <a16:rowId xmlns:a16="http://schemas.microsoft.com/office/drawing/2014/main" val="1360339913"/>
                  </a:ext>
                </a:extLst>
              </a:tr>
              <a:tr h="486410">
                <a:tc>
                  <a:txBody>
                    <a:bodyPr/>
                    <a:lstStyle/>
                    <a:p>
                      <a:pPr marL="0" marR="0" rtl="0">
                        <a:spcAft>
                          <a:spcPts val="2400"/>
                        </a:spcAft>
                        <a:buNone/>
                      </a:pPr>
                      <a:r>
                        <a:rPr lang="en-US">
                          <a:effectLst/>
                        </a:rPr>
                        <a:t>Target Audience</a:t>
                      </a:r>
                      <a:endParaRPr lang="en-US">
                        <a:solidFill>
                          <a:srgbClr val="1F1F1F"/>
                        </a:solidFill>
                        <a:effectLst/>
                        <a:latin typeface="Google Sans Text"/>
                      </a:endParaRPr>
                    </a:p>
                  </a:txBody>
                  <a:tcPr marL="114300" marR="114300" marT="76200" marB="76200" anchor="ctr"/>
                </a:tc>
                <a:tc>
                  <a:txBody>
                    <a:bodyPr/>
                    <a:lstStyle/>
                    <a:p>
                      <a:pPr marL="0" marR="0" rtl="0">
                        <a:spcAft>
                          <a:spcPts val="2400"/>
                        </a:spcAft>
                        <a:buNone/>
                      </a:pPr>
                      <a:r>
                        <a:rPr lang="en-US">
                          <a:effectLst/>
                        </a:rPr>
                        <a:t>The LLM.</a:t>
                      </a:r>
                      <a:endParaRPr lang="en-US">
                        <a:solidFill>
                          <a:srgbClr val="1F1F1F"/>
                        </a:solidFill>
                        <a:effectLst/>
                        <a:latin typeface="Google Sans Text"/>
                      </a:endParaRPr>
                    </a:p>
                  </a:txBody>
                  <a:tcPr marL="114300" marR="114300" marT="76200" marB="76200" anchor="ctr"/>
                </a:tc>
                <a:tc>
                  <a:txBody>
                    <a:bodyPr/>
                    <a:lstStyle/>
                    <a:p>
                      <a:pPr marL="0" marR="0" rtl="0">
                        <a:spcAft>
                          <a:spcPts val="2400"/>
                        </a:spcAft>
                        <a:buNone/>
                      </a:pPr>
                      <a:r>
                        <a:rPr lang="en-US">
                          <a:effectLst/>
                        </a:rPr>
                        <a:t>The LLM.</a:t>
                      </a:r>
                      <a:endParaRPr lang="en-US">
                        <a:solidFill>
                          <a:srgbClr val="1F1F1F"/>
                        </a:solidFill>
                        <a:effectLst/>
                        <a:latin typeface="Google Sans Text"/>
                      </a:endParaRPr>
                    </a:p>
                  </a:txBody>
                  <a:tcPr marL="114300" marR="114300" marT="76200" marB="76200" anchor="ctr"/>
                </a:tc>
                <a:tc>
                  <a:txBody>
                    <a:bodyPr/>
                    <a:lstStyle/>
                    <a:p>
                      <a:pPr marL="0" marR="0" rtl="0">
                        <a:spcAft>
                          <a:spcPts val="2400"/>
                        </a:spcAft>
                        <a:buNone/>
                      </a:pPr>
                      <a:r>
                        <a:rPr lang="en-US">
                          <a:effectLst/>
                        </a:rPr>
                        <a:t>The AI Engineer.</a:t>
                      </a:r>
                      <a:endParaRPr lang="en-US">
                        <a:solidFill>
                          <a:srgbClr val="1F1F1F"/>
                        </a:solidFill>
                        <a:effectLst/>
                        <a:latin typeface="Google Sans Text"/>
                      </a:endParaRPr>
                    </a:p>
                  </a:txBody>
                  <a:tcPr marL="114300" marR="114300" marT="76200" marB="76200" anchor="ctr"/>
                </a:tc>
                <a:extLst>
                  <a:ext uri="{0D108BD9-81ED-4DB2-BD59-A6C34878D82A}">
                    <a16:rowId xmlns:a16="http://schemas.microsoft.com/office/drawing/2014/main" val="1381936197"/>
                  </a:ext>
                </a:extLst>
              </a:tr>
              <a:tr h="770149">
                <a:tc>
                  <a:txBody>
                    <a:bodyPr/>
                    <a:lstStyle/>
                    <a:p>
                      <a:pPr marL="0" marR="0" rtl="0">
                        <a:spcAft>
                          <a:spcPts val="2400"/>
                        </a:spcAft>
                        <a:buNone/>
                      </a:pPr>
                      <a:r>
                        <a:rPr lang="en-US">
                          <a:effectLst/>
                        </a:rPr>
                        <a:t>Where it lives</a:t>
                      </a:r>
                      <a:endParaRPr lang="en-US">
                        <a:solidFill>
                          <a:srgbClr val="1F1F1F"/>
                        </a:solidFill>
                        <a:effectLst/>
                        <a:latin typeface="Google Sans Text"/>
                      </a:endParaRPr>
                    </a:p>
                  </a:txBody>
                  <a:tcPr marL="114300" marR="114300" marT="76200" marB="76200" anchor="ctr"/>
                </a:tc>
                <a:tc>
                  <a:txBody>
                    <a:bodyPr/>
                    <a:lstStyle/>
                    <a:p>
                      <a:pPr marL="0" marR="0" rtl="0">
                        <a:spcAft>
                          <a:spcPts val="2400"/>
                        </a:spcAft>
                        <a:buNone/>
                      </a:pPr>
                      <a:r>
                        <a:rPr lang="en-US">
                          <a:effectLst/>
                        </a:rPr>
                        <a:t>User input or application logic.</a:t>
                      </a:r>
                      <a:endParaRPr lang="en-US">
                        <a:solidFill>
                          <a:srgbClr val="1F1F1F"/>
                        </a:solidFill>
                        <a:effectLst/>
                        <a:latin typeface="Google Sans Text"/>
                      </a:endParaRPr>
                    </a:p>
                  </a:txBody>
                  <a:tcPr marL="114300" marR="114300" marT="76200" marB="76200" anchor="ctr"/>
                </a:tc>
                <a:tc>
                  <a:txBody>
                    <a:bodyPr/>
                    <a:lstStyle/>
                    <a:p>
                      <a:pPr marL="0" marR="0" rtl="0">
                        <a:spcAft>
                          <a:spcPts val="2400"/>
                        </a:spcAft>
                        <a:buNone/>
                      </a:pPr>
                      <a:r>
                        <a:rPr lang="en-US">
                          <a:effectLst/>
                        </a:rPr>
                        <a:t>System instructions or Vector Database.</a:t>
                      </a:r>
                      <a:endParaRPr lang="en-US">
                        <a:solidFill>
                          <a:srgbClr val="1F1F1F"/>
                        </a:solidFill>
                        <a:effectLst/>
                        <a:latin typeface="Google Sans Text"/>
                      </a:endParaRPr>
                    </a:p>
                  </a:txBody>
                  <a:tcPr marL="114300" marR="114300" marT="76200" marB="76200" anchor="ctr"/>
                </a:tc>
                <a:tc>
                  <a:txBody>
                    <a:bodyPr/>
                    <a:lstStyle/>
                    <a:p>
                      <a:pPr marL="0" marR="0" rtl="0">
                        <a:spcAft>
                          <a:spcPts val="2400"/>
                        </a:spcAft>
                        <a:buNone/>
                      </a:pPr>
                      <a:r>
                        <a:rPr lang="en-US">
                          <a:effectLst/>
                        </a:rPr>
                        <a:t>CI/CD pipeline or local testing suite.</a:t>
                      </a:r>
                      <a:endParaRPr lang="en-US">
                        <a:solidFill>
                          <a:srgbClr val="1F1F1F"/>
                        </a:solidFill>
                        <a:effectLst/>
                        <a:latin typeface="Google Sans Text"/>
                      </a:endParaRPr>
                    </a:p>
                  </a:txBody>
                  <a:tcPr marL="114300" marR="114300" marT="76200" marB="76200" anchor="ctr"/>
                </a:tc>
                <a:extLst>
                  <a:ext uri="{0D108BD9-81ED-4DB2-BD59-A6C34878D82A}">
                    <a16:rowId xmlns:a16="http://schemas.microsoft.com/office/drawing/2014/main" val="115508801"/>
                  </a:ext>
                </a:extLst>
              </a:tr>
              <a:tr h="770149">
                <a:tc>
                  <a:txBody>
                    <a:bodyPr/>
                    <a:lstStyle/>
                    <a:p>
                      <a:pPr marL="0" marR="0" rtl="0">
                        <a:spcAft>
                          <a:spcPts val="2400"/>
                        </a:spcAft>
                        <a:buNone/>
                      </a:pPr>
                      <a:r>
                        <a:rPr lang="en-US">
                          <a:effectLst/>
                        </a:rPr>
                        <a:t>Goal</a:t>
                      </a:r>
                      <a:endParaRPr lang="en-US">
                        <a:solidFill>
                          <a:srgbClr val="1F1F1F"/>
                        </a:solidFill>
                        <a:effectLst/>
                        <a:latin typeface="Google Sans Text"/>
                      </a:endParaRPr>
                    </a:p>
                  </a:txBody>
                  <a:tcPr marL="114300" marR="114300" marT="76200" marB="76200" anchor="ctr"/>
                </a:tc>
                <a:tc>
                  <a:txBody>
                    <a:bodyPr/>
                    <a:lstStyle/>
                    <a:p>
                      <a:pPr marL="0" marR="0" rtl="0">
                        <a:spcAft>
                          <a:spcPts val="2400"/>
                        </a:spcAft>
                        <a:buNone/>
                      </a:pPr>
                      <a:r>
                        <a:rPr lang="en-US">
                          <a:effectLst/>
                        </a:rPr>
                        <a:t>Get the right answer right now.</a:t>
                      </a:r>
                      <a:endParaRPr lang="en-US">
                        <a:solidFill>
                          <a:srgbClr val="1F1F1F"/>
                        </a:solidFill>
                        <a:effectLst/>
                        <a:latin typeface="Google Sans Text"/>
                      </a:endParaRPr>
                    </a:p>
                  </a:txBody>
                  <a:tcPr marL="114300" marR="114300" marT="76200" marB="76200" anchor="ctr"/>
                </a:tc>
                <a:tc>
                  <a:txBody>
                    <a:bodyPr/>
                    <a:lstStyle/>
                    <a:p>
                      <a:pPr marL="0" marR="0" rtl="0">
                        <a:spcAft>
                          <a:spcPts val="2400"/>
                        </a:spcAft>
                        <a:buNone/>
                      </a:pPr>
                      <a:r>
                        <a:rPr lang="en-US">
                          <a:effectLst/>
                        </a:rPr>
                        <a:t>Prevent hallucinations.</a:t>
                      </a:r>
                      <a:endParaRPr lang="en-US">
                        <a:solidFill>
                          <a:srgbClr val="1F1F1F"/>
                        </a:solidFill>
                        <a:effectLst/>
                        <a:latin typeface="Google Sans Text"/>
                      </a:endParaRPr>
                    </a:p>
                  </a:txBody>
                  <a:tcPr marL="114300" marR="114300" marT="76200" marB="76200" anchor="ctr"/>
                </a:tc>
                <a:tc>
                  <a:txBody>
                    <a:bodyPr/>
                    <a:lstStyle/>
                    <a:p>
                      <a:pPr marL="0" marR="0" rtl="0">
                        <a:spcAft>
                          <a:spcPts val="2400"/>
                        </a:spcAft>
                        <a:buNone/>
                      </a:pPr>
                      <a:r>
                        <a:rPr lang="en-US" dirty="0">
                          <a:effectLst/>
                        </a:rPr>
                        <a:t>Prove the system works at scale.</a:t>
                      </a:r>
                      <a:endParaRPr lang="en-US" dirty="0">
                        <a:solidFill>
                          <a:srgbClr val="1F1F1F"/>
                        </a:solidFill>
                        <a:effectLst/>
                        <a:latin typeface="Google Sans Text"/>
                      </a:endParaRPr>
                    </a:p>
                  </a:txBody>
                  <a:tcPr marL="114300" marR="114300" marT="76200" marB="76200" anchor="ctr"/>
                </a:tc>
                <a:extLst>
                  <a:ext uri="{0D108BD9-81ED-4DB2-BD59-A6C34878D82A}">
                    <a16:rowId xmlns:a16="http://schemas.microsoft.com/office/drawing/2014/main" val="3390074950"/>
                  </a:ext>
                </a:extLst>
              </a:tr>
            </a:tbl>
          </a:graphicData>
        </a:graphic>
      </p:graphicFrame>
    </p:spTree>
    <p:extLst>
      <p:ext uri="{BB962C8B-B14F-4D97-AF65-F5344CB8AC3E}">
        <p14:creationId xmlns:p14="http://schemas.microsoft.com/office/powerpoint/2010/main" val="37469245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56E878F-0019-7847-D54D-C78B75DB2AC2}"/>
              </a:ext>
            </a:extLst>
          </p:cNvPr>
          <p:cNvSpPr>
            <a:spLocks noGrp="1"/>
          </p:cNvSpPr>
          <p:nvPr>
            <p:ph type="body" idx="1"/>
          </p:nvPr>
        </p:nvSpPr>
        <p:spPr/>
        <p:txBody>
          <a:bodyPr/>
          <a:lstStyle/>
          <a:p>
            <a:endParaRPr lang="en-US"/>
          </a:p>
        </p:txBody>
      </p:sp>
      <p:sp>
        <p:nvSpPr>
          <p:cNvPr id="3" name="Text Placeholder 2">
            <a:extLst>
              <a:ext uri="{FF2B5EF4-FFF2-40B4-BE49-F238E27FC236}">
                <a16:creationId xmlns:a16="http://schemas.microsoft.com/office/drawing/2014/main" id="{18236F3D-B07C-3AA8-F0FD-80F08009DFD3}"/>
              </a:ext>
            </a:extLst>
          </p:cNvPr>
          <p:cNvSpPr>
            <a:spLocks noGrp="1"/>
          </p:cNvSpPr>
          <p:nvPr>
            <p:ph type="body" idx="2"/>
          </p:nvPr>
        </p:nvSpPr>
        <p:spPr/>
        <p:txBody>
          <a:bodyPr>
            <a:normAutofit/>
          </a:bodyPr>
          <a:lstStyle/>
          <a:p>
            <a:r>
              <a:rPr lang="en-US" dirty="0"/>
              <a:t>With traditional ML engineering, you usually start with gathering data and training a model. </a:t>
            </a:r>
          </a:p>
          <a:p>
            <a:r>
              <a:rPr lang="en-US" dirty="0"/>
              <a:t>Building the product comes last. </a:t>
            </a:r>
          </a:p>
          <a:p>
            <a:r>
              <a:rPr lang="en-US" dirty="0"/>
              <a:t>However, with AI models readily available today, it’s possible to start with building the product first, and only invest in data and models once the product shows promise</a:t>
            </a:r>
          </a:p>
          <a:p>
            <a:r>
              <a:rPr lang="en-US" dirty="0"/>
              <a:t>In traditional ML engineering, model development and product</a:t>
            </a:r>
          </a:p>
          <a:p>
            <a:pPr marL="76200" indent="0">
              <a:buNone/>
            </a:pPr>
            <a:r>
              <a:rPr lang="en-US" dirty="0"/>
              <a:t>    development are often disjointed processes.</a:t>
            </a:r>
          </a:p>
        </p:txBody>
      </p:sp>
      <p:sp>
        <p:nvSpPr>
          <p:cNvPr id="4" name="Title 3">
            <a:extLst>
              <a:ext uri="{FF2B5EF4-FFF2-40B4-BE49-F238E27FC236}">
                <a16:creationId xmlns:a16="http://schemas.microsoft.com/office/drawing/2014/main" id="{5FA2A8B9-A18B-ED9B-2F1F-2648024A9D0B}"/>
              </a:ext>
            </a:extLst>
          </p:cNvPr>
          <p:cNvSpPr>
            <a:spLocks noGrp="1"/>
          </p:cNvSpPr>
          <p:nvPr>
            <p:ph type="title"/>
          </p:nvPr>
        </p:nvSpPr>
        <p:spPr/>
        <p:txBody>
          <a:bodyPr>
            <a:normAutofit fontScale="90000"/>
          </a:bodyPr>
          <a:lstStyle/>
          <a:p>
            <a:br>
              <a:rPr lang="en-US" dirty="0"/>
            </a:br>
            <a:r>
              <a:rPr lang="en-US" dirty="0"/>
              <a:t>AI Engineering Versus ML Engineering</a:t>
            </a:r>
            <a:br>
              <a:rPr lang="en-US" dirty="0"/>
            </a:br>
            <a:endParaRPr lang="en-US" dirty="0"/>
          </a:p>
        </p:txBody>
      </p:sp>
      <p:pic>
        <p:nvPicPr>
          <p:cNvPr id="6" name="Picture 5">
            <a:extLst>
              <a:ext uri="{FF2B5EF4-FFF2-40B4-BE49-F238E27FC236}">
                <a16:creationId xmlns:a16="http://schemas.microsoft.com/office/drawing/2014/main" id="{72944612-AD2D-2FED-9D98-EFF59BA6EDA9}"/>
              </a:ext>
            </a:extLst>
          </p:cNvPr>
          <p:cNvPicPr>
            <a:picLocks noChangeAspect="1"/>
          </p:cNvPicPr>
          <p:nvPr/>
        </p:nvPicPr>
        <p:blipFill>
          <a:blip r:embed="rId2"/>
          <a:stretch>
            <a:fillRect/>
          </a:stretch>
        </p:blipFill>
        <p:spPr>
          <a:xfrm>
            <a:off x="2533460" y="4972380"/>
            <a:ext cx="7125079" cy="1375794"/>
          </a:xfrm>
          <a:prstGeom prst="rect">
            <a:avLst/>
          </a:prstGeom>
        </p:spPr>
      </p:pic>
    </p:spTree>
    <p:extLst>
      <p:ext uri="{BB962C8B-B14F-4D97-AF65-F5344CB8AC3E}">
        <p14:creationId xmlns:p14="http://schemas.microsoft.com/office/powerpoint/2010/main" val="5076417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20633EA-746A-3179-9772-129B42787726}"/>
              </a:ext>
            </a:extLst>
          </p:cNvPr>
          <p:cNvSpPr>
            <a:spLocks noGrp="1"/>
          </p:cNvSpPr>
          <p:nvPr>
            <p:ph type="body" idx="1"/>
          </p:nvPr>
        </p:nvSpPr>
        <p:spPr/>
        <p:txBody>
          <a:bodyPr/>
          <a:lstStyle/>
          <a:p>
            <a:endParaRPr lang="en-US"/>
          </a:p>
        </p:txBody>
      </p:sp>
      <p:sp>
        <p:nvSpPr>
          <p:cNvPr id="3" name="Text Placeholder 2">
            <a:extLst>
              <a:ext uri="{FF2B5EF4-FFF2-40B4-BE49-F238E27FC236}">
                <a16:creationId xmlns:a16="http://schemas.microsoft.com/office/drawing/2014/main" id="{1D919B64-A108-4A2F-3536-CF06040558C2}"/>
              </a:ext>
            </a:extLst>
          </p:cNvPr>
          <p:cNvSpPr>
            <a:spLocks noGrp="1"/>
          </p:cNvSpPr>
          <p:nvPr>
            <p:ph type="body" idx="2"/>
          </p:nvPr>
        </p:nvSpPr>
        <p:spPr/>
        <p:txBody>
          <a:bodyPr/>
          <a:lstStyle/>
          <a:p>
            <a:r>
              <a:rPr lang="en-US" dirty="0"/>
              <a:t>MCP (Model Context Protocol) is an open-source standard for connecting AI applications to external systems.</a:t>
            </a:r>
          </a:p>
          <a:p>
            <a:r>
              <a:rPr lang="en-US" dirty="0"/>
              <a:t>Using MCP, AI applications like Claude or ChatGPT can connect to data sources (e.g. local files, databases), tools (e.g. search engines, calculators) and workflows (e.g. specialized prompts) enabling them to access key information and perform tasks.</a:t>
            </a:r>
          </a:p>
          <a:p>
            <a:r>
              <a:rPr lang="en-US" dirty="0"/>
              <a:t>Think of MCP like a USB-C port for AI applications. </a:t>
            </a:r>
          </a:p>
        </p:txBody>
      </p:sp>
      <p:sp>
        <p:nvSpPr>
          <p:cNvPr id="4" name="Title 3">
            <a:extLst>
              <a:ext uri="{FF2B5EF4-FFF2-40B4-BE49-F238E27FC236}">
                <a16:creationId xmlns:a16="http://schemas.microsoft.com/office/drawing/2014/main" id="{8D19F004-BB55-1D15-B386-1EBD897ADCB4}"/>
              </a:ext>
            </a:extLst>
          </p:cNvPr>
          <p:cNvSpPr>
            <a:spLocks noGrp="1"/>
          </p:cNvSpPr>
          <p:nvPr>
            <p:ph type="title"/>
          </p:nvPr>
        </p:nvSpPr>
        <p:spPr/>
        <p:txBody>
          <a:bodyPr>
            <a:normAutofit fontScale="90000"/>
          </a:bodyPr>
          <a:lstStyle/>
          <a:p>
            <a:br>
              <a:rPr lang="en-US" dirty="0"/>
            </a:br>
            <a:r>
              <a:rPr lang="en-US" dirty="0"/>
              <a:t>Model Context Protocol (MCP)</a:t>
            </a:r>
            <a:br>
              <a:rPr lang="en-US" dirty="0"/>
            </a:br>
            <a:endParaRPr lang="en-US" dirty="0"/>
          </a:p>
        </p:txBody>
      </p:sp>
    </p:spTree>
    <p:extLst>
      <p:ext uri="{BB962C8B-B14F-4D97-AF65-F5344CB8AC3E}">
        <p14:creationId xmlns:p14="http://schemas.microsoft.com/office/powerpoint/2010/main" val="21193182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B61FA1-6765-663E-3128-F9499AE159E0}"/>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0C97A22A-54F9-D7AD-698D-FF27BCE83C81}"/>
              </a:ext>
            </a:extLst>
          </p:cNvPr>
          <p:cNvSpPr>
            <a:spLocks noGrp="1"/>
          </p:cNvSpPr>
          <p:nvPr>
            <p:ph type="body" idx="1"/>
          </p:nvPr>
        </p:nvSpPr>
        <p:spPr/>
        <p:txBody>
          <a:bodyPr/>
          <a:lstStyle/>
          <a:p>
            <a:endParaRPr lang="en-US"/>
          </a:p>
        </p:txBody>
      </p:sp>
      <p:sp>
        <p:nvSpPr>
          <p:cNvPr id="3" name="Text Placeholder 2">
            <a:extLst>
              <a:ext uri="{FF2B5EF4-FFF2-40B4-BE49-F238E27FC236}">
                <a16:creationId xmlns:a16="http://schemas.microsoft.com/office/drawing/2014/main" id="{AA61EBDF-90CC-0CE6-BD56-E73FCC35D30E}"/>
              </a:ext>
            </a:extLst>
          </p:cNvPr>
          <p:cNvSpPr>
            <a:spLocks noGrp="1"/>
          </p:cNvSpPr>
          <p:nvPr>
            <p:ph type="body" idx="2"/>
          </p:nvPr>
        </p:nvSpPr>
        <p:spPr/>
        <p:txBody>
          <a:bodyPr>
            <a:normAutofit fontScale="92500" lnSpcReduction="10000"/>
          </a:bodyPr>
          <a:lstStyle/>
          <a:p>
            <a:r>
              <a:rPr lang="en-US" dirty="0"/>
              <a:t>MCP follows a client-server architecture </a:t>
            </a:r>
          </a:p>
          <a:p>
            <a:r>
              <a:rPr lang="en-US" dirty="0"/>
              <a:t>The key participants in the MCP architecture are:</a:t>
            </a:r>
          </a:p>
          <a:p>
            <a:pPr lvl="0"/>
            <a:r>
              <a:rPr lang="en-US" b="1" dirty="0"/>
              <a:t>MCP Host</a:t>
            </a:r>
            <a:r>
              <a:rPr lang="en-US" dirty="0"/>
              <a:t>: The AI application that coordinates and manages one or multiple MCP clients</a:t>
            </a:r>
          </a:p>
          <a:p>
            <a:pPr lvl="0"/>
            <a:r>
              <a:rPr lang="en-US" b="1" dirty="0"/>
              <a:t>MCP Client</a:t>
            </a:r>
            <a:r>
              <a:rPr lang="en-US" dirty="0"/>
              <a:t>: A component that maintains a connection to an MCP server and obtains context from an MCP server for the MCP host to use</a:t>
            </a:r>
          </a:p>
          <a:p>
            <a:pPr lvl="0"/>
            <a:r>
              <a:rPr lang="en-US" b="1" dirty="0"/>
              <a:t>MCP Server</a:t>
            </a:r>
            <a:r>
              <a:rPr lang="en-US" dirty="0"/>
              <a:t>: A program that provides context to MCP clients</a:t>
            </a:r>
          </a:p>
          <a:p>
            <a:r>
              <a:rPr lang="en-US" dirty="0"/>
              <a:t>The transport layer uses JSON-RPC 2.0 messages to communicate between the client and server, mainly through two transport methods:</a:t>
            </a:r>
          </a:p>
          <a:p>
            <a:pPr lvl="1"/>
            <a:r>
              <a:rPr lang="en-US" b="1" dirty="0"/>
              <a:t>Standard input/output (</a:t>
            </a:r>
            <a:r>
              <a:rPr lang="en-US" b="1" dirty="0" err="1"/>
              <a:t>stdio</a:t>
            </a:r>
            <a:r>
              <a:rPr lang="en-US" b="1" dirty="0"/>
              <a:t>):</a:t>
            </a:r>
            <a:r>
              <a:rPr lang="en-US" dirty="0"/>
              <a:t> Works well for local resources, offering fast, synchronous message transmission</a:t>
            </a:r>
          </a:p>
          <a:p>
            <a:pPr lvl="1"/>
            <a:r>
              <a:rPr lang="en-US" b="1" dirty="0"/>
              <a:t>Server-sent events (SSE): </a:t>
            </a:r>
            <a:r>
              <a:rPr lang="en-US" dirty="0"/>
              <a:t>Preferred for remote resources, allowing efficient, real-time data streaming</a:t>
            </a:r>
          </a:p>
          <a:p>
            <a:endParaRPr lang="en-US" dirty="0"/>
          </a:p>
        </p:txBody>
      </p:sp>
      <p:sp>
        <p:nvSpPr>
          <p:cNvPr id="4" name="Title 3">
            <a:extLst>
              <a:ext uri="{FF2B5EF4-FFF2-40B4-BE49-F238E27FC236}">
                <a16:creationId xmlns:a16="http://schemas.microsoft.com/office/drawing/2014/main" id="{6305B36B-B9A5-1A46-9980-46974257A8A0}"/>
              </a:ext>
            </a:extLst>
          </p:cNvPr>
          <p:cNvSpPr>
            <a:spLocks noGrp="1"/>
          </p:cNvSpPr>
          <p:nvPr>
            <p:ph type="title"/>
          </p:nvPr>
        </p:nvSpPr>
        <p:spPr/>
        <p:txBody>
          <a:bodyPr>
            <a:normAutofit fontScale="90000"/>
          </a:bodyPr>
          <a:lstStyle/>
          <a:p>
            <a:br>
              <a:rPr lang="en-US" dirty="0"/>
            </a:br>
            <a:r>
              <a:rPr lang="en-US" dirty="0"/>
              <a:t>Model Context Protocol (MCP)</a:t>
            </a:r>
            <a:br>
              <a:rPr lang="en-US" dirty="0"/>
            </a:br>
            <a:endParaRPr lang="en-US" dirty="0"/>
          </a:p>
        </p:txBody>
      </p:sp>
    </p:spTree>
    <p:extLst>
      <p:ext uri="{BB962C8B-B14F-4D97-AF65-F5344CB8AC3E}">
        <p14:creationId xmlns:p14="http://schemas.microsoft.com/office/powerpoint/2010/main" val="10502445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C7F123B-7A4F-E6F5-DB3C-34E407ACC074}"/>
              </a:ext>
            </a:extLst>
          </p:cNvPr>
          <p:cNvSpPr>
            <a:spLocks noGrp="1"/>
          </p:cNvSpPr>
          <p:nvPr>
            <p:ph type="body" idx="1"/>
          </p:nvPr>
        </p:nvSpPr>
        <p:spPr/>
        <p:txBody>
          <a:bodyPr/>
          <a:lstStyle/>
          <a:p>
            <a:endParaRPr lang="en-US"/>
          </a:p>
        </p:txBody>
      </p:sp>
      <p:sp>
        <p:nvSpPr>
          <p:cNvPr id="3" name="Text Placeholder 2">
            <a:extLst>
              <a:ext uri="{FF2B5EF4-FFF2-40B4-BE49-F238E27FC236}">
                <a16:creationId xmlns:a16="http://schemas.microsoft.com/office/drawing/2014/main" id="{710AD99F-8D25-2841-477D-5A3169D46B2F}"/>
              </a:ext>
            </a:extLst>
          </p:cNvPr>
          <p:cNvSpPr>
            <a:spLocks noGrp="1"/>
          </p:cNvSpPr>
          <p:nvPr>
            <p:ph type="body" idx="2"/>
          </p:nvPr>
        </p:nvSpPr>
        <p:spPr/>
        <p:txBody>
          <a:bodyPr>
            <a:normAutofit fontScale="70000" lnSpcReduction="20000"/>
          </a:bodyPr>
          <a:lstStyle/>
          <a:p>
            <a:r>
              <a:rPr lang="en-US" dirty="0"/>
              <a:t>At its core, the Model Context Protocol allows an LLM to request help from external tools to answer a query or complete a task. Imagine you ask an AI assistant: "Find the latest sales report in our database and email it to my manager."</a:t>
            </a:r>
          </a:p>
          <a:p>
            <a:r>
              <a:rPr lang="en-US" dirty="0"/>
              <a:t>Here is a simplified look at how MCP would handle this:</a:t>
            </a:r>
          </a:p>
          <a:p>
            <a:pPr lvl="0"/>
            <a:r>
              <a:rPr lang="en-US" b="1" dirty="0"/>
              <a:t>Request and tool discovery: </a:t>
            </a:r>
            <a:r>
              <a:rPr lang="en-US" dirty="0"/>
              <a:t>The LLM understands it cannot access a database or send emails on its own. It uses the MCP client to search for available tools, where it finds two relevant tools registered on MCP servers: a </a:t>
            </a:r>
            <a:r>
              <a:rPr lang="en-US" dirty="0" err="1"/>
              <a:t>database_query</a:t>
            </a:r>
            <a:r>
              <a:rPr lang="en-US" dirty="0"/>
              <a:t> tool and an </a:t>
            </a:r>
            <a:r>
              <a:rPr lang="en-US" dirty="0" err="1"/>
              <a:t>email_sender</a:t>
            </a:r>
            <a:r>
              <a:rPr lang="en-US" dirty="0"/>
              <a:t> tool.</a:t>
            </a:r>
          </a:p>
          <a:p>
            <a:pPr lvl="0"/>
            <a:r>
              <a:rPr lang="en-US" b="1" dirty="0"/>
              <a:t>Tool invocation: </a:t>
            </a:r>
            <a:r>
              <a:rPr lang="en-US" dirty="0"/>
              <a:t>The LLM generates a structured request to use these tools. First, it calls the </a:t>
            </a:r>
            <a:r>
              <a:rPr lang="en-US" dirty="0" err="1"/>
              <a:t>database_query</a:t>
            </a:r>
            <a:r>
              <a:rPr lang="en-US" dirty="0"/>
              <a:t> tool, specifying the report name. The MCP client then sends this request to the appropriate MCP server.</a:t>
            </a:r>
          </a:p>
          <a:p>
            <a:pPr lvl="0"/>
            <a:r>
              <a:rPr lang="en-US" b="1" dirty="0"/>
              <a:t>External action and data return: </a:t>
            </a:r>
            <a:r>
              <a:rPr lang="en-US" dirty="0"/>
              <a:t>The MCP server receives the request, translates it into a secure SQL query for the company's database, and retrieves the sales report. It then formats this data and sends it back to the LLM.</a:t>
            </a:r>
          </a:p>
          <a:p>
            <a:pPr lvl="0"/>
            <a:r>
              <a:rPr lang="en-US" b="1" dirty="0"/>
              <a:t>Second action and response generation: </a:t>
            </a:r>
            <a:r>
              <a:rPr lang="en-US" dirty="0"/>
              <a:t>Now equipped with the report data, the LLM calls the </a:t>
            </a:r>
            <a:r>
              <a:rPr lang="en-US" dirty="0" err="1"/>
              <a:t>email_sender</a:t>
            </a:r>
            <a:r>
              <a:rPr lang="en-US" dirty="0"/>
              <a:t> tool, providing the manager's email address and the report content. After the email is sent, the MCP server confirms the action was completed.</a:t>
            </a:r>
          </a:p>
          <a:p>
            <a:pPr lvl="0"/>
            <a:r>
              <a:rPr lang="en-US" b="1" dirty="0"/>
              <a:t>Final confirmation: </a:t>
            </a:r>
            <a:r>
              <a:rPr lang="en-US" dirty="0"/>
              <a:t>The LLM provides a final response to you: "I have found the latest sales report and emailed it to your manager."</a:t>
            </a:r>
          </a:p>
          <a:p>
            <a:endParaRPr lang="en-US" dirty="0"/>
          </a:p>
        </p:txBody>
      </p:sp>
      <p:sp>
        <p:nvSpPr>
          <p:cNvPr id="4" name="Title 3">
            <a:extLst>
              <a:ext uri="{FF2B5EF4-FFF2-40B4-BE49-F238E27FC236}">
                <a16:creationId xmlns:a16="http://schemas.microsoft.com/office/drawing/2014/main" id="{D234D602-5BF3-70CC-EB7B-33134AB54800}"/>
              </a:ext>
            </a:extLst>
          </p:cNvPr>
          <p:cNvSpPr>
            <a:spLocks noGrp="1"/>
          </p:cNvSpPr>
          <p:nvPr>
            <p:ph type="title"/>
          </p:nvPr>
        </p:nvSpPr>
        <p:spPr/>
        <p:txBody>
          <a:bodyPr>
            <a:normAutofit fontScale="90000"/>
          </a:bodyPr>
          <a:lstStyle/>
          <a:p>
            <a:br>
              <a:rPr lang="en-US" dirty="0"/>
            </a:br>
            <a:r>
              <a:rPr lang="en-US" dirty="0"/>
              <a:t>How does the MCP work?</a:t>
            </a:r>
            <a:br>
              <a:rPr lang="en-US" dirty="0"/>
            </a:br>
            <a:endParaRPr lang="en-US" dirty="0"/>
          </a:p>
        </p:txBody>
      </p:sp>
    </p:spTree>
    <p:extLst>
      <p:ext uri="{BB962C8B-B14F-4D97-AF65-F5344CB8AC3E}">
        <p14:creationId xmlns:p14="http://schemas.microsoft.com/office/powerpoint/2010/main" val="27335490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BFF62BA-EA8D-A9D6-30F0-2CF75CC1FDE8}"/>
              </a:ext>
            </a:extLst>
          </p:cNvPr>
          <p:cNvSpPr>
            <a:spLocks noGrp="1"/>
          </p:cNvSpPr>
          <p:nvPr>
            <p:ph type="body" idx="1"/>
          </p:nvPr>
        </p:nvSpPr>
        <p:spPr/>
        <p:txBody>
          <a:bodyPr/>
          <a:lstStyle/>
          <a:p>
            <a:endParaRPr lang="en-US"/>
          </a:p>
        </p:txBody>
      </p:sp>
      <p:sp>
        <p:nvSpPr>
          <p:cNvPr id="3" name="Text Placeholder 2">
            <a:extLst>
              <a:ext uri="{FF2B5EF4-FFF2-40B4-BE49-F238E27FC236}">
                <a16:creationId xmlns:a16="http://schemas.microsoft.com/office/drawing/2014/main" id="{C963B802-2B18-EEEF-02EB-B48391AB6C82}"/>
              </a:ext>
            </a:extLst>
          </p:cNvPr>
          <p:cNvSpPr>
            <a:spLocks noGrp="1"/>
          </p:cNvSpPr>
          <p:nvPr>
            <p:ph type="body" idx="2"/>
          </p:nvPr>
        </p:nvSpPr>
        <p:spPr/>
        <p:txBody>
          <a:bodyPr/>
          <a:lstStyle/>
          <a:p>
            <a:r>
              <a:rPr lang="en-US" dirty="0"/>
              <a:t>There are three layers to any AI application stack: application development, model development, and infrastructure.</a:t>
            </a:r>
          </a:p>
        </p:txBody>
      </p:sp>
      <p:sp>
        <p:nvSpPr>
          <p:cNvPr id="4" name="Title 3">
            <a:extLst>
              <a:ext uri="{FF2B5EF4-FFF2-40B4-BE49-F238E27FC236}">
                <a16:creationId xmlns:a16="http://schemas.microsoft.com/office/drawing/2014/main" id="{E22933B7-619C-C328-32F1-057EE703B708}"/>
              </a:ext>
            </a:extLst>
          </p:cNvPr>
          <p:cNvSpPr>
            <a:spLocks noGrp="1"/>
          </p:cNvSpPr>
          <p:nvPr>
            <p:ph type="title"/>
          </p:nvPr>
        </p:nvSpPr>
        <p:spPr/>
        <p:txBody>
          <a:bodyPr>
            <a:normAutofit fontScale="90000"/>
          </a:bodyPr>
          <a:lstStyle/>
          <a:p>
            <a:br>
              <a:rPr lang="en-US" dirty="0"/>
            </a:br>
            <a:r>
              <a:rPr lang="en-US" dirty="0"/>
              <a:t>Three Layers of the AI Stack</a:t>
            </a:r>
            <a:br>
              <a:rPr lang="en-US" dirty="0"/>
            </a:br>
            <a:endParaRPr lang="en-US" dirty="0"/>
          </a:p>
        </p:txBody>
      </p:sp>
      <p:pic>
        <p:nvPicPr>
          <p:cNvPr id="8" name="Picture 7">
            <a:extLst>
              <a:ext uri="{FF2B5EF4-FFF2-40B4-BE49-F238E27FC236}">
                <a16:creationId xmlns:a16="http://schemas.microsoft.com/office/drawing/2014/main" id="{23BCBACE-4DB8-2644-EAFA-A190E11CEEA0}"/>
              </a:ext>
            </a:extLst>
          </p:cNvPr>
          <p:cNvPicPr>
            <a:picLocks noChangeAspect="1"/>
          </p:cNvPicPr>
          <p:nvPr/>
        </p:nvPicPr>
        <p:blipFill>
          <a:blip r:embed="rId2"/>
          <a:stretch>
            <a:fillRect/>
          </a:stretch>
        </p:blipFill>
        <p:spPr>
          <a:xfrm>
            <a:off x="2058155" y="2625504"/>
            <a:ext cx="7194488" cy="3422671"/>
          </a:xfrm>
          <a:prstGeom prst="rect">
            <a:avLst/>
          </a:prstGeom>
        </p:spPr>
      </p:pic>
    </p:spTree>
    <p:extLst>
      <p:ext uri="{BB962C8B-B14F-4D97-AF65-F5344CB8AC3E}">
        <p14:creationId xmlns:p14="http://schemas.microsoft.com/office/powerpoint/2010/main" val="40749767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AC2BE44-1D42-4AA5-FB7C-24252E9CF098}"/>
              </a:ext>
            </a:extLst>
          </p:cNvPr>
          <p:cNvSpPr>
            <a:spLocks noGrp="1"/>
          </p:cNvSpPr>
          <p:nvPr>
            <p:ph type="body" idx="1"/>
          </p:nvPr>
        </p:nvSpPr>
        <p:spPr/>
        <p:txBody>
          <a:bodyPr/>
          <a:lstStyle/>
          <a:p>
            <a:r>
              <a:rPr lang="en-US" dirty="0" err="1"/>
              <a:t>Ref:"The</a:t>
            </a:r>
            <a:r>
              <a:rPr lang="en-US" dirty="0"/>
              <a:t> AI Adoption Maturity Model v1.0: Transforming Organizations Through AI", developed by the Carnegie Mellon University (CMU) Software Engineering Institute (SEI) </a:t>
            </a:r>
          </a:p>
        </p:txBody>
      </p:sp>
      <p:sp>
        <p:nvSpPr>
          <p:cNvPr id="3" name="Text Placeholder 2">
            <a:extLst>
              <a:ext uri="{FF2B5EF4-FFF2-40B4-BE49-F238E27FC236}">
                <a16:creationId xmlns:a16="http://schemas.microsoft.com/office/drawing/2014/main" id="{49BFBA79-F2E8-2FBC-F22E-C3E5985498AE}"/>
              </a:ext>
            </a:extLst>
          </p:cNvPr>
          <p:cNvSpPr>
            <a:spLocks noGrp="1"/>
          </p:cNvSpPr>
          <p:nvPr>
            <p:ph type="body" idx="2"/>
          </p:nvPr>
        </p:nvSpPr>
        <p:spPr/>
        <p:txBody>
          <a:bodyPr/>
          <a:lstStyle/>
          <a:p>
            <a:endParaRPr lang="en-US" dirty="0"/>
          </a:p>
        </p:txBody>
      </p:sp>
      <p:sp>
        <p:nvSpPr>
          <p:cNvPr id="4" name="Title 3">
            <a:extLst>
              <a:ext uri="{FF2B5EF4-FFF2-40B4-BE49-F238E27FC236}">
                <a16:creationId xmlns:a16="http://schemas.microsoft.com/office/drawing/2014/main" id="{7280C3B0-D676-7A2D-4DFB-54352DF5A3C5}"/>
              </a:ext>
            </a:extLst>
          </p:cNvPr>
          <p:cNvSpPr>
            <a:spLocks noGrp="1"/>
          </p:cNvSpPr>
          <p:nvPr>
            <p:ph type="title"/>
          </p:nvPr>
        </p:nvSpPr>
        <p:spPr/>
        <p:txBody>
          <a:bodyPr/>
          <a:lstStyle/>
          <a:p>
            <a:r>
              <a:rPr lang="en-US" dirty="0"/>
              <a:t>The AI Complexity Matrix </a:t>
            </a:r>
          </a:p>
        </p:txBody>
      </p:sp>
      <p:pic>
        <p:nvPicPr>
          <p:cNvPr id="6" name="Picture 5">
            <a:extLst>
              <a:ext uri="{FF2B5EF4-FFF2-40B4-BE49-F238E27FC236}">
                <a16:creationId xmlns:a16="http://schemas.microsoft.com/office/drawing/2014/main" id="{FDEDB29E-2DDC-D054-78CA-BAC93471F12D}"/>
              </a:ext>
            </a:extLst>
          </p:cNvPr>
          <p:cNvPicPr>
            <a:picLocks noChangeAspect="1"/>
          </p:cNvPicPr>
          <p:nvPr/>
        </p:nvPicPr>
        <p:blipFill>
          <a:blip r:embed="rId2"/>
          <a:stretch>
            <a:fillRect/>
          </a:stretch>
        </p:blipFill>
        <p:spPr>
          <a:xfrm>
            <a:off x="2260457" y="1493822"/>
            <a:ext cx="6569218" cy="4392628"/>
          </a:xfrm>
          <a:prstGeom prst="rect">
            <a:avLst/>
          </a:prstGeom>
        </p:spPr>
      </p:pic>
    </p:spTree>
    <p:extLst>
      <p:ext uri="{BB962C8B-B14F-4D97-AF65-F5344CB8AC3E}">
        <p14:creationId xmlns:p14="http://schemas.microsoft.com/office/powerpoint/2010/main" val="37641847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6100415-695B-B5AC-DC2F-823A8CD0BDC0}"/>
              </a:ext>
            </a:extLst>
          </p:cNvPr>
          <p:cNvSpPr>
            <a:spLocks noGrp="1"/>
          </p:cNvSpPr>
          <p:nvPr>
            <p:ph type="body" idx="1"/>
          </p:nvPr>
        </p:nvSpPr>
        <p:spPr/>
        <p:txBody>
          <a:bodyPr/>
          <a:lstStyle/>
          <a:p>
            <a:endParaRPr lang="en-US"/>
          </a:p>
        </p:txBody>
      </p:sp>
      <p:sp>
        <p:nvSpPr>
          <p:cNvPr id="3" name="Text Placeholder 2">
            <a:extLst>
              <a:ext uri="{FF2B5EF4-FFF2-40B4-BE49-F238E27FC236}">
                <a16:creationId xmlns:a16="http://schemas.microsoft.com/office/drawing/2014/main" id="{92C46EBA-B943-CAEC-5496-7DEEF6A40C72}"/>
              </a:ext>
            </a:extLst>
          </p:cNvPr>
          <p:cNvSpPr>
            <a:spLocks noGrp="1"/>
          </p:cNvSpPr>
          <p:nvPr>
            <p:ph type="body" idx="2"/>
          </p:nvPr>
        </p:nvSpPr>
        <p:spPr/>
        <p:txBody>
          <a:bodyPr>
            <a:normAutofit fontScale="92500" lnSpcReduction="10000"/>
          </a:bodyPr>
          <a:lstStyle/>
          <a:p>
            <a:r>
              <a:rPr lang="en-US" dirty="0"/>
              <a:t>The software lifecycle changes significantly when machine learning components are introduced, primarily driven by </a:t>
            </a:r>
            <a:r>
              <a:rPr lang="en-US" b="1" dirty="0"/>
              <a:t>data centricity.</a:t>
            </a:r>
          </a:p>
          <a:p>
            <a:r>
              <a:rPr lang="en-US" dirty="0"/>
              <a:t>AI systems introduce intense probabilistic uncertainty, </a:t>
            </a:r>
            <a:r>
              <a:rPr lang="en-US" b="1" dirty="0"/>
              <a:t>our existing software design techniques are essential starting points.</a:t>
            </a:r>
          </a:p>
          <a:p>
            <a:r>
              <a:rPr lang="en-US" dirty="0"/>
              <a:t>Today, security, usability, and privacy are among the many other mainstream architectural concerns.</a:t>
            </a:r>
          </a:p>
          <a:p>
            <a:r>
              <a:rPr lang="en-US" dirty="0"/>
              <a:t>The true difference lies in the </a:t>
            </a:r>
            <a:r>
              <a:rPr lang="en-US" b="1" dirty="0"/>
              <a:t>quality attributes</a:t>
            </a:r>
            <a:r>
              <a:rPr lang="en-US" dirty="0"/>
              <a:t> we must prioritize and design for (such as explainability, data centricity, verifiability, and change propagation).</a:t>
            </a:r>
          </a:p>
          <a:p>
            <a:r>
              <a:rPr lang="en-US" b="1" dirty="0"/>
              <a:t>Invest in systems, not just models:</a:t>
            </a:r>
            <a:r>
              <a:rPr lang="en-US" dirty="0"/>
              <a:t> Shift the focus away from the "hype curve" of raw model generation toward building the broader software engineering infrastructures that wrap, constrain, and safeguard these probabilistic components</a:t>
            </a:r>
            <a:br>
              <a:rPr lang="en-US" dirty="0"/>
            </a:br>
            <a:br>
              <a:rPr lang="en-US" dirty="0"/>
            </a:br>
            <a:endParaRPr lang="en-US" dirty="0"/>
          </a:p>
        </p:txBody>
      </p:sp>
      <p:sp>
        <p:nvSpPr>
          <p:cNvPr id="4" name="Title 3">
            <a:extLst>
              <a:ext uri="{FF2B5EF4-FFF2-40B4-BE49-F238E27FC236}">
                <a16:creationId xmlns:a16="http://schemas.microsoft.com/office/drawing/2014/main" id="{9922E1C6-813F-04AC-4655-81C1E6B3EBF5}"/>
              </a:ext>
            </a:extLst>
          </p:cNvPr>
          <p:cNvSpPr>
            <a:spLocks noGrp="1"/>
          </p:cNvSpPr>
          <p:nvPr>
            <p:ph type="title"/>
          </p:nvPr>
        </p:nvSpPr>
        <p:spPr/>
        <p:txBody>
          <a:bodyPr/>
          <a:lstStyle/>
          <a:p>
            <a:r>
              <a:rPr lang="en-US" dirty="0"/>
              <a:t>Engineering AI-Enabled Systems</a:t>
            </a:r>
          </a:p>
        </p:txBody>
      </p:sp>
    </p:spTree>
    <p:extLst>
      <p:ext uri="{BB962C8B-B14F-4D97-AF65-F5344CB8AC3E}">
        <p14:creationId xmlns:p14="http://schemas.microsoft.com/office/powerpoint/2010/main" val="33205691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4C9E487-BD1C-7792-633D-707F56FA7C2F}"/>
              </a:ext>
            </a:extLst>
          </p:cNvPr>
          <p:cNvSpPr>
            <a:spLocks noGrp="1"/>
          </p:cNvSpPr>
          <p:nvPr>
            <p:ph type="body" idx="1"/>
          </p:nvPr>
        </p:nvSpPr>
        <p:spPr/>
        <p:txBody>
          <a:bodyPr/>
          <a:lstStyle/>
          <a:p>
            <a:endParaRPr lang="en-US"/>
          </a:p>
        </p:txBody>
      </p:sp>
      <p:sp>
        <p:nvSpPr>
          <p:cNvPr id="3" name="Text Placeholder 2">
            <a:extLst>
              <a:ext uri="{FF2B5EF4-FFF2-40B4-BE49-F238E27FC236}">
                <a16:creationId xmlns:a16="http://schemas.microsoft.com/office/drawing/2014/main" id="{E5B75B5C-777E-35B4-DE2C-D0C0E66D7D75}"/>
              </a:ext>
            </a:extLst>
          </p:cNvPr>
          <p:cNvSpPr>
            <a:spLocks noGrp="1"/>
          </p:cNvSpPr>
          <p:nvPr>
            <p:ph type="body" idx="2"/>
          </p:nvPr>
        </p:nvSpPr>
        <p:spPr/>
        <p:txBody>
          <a:bodyPr/>
          <a:lstStyle/>
          <a:p>
            <a:r>
              <a:rPr lang="en-US" dirty="0">
                <a:hlinkClick r:id="rId2"/>
              </a:rPr>
              <a:t>https://ieeexplore.ieee.org/stamp/stamp.jsp?tp=&amp;arnumber=9121629</a:t>
            </a:r>
            <a:endParaRPr lang="en-US" dirty="0"/>
          </a:p>
          <a:p>
            <a:r>
              <a:rPr lang="en-US" dirty="0"/>
              <a:t>https://cloud.google.com/discover/what-is-prompt-engineering</a:t>
            </a:r>
          </a:p>
        </p:txBody>
      </p:sp>
      <p:sp>
        <p:nvSpPr>
          <p:cNvPr id="4" name="Title 3">
            <a:extLst>
              <a:ext uri="{FF2B5EF4-FFF2-40B4-BE49-F238E27FC236}">
                <a16:creationId xmlns:a16="http://schemas.microsoft.com/office/drawing/2014/main" id="{9BBB71B0-72B9-EFC3-EB0E-EAC3D5E5FF50}"/>
              </a:ext>
            </a:extLst>
          </p:cNvPr>
          <p:cNvSpPr>
            <a:spLocks noGrp="1"/>
          </p:cNvSpPr>
          <p:nvPr>
            <p:ph type="title"/>
          </p:nvPr>
        </p:nvSpPr>
        <p:spPr/>
        <p:txBody>
          <a:bodyPr/>
          <a:lstStyle/>
          <a:p>
            <a:r>
              <a:rPr lang="en-US" dirty="0"/>
              <a:t>References</a:t>
            </a:r>
          </a:p>
        </p:txBody>
      </p:sp>
    </p:spTree>
    <p:extLst>
      <p:ext uri="{BB962C8B-B14F-4D97-AF65-F5344CB8AC3E}">
        <p14:creationId xmlns:p14="http://schemas.microsoft.com/office/powerpoint/2010/main" val="34700545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4" name="Content Placeholder 3"/>
          <p:cNvSpPr>
            <a:spLocks noGrp="1"/>
          </p:cNvSpPr>
          <p:nvPr>
            <p:ph sz="quarter" idx="10"/>
          </p:nvPr>
        </p:nvSpPr>
        <p:spPr/>
        <p:txBody>
          <a:bodyPr/>
          <a:lstStyle/>
          <a:p>
            <a:pPr algn="ctr"/>
            <a:r>
              <a:rPr lang="en-US" dirty="0"/>
              <a:t>Thank you</a:t>
            </a:r>
          </a:p>
        </p:txBody>
      </p:sp>
    </p:spTree>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1EC2324A8A8974418F4287FF4BA2FD86" ma:contentTypeVersion="3" ma:contentTypeDescription="Create a new document." ma:contentTypeScope="" ma:versionID="c20ae23d9ac856c6053e676649c543ef">
  <xsd:schema xmlns:xsd="http://www.w3.org/2001/XMLSchema" xmlns:xs="http://www.w3.org/2001/XMLSchema" xmlns:p="http://schemas.microsoft.com/office/2006/metadata/properties" xmlns:ns2="3719838a-b8de-4044-bbc5-cde9575f33d8" targetNamespace="http://schemas.microsoft.com/office/2006/metadata/properties" ma:root="true" ma:fieldsID="5bcd724bed00bb7cfe4f11aa70afd346" ns2:_="">
    <xsd:import namespace="3719838a-b8de-4044-bbc5-cde9575f33d8"/>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719838a-b8de-4044-bbc5-cde9575f33d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71638F04-D371-46CB-A111-E60E596AAF5D}"/>
</file>

<file path=customXml/itemProps2.xml><?xml version="1.0" encoding="utf-8"?>
<ds:datastoreItem xmlns:ds="http://schemas.openxmlformats.org/officeDocument/2006/customXml" ds:itemID="{A9B2F74F-6816-4977-8C92-96B4F69A8C56}"/>
</file>

<file path=customXml/itemProps3.xml><?xml version="1.0" encoding="utf-8"?>
<ds:datastoreItem xmlns:ds="http://schemas.openxmlformats.org/officeDocument/2006/customXml" ds:itemID="{CBDDE006-688E-4676-B7D2-931ED94D2B07}"/>
</file>

<file path=docProps/app.xml><?xml version="1.0" encoding="utf-8"?>
<Properties xmlns="http://schemas.openxmlformats.org/officeDocument/2006/extended-properties" xmlns:vt="http://schemas.openxmlformats.org/officeDocument/2006/docPropsVTypes">
  <TotalTime>2172</TotalTime>
  <Words>934</Words>
  <Application>Microsoft Office PowerPoint</Application>
  <PresentationFormat>Widescreen</PresentationFormat>
  <Paragraphs>70</Paragraphs>
  <Slides>13</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Arial</vt:lpstr>
      <vt:lpstr>Calibri</vt:lpstr>
      <vt:lpstr>Google Sans Text</vt:lpstr>
      <vt:lpstr>Helvetica</vt:lpstr>
      <vt:lpstr>1_Office Theme</vt:lpstr>
      <vt:lpstr>AI-Augmented Software Development Life Cycle  SEZG534</vt:lpstr>
      <vt:lpstr>PowerPoint Presentation</vt:lpstr>
      <vt:lpstr>Prompt Engineering Vs Finetuning</vt:lpstr>
      <vt:lpstr>Prompt vs Context vs Harness</vt:lpstr>
      <vt:lpstr> AI Engineering Versus ML Engineering </vt:lpstr>
      <vt:lpstr> Model Context Protocol (MCP) </vt:lpstr>
      <vt:lpstr> Model Context Protocol (MCP) </vt:lpstr>
      <vt:lpstr> How does the MCP work? </vt:lpstr>
      <vt:lpstr> Three Layers of the AI Stack </vt:lpstr>
      <vt:lpstr>The AI Complexity Matrix </vt:lpstr>
      <vt:lpstr>Engineering AI-Enabled Systems</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Course Name</dc:title>
  <dc:creator>Shivam Chauhan</dc:creator>
  <cp:lastModifiedBy>AKSHAYA GANESAN .</cp:lastModifiedBy>
  <cp:revision>83</cp:revision>
  <dcterms:created xsi:type="dcterms:W3CDTF">2022-09-26T09:02:06Z</dcterms:created>
  <dcterms:modified xsi:type="dcterms:W3CDTF">2026-09-04T18:57:52Z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0x0101001EC2324A8A8974418F4287FF4BA2FD86</vt:lpwstr>
  </property>
</Properties>
</file>