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311" r:id="rId2"/>
    <p:sldId id="312" r:id="rId3"/>
    <p:sldId id="329" r:id="rId4"/>
    <p:sldId id="330" r:id="rId5"/>
    <p:sldId id="331" r:id="rId6"/>
    <p:sldId id="332" r:id="rId7"/>
    <p:sldId id="337" r:id="rId8"/>
    <p:sldId id="333" r:id="rId9"/>
    <p:sldId id="334" r:id="rId10"/>
    <p:sldId id="335" r:id="rId11"/>
    <p:sldId id="336" r:id="rId12"/>
    <p:sldId id="338" r:id="rId13"/>
    <p:sldId id="339" r:id="rId14"/>
    <p:sldId id="341" r:id="rId15"/>
    <p:sldId id="342" r:id="rId16"/>
    <p:sldId id="343" r:id="rId17"/>
    <p:sldId id="340" r:id="rId18"/>
    <p:sldId id="344" r:id="rId19"/>
    <p:sldId id="345" r:id="rId20"/>
    <p:sldId id="346" r:id="rId21"/>
    <p:sldId id="348" r:id="rId22"/>
    <p:sldId id="349" r:id="rId23"/>
    <p:sldId id="351" r:id="rId24"/>
    <p:sldId id="350" r:id="rId25"/>
    <p:sldId id="352" r:id="rId26"/>
    <p:sldId id="347" r:id="rId27"/>
    <p:sldId id="353" r:id="rId28"/>
    <p:sldId id="354" r:id="rId29"/>
    <p:sldId id="356" r:id="rId30"/>
    <p:sldId id="355" r:id="rId31"/>
    <p:sldId id="328" r:id="rId32"/>
    <p:sldId id="265"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go9uSRA0WETdhqdHWNBKCI42gc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A0E78D-CFBE-46A0-B656-1FB9B1C8EDF3}">
  <a:tblStyle styleId="{51A0E78D-CFBE-46A0-B656-1FB9B1C8EDF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69" Type="http://schemas.openxmlformats.org/officeDocument/2006/relationships/theme" Target="theme/theme1.xml"/><Relationship Id="rId8" Type="http://schemas.openxmlformats.org/officeDocument/2006/relationships/slide" Target="slides/slide7.xml"/><Relationship Id="rId72"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6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74"/>
        <p:cNvGrpSpPr/>
        <p:nvPr/>
      </p:nvGrpSpPr>
      <p:grpSpPr>
        <a:xfrm>
          <a:off x="0" y="0"/>
          <a:ext cx="0" cy="0"/>
          <a:chOff x="0" y="0"/>
          <a:chExt cx="0" cy="0"/>
        </a:xfrm>
      </p:grpSpPr>
      <p:pic>
        <p:nvPicPr>
          <p:cNvPr id="75" name="Google Shape;75;p18"/>
          <p:cNvPicPr preferRelativeResize="0"/>
          <p:nvPr/>
        </p:nvPicPr>
        <p:blipFill rotWithShape="1">
          <a:blip r:embed="rId2">
            <a:alphaModFix/>
          </a:blip>
          <a:srcRect l="13070" t="2102" r="13441" b="24408"/>
          <a:stretch/>
        </p:blipFill>
        <p:spPr>
          <a:xfrm>
            <a:off x="11131297" y="231878"/>
            <a:ext cx="828826" cy="828826"/>
          </a:xfrm>
          <a:prstGeom prst="rect">
            <a:avLst/>
          </a:prstGeom>
          <a:noFill/>
          <a:ln>
            <a:noFill/>
          </a:ln>
        </p:spPr>
      </p:pic>
      <p:grpSp>
        <p:nvGrpSpPr>
          <p:cNvPr id="76" name="Google Shape;76;p18"/>
          <p:cNvGrpSpPr/>
          <p:nvPr/>
        </p:nvGrpSpPr>
        <p:grpSpPr>
          <a:xfrm>
            <a:off x="2051531" y="5137310"/>
            <a:ext cx="10140469" cy="1726066"/>
            <a:chOff x="2051531" y="5793529"/>
            <a:chExt cx="10140469" cy="1726066"/>
          </a:xfrm>
        </p:grpSpPr>
        <p:pic>
          <p:nvPicPr>
            <p:cNvPr id="77" name="Google Shape;77;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78" name="Google Shape;78;p18"/>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79" name="Google Shape;79;p18"/>
          <p:cNvGrpSpPr/>
          <p:nvPr/>
        </p:nvGrpSpPr>
        <p:grpSpPr>
          <a:xfrm>
            <a:off x="0" y="-3947"/>
            <a:ext cx="10151227" cy="1731985"/>
            <a:chOff x="2116079" y="5959736"/>
            <a:chExt cx="10151227" cy="1731985"/>
          </a:xfrm>
        </p:grpSpPr>
        <p:pic>
          <p:nvPicPr>
            <p:cNvPr id="80" name="Google Shape;80;p18"/>
            <p:cNvPicPr preferRelativeResize="0"/>
            <p:nvPr/>
          </p:nvPicPr>
          <p:blipFill rotWithShape="1">
            <a:blip r:embed="rId3">
              <a:alphaModFix/>
            </a:blip>
            <a:srcRect/>
            <a:stretch/>
          </p:blipFill>
          <p:spPr>
            <a:xfrm>
              <a:off x="2116079" y="5959736"/>
              <a:ext cx="10075921" cy="1559859"/>
            </a:xfrm>
            <a:prstGeom prst="rect">
              <a:avLst/>
            </a:prstGeom>
            <a:noFill/>
            <a:ln>
              <a:noFill/>
            </a:ln>
          </p:spPr>
        </p:pic>
        <p:sp>
          <p:nvSpPr>
            <p:cNvPr id="81" name="Google Shape;81;p18"/>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82" name="Google Shape;82;p18"/>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18"/>
          <p:cNvSpPr txBox="1">
            <a:spLocks noGrp="1"/>
          </p:cNvSpPr>
          <p:nvPr>
            <p:ph type="body" idx="1"/>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body" idx="2"/>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5" name="Google Shape;85;p18"/>
          <p:cNvPicPr preferRelativeResize="0"/>
          <p:nvPr/>
        </p:nvPicPr>
        <p:blipFill rotWithShape="1">
          <a:blip r:embed="rId4">
            <a:alphaModFix/>
          </a:blip>
          <a:srcRect/>
          <a:stretch/>
        </p:blipFill>
        <p:spPr>
          <a:xfrm>
            <a:off x="187994" y="6364482"/>
            <a:ext cx="1468823" cy="5417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6"/>
        <p:cNvGrpSpPr/>
        <p:nvPr/>
      </p:nvGrpSpPr>
      <p:grpSpPr>
        <a:xfrm>
          <a:off x="0" y="0"/>
          <a:ext cx="0" cy="0"/>
          <a:chOff x="0" y="0"/>
          <a:chExt cx="0" cy="0"/>
        </a:xfrm>
      </p:grpSpPr>
      <p:grpSp>
        <p:nvGrpSpPr>
          <p:cNvPr id="87" name="Google Shape;87;p19"/>
          <p:cNvGrpSpPr/>
          <p:nvPr/>
        </p:nvGrpSpPr>
        <p:grpSpPr>
          <a:xfrm>
            <a:off x="0" y="-3947"/>
            <a:ext cx="10151227" cy="1731985"/>
            <a:chOff x="2116079" y="5959736"/>
            <a:chExt cx="10151227" cy="1731985"/>
          </a:xfrm>
        </p:grpSpPr>
        <p:pic>
          <p:nvPicPr>
            <p:cNvPr id="88" name="Google Shape;88;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89" name="Google Shape;89;p19"/>
            <p:cNvSpPr/>
            <p:nvPr/>
          </p:nvSpPr>
          <p:spPr>
            <a:xfrm>
              <a:off x="2191385" y="6030200"/>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90" name="Google Shape;90;p19"/>
          <p:cNvGrpSpPr/>
          <p:nvPr/>
        </p:nvGrpSpPr>
        <p:grpSpPr>
          <a:xfrm>
            <a:off x="2051531" y="5137310"/>
            <a:ext cx="10140469" cy="1726066"/>
            <a:chOff x="2051531" y="5793529"/>
            <a:chExt cx="10140469" cy="1726066"/>
          </a:xfrm>
        </p:grpSpPr>
        <p:pic>
          <p:nvPicPr>
            <p:cNvPr id="91" name="Google Shape;91;p19"/>
            <p:cNvPicPr preferRelativeResize="0"/>
            <p:nvPr/>
          </p:nvPicPr>
          <p:blipFill rotWithShape="1">
            <a:blip r:embed="rId2">
              <a:alphaModFix/>
            </a:blip>
            <a:srcRect/>
            <a:stretch/>
          </p:blipFill>
          <p:spPr>
            <a:xfrm>
              <a:off x="2116079" y="5959736"/>
              <a:ext cx="10075921" cy="1559859"/>
            </a:xfrm>
            <a:prstGeom prst="rect">
              <a:avLst/>
            </a:prstGeom>
            <a:noFill/>
            <a:ln>
              <a:noFill/>
            </a:ln>
          </p:spPr>
        </p:pic>
        <p:sp>
          <p:nvSpPr>
            <p:cNvPr id="92" name="Google Shape;92;p19"/>
            <p:cNvSpPr/>
            <p:nvPr/>
          </p:nvSpPr>
          <p:spPr>
            <a:xfrm>
              <a:off x="2051531" y="5793529"/>
              <a:ext cx="10075921" cy="16615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93" name="Google Shape;93;p19"/>
          <p:cNvSpPr txBox="1">
            <a:spLocks noGrp="1"/>
          </p:cNvSpPr>
          <p:nvPr>
            <p:ph type="body" idx="1"/>
          </p:nvPr>
        </p:nvSpPr>
        <p:spPr>
          <a:xfrm>
            <a:off x="2260457" y="6532234"/>
            <a:ext cx="9698644" cy="13335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rgbClr val="3F3F3F"/>
              </a:buClr>
              <a:buSzPts val="800"/>
              <a:buFont typeface="Arial"/>
              <a:buNone/>
              <a:defRPr sz="8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4" name="Google Shape;94;p19"/>
          <p:cNvPicPr preferRelativeResize="0"/>
          <p:nvPr/>
        </p:nvPicPr>
        <p:blipFill rotWithShape="1">
          <a:blip r:embed="rId3">
            <a:alphaModFix/>
          </a:blip>
          <a:srcRect/>
          <a:stretch/>
        </p:blipFill>
        <p:spPr>
          <a:xfrm>
            <a:off x="187994" y="6364482"/>
            <a:ext cx="1468823" cy="541779"/>
          </a:xfrm>
          <a:prstGeom prst="rect">
            <a:avLst/>
          </a:prstGeom>
          <a:noFill/>
          <a:ln>
            <a:noFill/>
          </a:ln>
        </p:spPr>
      </p:pic>
      <p:sp>
        <p:nvSpPr>
          <p:cNvPr id="95" name="Google Shape;95;p19"/>
          <p:cNvSpPr txBox="1">
            <a:spLocks noGrp="1"/>
          </p:cNvSpPr>
          <p:nvPr>
            <p:ph type="body" idx="2"/>
          </p:nvPr>
        </p:nvSpPr>
        <p:spPr>
          <a:xfrm>
            <a:off x="695325" y="1226065"/>
            <a:ext cx="10801350" cy="493804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68300" algn="l" rtl="0">
              <a:lnSpc>
                <a:spcPct val="100000"/>
              </a:lnSpc>
              <a:spcBef>
                <a:spcPts val="1000"/>
              </a:spcBef>
              <a:spcAft>
                <a:spcPts val="0"/>
              </a:spcAft>
              <a:buClr>
                <a:schemeClr val="dk1"/>
              </a:buClr>
              <a:buSzPts val="2200"/>
              <a:buFont typeface="Arial"/>
              <a:buChar char="•"/>
              <a:defRPr sz="2200" b="0" i="0" u="none" strike="noStrike" cap="none">
                <a:solidFill>
                  <a:schemeClr val="dk1"/>
                </a:solidFill>
                <a:latin typeface="Arial"/>
                <a:ea typeface="Arial"/>
                <a:cs typeface="Arial"/>
                <a:sym typeface="Arial"/>
              </a:defRPr>
            </a:lvl2pPr>
            <a:lvl3pPr marL="1371600" marR="0" lvl="2"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10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6" name="Google Shape;96;p19"/>
          <p:cNvPicPr preferRelativeResize="0"/>
          <p:nvPr/>
        </p:nvPicPr>
        <p:blipFill rotWithShape="1">
          <a:blip r:embed="rId4">
            <a:alphaModFix/>
          </a:blip>
          <a:srcRect l="13070" t="2102" r="13441" b="24408"/>
          <a:stretch/>
        </p:blipFill>
        <p:spPr>
          <a:xfrm>
            <a:off x="11131297" y="231878"/>
            <a:ext cx="828826" cy="828826"/>
          </a:xfrm>
          <a:prstGeom prst="rect">
            <a:avLst/>
          </a:prstGeom>
          <a:noFill/>
          <a:ln>
            <a:noFill/>
          </a:ln>
        </p:spPr>
      </p:pic>
      <p:sp>
        <p:nvSpPr>
          <p:cNvPr id="97" name="Google Shape;97;p19"/>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763999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dirty="0">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36943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pic>
        <p:nvPicPr>
          <p:cNvPr id="5" name="Picture 8"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9" name="TextBox 8"/>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611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pic>
        <p:nvPicPr>
          <p:cNvPr id="9" name="Picture 11" descr="Picture 7.png"/>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4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Click to edit Master text styles</a:t>
            </a:r>
          </a:p>
        </p:txBody>
      </p:sp>
      <p:sp>
        <p:nvSpPr>
          <p:cNvPr id="2" name="Date Placeholder 1"/>
          <p:cNvSpPr>
            <a:spLocks noGrp="1"/>
          </p:cNvSpPr>
          <p:nvPr>
            <p:ph type="dt" sz="half" idx="11"/>
          </p:nvPr>
        </p:nvSpPr>
        <p:spPr/>
        <p:txBody>
          <a:bodyPr/>
          <a:lstStyle/>
          <a:p>
            <a:fld id="{367210A1-D9D8-4406-AA8C-189570548DAB}" type="datetime1">
              <a:rPr lang="en-US" smtClean="0"/>
              <a:t>8/29/2026</a:t>
            </a:fld>
            <a:endParaRPr lang="en-US" dirty="0"/>
          </a:p>
        </p:txBody>
      </p:sp>
      <p:sp>
        <p:nvSpPr>
          <p:cNvPr id="18" name="Footer Placeholder 17"/>
          <p:cNvSpPr>
            <a:spLocks noGrp="1"/>
          </p:cNvSpPr>
          <p:nvPr>
            <p:ph type="ftr" sz="quarter" idx="12"/>
          </p:nvPr>
        </p:nvSpPr>
        <p:spPr/>
        <p:txBody>
          <a:bodyPr/>
          <a:lstStyle/>
          <a:p>
            <a:endParaRPr lang="en-US" dirty="0"/>
          </a:p>
        </p:txBody>
      </p:sp>
      <p:sp>
        <p:nvSpPr>
          <p:cNvPr id="19" name="Slide Number Placeholder 18"/>
          <p:cNvSpPr>
            <a:spLocks noGrp="1"/>
          </p:cNvSpPr>
          <p:nvPr>
            <p:ph type="sldNum" sz="quarter" idx="13"/>
          </p:nvPr>
        </p:nvSpPr>
        <p:spPr/>
        <p:txBody>
          <a:bodyPr/>
          <a:lstStyle/>
          <a:p>
            <a:fld id="{419D97FF-0E15-4DEA-9B96-99199D6F8EB2}" type="slidenum">
              <a:rPr lang="en-US" smtClean="0"/>
              <a:t>‹#›</a:t>
            </a:fld>
            <a:endParaRPr lang="en-US"/>
          </a:p>
        </p:txBody>
      </p:sp>
    </p:spTree>
    <p:extLst>
      <p:ext uri="{BB962C8B-B14F-4D97-AF65-F5344CB8AC3E}">
        <p14:creationId xmlns:p14="http://schemas.microsoft.com/office/powerpoint/2010/main" val="19416500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5" r:id="rId1"/>
    <p:sldLayoutId id="2147483656" r:id="rId2"/>
    <p:sldLayoutId id="2147483658" r:id="rId3"/>
    <p:sldLayoutId id="2147483659" r:id="rId4"/>
    <p:sldLayoutId id="2147483660" r:id="rId5"/>
    <p:sldLayoutId id="214748366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outshift.cisco.com/blog/ai-ml/agentic-sdlc-new-evolution-in-software-engineering" TargetMode="External"/><Relationship Id="rId2" Type="http://schemas.openxmlformats.org/officeDocument/2006/relationships/hyperlink" Target="https://martinfowler.com/articles/harnessengineering.html" TargetMode="External"/><Relationship Id="rId1" Type="http://schemas.openxmlformats.org/officeDocument/2006/relationships/slideLayout" Target="../slideLayouts/slideLayout2.xml"/><Relationship Id="rId4" Type="http://schemas.openxmlformats.org/officeDocument/2006/relationships/hyperlink" Target="https://www.faros.ai/blog/harness-engineering"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879003" y="3810000"/>
            <a:ext cx="8500198" cy="1524000"/>
          </a:xfrm>
        </p:spPr>
        <p:txBody>
          <a:bodyPr/>
          <a:lstStyle/>
          <a:p>
            <a:pPr>
              <a:defRPr/>
            </a:pPr>
            <a:r>
              <a:rPr lang="en-US" sz="4000" dirty="0"/>
              <a:t>AI-Augmented Software Development Life Cycle </a:t>
            </a:r>
            <a:br>
              <a:rPr lang="en-US" sz="4000" dirty="0"/>
            </a:br>
            <a:r>
              <a:rPr lang="en-US" sz="4000" dirty="0"/>
              <a:t>SEZG534</a:t>
            </a:r>
          </a:p>
        </p:txBody>
      </p:sp>
      <p:sp>
        <p:nvSpPr>
          <p:cNvPr id="13315" name="Content Placeholder 5"/>
          <p:cNvSpPr>
            <a:spLocks noGrp="1"/>
          </p:cNvSpPr>
          <p:nvPr>
            <p:ph sz="quarter" idx="13"/>
          </p:nvPr>
        </p:nvSpPr>
        <p:spPr/>
        <p:txBody>
          <a:bodyPr/>
          <a:lstStyle/>
          <a:p>
            <a:pPr eaLnBrk="1" hangingPunct="1">
              <a:spcBef>
                <a:spcPct val="0"/>
              </a:spcBef>
            </a:pPr>
            <a:r>
              <a:rPr lang="en-US" altLang="en-US" dirty="0" err="1"/>
              <a:t>Akshaya</a:t>
            </a:r>
            <a:r>
              <a:rPr lang="en-US" altLang="en-US" dirty="0"/>
              <a:t> </a:t>
            </a:r>
            <a:r>
              <a:rPr lang="en-US" altLang="en-US" dirty="0" err="1"/>
              <a:t>Ganesan</a:t>
            </a:r>
            <a:endParaRPr lang="en-US" altLang="en-US" dirty="0"/>
          </a:p>
          <a:p>
            <a:pPr eaLnBrk="1" hangingPunct="1">
              <a:spcBef>
                <a:spcPct val="0"/>
              </a:spcBef>
            </a:pPr>
            <a:r>
              <a:rPr lang="en-US" altLang="en-US" dirty="0"/>
              <a:t>CSIS, WILP</a:t>
            </a:r>
          </a:p>
        </p:txBody>
      </p:sp>
    </p:spTree>
    <p:extLst>
      <p:ext uri="{BB962C8B-B14F-4D97-AF65-F5344CB8AC3E}">
        <p14:creationId xmlns:p14="http://schemas.microsoft.com/office/powerpoint/2010/main" val="2018772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spcBef>
                <a:spcPct val="0"/>
              </a:spcBef>
              <a:defRPr/>
            </a:pPr>
            <a:r>
              <a:rPr lang="en-US" sz="3600" dirty="0">
                <a:latin typeface="Arial" charset="0"/>
                <a:cs typeface="Arial" charset="0"/>
              </a:rPr>
              <a:t>Contact Session: 6 </a:t>
            </a:r>
            <a:r>
              <a:rPr lang="en-US" dirty="0">
                <a:latin typeface="Arial" charset="0"/>
                <a:cs typeface="Arial" charset="0"/>
              </a:rPr>
              <a:t>– Fundamentals of AI</a:t>
            </a:r>
            <a:endParaRPr lang="en-US" sz="3600" dirty="0">
              <a:latin typeface="Arial" charset="0"/>
              <a:cs typeface="Arial" charset="0"/>
            </a:endParaRPr>
          </a:p>
        </p:txBody>
      </p:sp>
    </p:spTree>
    <p:extLst>
      <p:ext uri="{BB962C8B-B14F-4D97-AF65-F5344CB8AC3E}">
        <p14:creationId xmlns:p14="http://schemas.microsoft.com/office/powerpoint/2010/main" val="98716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C8A501-CD71-7BDE-1195-F00CAFFD2A1E}"/>
              </a:ext>
            </a:extLst>
          </p:cNvPr>
          <p:cNvSpPr>
            <a:spLocks noGrp="1"/>
          </p:cNvSpPr>
          <p:nvPr>
            <p:ph type="body" idx="1"/>
          </p:nvPr>
        </p:nvSpPr>
        <p:spPr/>
        <p:txBody>
          <a:bodyPr/>
          <a:lstStyle/>
          <a:p>
            <a:endParaRPr lang="en-US"/>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0D59FED-B438-11F5-3602-A78B0538B8EF}"/>
                  </a:ext>
                </a:extLst>
              </p:cNvPr>
              <p:cNvSpPr>
                <a:spLocks noGrp="1"/>
              </p:cNvSpPr>
              <p:nvPr>
                <p:ph type="body" idx="2"/>
              </p:nvPr>
            </p:nvSpPr>
            <p:spPr/>
            <p:txBody>
              <a:bodyPr/>
              <a:lstStyle/>
              <a:p>
                <a:r>
                  <a:rPr lang="en-US" dirty="0"/>
                  <a:t>An </a:t>
                </a:r>
                <a:r>
                  <a:rPr lang="en-US" b="1" dirty="0"/>
                  <a:t>AI agent</a:t>
                </a:r>
                <a:r>
                  <a:rPr lang="en-US" dirty="0"/>
                  <a:t> is an autonomous software entity that </a:t>
                </a:r>
              </a:p>
              <a:p>
                <a:pPr lvl="1"/>
                <a:r>
                  <a:rPr lang="en-US" dirty="0"/>
                  <a:t>perceives its environment through sensors/data inputs, </a:t>
                </a:r>
              </a:p>
              <a:p>
                <a:pPr lvl="1"/>
                <a:r>
                  <a:rPr lang="en-US" dirty="0"/>
                  <a:t>makes decisions using reasoning mechanisms, and </a:t>
                </a:r>
              </a:p>
              <a:p>
                <a:pPr lvl="1"/>
                <a:r>
                  <a:rPr lang="en-US" dirty="0"/>
                  <a:t>executes actions via tools to achieve specific goals.</a:t>
                </a:r>
              </a:p>
              <a:p>
                <a:r>
                  <a:rPr lang="en-US" dirty="0"/>
                  <a:t>Unlike traditional software that follows rigid static rules, or standard LLMs that simply respond to a prompt, an AI agent operates continuously in a </a:t>
                </a:r>
                <a:r>
                  <a:rPr lang="en-US" b="1" dirty="0"/>
                  <a:t>Perceive </a:t>
                </a:r>
                <a14:m>
                  <m:oMath xmlns:m="http://schemas.openxmlformats.org/officeDocument/2006/math">
                    <m:r>
                      <a:rPr lang="en-US">
                        <a:latin typeface="Cambria Math" panose="02040503050406030204" pitchFamily="18" charset="0"/>
                      </a:rPr>
                      <m:t>→</m:t>
                    </m:r>
                  </m:oMath>
                </a14:m>
                <a:r>
                  <a:rPr lang="en-US" b="1" dirty="0"/>
                  <a:t>Reason </a:t>
                </a:r>
                <a14:m>
                  <m:oMath xmlns:m="http://schemas.openxmlformats.org/officeDocument/2006/math">
                    <m:r>
                      <a:rPr lang="en-US">
                        <a:latin typeface="Cambria Math" panose="02040503050406030204" pitchFamily="18" charset="0"/>
                      </a:rPr>
                      <m:t>→</m:t>
                    </m:r>
                  </m:oMath>
                </a14:m>
                <a:r>
                  <a:rPr lang="en-US" b="1" dirty="0"/>
                  <a:t>Act </a:t>
                </a:r>
                <a14:m>
                  <m:oMath xmlns:m="http://schemas.openxmlformats.org/officeDocument/2006/math">
                    <m:r>
                      <a:rPr lang="en-US">
                        <a:latin typeface="Cambria Math" panose="02040503050406030204" pitchFamily="18" charset="0"/>
                      </a:rPr>
                      <m:t>→</m:t>
                    </m:r>
                  </m:oMath>
                </a14:m>
                <a:r>
                  <a:rPr lang="en-US" b="1" dirty="0"/>
                  <a:t>Evaluate</a:t>
                </a:r>
                <a:r>
                  <a:rPr lang="en-US" dirty="0"/>
                  <a:t> loop.</a:t>
                </a:r>
              </a:p>
              <a:p>
                <a:r>
                  <a:rPr lang="en-US" dirty="0"/>
                  <a:t>AI agents operate with autonomy inside defined boundaries. </a:t>
                </a:r>
              </a:p>
              <a:p>
                <a:r>
                  <a:rPr lang="en-US" dirty="0"/>
                  <a:t>Each one is built to understand a specific input, determine the appropriate next step, and take action within the constraints of its design</a:t>
                </a:r>
              </a:p>
            </p:txBody>
          </p:sp>
        </mc:Choice>
        <mc:Fallback xmlns="">
          <p:sp>
            <p:nvSpPr>
              <p:cNvPr id="3" name="Text Placeholder 2">
                <a:extLst>
                  <a:ext uri="{FF2B5EF4-FFF2-40B4-BE49-F238E27FC236}">
                    <a16:creationId xmlns:a16="http://schemas.microsoft.com/office/drawing/2014/main" id="{20D59FED-B438-11F5-3602-A78B0538B8EF}"/>
                  </a:ext>
                </a:extLst>
              </p:cNvPr>
              <p:cNvSpPr>
                <a:spLocks noGrp="1" noRot="1" noChangeAspect="1" noMove="1" noResize="1" noEditPoints="1" noAdjustHandles="1" noChangeArrowheads="1" noChangeShapeType="1" noTextEdit="1"/>
              </p:cNvSpPr>
              <p:nvPr>
                <p:ph type="body" idx="2"/>
              </p:nvPr>
            </p:nvSpPr>
            <p:spPr>
              <a:blipFill>
                <a:blip r:embed="rId2"/>
                <a:stretch>
                  <a:fillRect/>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1BFCDC2D-2410-61F2-1224-F246E6A57C81}"/>
              </a:ext>
            </a:extLst>
          </p:cNvPr>
          <p:cNvSpPr>
            <a:spLocks noGrp="1"/>
          </p:cNvSpPr>
          <p:nvPr>
            <p:ph type="title"/>
          </p:nvPr>
        </p:nvSpPr>
        <p:spPr/>
        <p:txBody>
          <a:bodyPr/>
          <a:lstStyle/>
          <a:p>
            <a:r>
              <a:rPr lang="en-US" dirty="0"/>
              <a:t>AI Agent</a:t>
            </a:r>
          </a:p>
        </p:txBody>
      </p:sp>
    </p:spTree>
    <p:extLst>
      <p:ext uri="{BB962C8B-B14F-4D97-AF65-F5344CB8AC3E}">
        <p14:creationId xmlns:p14="http://schemas.microsoft.com/office/powerpoint/2010/main" val="3607398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274654-FB10-484F-1DD4-45D6A60232DB}"/>
              </a:ext>
            </a:extLst>
          </p:cNvPr>
          <p:cNvSpPr>
            <a:spLocks noGrp="1"/>
          </p:cNvSpPr>
          <p:nvPr>
            <p:ph type="body" idx="1"/>
          </p:nvPr>
        </p:nvSpPr>
        <p:spPr>
          <a:xfrm>
            <a:off x="1665838" y="6164113"/>
            <a:ext cx="10293263" cy="501471"/>
          </a:xfrm>
        </p:spPr>
        <p:txBody>
          <a:bodyPr/>
          <a:lstStyle/>
          <a:p>
            <a:r>
              <a:rPr lang="en-US" dirty="0"/>
              <a:t>SWE-agent (Yang et al., 2024) is a coding agent whose environment is the computer and</a:t>
            </a:r>
          </a:p>
          <a:p>
            <a:r>
              <a:rPr lang="en-US" dirty="0"/>
              <a:t>whose actions include navigation, search, and editing. Adapted from an original image licensed under</a:t>
            </a:r>
          </a:p>
          <a:p>
            <a:r>
              <a:rPr lang="en-US" dirty="0"/>
              <a:t>CC BY 4.0.</a:t>
            </a:r>
          </a:p>
        </p:txBody>
      </p:sp>
      <p:sp>
        <p:nvSpPr>
          <p:cNvPr id="3" name="Text Placeholder 2">
            <a:extLst>
              <a:ext uri="{FF2B5EF4-FFF2-40B4-BE49-F238E27FC236}">
                <a16:creationId xmlns:a16="http://schemas.microsoft.com/office/drawing/2014/main" id="{AD3FDFFB-292C-1701-6A1E-05B681857EFE}"/>
              </a:ext>
            </a:extLst>
          </p:cNvPr>
          <p:cNvSpPr>
            <a:spLocks noGrp="1"/>
          </p:cNvSpPr>
          <p:nvPr>
            <p:ph type="body" idx="2"/>
          </p:nvPr>
        </p:nvSpPr>
        <p:spPr/>
        <p:txBody>
          <a:bodyPr/>
          <a:lstStyle/>
          <a:p>
            <a:r>
              <a:rPr lang="en-US" dirty="0"/>
              <a:t>An agent built on top of GPT-4. Its environment is the computer with the terminal and the file system. </a:t>
            </a:r>
          </a:p>
          <a:p>
            <a:r>
              <a:rPr lang="en-US" dirty="0"/>
              <a:t>Its set of actions include navigate repo, search </a:t>
            </a:r>
            <a:r>
              <a:rPr lang="en-US" dirty="0" err="1"/>
              <a:t>files,view</a:t>
            </a:r>
            <a:r>
              <a:rPr lang="en-US" dirty="0"/>
              <a:t> files, and edit lines.</a:t>
            </a:r>
          </a:p>
        </p:txBody>
      </p:sp>
      <p:sp>
        <p:nvSpPr>
          <p:cNvPr id="4" name="Title 3">
            <a:extLst>
              <a:ext uri="{FF2B5EF4-FFF2-40B4-BE49-F238E27FC236}">
                <a16:creationId xmlns:a16="http://schemas.microsoft.com/office/drawing/2014/main" id="{F22A2E25-A64F-B7B7-C099-B3E18D3203AE}"/>
              </a:ext>
            </a:extLst>
          </p:cNvPr>
          <p:cNvSpPr>
            <a:spLocks noGrp="1"/>
          </p:cNvSpPr>
          <p:nvPr>
            <p:ph type="title"/>
          </p:nvPr>
        </p:nvSpPr>
        <p:spPr/>
        <p:txBody>
          <a:bodyPr/>
          <a:lstStyle/>
          <a:p>
            <a:r>
              <a:rPr lang="en-US" dirty="0"/>
              <a:t>Example</a:t>
            </a:r>
          </a:p>
        </p:txBody>
      </p:sp>
      <p:pic>
        <p:nvPicPr>
          <p:cNvPr id="6" name="Picture 5">
            <a:extLst>
              <a:ext uri="{FF2B5EF4-FFF2-40B4-BE49-F238E27FC236}">
                <a16:creationId xmlns:a16="http://schemas.microsoft.com/office/drawing/2014/main" id="{48BDE46D-94B6-3A2C-B4E3-5981D46C4C2C}"/>
              </a:ext>
            </a:extLst>
          </p:cNvPr>
          <p:cNvPicPr>
            <a:picLocks noChangeAspect="1"/>
          </p:cNvPicPr>
          <p:nvPr/>
        </p:nvPicPr>
        <p:blipFill>
          <a:blip r:embed="rId2"/>
          <a:stretch>
            <a:fillRect/>
          </a:stretch>
        </p:blipFill>
        <p:spPr>
          <a:xfrm>
            <a:off x="1874067" y="2875786"/>
            <a:ext cx="7351414" cy="3145870"/>
          </a:xfrm>
          <a:prstGeom prst="rect">
            <a:avLst/>
          </a:prstGeom>
        </p:spPr>
      </p:pic>
    </p:spTree>
    <p:extLst>
      <p:ext uri="{BB962C8B-B14F-4D97-AF65-F5344CB8AC3E}">
        <p14:creationId xmlns:p14="http://schemas.microsoft.com/office/powerpoint/2010/main" val="3203699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75F377-A8BB-368B-99C4-4543CE9F2E96}"/>
              </a:ext>
            </a:extLst>
          </p:cNvPr>
          <p:cNvSpPr>
            <a:spLocks noGrp="1"/>
          </p:cNvSpPr>
          <p:nvPr>
            <p:ph type="body" idx="1"/>
          </p:nvPr>
        </p:nvSpPr>
        <p:spPr>
          <a:xfrm>
            <a:off x="2260457" y="6492772"/>
            <a:ext cx="9698644" cy="133350"/>
          </a:xfrm>
        </p:spPr>
        <p:txBody>
          <a:bodyPr/>
          <a:lstStyle/>
          <a:p>
            <a:r>
              <a:rPr lang="en-US" dirty="0"/>
              <a:t>Generated by Gemini AI</a:t>
            </a:r>
          </a:p>
        </p:txBody>
      </p:sp>
      <p:sp>
        <p:nvSpPr>
          <p:cNvPr id="4" name="Title 3">
            <a:extLst>
              <a:ext uri="{FF2B5EF4-FFF2-40B4-BE49-F238E27FC236}">
                <a16:creationId xmlns:a16="http://schemas.microsoft.com/office/drawing/2014/main" id="{3CEE650F-6D4F-5D58-53CD-BB5DAA1E92D3}"/>
              </a:ext>
            </a:extLst>
          </p:cNvPr>
          <p:cNvSpPr>
            <a:spLocks noGrp="1"/>
          </p:cNvSpPr>
          <p:nvPr>
            <p:ph type="title"/>
          </p:nvPr>
        </p:nvSpPr>
        <p:spPr/>
        <p:txBody>
          <a:bodyPr/>
          <a:lstStyle/>
          <a:p>
            <a:r>
              <a:rPr lang="en-US" dirty="0"/>
              <a:t>Types of AI Agents</a:t>
            </a:r>
          </a:p>
        </p:txBody>
      </p:sp>
      <p:graphicFrame>
        <p:nvGraphicFramePr>
          <p:cNvPr id="5" name="Table 4">
            <a:extLst>
              <a:ext uri="{FF2B5EF4-FFF2-40B4-BE49-F238E27FC236}">
                <a16:creationId xmlns:a16="http://schemas.microsoft.com/office/drawing/2014/main" id="{65CEA8A3-5F90-825D-FEFD-CCF3439E9110}"/>
              </a:ext>
            </a:extLst>
          </p:cNvPr>
          <p:cNvGraphicFramePr>
            <a:graphicFrameLocks noGrp="1"/>
          </p:cNvGraphicFramePr>
          <p:nvPr>
            <p:extLst>
              <p:ext uri="{D42A27DB-BD31-4B8C-83A1-F6EECF244321}">
                <p14:modId xmlns:p14="http://schemas.microsoft.com/office/powerpoint/2010/main" val="4215337653"/>
              </p:ext>
            </p:extLst>
          </p:nvPr>
        </p:nvGraphicFramePr>
        <p:xfrm>
          <a:off x="838200" y="1531009"/>
          <a:ext cx="10515600" cy="4114800"/>
        </p:xfrm>
        <a:graphic>
          <a:graphicData uri="http://schemas.openxmlformats.org/drawingml/2006/table">
            <a:tbl>
              <a:tblPr>
                <a:tableStyleId>{51A0E78D-CFBE-46A0-B656-1FB9B1C8EDF3}</a:tableStyleId>
              </a:tblPr>
              <a:tblGrid>
                <a:gridCol w="2628900">
                  <a:extLst>
                    <a:ext uri="{9D8B030D-6E8A-4147-A177-3AD203B41FA5}">
                      <a16:colId xmlns:a16="http://schemas.microsoft.com/office/drawing/2014/main" val="822701881"/>
                    </a:ext>
                  </a:extLst>
                </a:gridCol>
                <a:gridCol w="2363332">
                  <a:extLst>
                    <a:ext uri="{9D8B030D-6E8A-4147-A177-3AD203B41FA5}">
                      <a16:colId xmlns:a16="http://schemas.microsoft.com/office/drawing/2014/main" val="1744330416"/>
                    </a:ext>
                  </a:extLst>
                </a:gridCol>
                <a:gridCol w="2894468">
                  <a:extLst>
                    <a:ext uri="{9D8B030D-6E8A-4147-A177-3AD203B41FA5}">
                      <a16:colId xmlns:a16="http://schemas.microsoft.com/office/drawing/2014/main" val="2494945355"/>
                    </a:ext>
                  </a:extLst>
                </a:gridCol>
                <a:gridCol w="2628900">
                  <a:extLst>
                    <a:ext uri="{9D8B030D-6E8A-4147-A177-3AD203B41FA5}">
                      <a16:colId xmlns:a16="http://schemas.microsoft.com/office/drawing/2014/main" val="1338358262"/>
                    </a:ext>
                  </a:extLst>
                </a:gridCol>
              </a:tblGrid>
              <a:tr h="0">
                <a:tc>
                  <a:txBody>
                    <a:bodyPr/>
                    <a:lstStyle/>
                    <a:p>
                      <a:pPr marL="0" marR="0" rtl="0">
                        <a:spcAft>
                          <a:spcPts val="2400"/>
                        </a:spcAft>
                        <a:buNone/>
                      </a:pPr>
                      <a:r>
                        <a:rPr lang="en-US">
                          <a:effectLst/>
                        </a:rPr>
                        <a:t>Agent Type</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Core Mechanism</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How It Decides</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Real-World Example</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176739862"/>
                  </a:ext>
                </a:extLst>
              </a:tr>
              <a:tr h="0">
                <a:tc>
                  <a:txBody>
                    <a:bodyPr/>
                    <a:lstStyle/>
                    <a:p>
                      <a:pPr marL="0" marR="0" rtl="0">
                        <a:spcAft>
                          <a:spcPts val="2400"/>
                        </a:spcAft>
                        <a:buNone/>
                      </a:pPr>
                      <a:r>
                        <a:rPr lang="en-US">
                          <a:effectLst/>
                        </a:rPr>
                        <a:t>Simple Reflex Agent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Condition-action rules (</a:t>
                      </a:r>
                      <a:r>
                        <a:rPr lang="en-US" sz="1125">
                          <a:effectLst/>
                        </a:rPr>
                        <a:t>IF/THEN</a:t>
                      </a:r>
                      <a:r>
                        <a:rPr lang="en-US">
                          <a:effectLst/>
                        </a:rPr>
                        <a:t>). Ignores history.</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Reacts strictly to the immediate current perception.</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Smart thermostat (If temp &gt; 75°F, turn on AC).</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568363216"/>
                  </a:ext>
                </a:extLst>
              </a:tr>
              <a:tr h="0">
                <a:tc>
                  <a:txBody>
                    <a:bodyPr/>
                    <a:lstStyle/>
                    <a:p>
                      <a:pPr marL="0" marR="0" rtl="0">
                        <a:spcAft>
                          <a:spcPts val="2400"/>
                        </a:spcAft>
                        <a:buNone/>
                      </a:pPr>
                      <a:r>
                        <a:rPr lang="en-US" dirty="0">
                          <a:effectLst/>
                        </a:rPr>
                        <a:t>Model-Based Reflex Agent</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Internal state tracking + environment rules.</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Considers current input plus an internal model of how the world evolves.</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Automated braking system that accounts for wet road conditions.</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352464172"/>
                  </a:ext>
                </a:extLst>
              </a:tr>
              <a:tr h="0">
                <a:tc>
                  <a:txBody>
                    <a:bodyPr/>
                    <a:lstStyle/>
                    <a:p>
                      <a:pPr marL="0" marR="0" rtl="0">
                        <a:spcAft>
                          <a:spcPts val="2400"/>
                        </a:spcAft>
                        <a:buNone/>
                      </a:pPr>
                      <a:r>
                        <a:rPr lang="en-US">
                          <a:effectLst/>
                        </a:rPr>
                        <a:t>Goal-Based Agent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Pathfinding &amp; planning algorithms.</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Chooses actions explicitly aimed at achieving a defined target state.</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GPS Navigation (Find route to destination).</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319253488"/>
                  </a:ext>
                </a:extLst>
              </a:tr>
              <a:tr h="0">
                <a:tc>
                  <a:txBody>
                    <a:bodyPr/>
                    <a:lstStyle/>
                    <a:p>
                      <a:pPr marL="0" marR="0" rtl="0">
                        <a:spcAft>
                          <a:spcPts val="2400"/>
                        </a:spcAft>
                        <a:buNone/>
                      </a:pPr>
                      <a:r>
                        <a:rPr lang="en-US">
                          <a:effectLst/>
                        </a:rPr>
                        <a:t>Utility-Based Agent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Multi-objective trade-off scoring.</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Evaluates how well or efficiently a goal is reached using a utility function.</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Ride-sharing dispatcher (Balance lowest wait time vs shortest driver distance).</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12833150"/>
                  </a:ext>
                </a:extLst>
              </a:tr>
              <a:tr h="0">
                <a:tc>
                  <a:txBody>
                    <a:bodyPr/>
                    <a:lstStyle/>
                    <a:p>
                      <a:pPr marL="0" marR="0" rtl="0">
                        <a:spcAft>
                          <a:spcPts val="2400"/>
                        </a:spcAft>
                        <a:buNone/>
                      </a:pPr>
                      <a:r>
                        <a:rPr lang="en-US">
                          <a:effectLst/>
                        </a:rPr>
                        <a:t>Learning Agent</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Self-improving feedback loop.</a:t>
                      </a:r>
                      <a:endParaRPr lang="en-US" dirty="0">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a:effectLst/>
                        </a:rPr>
                        <a:t>Operates with a learning element to adapt behavior based on environmental feedback.</a:t>
                      </a:r>
                      <a:endParaRPr lang="en-US">
                        <a:solidFill>
                          <a:srgbClr val="1F1F1F"/>
                        </a:solidFill>
                        <a:effectLst/>
                        <a:latin typeface="Google Sans Text"/>
                      </a:endParaRPr>
                    </a:p>
                  </a:txBody>
                  <a:tcPr marL="114300" marR="114300" marT="76200" marB="76200" anchor="ctr"/>
                </a:tc>
                <a:tc>
                  <a:txBody>
                    <a:bodyPr/>
                    <a:lstStyle/>
                    <a:p>
                      <a:pPr marL="0" marR="0" rtl="0">
                        <a:spcAft>
                          <a:spcPts val="2400"/>
                        </a:spcAft>
                        <a:buNone/>
                      </a:pPr>
                      <a:r>
                        <a:rPr lang="en-US" dirty="0">
                          <a:effectLst/>
                        </a:rPr>
                        <a:t>Recommendation engines (Netflix/Spotify algorithms).</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217590646"/>
                  </a:ext>
                </a:extLst>
              </a:tr>
            </a:tbl>
          </a:graphicData>
        </a:graphic>
      </p:graphicFrame>
    </p:spTree>
    <p:extLst>
      <p:ext uri="{BB962C8B-B14F-4D97-AF65-F5344CB8AC3E}">
        <p14:creationId xmlns:p14="http://schemas.microsoft.com/office/powerpoint/2010/main" val="3531893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336025-5C32-741C-A925-AE453C273F0B}"/>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D887BAD3-B689-2B71-4284-50D49BC05266}"/>
              </a:ext>
            </a:extLst>
          </p:cNvPr>
          <p:cNvSpPr>
            <a:spLocks noGrp="1"/>
          </p:cNvSpPr>
          <p:nvPr>
            <p:ph type="body" idx="2"/>
          </p:nvPr>
        </p:nvSpPr>
        <p:spPr/>
        <p:txBody>
          <a:bodyPr/>
          <a:lstStyle/>
          <a:p>
            <a:r>
              <a:rPr lang="en-US" b="1" dirty="0"/>
              <a:t>Agent = Model + Harness</a:t>
            </a:r>
          </a:p>
          <a:p>
            <a:r>
              <a:rPr lang="en-US" dirty="0"/>
              <a:t>The model contains the raw intelligence, and the harness makes that intelligence useful and actionable. </a:t>
            </a:r>
          </a:p>
          <a:p>
            <a:r>
              <a:rPr lang="en-US" b="1" dirty="0"/>
              <a:t>Harness engineering</a:t>
            </a:r>
            <a:r>
              <a:rPr lang="en-US" dirty="0"/>
              <a:t> is how we build the environment around AI models to turn them into reliable, autonomous agents.</a:t>
            </a:r>
          </a:p>
          <a:p>
            <a:r>
              <a:rPr lang="en-US" dirty="0"/>
              <a:t>The model provides general intelligence (reading input/generating output), while the harness provides everything the model cannot do on its own -tools, state execution, context, permissions, and validation</a:t>
            </a:r>
          </a:p>
        </p:txBody>
      </p:sp>
      <p:sp>
        <p:nvSpPr>
          <p:cNvPr id="4" name="Title 3">
            <a:extLst>
              <a:ext uri="{FF2B5EF4-FFF2-40B4-BE49-F238E27FC236}">
                <a16:creationId xmlns:a16="http://schemas.microsoft.com/office/drawing/2014/main" id="{BEAF2F4E-D24B-8A81-77F3-A0270679F79D}"/>
              </a:ext>
            </a:extLst>
          </p:cNvPr>
          <p:cNvSpPr>
            <a:spLocks noGrp="1"/>
          </p:cNvSpPr>
          <p:nvPr>
            <p:ph type="title"/>
          </p:nvPr>
        </p:nvSpPr>
        <p:spPr/>
        <p:txBody>
          <a:bodyPr/>
          <a:lstStyle/>
          <a:p>
            <a:r>
              <a:rPr lang="en-US" dirty="0"/>
              <a:t>Harness engineering </a:t>
            </a:r>
          </a:p>
        </p:txBody>
      </p:sp>
    </p:spTree>
    <p:extLst>
      <p:ext uri="{BB962C8B-B14F-4D97-AF65-F5344CB8AC3E}">
        <p14:creationId xmlns:p14="http://schemas.microsoft.com/office/powerpoint/2010/main" val="3394442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F9087F-4D2D-4C98-C6BA-F870CEADBE5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6B526FC9-885E-303A-7682-10C95D52159A}"/>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CBB44BC9-E7BF-0EC1-2563-9728F22CDE54}"/>
              </a:ext>
            </a:extLst>
          </p:cNvPr>
          <p:cNvSpPr>
            <a:spLocks noGrp="1"/>
          </p:cNvSpPr>
          <p:nvPr>
            <p:ph type="title"/>
          </p:nvPr>
        </p:nvSpPr>
        <p:spPr/>
        <p:txBody>
          <a:bodyPr/>
          <a:lstStyle/>
          <a:p>
            <a:r>
              <a:rPr lang="en-US" dirty="0"/>
              <a:t>Types</a:t>
            </a:r>
          </a:p>
        </p:txBody>
      </p:sp>
      <p:graphicFrame>
        <p:nvGraphicFramePr>
          <p:cNvPr id="5" name="Table 4">
            <a:extLst>
              <a:ext uri="{FF2B5EF4-FFF2-40B4-BE49-F238E27FC236}">
                <a16:creationId xmlns:a16="http://schemas.microsoft.com/office/drawing/2014/main" id="{7A90C23E-15AD-D843-7ADE-6E7F4351A133}"/>
              </a:ext>
            </a:extLst>
          </p:cNvPr>
          <p:cNvGraphicFramePr>
            <a:graphicFrameLocks noGrp="1"/>
          </p:cNvGraphicFramePr>
          <p:nvPr>
            <p:extLst>
              <p:ext uri="{D42A27DB-BD31-4B8C-83A1-F6EECF244321}">
                <p14:modId xmlns:p14="http://schemas.microsoft.com/office/powerpoint/2010/main" val="279506650"/>
              </p:ext>
            </p:extLst>
          </p:nvPr>
        </p:nvGraphicFramePr>
        <p:xfrm>
          <a:off x="838200" y="1799924"/>
          <a:ext cx="10515600" cy="3298650"/>
        </p:xfrm>
        <a:graphic>
          <a:graphicData uri="http://schemas.openxmlformats.org/drawingml/2006/table">
            <a:tbl>
              <a:tblPr>
                <a:tableStyleId>{51A0E78D-CFBE-46A0-B656-1FB9B1C8EDF3}</a:tableStyleId>
              </a:tblPr>
              <a:tblGrid>
                <a:gridCol w="1886893">
                  <a:extLst>
                    <a:ext uri="{9D8B030D-6E8A-4147-A177-3AD203B41FA5}">
                      <a16:colId xmlns:a16="http://schemas.microsoft.com/office/drawing/2014/main" val="86973638"/>
                    </a:ext>
                  </a:extLst>
                </a:gridCol>
                <a:gridCol w="2963438">
                  <a:extLst>
                    <a:ext uri="{9D8B030D-6E8A-4147-A177-3AD203B41FA5}">
                      <a16:colId xmlns:a16="http://schemas.microsoft.com/office/drawing/2014/main" val="2766319417"/>
                    </a:ext>
                  </a:extLst>
                </a:gridCol>
                <a:gridCol w="2532016">
                  <a:extLst>
                    <a:ext uri="{9D8B030D-6E8A-4147-A177-3AD203B41FA5}">
                      <a16:colId xmlns:a16="http://schemas.microsoft.com/office/drawing/2014/main" val="681303116"/>
                    </a:ext>
                  </a:extLst>
                </a:gridCol>
                <a:gridCol w="3133253">
                  <a:extLst>
                    <a:ext uri="{9D8B030D-6E8A-4147-A177-3AD203B41FA5}">
                      <a16:colId xmlns:a16="http://schemas.microsoft.com/office/drawing/2014/main" val="2645278010"/>
                    </a:ext>
                  </a:extLst>
                </a:gridCol>
              </a:tblGrid>
              <a:tr h="412331">
                <a:tc>
                  <a:txBody>
                    <a:bodyPr/>
                    <a:lstStyle/>
                    <a:p>
                      <a:pPr algn="l">
                        <a:buNone/>
                      </a:pPr>
                      <a:r>
                        <a:rPr lang="en-US" sz="1200">
                          <a:effectLst/>
                        </a:rPr>
                        <a:t>Harness layer</a:t>
                      </a:r>
                      <a:endParaRPr lang="en-US" sz="1200" b="0" i="0">
                        <a:solidFill>
                          <a:srgbClr val="FFFFFF"/>
                        </a:solidFill>
                        <a:effectLst/>
                        <a:latin typeface="dmsans"/>
                      </a:endParaRPr>
                    </a:p>
                  </a:txBody>
                  <a:tcPr anchor="ctr"/>
                </a:tc>
                <a:tc>
                  <a:txBody>
                    <a:bodyPr/>
                    <a:lstStyle/>
                    <a:p>
                      <a:pPr algn="l">
                        <a:buNone/>
                      </a:pPr>
                      <a:r>
                        <a:rPr lang="en-US" sz="1200" dirty="0">
                          <a:effectLst/>
                        </a:rPr>
                        <a:t>What it is</a:t>
                      </a:r>
                      <a:endParaRPr lang="en-US" sz="1200" b="0" i="0" dirty="0">
                        <a:solidFill>
                          <a:srgbClr val="FFFFFF"/>
                        </a:solidFill>
                        <a:effectLst/>
                        <a:latin typeface="dmsans"/>
                      </a:endParaRPr>
                    </a:p>
                  </a:txBody>
                  <a:tcPr anchor="ctr"/>
                </a:tc>
                <a:tc>
                  <a:txBody>
                    <a:bodyPr/>
                    <a:lstStyle/>
                    <a:p>
                      <a:pPr algn="l">
                        <a:buNone/>
                      </a:pPr>
                      <a:r>
                        <a:rPr lang="en-US" sz="1200">
                          <a:effectLst/>
                        </a:rPr>
                        <a:t>Who controls it</a:t>
                      </a:r>
                      <a:endParaRPr lang="en-US" sz="1200" b="0" i="0">
                        <a:solidFill>
                          <a:srgbClr val="FFFFFF"/>
                        </a:solidFill>
                        <a:effectLst/>
                        <a:latin typeface="dmsans"/>
                      </a:endParaRPr>
                    </a:p>
                  </a:txBody>
                  <a:tcPr anchor="ctr"/>
                </a:tc>
                <a:tc>
                  <a:txBody>
                    <a:bodyPr/>
                    <a:lstStyle/>
                    <a:p>
                      <a:pPr algn="l">
                        <a:buNone/>
                      </a:pPr>
                      <a:r>
                        <a:rPr lang="en-US" sz="1200">
                          <a:effectLst/>
                        </a:rPr>
                        <a:t>Example components</a:t>
                      </a:r>
                      <a:endParaRPr lang="en-US" sz="1200" b="0" i="0">
                        <a:solidFill>
                          <a:srgbClr val="FFFFFF"/>
                        </a:solidFill>
                        <a:effectLst/>
                        <a:latin typeface="dmsans"/>
                      </a:endParaRPr>
                    </a:p>
                  </a:txBody>
                  <a:tcPr anchor="ctr"/>
                </a:tc>
                <a:extLst>
                  <a:ext uri="{0D108BD9-81ED-4DB2-BD59-A6C34878D82A}">
                    <a16:rowId xmlns:a16="http://schemas.microsoft.com/office/drawing/2014/main" val="574139835"/>
                  </a:ext>
                </a:extLst>
              </a:tr>
              <a:tr h="962106">
                <a:tc>
                  <a:txBody>
                    <a:bodyPr/>
                    <a:lstStyle/>
                    <a:p>
                      <a:pPr algn="l">
                        <a:buNone/>
                      </a:pPr>
                      <a:r>
                        <a:rPr lang="en-US" sz="1200">
                          <a:effectLst/>
                        </a:rPr>
                        <a:t>Coding harness</a:t>
                      </a:r>
                      <a:endParaRPr lang="en-US" sz="1200" b="0" i="0">
                        <a:solidFill>
                          <a:srgbClr val="000000"/>
                        </a:solidFill>
                        <a:effectLst/>
                        <a:latin typeface="dmsans"/>
                      </a:endParaRPr>
                    </a:p>
                  </a:txBody>
                  <a:tcPr anchor="ctr"/>
                </a:tc>
                <a:tc>
                  <a:txBody>
                    <a:bodyPr/>
                    <a:lstStyle/>
                    <a:p>
                      <a:pPr algn="l">
                        <a:buNone/>
                      </a:pPr>
                      <a:r>
                        <a:rPr lang="en-US" sz="1200">
                          <a:effectLst/>
                        </a:rPr>
                        <a:t>The runtime built into the coding agent</a:t>
                      </a:r>
                      <a:endParaRPr lang="en-US" sz="1200" b="0" i="0">
                        <a:solidFill>
                          <a:srgbClr val="000000"/>
                        </a:solidFill>
                        <a:effectLst/>
                        <a:latin typeface="dmsans"/>
                      </a:endParaRPr>
                    </a:p>
                  </a:txBody>
                  <a:tcPr anchor="ctr"/>
                </a:tc>
                <a:tc>
                  <a:txBody>
                    <a:bodyPr/>
                    <a:lstStyle/>
                    <a:p>
                      <a:pPr algn="l">
                        <a:buNone/>
                      </a:pPr>
                      <a:r>
                        <a:rPr lang="en-US" sz="1200">
                          <a:effectLst/>
                        </a:rPr>
                        <a:t>The agent or SDK maker</a:t>
                      </a:r>
                      <a:endParaRPr lang="en-US" sz="1200" b="0" i="0">
                        <a:solidFill>
                          <a:srgbClr val="000000"/>
                        </a:solidFill>
                        <a:effectLst/>
                        <a:latin typeface="dmsans"/>
                      </a:endParaRPr>
                    </a:p>
                  </a:txBody>
                  <a:tcPr anchor="ctr"/>
                </a:tc>
                <a:tc>
                  <a:txBody>
                    <a:bodyPr/>
                    <a:lstStyle/>
                    <a:p>
                      <a:pPr algn="l">
                        <a:buNone/>
                      </a:pPr>
                      <a:r>
                        <a:rPr lang="en-US" sz="1200">
                          <a:effectLst/>
                        </a:rPr>
                        <a:t>Tool use, system prompt, sub-agents, orchestration, code search, context management</a:t>
                      </a:r>
                      <a:endParaRPr lang="en-US" sz="1200" b="0" i="0">
                        <a:solidFill>
                          <a:srgbClr val="000000"/>
                        </a:solidFill>
                        <a:effectLst/>
                        <a:latin typeface="dmsans"/>
                      </a:endParaRPr>
                    </a:p>
                  </a:txBody>
                  <a:tcPr anchor="ctr"/>
                </a:tc>
                <a:extLst>
                  <a:ext uri="{0D108BD9-81ED-4DB2-BD59-A6C34878D82A}">
                    <a16:rowId xmlns:a16="http://schemas.microsoft.com/office/drawing/2014/main" val="3776358221"/>
                  </a:ext>
                </a:extLst>
              </a:tr>
              <a:tr h="687219">
                <a:tc>
                  <a:txBody>
                    <a:bodyPr/>
                    <a:lstStyle/>
                    <a:p>
                      <a:pPr algn="l">
                        <a:buNone/>
                      </a:pPr>
                      <a:r>
                        <a:rPr lang="en-US" sz="1200">
                          <a:effectLst/>
                        </a:rPr>
                        <a:t>User harness</a:t>
                      </a:r>
                      <a:endParaRPr lang="en-US" sz="1200" b="0" i="0">
                        <a:solidFill>
                          <a:srgbClr val="000000"/>
                        </a:solidFill>
                        <a:effectLst/>
                        <a:latin typeface="dmsans"/>
                      </a:endParaRPr>
                    </a:p>
                  </a:txBody>
                  <a:tcPr anchor="ctr"/>
                </a:tc>
                <a:tc>
                  <a:txBody>
                    <a:bodyPr/>
                    <a:lstStyle/>
                    <a:p>
                      <a:pPr algn="l">
                        <a:buNone/>
                      </a:pPr>
                      <a:r>
                        <a:rPr lang="en-US" sz="1200">
                          <a:effectLst/>
                        </a:rPr>
                        <a:t>The feedforward and feedback controls the team assembles on top</a:t>
                      </a:r>
                      <a:endParaRPr lang="en-US" sz="1200" b="0" i="0">
                        <a:solidFill>
                          <a:srgbClr val="000000"/>
                        </a:solidFill>
                        <a:effectLst/>
                        <a:latin typeface="dmsans"/>
                      </a:endParaRPr>
                    </a:p>
                  </a:txBody>
                  <a:tcPr anchor="ctr"/>
                </a:tc>
                <a:tc>
                  <a:txBody>
                    <a:bodyPr/>
                    <a:lstStyle/>
                    <a:p>
                      <a:pPr algn="l">
                        <a:buNone/>
                      </a:pPr>
                      <a:r>
                        <a:rPr lang="en-US" sz="1200">
                          <a:effectLst/>
                        </a:rPr>
                        <a:t>The team deploying the agent</a:t>
                      </a:r>
                      <a:endParaRPr lang="en-US" sz="1200" b="0" i="0">
                        <a:solidFill>
                          <a:srgbClr val="000000"/>
                        </a:solidFill>
                        <a:effectLst/>
                        <a:latin typeface="dmsans"/>
                      </a:endParaRPr>
                    </a:p>
                  </a:txBody>
                  <a:tcPr anchor="ctr"/>
                </a:tc>
                <a:tc>
                  <a:txBody>
                    <a:bodyPr/>
                    <a:lstStyle/>
                    <a:p>
                      <a:pPr algn="l">
                        <a:buNone/>
                      </a:pPr>
                      <a:r>
                        <a:rPr lang="en-US" sz="1200">
                          <a:effectLst/>
                        </a:rPr>
                        <a:t>Convention files, MCP servers, eval loops, custom skills, CLAUDE.md</a:t>
                      </a:r>
                      <a:endParaRPr lang="en-US" sz="1200" b="0" i="0">
                        <a:solidFill>
                          <a:srgbClr val="000000"/>
                        </a:solidFill>
                        <a:effectLst/>
                        <a:latin typeface="dmsans"/>
                      </a:endParaRPr>
                    </a:p>
                  </a:txBody>
                  <a:tcPr anchor="ctr"/>
                </a:tc>
                <a:extLst>
                  <a:ext uri="{0D108BD9-81ED-4DB2-BD59-A6C34878D82A}">
                    <a16:rowId xmlns:a16="http://schemas.microsoft.com/office/drawing/2014/main" val="2889013998"/>
                  </a:ext>
                </a:extLst>
              </a:tr>
              <a:tr h="1236994">
                <a:tc>
                  <a:txBody>
                    <a:bodyPr/>
                    <a:lstStyle/>
                    <a:p>
                      <a:pPr algn="l">
                        <a:buNone/>
                      </a:pPr>
                      <a:r>
                        <a:rPr lang="en-US" sz="1200" dirty="0">
                          <a:effectLst/>
                        </a:rPr>
                        <a:t>Team · Org · SDLC harness</a:t>
                      </a:r>
                      <a:endParaRPr lang="en-US" sz="1200" b="0" i="0" dirty="0">
                        <a:solidFill>
                          <a:srgbClr val="000000"/>
                        </a:solidFill>
                        <a:effectLst/>
                        <a:latin typeface="dmsans"/>
                      </a:endParaRPr>
                    </a:p>
                  </a:txBody>
                  <a:tcPr anchor="ctr"/>
                </a:tc>
                <a:tc>
                  <a:txBody>
                    <a:bodyPr/>
                    <a:lstStyle/>
                    <a:p>
                      <a:pPr algn="l">
                        <a:buNone/>
                      </a:pPr>
                      <a:r>
                        <a:rPr lang="en-US" sz="1200">
                          <a:effectLst/>
                        </a:rPr>
                        <a:t>The shared platform layer that governs agents across teams</a:t>
                      </a:r>
                      <a:endParaRPr lang="en-US" sz="1200" b="0" i="0">
                        <a:solidFill>
                          <a:srgbClr val="000000"/>
                        </a:solidFill>
                        <a:effectLst/>
                        <a:latin typeface="dmsans"/>
                      </a:endParaRPr>
                    </a:p>
                  </a:txBody>
                  <a:tcPr anchor="ctr"/>
                </a:tc>
                <a:tc>
                  <a:txBody>
                    <a:bodyPr/>
                    <a:lstStyle/>
                    <a:p>
                      <a:pPr algn="l">
                        <a:buNone/>
                      </a:pPr>
                      <a:r>
                        <a:rPr lang="en-US" sz="1200">
                          <a:effectLst/>
                        </a:rPr>
                        <a:t>The platform team</a:t>
                      </a:r>
                      <a:endParaRPr lang="en-US" sz="1200" b="0" i="0">
                        <a:solidFill>
                          <a:srgbClr val="000000"/>
                        </a:solidFill>
                        <a:effectLst/>
                        <a:latin typeface="dmsans"/>
                      </a:endParaRPr>
                    </a:p>
                  </a:txBody>
                  <a:tcPr anchor="ctr"/>
                </a:tc>
                <a:tc>
                  <a:txBody>
                    <a:bodyPr/>
                    <a:lstStyle/>
                    <a:p>
                      <a:pPr algn="l">
                        <a:buNone/>
                      </a:pPr>
                      <a:r>
                        <a:rPr lang="en-US" sz="1200" dirty="0">
                          <a:effectLst/>
                        </a:rPr>
                        <a:t>Context lake, integrations, agent registry, permissions, orchestration, governance, human-in-the-loop, measurement</a:t>
                      </a:r>
                      <a:endParaRPr lang="en-US" sz="1200" b="0" i="0" dirty="0">
                        <a:solidFill>
                          <a:srgbClr val="000000"/>
                        </a:solidFill>
                        <a:effectLst/>
                        <a:latin typeface="dmsans"/>
                      </a:endParaRPr>
                    </a:p>
                  </a:txBody>
                  <a:tcPr anchor="ctr"/>
                </a:tc>
                <a:extLst>
                  <a:ext uri="{0D108BD9-81ED-4DB2-BD59-A6C34878D82A}">
                    <a16:rowId xmlns:a16="http://schemas.microsoft.com/office/drawing/2014/main" val="489112773"/>
                  </a:ext>
                </a:extLst>
              </a:tr>
            </a:tbl>
          </a:graphicData>
        </a:graphic>
      </p:graphicFrame>
    </p:spTree>
    <p:extLst>
      <p:ext uri="{BB962C8B-B14F-4D97-AF65-F5344CB8AC3E}">
        <p14:creationId xmlns:p14="http://schemas.microsoft.com/office/powerpoint/2010/main" val="398238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7FEF4A-2F66-62A9-0748-6DB57284104A}"/>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6AF85F18-658F-BEC4-4419-EB9026C02878}"/>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184408B0-EF39-09C5-4B21-50EC8FBE8162}"/>
              </a:ext>
            </a:extLst>
          </p:cNvPr>
          <p:cNvSpPr>
            <a:spLocks noGrp="1"/>
          </p:cNvSpPr>
          <p:nvPr>
            <p:ph type="title"/>
          </p:nvPr>
        </p:nvSpPr>
        <p:spPr/>
        <p:txBody>
          <a:bodyPr/>
          <a:lstStyle/>
          <a:p>
            <a:r>
              <a:rPr lang="en-US" dirty="0"/>
              <a:t>Harness engineering </a:t>
            </a:r>
          </a:p>
        </p:txBody>
      </p:sp>
      <p:pic>
        <p:nvPicPr>
          <p:cNvPr id="6" name="Picture 5">
            <a:extLst>
              <a:ext uri="{FF2B5EF4-FFF2-40B4-BE49-F238E27FC236}">
                <a16:creationId xmlns:a16="http://schemas.microsoft.com/office/drawing/2014/main" id="{8FE2E5D2-83D1-F010-E6FF-170DCE4D4079}"/>
              </a:ext>
            </a:extLst>
          </p:cNvPr>
          <p:cNvPicPr>
            <a:picLocks noChangeAspect="1"/>
          </p:cNvPicPr>
          <p:nvPr/>
        </p:nvPicPr>
        <p:blipFill>
          <a:blip r:embed="rId2"/>
          <a:stretch>
            <a:fillRect/>
          </a:stretch>
        </p:blipFill>
        <p:spPr>
          <a:xfrm>
            <a:off x="1330857" y="1060704"/>
            <a:ext cx="9152033" cy="5155949"/>
          </a:xfrm>
          <a:prstGeom prst="rect">
            <a:avLst/>
          </a:prstGeom>
        </p:spPr>
      </p:pic>
    </p:spTree>
    <p:extLst>
      <p:ext uri="{BB962C8B-B14F-4D97-AF65-F5344CB8AC3E}">
        <p14:creationId xmlns:p14="http://schemas.microsoft.com/office/powerpoint/2010/main" val="6374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22346D-D5AC-AB2B-4DDE-718E5C31CB0A}"/>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994DFDD3-49E9-80CE-6996-1389E0ACFE2B}"/>
              </a:ext>
            </a:extLst>
          </p:cNvPr>
          <p:cNvSpPr>
            <a:spLocks noGrp="1"/>
          </p:cNvSpPr>
          <p:nvPr>
            <p:ph type="body" idx="2"/>
          </p:nvPr>
        </p:nvSpPr>
        <p:spPr/>
        <p:txBody>
          <a:bodyPr/>
          <a:lstStyle/>
          <a:p>
            <a:r>
              <a:rPr lang="en-US" dirty="0"/>
              <a:t>The agent harness acts like a cybernetic governor.</a:t>
            </a:r>
          </a:p>
          <a:p>
            <a:pPr lvl="0"/>
            <a:r>
              <a:rPr lang="en-US" b="1" dirty="0"/>
              <a:t>Guides (Feedforward):</a:t>
            </a:r>
            <a:r>
              <a:rPr lang="en-US" dirty="0"/>
              <a:t> Steering the agent </a:t>
            </a:r>
            <a:r>
              <a:rPr lang="en-US" i="1" dirty="0"/>
              <a:t>before</a:t>
            </a:r>
            <a:r>
              <a:rPr lang="en-US" dirty="0"/>
              <a:t> it acts (e.g., system prompts, design specifications, convention files like CLAUDE.md or AGENTS.md).</a:t>
            </a:r>
          </a:p>
          <a:p>
            <a:pPr lvl="0"/>
            <a:r>
              <a:rPr lang="en-US" b="1" dirty="0"/>
              <a:t>Sensors (Feedback):</a:t>
            </a:r>
            <a:r>
              <a:rPr lang="en-US" dirty="0"/>
              <a:t> Observing and enabling self-correction </a:t>
            </a:r>
            <a:r>
              <a:rPr lang="en-US" i="1" dirty="0"/>
              <a:t>after</a:t>
            </a:r>
            <a:r>
              <a:rPr lang="en-US" dirty="0"/>
              <a:t> the agent acts (e.g., custom linters, testing frameworks)</a:t>
            </a:r>
          </a:p>
          <a:p>
            <a:endParaRPr lang="en-US" dirty="0"/>
          </a:p>
        </p:txBody>
      </p:sp>
      <p:sp>
        <p:nvSpPr>
          <p:cNvPr id="4" name="Title 3">
            <a:extLst>
              <a:ext uri="{FF2B5EF4-FFF2-40B4-BE49-F238E27FC236}">
                <a16:creationId xmlns:a16="http://schemas.microsoft.com/office/drawing/2014/main" id="{546AAFBF-9DDA-696A-92FB-52E6BC1555E6}"/>
              </a:ext>
            </a:extLst>
          </p:cNvPr>
          <p:cNvSpPr>
            <a:spLocks noGrp="1"/>
          </p:cNvSpPr>
          <p:nvPr>
            <p:ph type="title"/>
          </p:nvPr>
        </p:nvSpPr>
        <p:spPr/>
        <p:txBody>
          <a:bodyPr/>
          <a:lstStyle/>
          <a:p>
            <a:r>
              <a:rPr lang="en-US" dirty="0"/>
              <a:t>Feedforward vs. Feedback (Guides &amp; Sensors)</a:t>
            </a:r>
          </a:p>
        </p:txBody>
      </p:sp>
    </p:spTree>
    <p:extLst>
      <p:ext uri="{BB962C8B-B14F-4D97-AF65-F5344CB8AC3E}">
        <p14:creationId xmlns:p14="http://schemas.microsoft.com/office/powerpoint/2010/main" val="252951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DB76DF-AFDA-3D01-B68D-0BD4022293F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0149E15F-1B5F-142A-4DC7-247EF0DB632A}"/>
              </a:ext>
            </a:extLst>
          </p:cNvPr>
          <p:cNvSpPr>
            <a:spLocks noGrp="1"/>
          </p:cNvSpPr>
          <p:nvPr>
            <p:ph type="body" idx="2"/>
          </p:nvPr>
        </p:nvSpPr>
        <p:spPr/>
        <p:txBody>
          <a:bodyPr/>
          <a:lstStyle/>
          <a:p>
            <a:r>
              <a:rPr lang="en-US" dirty="0"/>
              <a:t>Computational vs. Inferential Controls</a:t>
            </a:r>
          </a:p>
          <a:p>
            <a:pPr lvl="0"/>
            <a:r>
              <a:rPr lang="en-US" dirty="0"/>
              <a:t>Categorizing controls by their computational engine and reliability</a:t>
            </a:r>
          </a:p>
          <a:p>
            <a:pPr lvl="0"/>
            <a:r>
              <a:rPr lang="en-US" b="1" dirty="0"/>
              <a:t>Computational:</a:t>
            </a:r>
            <a:r>
              <a:rPr lang="en-US" dirty="0"/>
              <a:t> Fast, deterministic, and run on CPUs (e.g., type checkers, linters, pre-commit structural tests).</a:t>
            </a:r>
          </a:p>
          <a:p>
            <a:pPr lvl="0"/>
            <a:r>
              <a:rPr lang="en-US" b="1" dirty="0"/>
              <a:t>Inferential:</a:t>
            </a:r>
            <a:r>
              <a:rPr lang="en-US" dirty="0"/>
              <a:t> Semantic, probabilistic, and run on GPUs/NPUs (e.g., "LLM as judge," autonomous code review).</a:t>
            </a:r>
          </a:p>
          <a:p>
            <a:endParaRPr lang="en-US" dirty="0"/>
          </a:p>
        </p:txBody>
      </p:sp>
      <p:sp>
        <p:nvSpPr>
          <p:cNvPr id="4" name="Title 3">
            <a:extLst>
              <a:ext uri="{FF2B5EF4-FFF2-40B4-BE49-F238E27FC236}">
                <a16:creationId xmlns:a16="http://schemas.microsoft.com/office/drawing/2014/main" id="{3CF5CF2B-DBF6-702B-66DD-1EA937BAFE5E}"/>
              </a:ext>
            </a:extLst>
          </p:cNvPr>
          <p:cNvSpPr>
            <a:spLocks noGrp="1"/>
          </p:cNvSpPr>
          <p:nvPr>
            <p:ph type="title"/>
          </p:nvPr>
        </p:nvSpPr>
        <p:spPr/>
        <p:txBody>
          <a:bodyPr>
            <a:normAutofit/>
          </a:bodyPr>
          <a:lstStyle/>
          <a:p>
            <a:r>
              <a:rPr lang="en-US" dirty="0"/>
              <a:t>Execution Mechanics:</a:t>
            </a:r>
          </a:p>
        </p:txBody>
      </p:sp>
    </p:spTree>
    <p:extLst>
      <p:ext uri="{BB962C8B-B14F-4D97-AF65-F5344CB8AC3E}">
        <p14:creationId xmlns:p14="http://schemas.microsoft.com/office/powerpoint/2010/main" val="387560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2D4293-92EE-6995-C190-1B56F9174AC0}"/>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F04468B9-6037-28B9-19A9-B86073CF8376}"/>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2986734D-4B56-CA2F-76F5-8128191A03E4}"/>
              </a:ext>
            </a:extLst>
          </p:cNvPr>
          <p:cNvSpPr>
            <a:spLocks noGrp="1"/>
          </p:cNvSpPr>
          <p:nvPr>
            <p:ph type="title"/>
          </p:nvPr>
        </p:nvSpPr>
        <p:spPr/>
        <p:txBody>
          <a:bodyPr/>
          <a:lstStyle/>
          <a:p>
            <a:r>
              <a:rPr lang="en-US" dirty="0"/>
              <a:t>Examples</a:t>
            </a:r>
          </a:p>
        </p:txBody>
      </p:sp>
      <p:graphicFrame>
        <p:nvGraphicFramePr>
          <p:cNvPr id="5" name="Table 4">
            <a:extLst>
              <a:ext uri="{FF2B5EF4-FFF2-40B4-BE49-F238E27FC236}">
                <a16:creationId xmlns:a16="http://schemas.microsoft.com/office/drawing/2014/main" id="{4D11EA11-CAEE-FFD7-873A-679245BDC690}"/>
              </a:ext>
            </a:extLst>
          </p:cNvPr>
          <p:cNvGraphicFramePr>
            <a:graphicFrameLocks noGrp="1"/>
          </p:cNvGraphicFramePr>
          <p:nvPr>
            <p:extLst>
              <p:ext uri="{D42A27DB-BD31-4B8C-83A1-F6EECF244321}">
                <p14:modId xmlns:p14="http://schemas.microsoft.com/office/powerpoint/2010/main" val="3779848503"/>
              </p:ext>
            </p:extLst>
          </p:nvPr>
        </p:nvGraphicFramePr>
        <p:xfrm>
          <a:off x="1194333" y="1953928"/>
          <a:ext cx="9210576" cy="3251388"/>
        </p:xfrm>
        <a:graphic>
          <a:graphicData uri="http://schemas.openxmlformats.org/drawingml/2006/table">
            <a:tbl>
              <a:tblPr>
                <a:tableStyleId>{51A0E78D-CFBE-46A0-B656-1FB9B1C8EDF3}</a:tableStyleId>
              </a:tblPr>
              <a:tblGrid>
                <a:gridCol w="1920059">
                  <a:extLst>
                    <a:ext uri="{9D8B030D-6E8A-4147-A177-3AD203B41FA5}">
                      <a16:colId xmlns:a16="http://schemas.microsoft.com/office/drawing/2014/main" val="1394332269"/>
                    </a:ext>
                  </a:extLst>
                </a:gridCol>
                <a:gridCol w="1602463">
                  <a:extLst>
                    <a:ext uri="{9D8B030D-6E8A-4147-A177-3AD203B41FA5}">
                      <a16:colId xmlns:a16="http://schemas.microsoft.com/office/drawing/2014/main" val="3854314405"/>
                    </a:ext>
                  </a:extLst>
                </a:gridCol>
                <a:gridCol w="1973656">
                  <a:extLst>
                    <a:ext uri="{9D8B030D-6E8A-4147-A177-3AD203B41FA5}">
                      <a16:colId xmlns:a16="http://schemas.microsoft.com/office/drawing/2014/main" val="592580160"/>
                    </a:ext>
                  </a:extLst>
                </a:gridCol>
                <a:gridCol w="3714398">
                  <a:extLst>
                    <a:ext uri="{9D8B030D-6E8A-4147-A177-3AD203B41FA5}">
                      <a16:colId xmlns:a16="http://schemas.microsoft.com/office/drawing/2014/main" val="4207036394"/>
                    </a:ext>
                  </a:extLst>
                </a:gridCol>
              </a:tblGrid>
              <a:tr h="759374">
                <a:tc>
                  <a:txBody>
                    <a:bodyPr/>
                    <a:lstStyle/>
                    <a:p>
                      <a:pPr marL="0" marR="0" algn="l" fontAlgn="base">
                        <a:buNone/>
                      </a:pPr>
                      <a:endParaRPr lang="en-US" sz="1200" b="1" i="0" dirty="0">
                        <a:solidFill>
                          <a:srgbClr val="FFFFFF"/>
                        </a:solidFill>
                        <a:effectLst/>
                        <a:latin typeface="Open Sans" panose="020B0606030504020204" pitchFamily="34" charset="0"/>
                      </a:endParaRPr>
                    </a:p>
                  </a:txBody>
                  <a:tcPr anchor="ctr"/>
                </a:tc>
                <a:tc>
                  <a:txBody>
                    <a:bodyPr/>
                    <a:lstStyle/>
                    <a:p>
                      <a:pPr marL="0" marR="0" algn="l" fontAlgn="base">
                        <a:buNone/>
                      </a:pPr>
                      <a:br>
                        <a:rPr lang="en-US" sz="1200" dirty="0">
                          <a:effectLst/>
                        </a:rPr>
                      </a:br>
                      <a:r>
                        <a:rPr lang="en-US" sz="1200" dirty="0">
                          <a:effectLst/>
                        </a:rPr>
                        <a:t>Direction</a:t>
                      </a:r>
                      <a:endParaRPr lang="en-US" sz="1200" b="1" i="0" dirty="0">
                        <a:solidFill>
                          <a:srgbClr val="FFFFFF"/>
                        </a:solidFill>
                        <a:effectLst/>
                        <a:latin typeface="Open Sans" panose="020B0606030504020204" pitchFamily="34" charset="0"/>
                      </a:endParaRPr>
                    </a:p>
                  </a:txBody>
                  <a:tcPr anchor="ctr"/>
                </a:tc>
                <a:tc>
                  <a:txBody>
                    <a:bodyPr/>
                    <a:lstStyle/>
                    <a:p>
                      <a:pPr marL="0" marR="0" algn="l" fontAlgn="base">
                        <a:buNone/>
                      </a:pPr>
                      <a:r>
                        <a:rPr lang="en-US" sz="1200" dirty="0">
                          <a:effectLst/>
                        </a:rPr>
                        <a:t>Computational / Inferential</a:t>
                      </a:r>
                      <a:endParaRPr lang="en-US" sz="1200" b="1" i="0" dirty="0">
                        <a:solidFill>
                          <a:srgbClr val="FFFFFF"/>
                        </a:solidFill>
                        <a:effectLst/>
                        <a:latin typeface="Open Sans" panose="020B0606030504020204" pitchFamily="34" charset="0"/>
                      </a:endParaRPr>
                    </a:p>
                  </a:txBody>
                  <a:tcPr anchor="ctr"/>
                </a:tc>
                <a:tc>
                  <a:txBody>
                    <a:bodyPr/>
                    <a:lstStyle/>
                    <a:p>
                      <a:pPr marL="0" marR="0" algn="l" fontAlgn="base">
                        <a:buNone/>
                      </a:pPr>
                      <a:r>
                        <a:rPr lang="en-US" sz="1200" dirty="0">
                          <a:effectLst/>
                        </a:rPr>
                        <a:t>Example implementations</a:t>
                      </a:r>
                      <a:endParaRPr lang="en-US" sz="1200" b="1" i="0" dirty="0">
                        <a:solidFill>
                          <a:srgbClr val="FFFFFF"/>
                        </a:solidFill>
                        <a:effectLst/>
                        <a:latin typeface="Open Sans" panose="020B0606030504020204" pitchFamily="34" charset="0"/>
                      </a:endParaRPr>
                    </a:p>
                  </a:txBody>
                  <a:tcPr anchor="ctr"/>
                </a:tc>
                <a:extLst>
                  <a:ext uri="{0D108BD9-81ED-4DB2-BD59-A6C34878D82A}">
                    <a16:rowId xmlns:a16="http://schemas.microsoft.com/office/drawing/2014/main" val="142357575"/>
                  </a:ext>
                </a:extLst>
              </a:tr>
              <a:tr h="401203">
                <a:tc>
                  <a:txBody>
                    <a:bodyPr/>
                    <a:lstStyle/>
                    <a:p>
                      <a:pPr marL="0" marR="0" algn="l" fontAlgn="ctr">
                        <a:buNone/>
                      </a:pPr>
                      <a:r>
                        <a:rPr lang="en-US" sz="960">
                          <a:effectLst/>
                        </a:rPr>
                        <a:t>Coding conventions</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dirty="0">
                          <a:effectLst/>
                        </a:rPr>
                        <a:t>feedforward</a:t>
                      </a:r>
                      <a:endParaRPr lang="en-US" sz="960" b="0" i="0" dirty="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Inferential</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AGENTS.md, Skills</a:t>
                      </a:r>
                      <a:endParaRPr lang="en-US" sz="960" b="0" i="0">
                        <a:solidFill>
                          <a:srgbClr val="303633"/>
                        </a:solidFill>
                        <a:effectLst/>
                        <a:latin typeface="Open Sans" panose="020B0606030504020204" pitchFamily="34" charset="0"/>
                      </a:endParaRPr>
                    </a:p>
                  </a:txBody>
                  <a:tcPr marT="47625" marB="47625" anchor="ctr"/>
                </a:tc>
                <a:extLst>
                  <a:ext uri="{0D108BD9-81ED-4DB2-BD59-A6C34878D82A}">
                    <a16:rowId xmlns:a16="http://schemas.microsoft.com/office/drawing/2014/main" val="2503485013"/>
                  </a:ext>
                </a:extLst>
              </a:tr>
              <a:tr h="401203">
                <a:tc>
                  <a:txBody>
                    <a:bodyPr/>
                    <a:lstStyle/>
                    <a:p>
                      <a:pPr marL="0" marR="0" algn="l" fontAlgn="ctr">
                        <a:buNone/>
                      </a:pPr>
                      <a:r>
                        <a:rPr lang="en-US" sz="960">
                          <a:effectLst/>
                        </a:rPr>
                        <a:t>Instructions how to bootstrap a new project</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feedforward</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Both</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Skill with instructions and a bootstrap script</a:t>
                      </a:r>
                      <a:endParaRPr lang="en-US" sz="960" b="0" i="0">
                        <a:solidFill>
                          <a:srgbClr val="303633"/>
                        </a:solidFill>
                        <a:effectLst/>
                        <a:latin typeface="Open Sans" panose="020B0606030504020204" pitchFamily="34" charset="0"/>
                      </a:endParaRPr>
                    </a:p>
                  </a:txBody>
                  <a:tcPr marT="47625" marB="47625" anchor="ctr"/>
                </a:tc>
                <a:extLst>
                  <a:ext uri="{0D108BD9-81ED-4DB2-BD59-A6C34878D82A}">
                    <a16:rowId xmlns:a16="http://schemas.microsoft.com/office/drawing/2014/main" val="2770533084"/>
                  </a:ext>
                </a:extLst>
              </a:tr>
              <a:tr h="401203">
                <a:tc>
                  <a:txBody>
                    <a:bodyPr/>
                    <a:lstStyle/>
                    <a:p>
                      <a:pPr marL="0" marR="0" algn="l" fontAlgn="ctr">
                        <a:buNone/>
                      </a:pPr>
                      <a:r>
                        <a:rPr lang="en-US" sz="960">
                          <a:effectLst/>
                        </a:rPr>
                        <a:t>Code mods</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dirty="0">
                          <a:effectLst/>
                        </a:rPr>
                        <a:t>feedforward</a:t>
                      </a:r>
                      <a:endParaRPr lang="en-US" sz="960" b="0" i="0" dirty="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Computational</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A tool with access to OpenRewrite recipes</a:t>
                      </a:r>
                      <a:endParaRPr lang="en-US" sz="960" b="0" i="0">
                        <a:solidFill>
                          <a:srgbClr val="303633"/>
                        </a:solidFill>
                        <a:effectLst/>
                        <a:latin typeface="Open Sans" panose="020B0606030504020204" pitchFamily="34" charset="0"/>
                      </a:endParaRPr>
                    </a:p>
                  </a:txBody>
                  <a:tcPr marT="47625" marB="47625" anchor="ctr"/>
                </a:tc>
                <a:extLst>
                  <a:ext uri="{0D108BD9-81ED-4DB2-BD59-A6C34878D82A}">
                    <a16:rowId xmlns:a16="http://schemas.microsoft.com/office/drawing/2014/main" val="1787370476"/>
                  </a:ext>
                </a:extLst>
              </a:tr>
              <a:tr h="887202">
                <a:tc>
                  <a:txBody>
                    <a:bodyPr/>
                    <a:lstStyle/>
                    <a:p>
                      <a:pPr marL="0" marR="0" algn="l" fontAlgn="ctr">
                        <a:buNone/>
                      </a:pPr>
                      <a:r>
                        <a:rPr lang="en-US" sz="960">
                          <a:effectLst/>
                        </a:rPr>
                        <a:t>Structural tests</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feedback</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dirty="0">
                          <a:effectLst/>
                        </a:rPr>
                        <a:t>Computational</a:t>
                      </a:r>
                      <a:endParaRPr lang="en-US" sz="960" b="0" i="0" dirty="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A pre-commit (or coding agent) hook running ArchUnit tests that check for violations of module boundaries</a:t>
                      </a:r>
                      <a:endParaRPr lang="en-US" sz="960" b="0" i="0">
                        <a:solidFill>
                          <a:srgbClr val="303633"/>
                        </a:solidFill>
                        <a:effectLst/>
                        <a:latin typeface="Open Sans" panose="020B0606030504020204" pitchFamily="34" charset="0"/>
                      </a:endParaRPr>
                    </a:p>
                  </a:txBody>
                  <a:tcPr marT="47625" marB="47625" anchor="ctr"/>
                </a:tc>
                <a:extLst>
                  <a:ext uri="{0D108BD9-81ED-4DB2-BD59-A6C34878D82A}">
                    <a16:rowId xmlns:a16="http://schemas.microsoft.com/office/drawing/2014/main" val="3865318451"/>
                  </a:ext>
                </a:extLst>
              </a:tr>
              <a:tr h="401203">
                <a:tc>
                  <a:txBody>
                    <a:bodyPr/>
                    <a:lstStyle/>
                    <a:p>
                      <a:pPr marL="0" marR="0" algn="l" fontAlgn="ctr">
                        <a:buNone/>
                      </a:pPr>
                      <a:r>
                        <a:rPr lang="en-US" sz="960">
                          <a:effectLst/>
                        </a:rPr>
                        <a:t>Instructions how to review</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feedback</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a:effectLst/>
                        </a:rPr>
                        <a:t>Inferential</a:t>
                      </a:r>
                      <a:endParaRPr lang="en-US" sz="960" b="0" i="0">
                        <a:solidFill>
                          <a:srgbClr val="303633"/>
                        </a:solidFill>
                        <a:effectLst/>
                        <a:latin typeface="Open Sans" panose="020B0606030504020204" pitchFamily="34" charset="0"/>
                      </a:endParaRPr>
                    </a:p>
                  </a:txBody>
                  <a:tcPr marT="47625" marB="47625" anchor="ctr"/>
                </a:tc>
                <a:tc>
                  <a:txBody>
                    <a:bodyPr/>
                    <a:lstStyle/>
                    <a:p>
                      <a:pPr marL="0" marR="0" algn="l" fontAlgn="ctr">
                        <a:buNone/>
                      </a:pPr>
                      <a:r>
                        <a:rPr lang="en-US" sz="960" dirty="0">
                          <a:effectLst/>
                        </a:rPr>
                        <a:t>Skills</a:t>
                      </a:r>
                      <a:endParaRPr lang="en-US" sz="960" b="0" i="0" dirty="0">
                        <a:solidFill>
                          <a:srgbClr val="303633"/>
                        </a:solidFill>
                        <a:effectLst/>
                        <a:latin typeface="Open Sans" panose="020B0606030504020204" pitchFamily="34" charset="0"/>
                      </a:endParaRPr>
                    </a:p>
                  </a:txBody>
                  <a:tcPr marT="47625" marB="47625" anchor="ctr"/>
                </a:tc>
                <a:extLst>
                  <a:ext uri="{0D108BD9-81ED-4DB2-BD59-A6C34878D82A}">
                    <a16:rowId xmlns:a16="http://schemas.microsoft.com/office/drawing/2014/main" val="4142202816"/>
                  </a:ext>
                </a:extLst>
              </a:tr>
            </a:tbl>
          </a:graphicData>
        </a:graphic>
      </p:graphicFrame>
    </p:spTree>
    <p:extLst>
      <p:ext uri="{BB962C8B-B14F-4D97-AF65-F5344CB8AC3E}">
        <p14:creationId xmlns:p14="http://schemas.microsoft.com/office/powerpoint/2010/main" val="370291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06FE38-4ECE-94A6-C13C-8E4C262C67A0}"/>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41C45E82-F140-3EF7-EDD0-B906FD778967}"/>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8D53854E-CFA7-6121-0A02-0990A0E89D92}"/>
              </a:ext>
            </a:extLst>
          </p:cNvPr>
          <p:cNvSpPr>
            <a:spLocks noGrp="1"/>
          </p:cNvSpPr>
          <p:nvPr>
            <p:ph type="title"/>
          </p:nvPr>
        </p:nvSpPr>
        <p:spPr/>
        <p:txBody>
          <a:bodyPr>
            <a:normAutofit fontScale="90000"/>
          </a:bodyPr>
          <a:lstStyle/>
          <a:p>
            <a:br>
              <a:rPr lang="en-US" dirty="0"/>
            </a:br>
            <a:r>
              <a:rPr lang="en-US" dirty="0"/>
              <a:t>Where harness engineering fits in the AI SDLC</a:t>
            </a:r>
            <a:br>
              <a:rPr lang="en-US" dirty="0"/>
            </a:br>
            <a:endParaRPr lang="en-US" dirty="0"/>
          </a:p>
        </p:txBody>
      </p:sp>
      <p:graphicFrame>
        <p:nvGraphicFramePr>
          <p:cNvPr id="5" name="Table 4">
            <a:extLst>
              <a:ext uri="{FF2B5EF4-FFF2-40B4-BE49-F238E27FC236}">
                <a16:creationId xmlns:a16="http://schemas.microsoft.com/office/drawing/2014/main" id="{54873E75-B89C-09D0-AE1C-AD864AB9D249}"/>
              </a:ext>
            </a:extLst>
          </p:cNvPr>
          <p:cNvGraphicFramePr>
            <a:graphicFrameLocks noGrp="1"/>
          </p:cNvGraphicFramePr>
          <p:nvPr>
            <p:extLst>
              <p:ext uri="{D42A27DB-BD31-4B8C-83A1-F6EECF244321}">
                <p14:modId xmlns:p14="http://schemas.microsoft.com/office/powerpoint/2010/main" val="3751673145"/>
              </p:ext>
            </p:extLst>
          </p:nvPr>
        </p:nvGraphicFramePr>
        <p:xfrm>
          <a:off x="838200" y="1828800"/>
          <a:ext cx="10515600" cy="3224053"/>
        </p:xfrm>
        <a:graphic>
          <a:graphicData uri="http://schemas.openxmlformats.org/drawingml/2006/table">
            <a:tbl>
              <a:tblPr>
                <a:tableStyleId>{51A0E78D-CFBE-46A0-B656-1FB9B1C8EDF3}</a:tableStyleId>
              </a:tblPr>
              <a:tblGrid>
                <a:gridCol w="1859733">
                  <a:extLst>
                    <a:ext uri="{9D8B030D-6E8A-4147-A177-3AD203B41FA5}">
                      <a16:colId xmlns:a16="http://schemas.microsoft.com/office/drawing/2014/main" val="3688880006"/>
                    </a:ext>
                  </a:extLst>
                </a:gridCol>
                <a:gridCol w="3802455">
                  <a:extLst>
                    <a:ext uri="{9D8B030D-6E8A-4147-A177-3AD203B41FA5}">
                      <a16:colId xmlns:a16="http://schemas.microsoft.com/office/drawing/2014/main" val="1111176762"/>
                    </a:ext>
                  </a:extLst>
                </a:gridCol>
                <a:gridCol w="4853412">
                  <a:extLst>
                    <a:ext uri="{9D8B030D-6E8A-4147-A177-3AD203B41FA5}">
                      <a16:colId xmlns:a16="http://schemas.microsoft.com/office/drawing/2014/main" val="3813078009"/>
                    </a:ext>
                  </a:extLst>
                </a:gridCol>
              </a:tblGrid>
              <a:tr h="420529">
                <a:tc>
                  <a:txBody>
                    <a:bodyPr/>
                    <a:lstStyle/>
                    <a:p>
                      <a:pPr algn="l">
                        <a:buNone/>
                      </a:pPr>
                      <a:r>
                        <a:rPr lang="en-US" sz="1200" dirty="0">
                          <a:effectLst/>
                        </a:rPr>
                        <a:t>SDLC stage</a:t>
                      </a:r>
                      <a:endParaRPr lang="en-US" sz="1200" b="0" i="0" dirty="0">
                        <a:solidFill>
                          <a:srgbClr val="FFFFFF"/>
                        </a:solidFill>
                        <a:effectLst/>
                        <a:latin typeface="dmsans"/>
                      </a:endParaRPr>
                    </a:p>
                  </a:txBody>
                  <a:tcPr anchor="ctr"/>
                </a:tc>
                <a:tc>
                  <a:txBody>
                    <a:bodyPr/>
                    <a:lstStyle/>
                    <a:p>
                      <a:pPr algn="l">
                        <a:buNone/>
                      </a:pPr>
                      <a:r>
                        <a:rPr lang="en-US" sz="1200" dirty="0">
                          <a:effectLst/>
                        </a:rPr>
                        <a:t>What happens</a:t>
                      </a:r>
                      <a:endParaRPr lang="en-US" sz="1200" b="0" i="0" dirty="0">
                        <a:solidFill>
                          <a:srgbClr val="FFFFFF"/>
                        </a:solidFill>
                        <a:effectLst/>
                        <a:latin typeface="dmsans"/>
                      </a:endParaRPr>
                    </a:p>
                  </a:txBody>
                  <a:tcPr anchor="ctr"/>
                </a:tc>
                <a:tc>
                  <a:txBody>
                    <a:bodyPr/>
                    <a:lstStyle/>
                    <a:p>
                      <a:pPr algn="l">
                        <a:buNone/>
                      </a:pPr>
                      <a:r>
                        <a:rPr lang="en-US" sz="1200">
                          <a:effectLst/>
                        </a:rPr>
                        <a:t>Where the harness matters</a:t>
                      </a:r>
                      <a:endParaRPr lang="en-US" sz="1200" b="0" i="0">
                        <a:solidFill>
                          <a:srgbClr val="FFFFFF"/>
                        </a:solidFill>
                        <a:effectLst/>
                        <a:latin typeface="dmsans"/>
                      </a:endParaRPr>
                    </a:p>
                  </a:txBody>
                  <a:tcPr anchor="ctr"/>
                </a:tc>
                <a:extLst>
                  <a:ext uri="{0D108BD9-81ED-4DB2-BD59-A6C34878D82A}">
                    <a16:rowId xmlns:a16="http://schemas.microsoft.com/office/drawing/2014/main" val="595012306"/>
                  </a:ext>
                </a:extLst>
              </a:tr>
              <a:tr h="700881">
                <a:tc>
                  <a:txBody>
                    <a:bodyPr/>
                    <a:lstStyle/>
                    <a:p>
                      <a:pPr algn="l">
                        <a:buNone/>
                      </a:pPr>
                      <a:r>
                        <a:rPr lang="en-US" sz="1200">
                          <a:effectLst/>
                        </a:rPr>
                        <a:t>Plan</a:t>
                      </a:r>
                      <a:endParaRPr lang="en-US" sz="1200" b="0" i="0">
                        <a:solidFill>
                          <a:srgbClr val="000000"/>
                        </a:solidFill>
                        <a:effectLst/>
                        <a:latin typeface="dmsans"/>
                      </a:endParaRPr>
                    </a:p>
                  </a:txBody>
                  <a:tcPr anchor="ctr"/>
                </a:tc>
                <a:tc>
                  <a:txBody>
                    <a:bodyPr/>
                    <a:lstStyle/>
                    <a:p>
                      <a:pPr algn="l">
                        <a:buNone/>
                      </a:pPr>
                      <a:r>
                        <a:rPr lang="en-US" sz="1200">
                          <a:effectLst/>
                        </a:rPr>
                        <a:t>Work gets scoped, context gets assembled</a:t>
                      </a:r>
                      <a:endParaRPr lang="en-US" sz="1200" b="0" i="0">
                        <a:solidFill>
                          <a:srgbClr val="000000"/>
                        </a:solidFill>
                        <a:effectLst/>
                        <a:latin typeface="dmsans"/>
                      </a:endParaRPr>
                    </a:p>
                  </a:txBody>
                  <a:tcPr anchor="ctr"/>
                </a:tc>
                <a:tc>
                  <a:txBody>
                    <a:bodyPr/>
                    <a:lstStyle/>
                    <a:p>
                      <a:pPr algn="l">
                        <a:buNone/>
                      </a:pPr>
                      <a:r>
                        <a:rPr lang="en-US" sz="1200">
                          <a:effectLst/>
                        </a:rPr>
                        <a:t>Context management decides what the agent sees before it starts</a:t>
                      </a:r>
                      <a:endParaRPr lang="en-US" sz="1200" b="0" i="0">
                        <a:solidFill>
                          <a:srgbClr val="000000"/>
                        </a:solidFill>
                        <a:effectLst/>
                        <a:latin typeface="dmsans"/>
                      </a:endParaRPr>
                    </a:p>
                  </a:txBody>
                  <a:tcPr anchor="ctr"/>
                </a:tc>
                <a:extLst>
                  <a:ext uri="{0D108BD9-81ED-4DB2-BD59-A6C34878D82A}">
                    <a16:rowId xmlns:a16="http://schemas.microsoft.com/office/drawing/2014/main" val="3168652163"/>
                  </a:ext>
                </a:extLst>
              </a:tr>
              <a:tr h="700881">
                <a:tc>
                  <a:txBody>
                    <a:bodyPr/>
                    <a:lstStyle/>
                    <a:p>
                      <a:pPr algn="l">
                        <a:buNone/>
                      </a:pPr>
                      <a:r>
                        <a:rPr lang="en-US" sz="1200">
                          <a:effectLst/>
                        </a:rPr>
                        <a:t>Build</a:t>
                      </a:r>
                      <a:endParaRPr lang="en-US" sz="1200" b="0" i="0">
                        <a:solidFill>
                          <a:srgbClr val="000000"/>
                        </a:solidFill>
                        <a:effectLst/>
                        <a:latin typeface="dmsans"/>
                      </a:endParaRPr>
                    </a:p>
                  </a:txBody>
                  <a:tcPr anchor="ctr"/>
                </a:tc>
                <a:tc>
                  <a:txBody>
                    <a:bodyPr/>
                    <a:lstStyle/>
                    <a:p>
                      <a:pPr algn="l">
                        <a:buNone/>
                      </a:pPr>
                      <a:r>
                        <a:rPr lang="en-US" sz="1200">
                          <a:effectLst/>
                        </a:rPr>
                        <a:t>The agent generates code or takes action</a:t>
                      </a:r>
                      <a:endParaRPr lang="en-US" sz="1200" b="0" i="0">
                        <a:solidFill>
                          <a:srgbClr val="000000"/>
                        </a:solidFill>
                        <a:effectLst/>
                        <a:latin typeface="dmsans"/>
                      </a:endParaRPr>
                    </a:p>
                  </a:txBody>
                  <a:tcPr anchor="ctr"/>
                </a:tc>
                <a:tc>
                  <a:txBody>
                    <a:bodyPr/>
                    <a:lstStyle/>
                    <a:p>
                      <a:pPr algn="l">
                        <a:buNone/>
                      </a:pPr>
                      <a:r>
                        <a:rPr lang="en-US" sz="1200">
                          <a:effectLst/>
                        </a:rPr>
                        <a:t>Tools, orchestration, and guardrails govern what it's allowed to do</a:t>
                      </a:r>
                      <a:endParaRPr lang="en-US" sz="1200" b="0" i="0">
                        <a:solidFill>
                          <a:srgbClr val="000000"/>
                        </a:solidFill>
                        <a:effectLst/>
                        <a:latin typeface="dmsans"/>
                      </a:endParaRPr>
                    </a:p>
                  </a:txBody>
                  <a:tcPr anchor="ctr"/>
                </a:tc>
                <a:extLst>
                  <a:ext uri="{0D108BD9-81ED-4DB2-BD59-A6C34878D82A}">
                    <a16:rowId xmlns:a16="http://schemas.microsoft.com/office/drawing/2014/main" val="1664381092"/>
                  </a:ext>
                </a:extLst>
              </a:tr>
              <a:tr h="700881">
                <a:tc>
                  <a:txBody>
                    <a:bodyPr/>
                    <a:lstStyle/>
                    <a:p>
                      <a:pPr algn="l">
                        <a:buNone/>
                      </a:pPr>
                      <a:r>
                        <a:rPr lang="en-US" sz="1200">
                          <a:effectLst/>
                        </a:rPr>
                        <a:t>Review</a:t>
                      </a:r>
                      <a:endParaRPr lang="en-US" sz="1200" b="0" i="0">
                        <a:solidFill>
                          <a:srgbClr val="000000"/>
                        </a:solidFill>
                        <a:effectLst/>
                        <a:latin typeface="dmsans"/>
                      </a:endParaRPr>
                    </a:p>
                  </a:txBody>
                  <a:tcPr anchor="ctr"/>
                </a:tc>
                <a:tc>
                  <a:txBody>
                    <a:bodyPr/>
                    <a:lstStyle/>
                    <a:p>
                      <a:pPr algn="l">
                        <a:buNone/>
                      </a:pPr>
                      <a:r>
                        <a:rPr lang="en-US" sz="1200">
                          <a:effectLst/>
                        </a:rPr>
                        <a:t>A human or agent checks the work</a:t>
                      </a:r>
                      <a:endParaRPr lang="en-US" sz="1200" b="0" i="0">
                        <a:solidFill>
                          <a:srgbClr val="000000"/>
                        </a:solidFill>
                        <a:effectLst/>
                        <a:latin typeface="dmsans"/>
                      </a:endParaRPr>
                    </a:p>
                  </a:txBody>
                  <a:tcPr anchor="ctr"/>
                </a:tc>
                <a:tc>
                  <a:txBody>
                    <a:bodyPr/>
                    <a:lstStyle/>
                    <a:p>
                      <a:pPr algn="l">
                        <a:buNone/>
                      </a:pPr>
                      <a:r>
                        <a:rPr lang="en-US" sz="1200">
                          <a:effectLst/>
                        </a:rPr>
                        <a:t>Sensors, such as tests and linters, catch problems before they ship</a:t>
                      </a:r>
                      <a:endParaRPr lang="en-US" sz="1200" b="0" i="0">
                        <a:solidFill>
                          <a:srgbClr val="000000"/>
                        </a:solidFill>
                        <a:effectLst/>
                        <a:latin typeface="dmsans"/>
                      </a:endParaRPr>
                    </a:p>
                  </a:txBody>
                  <a:tcPr anchor="ctr"/>
                </a:tc>
                <a:extLst>
                  <a:ext uri="{0D108BD9-81ED-4DB2-BD59-A6C34878D82A}">
                    <a16:rowId xmlns:a16="http://schemas.microsoft.com/office/drawing/2014/main" val="2847289690"/>
                  </a:ext>
                </a:extLst>
              </a:tr>
              <a:tr h="700881">
                <a:tc>
                  <a:txBody>
                    <a:bodyPr/>
                    <a:lstStyle/>
                    <a:p>
                      <a:pPr algn="l">
                        <a:buNone/>
                      </a:pPr>
                      <a:r>
                        <a:rPr lang="en-US" sz="1200">
                          <a:effectLst/>
                        </a:rPr>
                        <a:t>Deploy</a:t>
                      </a:r>
                      <a:endParaRPr lang="en-US" sz="1200" b="0" i="0">
                        <a:solidFill>
                          <a:srgbClr val="000000"/>
                        </a:solidFill>
                        <a:effectLst/>
                        <a:latin typeface="dmsans"/>
                      </a:endParaRPr>
                    </a:p>
                  </a:txBody>
                  <a:tcPr anchor="ctr"/>
                </a:tc>
                <a:tc>
                  <a:txBody>
                    <a:bodyPr/>
                    <a:lstStyle/>
                    <a:p>
                      <a:pPr algn="l">
                        <a:buNone/>
                      </a:pPr>
                      <a:r>
                        <a:rPr lang="en-US" sz="1200">
                          <a:effectLst/>
                        </a:rPr>
                        <a:t>The change goes to production</a:t>
                      </a:r>
                      <a:endParaRPr lang="en-US" sz="1200" b="0" i="0">
                        <a:solidFill>
                          <a:srgbClr val="000000"/>
                        </a:solidFill>
                        <a:effectLst/>
                        <a:latin typeface="dmsans"/>
                      </a:endParaRPr>
                    </a:p>
                  </a:txBody>
                  <a:tcPr anchor="ctr"/>
                </a:tc>
                <a:tc>
                  <a:txBody>
                    <a:bodyPr/>
                    <a:lstStyle/>
                    <a:p>
                      <a:pPr algn="l">
                        <a:buNone/>
                      </a:pPr>
                      <a:r>
                        <a:rPr lang="en-US" sz="1200" dirty="0">
                          <a:effectLst/>
                        </a:rPr>
                        <a:t>Approval gates decide what runs automatically and what waits for a human</a:t>
                      </a:r>
                      <a:endParaRPr lang="en-US" sz="1200" b="0" i="0" dirty="0">
                        <a:solidFill>
                          <a:srgbClr val="000000"/>
                        </a:solidFill>
                        <a:effectLst/>
                        <a:latin typeface="dmsans"/>
                      </a:endParaRPr>
                    </a:p>
                  </a:txBody>
                  <a:tcPr anchor="ctr"/>
                </a:tc>
                <a:extLst>
                  <a:ext uri="{0D108BD9-81ED-4DB2-BD59-A6C34878D82A}">
                    <a16:rowId xmlns:a16="http://schemas.microsoft.com/office/drawing/2014/main" val="2681394748"/>
                  </a:ext>
                </a:extLst>
              </a:tr>
            </a:tbl>
          </a:graphicData>
        </a:graphic>
      </p:graphicFrame>
    </p:spTree>
    <p:extLst>
      <p:ext uri="{BB962C8B-B14F-4D97-AF65-F5344CB8AC3E}">
        <p14:creationId xmlns:p14="http://schemas.microsoft.com/office/powerpoint/2010/main" val="3211667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78AB76-BAD5-045F-8C8E-96FB3F70C8D6}"/>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41200063-A2B3-B777-0A28-2E96FF37E203}"/>
              </a:ext>
            </a:extLst>
          </p:cNvPr>
          <p:cNvSpPr>
            <a:spLocks noGrp="1"/>
          </p:cNvSpPr>
          <p:nvPr>
            <p:ph type="body" idx="2"/>
          </p:nvPr>
        </p:nvSpPr>
        <p:spPr/>
        <p:txBody>
          <a:bodyPr/>
          <a:lstStyle/>
          <a:p>
            <a:r>
              <a:rPr lang="en-US" dirty="0"/>
              <a:t>How does harness engineering relate to context engineering?</a:t>
            </a:r>
          </a:p>
          <a:p>
            <a:r>
              <a:rPr lang="en-US" dirty="0"/>
              <a:t>Context engineering provides us with the means to make guides and sensors available to the agent. </a:t>
            </a:r>
          </a:p>
          <a:p>
            <a:r>
              <a:rPr lang="en-US" dirty="0"/>
              <a:t>Engineering a user harness for a coding agent is a specific form of context engineering.</a:t>
            </a:r>
          </a:p>
          <a:p>
            <a:r>
              <a:rPr lang="en-US" dirty="0"/>
              <a:t>Context engineering is the practice of deliberately designing, structuring and optimizing the context provided to a large language model (LLM) to produce more accurate, relevant and reliable outputs.</a:t>
            </a:r>
          </a:p>
        </p:txBody>
      </p:sp>
      <p:sp>
        <p:nvSpPr>
          <p:cNvPr id="4" name="Title 3">
            <a:extLst>
              <a:ext uri="{FF2B5EF4-FFF2-40B4-BE49-F238E27FC236}">
                <a16:creationId xmlns:a16="http://schemas.microsoft.com/office/drawing/2014/main" id="{5F37CD2D-867C-CE9D-294D-5787E49F3A39}"/>
              </a:ext>
            </a:extLst>
          </p:cNvPr>
          <p:cNvSpPr>
            <a:spLocks noGrp="1"/>
          </p:cNvSpPr>
          <p:nvPr>
            <p:ph type="title"/>
          </p:nvPr>
        </p:nvSpPr>
        <p:spPr/>
        <p:txBody>
          <a:bodyPr/>
          <a:lstStyle/>
          <a:p>
            <a:r>
              <a:rPr lang="en-US" dirty="0"/>
              <a:t>Context Engineering</a:t>
            </a:r>
          </a:p>
        </p:txBody>
      </p:sp>
    </p:spTree>
    <p:extLst>
      <p:ext uri="{BB962C8B-B14F-4D97-AF65-F5344CB8AC3E}">
        <p14:creationId xmlns:p14="http://schemas.microsoft.com/office/powerpoint/2010/main" val="3712526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05987-1B28-D6D4-7E32-6012923E74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8285F2-9A6D-3D7A-6478-644588918180}"/>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618CCD1-0226-C949-3215-7E83B0B39D39}"/>
              </a:ext>
            </a:extLst>
          </p:cNvPr>
          <p:cNvSpPr>
            <a:spLocks noGrp="1"/>
          </p:cNvSpPr>
          <p:nvPr>
            <p:ph type="body" idx="2"/>
          </p:nvPr>
        </p:nvSpPr>
        <p:spPr/>
        <p:txBody>
          <a:bodyPr/>
          <a:lstStyle/>
          <a:p>
            <a:r>
              <a:rPr lang="en-US" dirty="0"/>
              <a:t>Agents need context to perform tasks. </a:t>
            </a:r>
          </a:p>
          <a:p>
            <a:r>
              <a:rPr lang="en-US" dirty="0"/>
              <a:t>Context engineering is the art and science of filling the context window with just the right information at each step of an agent’s trajectory.</a:t>
            </a:r>
          </a:p>
          <a:p>
            <a:r>
              <a:rPr lang="en-US" i="1" dirty="0">
                <a:solidFill>
                  <a:schemeClr val="bg1">
                    <a:lumMod val="65000"/>
                  </a:schemeClr>
                </a:solidFill>
              </a:rPr>
              <a:t>“LLMs are like a new kind of operating system. The LLM is like the CPU and its context window is like the RAM, serving as the model’s working memory. Just like RAM, the LLM context window has limited capacity to handle various sources of context”  </a:t>
            </a:r>
            <a:r>
              <a:rPr lang="en-US" dirty="0"/>
              <a:t>-Andrej </a:t>
            </a:r>
            <a:r>
              <a:rPr lang="en-US" dirty="0" err="1"/>
              <a:t>Karpathy</a:t>
            </a:r>
            <a:endParaRPr lang="en-US" dirty="0"/>
          </a:p>
        </p:txBody>
      </p:sp>
      <p:sp>
        <p:nvSpPr>
          <p:cNvPr id="4" name="Title 3">
            <a:extLst>
              <a:ext uri="{FF2B5EF4-FFF2-40B4-BE49-F238E27FC236}">
                <a16:creationId xmlns:a16="http://schemas.microsoft.com/office/drawing/2014/main" id="{8842DAF1-0FC6-E169-6E6A-4832DCFB291A}"/>
              </a:ext>
            </a:extLst>
          </p:cNvPr>
          <p:cNvSpPr>
            <a:spLocks noGrp="1"/>
          </p:cNvSpPr>
          <p:nvPr>
            <p:ph type="title"/>
          </p:nvPr>
        </p:nvSpPr>
        <p:spPr/>
        <p:txBody>
          <a:bodyPr/>
          <a:lstStyle/>
          <a:p>
            <a:r>
              <a:rPr lang="en-US" dirty="0"/>
              <a:t>Context Engineering</a:t>
            </a:r>
          </a:p>
        </p:txBody>
      </p:sp>
    </p:spTree>
    <p:extLst>
      <p:ext uri="{BB962C8B-B14F-4D97-AF65-F5344CB8AC3E}">
        <p14:creationId xmlns:p14="http://schemas.microsoft.com/office/powerpoint/2010/main" val="4105371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E7B04B-59D1-463B-6E8C-DF2E68801BC4}"/>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FF08ACCE-69A5-18FA-4CA1-EBDB9ECE5C04}"/>
              </a:ext>
            </a:extLst>
          </p:cNvPr>
          <p:cNvSpPr>
            <a:spLocks noGrp="1"/>
          </p:cNvSpPr>
          <p:nvPr>
            <p:ph type="body" idx="2"/>
          </p:nvPr>
        </p:nvSpPr>
        <p:spPr/>
        <p:txBody>
          <a:bodyPr>
            <a:normAutofit fontScale="92500" lnSpcReduction="10000"/>
          </a:bodyPr>
          <a:lstStyle/>
          <a:p>
            <a:r>
              <a:rPr lang="en-US" dirty="0"/>
              <a:t>Context engineering involves structuring what information to include in the context that the LLM can access in real-time, and how to format that information so the LLM can use it correctly. </a:t>
            </a:r>
          </a:p>
          <a:p>
            <a:r>
              <a:rPr lang="en-US" dirty="0"/>
              <a:t>The context window can be thought of as the model’s short-term memory.</a:t>
            </a:r>
          </a:p>
          <a:p>
            <a:r>
              <a:rPr lang="en-US" dirty="0"/>
              <a:t>LLMs (and AI agents built on top of them) do not have long-term memory. </a:t>
            </a:r>
          </a:p>
          <a:p>
            <a:r>
              <a:rPr lang="en-US" dirty="0"/>
              <a:t>They generate responses solely based on the context window they have access to at inference time. </a:t>
            </a:r>
          </a:p>
          <a:p>
            <a:r>
              <a:rPr lang="en-US" dirty="0"/>
              <a:t>As a result, the quality and structure of the context window directly influence the model’s reasoning, tool use and outputs.</a:t>
            </a:r>
          </a:p>
          <a:p>
            <a:r>
              <a:rPr lang="en-US" dirty="0"/>
              <a:t>A well-managed context window will lead to better reasoning, tool calls and answers. </a:t>
            </a:r>
          </a:p>
          <a:p>
            <a:r>
              <a:rPr lang="en-US" dirty="0"/>
              <a:t>A poorly managed context window can lead to hallucinations, confusion or irrelevant outputs.</a:t>
            </a:r>
          </a:p>
        </p:txBody>
      </p:sp>
      <p:sp>
        <p:nvSpPr>
          <p:cNvPr id="4" name="Title 3">
            <a:extLst>
              <a:ext uri="{FF2B5EF4-FFF2-40B4-BE49-F238E27FC236}">
                <a16:creationId xmlns:a16="http://schemas.microsoft.com/office/drawing/2014/main" id="{333B80F7-D5F6-50B4-CD9C-A0E682687FD5}"/>
              </a:ext>
            </a:extLst>
          </p:cNvPr>
          <p:cNvSpPr>
            <a:spLocks noGrp="1"/>
          </p:cNvSpPr>
          <p:nvPr>
            <p:ph type="title"/>
          </p:nvPr>
        </p:nvSpPr>
        <p:spPr/>
        <p:txBody>
          <a:bodyPr>
            <a:normAutofit fontScale="90000"/>
          </a:bodyPr>
          <a:lstStyle/>
          <a:p>
            <a:br>
              <a:rPr lang="en-US" b="0" dirty="0"/>
            </a:br>
            <a:r>
              <a:rPr lang="en-US" b="0" dirty="0"/>
              <a:t>Why is context engineering important?</a:t>
            </a:r>
            <a:br>
              <a:rPr lang="en-US" b="0" dirty="0"/>
            </a:br>
            <a:endParaRPr lang="en-US" dirty="0"/>
          </a:p>
        </p:txBody>
      </p:sp>
    </p:spTree>
    <p:extLst>
      <p:ext uri="{BB962C8B-B14F-4D97-AF65-F5344CB8AC3E}">
        <p14:creationId xmlns:p14="http://schemas.microsoft.com/office/powerpoint/2010/main" val="10685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3AC28A-E3B4-8714-6E01-66BE6B890B92}"/>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2F7FA66F-74D3-8120-0444-1F6E50A28144}"/>
              </a:ext>
            </a:extLst>
          </p:cNvPr>
          <p:cNvSpPr>
            <a:spLocks noGrp="1"/>
          </p:cNvSpPr>
          <p:nvPr>
            <p:ph type="body" idx="2"/>
          </p:nvPr>
        </p:nvSpPr>
        <p:spPr/>
        <p:txBody>
          <a:bodyPr/>
          <a:lstStyle/>
          <a:p>
            <a:r>
              <a:rPr lang="en-US" dirty="0"/>
              <a:t>The core steps of the context engineering process are as follows:</a:t>
            </a:r>
          </a:p>
          <a:p>
            <a:pPr lvl="1"/>
            <a:r>
              <a:rPr lang="en-US" dirty="0"/>
              <a:t>Context selection</a:t>
            </a:r>
          </a:p>
          <a:p>
            <a:pPr lvl="1"/>
            <a:r>
              <a:rPr lang="en-US" dirty="0"/>
              <a:t>Context structuring</a:t>
            </a:r>
          </a:p>
          <a:p>
            <a:pPr lvl="1"/>
            <a:r>
              <a:rPr lang="en-US" dirty="0"/>
              <a:t>Prompt design and engineering</a:t>
            </a:r>
          </a:p>
          <a:p>
            <a:pPr lvl="1"/>
            <a:r>
              <a:rPr lang="en-US" dirty="0"/>
              <a:t>Context compression</a:t>
            </a:r>
          </a:p>
          <a:p>
            <a:pPr lvl="1"/>
            <a:r>
              <a:rPr lang="en-US" dirty="0"/>
              <a:t>Context sequencing</a:t>
            </a:r>
          </a:p>
          <a:p>
            <a:pPr lvl="1"/>
            <a:r>
              <a:rPr lang="en-US" dirty="0"/>
              <a:t>Tool and memory integration</a:t>
            </a:r>
          </a:p>
          <a:p>
            <a:endParaRPr lang="en-US" dirty="0"/>
          </a:p>
        </p:txBody>
      </p:sp>
      <p:sp>
        <p:nvSpPr>
          <p:cNvPr id="4" name="Title 3">
            <a:extLst>
              <a:ext uri="{FF2B5EF4-FFF2-40B4-BE49-F238E27FC236}">
                <a16:creationId xmlns:a16="http://schemas.microsoft.com/office/drawing/2014/main" id="{AEF936A9-4469-C8C7-8D45-A307D3942BDA}"/>
              </a:ext>
            </a:extLst>
          </p:cNvPr>
          <p:cNvSpPr>
            <a:spLocks noGrp="1"/>
          </p:cNvSpPr>
          <p:nvPr>
            <p:ph type="title"/>
          </p:nvPr>
        </p:nvSpPr>
        <p:spPr/>
        <p:txBody>
          <a:bodyPr>
            <a:normAutofit fontScale="90000"/>
          </a:bodyPr>
          <a:lstStyle/>
          <a:p>
            <a:br>
              <a:rPr lang="en-US" b="0" dirty="0"/>
            </a:br>
            <a:r>
              <a:rPr lang="en-US" b="0" dirty="0"/>
              <a:t>Context engineering</a:t>
            </a:r>
            <a:br>
              <a:rPr lang="en-US" b="0" dirty="0"/>
            </a:br>
            <a:endParaRPr lang="en-US" dirty="0"/>
          </a:p>
        </p:txBody>
      </p:sp>
    </p:spTree>
    <p:extLst>
      <p:ext uri="{BB962C8B-B14F-4D97-AF65-F5344CB8AC3E}">
        <p14:creationId xmlns:p14="http://schemas.microsoft.com/office/powerpoint/2010/main" val="2248044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066A0C-3367-A9FF-7BC3-671B42107239}"/>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D2AE375C-D613-A96C-0152-E4EED2F7A4E2}"/>
              </a:ext>
            </a:extLst>
          </p:cNvPr>
          <p:cNvSpPr>
            <a:spLocks noGrp="1"/>
          </p:cNvSpPr>
          <p:nvPr>
            <p:ph type="body" idx="2"/>
          </p:nvPr>
        </p:nvSpPr>
        <p:spPr/>
        <p:txBody>
          <a:bodyPr/>
          <a:lstStyle/>
          <a:p>
            <a:pPr lvl="0" fontAlgn="base"/>
            <a:r>
              <a:rPr lang="en-US" b="1" dirty="0"/>
              <a:t>Context retrieval</a:t>
            </a:r>
            <a:endParaRPr lang="en-US" dirty="0"/>
          </a:p>
          <a:p>
            <a:pPr lvl="0" fontAlgn="base"/>
            <a:r>
              <a:rPr lang="en-US" b="1" dirty="0"/>
              <a:t>Context generation</a:t>
            </a:r>
            <a:endParaRPr lang="en-US" dirty="0"/>
          </a:p>
          <a:p>
            <a:pPr lvl="0" fontAlgn="base"/>
            <a:r>
              <a:rPr lang="en-US" b="1" dirty="0"/>
              <a:t>Context processing</a:t>
            </a:r>
            <a:endParaRPr lang="en-US" dirty="0"/>
          </a:p>
          <a:p>
            <a:pPr lvl="0" fontAlgn="base"/>
            <a:r>
              <a:rPr lang="en-US" b="1" dirty="0"/>
              <a:t>Context management</a:t>
            </a:r>
            <a:endParaRPr lang="en-US" dirty="0"/>
          </a:p>
          <a:p>
            <a:endParaRPr lang="en-US" dirty="0"/>
          </a:p>
        </p:txBody>
      </p:sp>
      <p:sp>
        <p:nvSpPr>
          <p:cNvPr id="4" name="Title 3">
            <a:extLst>
              <a:ext uri="{FF2B5EF4-FFF2-40B4-BE49-F238E27FC236}">
                <a16:creationId xmlns:a16="http://schemas.microsoft.com/office/drawing/2014/main" id="{B052075E-72F2-8941-E2EF-3CBAB76AED5C}"/>
              </a:ext>
            </a:extLst>
          </p:cNvPr>
          <p:cNvSpPr>
            <a:spLocks noGrp="1"/>
          </p:cNvSpPr>
          <p:nvPr>
            <p:ph type="title"/>
          </p:nvPr>
        </p:nvSpPr>
        <p:spPr/>
        <p:txBody>
          <a:bodyPr>
            <a:normAutofit fontScale="90000"/>
          </a:bodyPr>
          <a:lstStyle/>
          <a:p>
            <a:br>
              <a:rPr lang="en-US" b="0" dirty="0"/>
            </a:br>
            <a:r>
              <a:rPr lang="en-US" b="0" dirty="0"/>
              <a:t>Context engineering</a:t>
            </a:r>
            <a:br>
              <a:rPr lang="en-US" b="0" dirty="0"/>
            </a:br>
            <a:endParaRPr lang="en-US" dirty="0"/>
          </a:p>
        </p:txBody>
      </p:sp>
    </p:spTree>
    <p:extLst>
      <p:ext uri="{BB962C8B-B14F-4D97-AF65-F5344CB8AC3E}">
        <p14:creationId xmlns:p14="http://schemas.microsoft.com/office/powerpoint/2010/main" val="231352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B95744-94E7-6329-918C-CF2245C4E32E}"/>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5338D6C0-2DB1-5913-1FB7-F34390A1BC58}"/>
              </a:ext>
            </a:extLst>
          </p:cNvPr>
          <p:cNvSpPr>
            <a:spLocks noGrp="1"/>
          </p:cNvSpPr>
          <p:nvPr>
            <p:ph type="body" idx="2"/>
          </p:nvPr>
        </p:nvSpPr>
        <p:spPr/>
        <p:txBody>
          <a:bodyPr/>
          <a:lstStyle/>
          <a:p>
            <a:r>
              <a:rPr lang="en-US" dirty="0"/>
              <a:t>It encompasses two closely related and commonly discussed techniques: Prompt engineering and retrieval augmented generation (RAG):</a:t>
            </a:r>
          </a:p>
          <a:p>
            <a:r>
              <a:rPr lang="en-US" b="1" dirty="0"/>
              <a:t>Prompt engineering</a:t>
            </a:r>
            <a:r>
              <a:rPr lang="en-US" dirty="0"/>
              <a:t> is the process of creating an LLM prompt that will lead to a better output. </a:t>
            </a:r>
          </a:p>
          <a:p>
            <a:r>
              <a:rPr lang="en-US" dirty="0"/>
              <a:t>This method is a subset of context engineering, but narrower in scope. </a:t>
            </a:r>
          </a:p>
          <a:p>
            <a:r>
              <a:rPr lang="en-US" dirty="0"/>
              <a:t>It doesn’t address the system prompts or any other information that the LLM has access to at inference time.</a:t>
            </a:r>
          </a:p>
          <a:p>
            <a:r>
              <a:rPr lang="en-US" dirty="0"/>
              <a:t>RAG focuses on ways to add information from documents or databases to the LLMs’ context window.</a:t>
            </a:r>
          </a:p>
        </p:txBody>
      </p:sp>
      <p:sp>
        <p:nvSpPr>
          <p:cNvPr id="4" name="Title 3">
            <a:extLst>
              <a:ext uri="{FF2B5EF4-FFF2-40B4-BE49-F238E27FC236}">
                <a16:creationId xmlns:a16="http://schemas.microsoft.com/office/drawing/2014/main" id="{7C0D71CC-C069-8BF6-4BD8-EEA47ACD925F}"/>
              </a:ext>
            </a:extLst>
          </p:cNvPr>
          <p:cNvSpPr>
            <a:spLocks noGrp="1"/>
          </p:cNvSpPr>
          <p:nvPr>
            <p:ph type="title"/>
          </p:nvPr>
        </p:nvSpPr>
        <p:spPr/>
        <p:txBody>
          <a:bodyPr>
            <a:normAutofit fontScale="90000"/>
          </a:bodyPr>
          <a:lstStyle/>
          <a:p>
            <a:br>
              <a:rPr lang="en-US" dirty="0"/>
            </a:br>
            <a:r>
              <a:rPr lang="en-US" dirty="0"/>
              <a:t>Context </a:t>
            </a:r>
            <a:r>
              <a:rPr lang="en-US" dirty="0" err="1"/>
              <a:t>engineering</a:t>
            </a:r>
            <a:r>
              <a:rPr lang="en-US" dirty="0" err="1">
                <a:sym typeface="Wingdings" panose="05000000000000000000" pitchFamily="2" charset="2"/>
              </a:rPr>
              <a:t>Prompt</a:t>
            </a:r>
            <a:r>
              <a:rPr lang="en-US" dirty="0">
                <a:sym typeface="Wingdings" panose="05000000000000000000" pitchFamily="2" charset="2"/>
              </a:rPr>
              <a:t> and RAG</a:t>
            </a:r>
            <a:br>
              <a:rPr lang="en-US" dirty="0"/>
            </a:br>
            <a:endParaRPr lang="en-US" dirty="0"/>
          </a:p>
        </p:txBody>
      </p:sp>
    </p:spTree>
    <p:extLst>
      <p:ext uri="{BB962C8B-B14F-4D97-AF65-F5344CB8AC3E}">
        <p14:creationId xmlns:p14="http://schemas.microsoft.com/office/powerpoint/2010/main" val="2270518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837DAE-1005-9A6F-5CBA-20A6118FDDFD}"/>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D0522EB3-CFF8-A807-E78E-009DEF5569C8}"/>
              </a:ext>
            </a:extLst>
          </p:cNvPr>
          <p:cNvSpPr>
            <a:spLocks noGrp="1"/>
          </p:cNvSpPr>
          <p:nvPr>
            <p:ph type="body" idx="2"/>
          </p:nvPr>
        </p:nvSpPr>
        <p:spPr/>
        <p:txBody>
          <a:bodyPr/>
          <a:lstStyle/>
          <a:p>
            <a:r>
              <a:rPr lang="en-US" dirty="0"/>
              <a:t>Prompt engineering is critical because it directly influences the quality, relevance and accuracy of generative AI outputs. </a:t>
            </a:r>
          </a:p>
          <a:p>
            <a:r>
              <a:rPr lang="en-US" dirty="0"/>
              <a:t>A well-crafted prompt helps ensure that the AI comprehends the user's intent and produces meaningful responses, minimizing the need for extensive postprocessing. </a:t>
            </a:r>
          </a:p>
          <a:p>
            <a:endParaRPr lang="en-US" dirty="0"/>
          </a:p>
          <a:p>
            <a:r>
              <a:rPr lang="en-US" dirty="0"/>
              <a:t>“The problem is not with prompt engineering. It’s a real and useful skill to have. The problem </a:t>
            </a:r>
            <a:r>
              <a:rPr lang="en-US" dirty="0" err="1"/>
              <a:t>iswhen</a:t>
            </a:r>
            <a:r>
              <a:rPr lang="en-US" dirty="0"/>
              <a:t> prompt engineering is the only thing people know.”</a:t>
            </a:r>
          </a:p>
          <a:p>
            <a:r>
              <a:rPr lang="en-US" dirty="0"/>
              <a:t>prompt engineering </a:t>
            </a:r>
            <a:r>
              <a:rPr lang="en-US" dirty="0">
                <a:sym typeface="Wingdings" panose="05000000000000000000" pitchFamily="2" charset="2"/>
              </a:rPr>
              <a:t></a:t>
            </a:r>
            <a:r>
              <a:rPr lang="en-US" dirty="0"/>
              <a:t>human-to-AI communication</a:t>
            </a:r>
          </a:p>
        </p:txBody>
      </p:sp>
      <p:sp>
        <p:nvSpPr>
          <p:cNvPr id="4" name="Title 3">
            <a:extLst>
              <a:ext uri="{FF2B5EF4-FFF2-40B4-BE49-F238E27FC236}">
                <a16:creationId xmlns:a16="http://schemas.microsoft.com/office/drawing/2014/main" id="{FD394DE9-B846-DED3-1CE1-B3BBC9A982ED}"/>
              </a:ext>
            </a:extLst>
          </p:cNvPr>
          <p:cNvSpPr>
            <a:spLocks noGrp="1"/>
          </p:cNvSpPr>
          <p:nvPr>
            <p:ph type="title"/>
          </p:nvPr>
        </p:nvSpPr>
        <p:spPr/>
        <p:txBody>
          <a:bodyPr/>
          <a:lstStyle/>
          <a:p>
            <a:r>
              <a:rPr lang="en-US" dirty="0"/>
              <a:t>Prompt Engineering</a:t>
            </a:r>
          </a:p>
        </p:txBody>
      </p:sp>
    </p:spTree>
    <p:extLst>
      <p:ext uri="{BB962C8B-B14F-4D97-AF65-F5344CB8AC3E}">
        <p14:creationId xmlns:p14="http://schemas.microsoft.com/office/powerpoint/2010/main" val="26021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89FD12-2AEA-D578-D6BE-B66A94B6C6B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DE48A64B-308A-E167-04E1-57ADF5FE1D70}"/>
              </a:ext>
            </a:extLst>
          </p:cNvPr>
          <p:cNvSpPr>
            <a:spLocks noGrp="1"/>
          </p:cNvSpPr>
          <p:nvPr>
            <p:ph type="body" idx="2"/>
          </p:nvPr>
        </p:nvSpPr>
        <p:spPr/>
        <p:txBody>
          <a:bodyPr/>
          <a:lstStyle/>
          <a:p>
            <a:r>
              <a:rPr lang="en-US" dirty="0"/>
              <a:t>A prompt is an instruction given to a model to perform a task</a:t>
            </a:r>
          </a:p>
        </p:txBody>
      </p:sp>
      <p:sp>
        <p:nvSpPr>
          <p:cNvPr id="4" name="Title 3">
            <a:extLst>
              <a:ext uri="{FF2B5EF4-FFF2-40B4-BE49-F238E27FC236}">
                <a16:creationId xmlns:a16="http://schemas.microsoft.com/office/drawing/2014/main" id="{69F38256-8DB9-7201-3EB2-A144F7614102}"/>
              </a:ext>
            </a:extLst>
          </p:cNvPr>
          <p:cNvSpPr>
            <a:spLocks noGrp="1"/>
          </p:cNvSpPr>
          <p:nvPr>
            <p:ph type="title"/>
          </p:nvPr>
        </p:nvSpPr>
        <p:spPr/>
        <p:txBody>
          <a:bodyPr/>
          <a:lstStyle/>
          <a:p>
            <a:r>
              <a:rPr lang="en-US" dirty="0"/>
              <a:t>Prompt</a:t>
            </a:r>
          </a:p>
        </p:txBody>
      </p:sp>
      <p:pic>
        <p:nvPicPr>
          <p:cNvPr id="6" name="Picture 5">
            <a:extLst>
              <a:ext uri="{FF2B5EF4-FFF2-40B4-BE49-F238E27FC236}">
                <a16:creationId xmlns:a16="http://schemas.microsoft.com/office/drawing/2014/main" id="{5B475017-2EED-BB2A-78F6-248A6A50D320}"/>
              </a:ext>
            </a:extLst>
          </p:cNvPr>
          <p:cNvPicPr>
            <a:picLocks noChangeAspect="1"/>
          </p:cNvPicPr>
          <p:nvPr/>
        </p:nvPicPr>
        <p:blipFill>
          <a:blip r:embed="rId2"/>
          <a:stretch>
            <a:fillRect/>
          </a:stretch>
        </p:blipFill>
        <p:spPr>
          <a:xfrm>
            <a:off x="1530036" y="2103435"/>
            <a:ext cx="8066638" cy="3183308"/>
          </a:xfrm>
          <a:prstGeom prst="rect">
            <a:avLst/>
          </a:prstGeom>
        </p:spPr>
      </p:pic>
    </p:spTree>
    <p:extLst>
      <p:ext uri="{BB962C8B-B14F-4D97-AF65-F5344CB8AC3E}">
        <p14:creationId xmlns:p14="http://schemas.microsoft.com/office/powerpoint/2010/main" val="3657131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0502ED-7A8A-F49F-D324-7AB15050B17C}"/>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4D6B4BE4-19EC-4236-5833-61893D4C7476}"/>
              </a:ext>
            </a:extLst>
          </p:cNvPr>
          <p:cNvSpPr>
            <a:spLocks noGrp="1"/>
          </p:cNvSpPr>
          <p:nvPr>
            <p:ph type="body" idx="2"/>
          </p:nvPr>
        </p:nvSpPr>
        <p:spPr/>
        <p:txBody>
          <a:bodyPr/>
          <a:lstStyle/>
          <a:p>
            <a:pPr fontAlgn="base"/>
            <a:r>
              <a:rPr lang="en-US" dirty="0"/>
              <a:t>Zero-shot prompting</a:t>
            </a:r>
          </a:p>
          <a:p>
            <a:pPr lvl="1" fontAlgn="base"/>
            <a:r>
              <a:rPr lang="en-US" dirty="0"/>
              <a:t>Zero-shot prompting involves asking the model to perform a task without providing any prior examples or guidance. It relies entirely on the AI’s pretrained knowledge to interpret and respond to the prompt.</a:t>
            </a:r>
            <a:endParaRPr lang="en-US" baseline="30000" dirty="0"/>
          </a:p>
          <a:p>
            <a:pPr fontAlgn="base"/>
            <a:r>
              <a:rPr lang="en-US" dirty="0"/>
              <a:t>Few-shot prompting</a:t>
            </a:r>
          </a:p>
          <a:p>
            <a:pPr lvl="1" fontAlgn="base"/>
            <a:r>
              <a:rPr lang="en-US" dirty="0"/>
              <a:t>Few-shot prompting includes a small number of examples within the prompt to demonstrate the task to the model. This approach helps the model better understand the context and expected output.</a:t>
            </a:r>
          </a:p>
          <a:p>
            <a:pPr fontAlgn="base"/>
            <a:r>
              <a:rPr lang="en-US" dirty="0"/>
              <a:t>Chain of thought (</a:t>
            </a:r>
            <a:r>
              <a:rPr lang="en-US" dirty="0" err="1"/>
              <a:t>CoT</a:t>
            </a:r>
            <a:r>
              <a:rPr lang="en-US" dirty="0"/>
              <a:t>) prompting: </a:t>
            </a:r>
            <a:r>
              <a:rPr lang="en-US" dirty="0" err="1"/>
              <a:t>CoT</a:t>
            </a:r>
            <a:r>
              <a:rPr lang="en-US" dirty="0"/>
              <a:t> prompting encourages the model to reason through a problem step by step, breaking it into smaller components to arrive at a logical conclusion</a:t>
            </a:r>
          </a:p>
          <a:p>
            <a:pPr fontAlgn="base"/>
            <a:endParaRPr lang="en-US" dirty="0"/>
          </a:p>
          <a:p>
            <a:pPr lvl="1" fontAlgn="base"/>
            <a:endParaRPr lang="en-US" dirty="0"/>
          </a:p>
          <a:p>
            <a:pPr lvl="1" fontAlgn="base"/>
            <a:endParaRPr lang="en-US" dirty="0"/>
          </a:p>
          <a:p>
            <a:endParaRPr lang="en-US" dirty="0"/>
          </a:p>
        </p:txBody>
      </p:sp>
      <p:sp>
        <p:nvSpPr>
          <p:cNvPr id="4" name="Title 3">
            <a:extLst>
              <a:ext uri="{FF2B5EF4-FFF2-40B4-BE49-F238E27FC236}">
                <a16:creationId xmlns:a16="http://schemas.microsoft.com/office/drawing/2014/main" id="{FE4B2EC0-64D7-957D-0439-8999A404600D}"/>
              </a:ext>
            </a:extLst>
          </p:cNvPr>
          <p:cNvSpPr>
            <a:spLocks noGrp="1"/>
          </p:cNvSpPr>
          <p:nvPr>
            <p:ph type="title"/>
          </p:nvPr>
        </p:nvSpPr>
        <p:spPr/>
        <p:txBody>
          <a:bodyPr>
            <a:normAutofit fontScale="90000"/>
          </a:bodyPr>
          <a:lstStyle/>
          <a:p>
            <a:br>
              <a:rPr lang="en-US" b="0" dirty="0"/>
            </a:br>
            <a:r>
              <a:rPr lang="en-US" b="0" dirty="0"/>
              <a:t>Techniques in prompt engineering</a:t>
            </a:r>
            <a:br>
              <a:rPr lang="en-US" b="0" dirty="0"/>
            </a:br>
            <a:endParaRPr lang="en-US" dirty="0"/>
          </a:p>
        </p:txBody>
      </p:sp>
    </p:spTree>
    <p:extLst>
      <p:ext uri="{BB962C8B-B14F-4D97-AF65-F5344CB8AC3E}">
        <p14:creationId xmlns:p14="http://schemas.microsoft.com/office/powerpoint/2010/main" val="442035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96351C-C277-595D-280D-AC93DA53EEC4}"/>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920218C0-112D-C4E1-281E-3052658C4749}"/>
              </a:ext>
            </a:extLst>
          </p:cNvPr>
          <p:cNvSpPr>
            <a:spLocks noGrp="1"/>
          </p:cNvSpPr>
          <p:nvPr>
            <p:ph type="body" idx="2"/>
          </p:nvPr>
        </p:nvSpPr>
        <p:spPr/>
        <p:txBody>
          <a:bodyPr/>
          <a:lstStyle/>
          <a:p>
            <a:r>
              <a:rPr lang="en-US" dirty="0"/>
              <a:t>The instructions provided by application developers are put into the system prompt, while the instructions provided by users are put into the user prompt.</a:t>
            </a:r>
          </a:p>
        </p:txBody>
      </p:sp>
      <p:sp>
        <p:nvSpPr>
          <p:cNvPr id="4" name="Title 3">
            <a:extLst>
              <a:ext uri="{FF2B5EF4-FFF2-40B4-BE49-F238E27FC236}">
                <a16:creationId xmlns:a16="http://schemas.microsoft.com/office/drawing/2014/main" id="{4D54E34C-CD15-FD56-F25E-7BFAA173A16A}"/>
              </a:ext>
            </a:extLst>
          </p:cNvPr>
          <p:cNvSpPr>
            <a:spLocks noGrp="1"/>
          </p:cNvSpPr>
          <p:nvPr>
            <p:ph type="title"/>
          </p:nvPr>
        </p:nvSpPr>
        <p:spPr/>
        <p:txBody>
          <a:bodyPr/>
          <a:lstStyle/>
          <a:p>
            <a:r>
              <a:rPr lang="en-US" dirty="0"/>
              <a:t>System Prompt and User Prompt</a:t>
            </a:r>
          </a:p>
        </p:txBody>
      </p:sp>
    </p:spTree>
    <p:extLst>
      <p:ext uri="{BB962C8B-B14F-4D97-AF65-F5344CB8AC3E}">
        <p14:creationId xmlns:p14="http://schemas.microsoft.com/office/powerpoint/2010/main" val="145001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CEACB8-327C-9C60-0E4C-AC7D1489CD52}"/>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F78C8551-DFF2-D380-A4EF-310DE32FDF60}"/>
              </a:ext>
            </a:extLst>
          </p:cNvPr>
          <p:cNvSpPr>
            <a:spLocks noGrp="1"/>
          </p:cNvSpPr>
          <p:nvPr>
            <p:ph type="body" idx="2"/>
          </p:nvPr>
        </p:nvSpPr>
        <p:spPr>
          <a:xfrm>
            <a:off x="695325" y="1226065"/>
            <a:ext cx="3749926" cy="4938048"/>
          </a:xfrm>
        </p:spPr>
        <p:txBody>
          <a:bodyPr/>
          <a:lstStyle/>
          <a:p>
            <a:r>
              <a:rPr lang="en-US" dirty="0"/>
              <a:t>In the early days of engineering with LLMs, prompting was the biggest component of AI engineering work</a:t>
            </a:r>
          </a:p>
          <a:p>
            <a:endParaRPr lang="en-US" dirty="0"/>
          </a:p>
        </p:txBody>
      </p:sp>
      <p:sp>
        <p:nvSpPr>
          <p:cNvPr id="4" name="Title 3">
            <a:extLst>
              <a:ext uri="{FF2B5EF4-FFF2-40B4-BE49-F238E27FC236}">
                <a16:creationId xmlns:a16="http://schemas.microsoft.com/office/drawing/2014/main" id="{4201293A-9163-33D7-8E4E-2C782DA3C256}"/>
              </a:ext>
            </a:extLst>
          </p:cNvPr>
          <p:cNvSpPr>
            <a:spLocks noGrp="1"/>
          </p:cNvSpPr>
          <p:nvPr>
            <p:ph type="title"/>
          </p:nvPr>
        </p:nvSpPr>
        <p:spPr/>
        <p:txBody>
          <a:bodyPr>
            <a:normAutofit fontScale="90000"/>
          </a:bodyPr>
          <a:lstStyle/>
          <a:p>
            <a:br>
              <a:rPr lang="en-US" dirty="0"/>
            </a:br>
            <a:r>
              <a:rPr lang="en-US" dirty="0"/>
              <a:t>Context engineering vs. prompt engineering</a:t>
            </a:r>
            <a:br>
              <a:rPr lang="en-US" dirty="0"/>
            </a:br>
            <a:endParaRPr lang="en-US" dirty="0"/>
          </a:p>
        </p:txBody>
      </p:sp>
      <p:pic>
        <p:nvPicPr>
          <p:cNvPr id="5" name="Picture 4" descr="Prompt engineering vs. context engineering">
            <a:extLst>
              <a:ext uri="{FF2B5EF4-FFF2-40B4-BE49-F238E27FC236}">
                <a16:creationId xmlns:a16="http://schemas.microsoft.com/office/drawing/2014/main" id="{739B4863-2C07-AE6A-E88A-6E3241029521}"/>
              </a:ext>
            </a:extLst>
          </p:cNvPr>
          <p:cNvPicPr>
            <a:picLocks noChangeAspect="1"/>
          </p:cNvPicPr>
          <p:nvPr/>
        </p:nvPicPr>
        <p:blipFill>
          <a:blip r:embed="rId2"/>
          <a:stretch>
            <a:fillRect/>
          </a:stretch>
        </p:blipFill>
        <p:spPr>
          <a:xfrm>
            <a:off x="4906978" y="1321805"/>
            <a:ext cx="6092982" cy="4612741"/>
          </a:xfrm>
          <a:prstGeom prst="rect">
            <a:avLst/>
          </a:prstGeom>
        </p:spPr>
      </p:pic>
    </p:spTree>
    <p:extLst>
      <p:ext uri="{BB962C8B-B14F-4D97-AF65-F5344CB8AC3E}">
        <p14:creationId xmlns:p14="http://schemas.microsoft.com/office/powerpoint/2010/main" val="320267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2113A-838C-627C-0E65-39D59DD7E34A}"/>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67E7F386-A9BF-9033-6CD5-D0438ACD6ACA}"/>
              </a:ext>
            </a:extLst>
          </p:cNvPr>
          <p:cNvSpPr>
            <a:spLocks noGrp="1"/>
          </p:cNvSpPr>
          <p:nvPr>
            <p:ph type="body" idx="2"/>
          </p:nvPr>
        </p:nvSpPr>
        <p:spPr/>
        <p:txBody>
          <a:bodyPr>
            <a:normAutofit fontScale="92500"/>
          </a:bodyPr>
          <a:lstStyle/>
          <a:p>
            <a:r>
              <a:rPr lang="en-US" dirty="0"/>
              <a:t>Retrieval-Augmented Generation (RAG) is the process of optimizing the output of a large language model, so it references an authoritative knowledge base outside of its training data sources before generating a response.</a:t>
            </a:r>
          </a:p>
          <a:p>
            <a:r>
              <a:rPr lang="en-US" dirty="0"/>
              <a:t>How RAG Works</a:t>
            </a:r>
          </a:p>
          <a:p>
            <a:r>
              <a:rPr lang="en-US" dirty="0"/>
              <a:t>Ingestion: Documents are cut into small pieces and saved as computer codes called vectors in a database.</a:t>
            </a:r>
          </a:p>
          <a:p>
            <a:r>
              <a:rPr lang="en-US" dirty="0"/>
              <a:t>Retrieval: When you ask a question, the system searches the database for the pieces that match your meaning.</a:t>
            </a:r>
          </a:p>
          <a:p>
            <a:r>
              <a:rPr lang="en-US" dirty="0"/>
              <a:t>Augmentation: The system adds those text pieces to your question to make a new, detailed prompt.</a:t>
            </a:r>
          </a:p>
          <a:p>
            <a:r>
              <a:rPr lang="en-US" dirty="0"/>
              <a:t>Generation: The Large Language Model (LLM) reads the custom prompt and writes a correct, fact-based reply. </a:t>
            </a:r>
          </a:p>
          <a:p>
            <a:endParaRPr lang="en-US" dirty="0"/>
          </a:p>
        </p:txBody>
      </p:sp>
      <p:sp>
        <p:nvSpPr>
          <p:cNvPr id="4" name="Title 3">
            <a:extLst>
              <a:ext uri="{FF2B5EF4-FFF2-40B4-BE49-F238E27FC236}">
                <a16:creationId xmlns:a16="http://schemas.microsoft.com/office/drawing/2014/main" id="{01F877DA-EA47-BB9B-0BC9-81491D7BF3D7}"/>
              </a:ext>
            </a:extLst>
          </p:cNvPr>
          <p:cNvSpPr>
            <a:spLocks noGrp="1"/>
          </p:cNvSpPr>
          <p:nvPr>
            <p:ph type="title"/>
          </p:nvPr>
        </p:nvSpPr>
        <p:spPr/>
        <p:txBody>
          <a:bodyPr/>
          <a:lstStyle/>
          <a:p>
            <a:r>
              <a:rPr lang="en-US" dirty="0"/>
              <a:t>RAG</a:t>
            </a:r>
          </a:p>
        </p:txBody>
      </p:sp>
    </p:spTree>
    <p:extLst>
      <p:ext uri="{BB962C8B-B14F-4D97-AF65-F5344CB8AC3E}">
        <p14:creationId xmlns:p14="http://schemas.microsoft.com/office/powerpoint/2010/main" val="2478839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277C91-F2CD-47D0-D2F0-02937FC793D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AAF00939-6D0E-A49A-47AA-2AA5A6817E22}"/>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5C6FB864-F4D9-066A-A258-E7E663DAB0ED}"/>
              </a:ext>
            </a:extLst>
          </p:cNvPr>
          <p:cNvSpPr>
            <a:spLocks noGrp="1"/>
          </p:cNvSpPr>
          <p:nvPr>
            <p:ph type="title"/>
          </p:nvPr>
        </p:nvSpPr>
        <p:spPr/>
        <p:txBody>
          <a:bodyPr/>
          <a:lstStyle/>
          <a:p>
            <a:r>
              <a:rPr lang="en-US" dirty="0"/>
              <a:t>RAG</a:t>
            </a:r>
          </a:p>
        </p:txBody>
      </p:sp>
      <p:pic>
        <p:nvPicPr>
          <p:cNvPr id="6" name="Picture 5">
            <a:extLst>
              <a:ext uri="{FF2B5EF4-FFF2-40B4-BE49-F238E27FC236}">
                <a16:creationId xmlns:a16="http://schemas.microsoft.com/office/drawing/2014/main" id="{1064CACE-6BC2-CDB7-6230-665AEC619559}"/>
              </a:ext>
            </a:extLst>
          </p:cNvPr>
          <p:cNvPicPr>
            <a:picLocks noChangeAspect="1"/>
          </p:cNvPicPr>
          <p:nvPr/>
        </p:nvPicPr>
        <p:blipFill>
          <a:blip r:embed="rId2"/>
          <a:stretch>
            <a:fillRect/>
          </a:stretch>
        </p:blipFill>
        <p:spPr>
          <a:xfrm>
            <a:off x="1430448" y="1496889"/>
            <a:ext cx="7584258" cy="4396400"/>
          </a:xfrm>
          <a:prstGeom prst="rect">
            <a:avLst/>
          </a:prstGeom>
        </p:spPr>
      </p:pic>
    </p:spTree>
    <p:extLst>
      <p:ext uri="{BB962C8B-B14F-4D97-AF65-F5344CB8AC3E}">
        <p14:creationId xmlns:p14="http://schemas.microsoft.com/office/powerpoint/2010/main" val="1244683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29BAD9-5493-213A-72E6-392EBB78C0B6}"/>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BFC95C33-275D-6427-A87B-3DC0A50A83B5}"/>
              </a:ext>
            </a:extLst>
          </p:cNvPr>
          <p:cNvSpPr>
            <a:spLocks noGrp="1"/>
          </p:cNvSpPr>
          <p:nvPr>
            <p:ph type="body" idx="2"/>
          </p:nvPr>
        </p:nvSpPr>
        <p:spPr/>
        <p:txBody>
          <a:bodyPr/>
          <a:lstStyle/>
          <a:p>
            <a:pPr indent="0">
              <a:buNone/>
            </a:pPr>
            <a:r>
              <a:rPr lang="en-US" b="1" dirty="0">
                <a:solidFill>
                  <a:srgbClr val="000000"/>
                </a:solidFill>
              </a:rPr>
              <a:t>AI engineering maturity has moved through three distinct phases: prompt engineering (language), context engineering (information), and now harness engineering (environment). </a:t>
            </a:r>
            <a:endParaRPr lang="en-US" dirty="0">
              <a:solidFill>
                <a:srgbClr val="0A051D"/>
              </a:solidFill>
              <a:latin typeface="Geist (Variable)"/>
            </a:endParaRPr>
          </a:p>
          <a:p>
            <a:endParaRPr lang="en-US" dirty="0"/>
          </a:p>
        </p:txBody>
      </p:sp>
      <p:sp>
        <p:nvSpPr>
          <p:cNvPr id="4" name="Title 3">
            <a:extLst>
              <a:ext uri="{FF2B5EF4-FFF2-40B4-BE49-F238E27FC236}">
                <a16:creationId xmlns:a16="http://schemas.microsoft.com/office/drawing/2014/main" id="{2DBAD298-F767-12CD-798E-4F8B57102F5D}"/>
              </a:ext>
            </a:extLst>
          </p:cNvPr>
          <p:cNvSpPr>
            <a:spLocks noGrp="1"/>
          </p:cNvSpPr>
          <p:nvPr>
            <p:ph type="title"/>
          </p:nvPr>
        </p:nvSpPr>
        <p:spPr/>
        <p:txBody>
          <a:bodyPr/>
          <a:lstStyle/>
          <a:p>
            <a:r>
              <a:rPr lang="en-US" spc="-135" dirty="0">
                <a:solidFill>
                  <a:srgbClr val="000000"/>
                </a:solidFill>
              </a:rPr>
              <a:t>The three phases of AI engineering maturity</a:t>
            </a:r>
            <a:endParaRPr lang="en-US" dirty="0"/>
          </a:p>
        </p:txBody>
      </p:sp>
      <p:graphicFrame>
        <p:nvGraphicFramePr>
          <p:cNvPr id="5" name="Table 4">
            <a:extLst>
              <a:ext uri="{FF2B5EF4-FFF2-40B4-BE49-F238E27FC236}">
                <a16:creationId xmlns:a16="http://schemas.microsoft.com/office/drawing/2014/main" id="{9C6307FE-2C01-71BC-E01C-8C030E4118F9}"/>
              </a:ext>
            </a:extLst>
          </p:cNvPr>
          <p:cNvGraphicFramePr>
            <a:graphicFrameLocks noGrp="1"/>
          </p:cNvGraphicFramePr>
          <p:nvPr>
            <p:extLst>
              <p:ext uri="{D42A27DB-BD31-4B8C-83A1-F6EECF244321}">
                <p14:modId xmlns:p14="http://schemas.microsoft.com/office/powerpoint/2010/main" val="617383582"/>
              </p:ext>
            </p:extLst>
          </p:nvPr>
        </p:nvGraphicFramePr>
        <p:xfrm>
          <a:off x="1548143" y="2776789"/>
          <a:ext cx="9279804" cy="3103752"/>
        </p:xfrm>
        <a:graphic>
          <a:graphicData uri="http://schemas.openxmlformats.org/drawingml/2006/table">
            <a:tbl>
              <a:tblPr>
                <a:tableStyleId>{51A0E78D-CFBE-46A0-B656-1FB9B1C8EDF3}</a:tableStyleId>
              </a:tblPr>
              <a:tblGrid>
                <a:gridCol w="1546634">
                  <a:extLst>
                    <a:ext uri="{9D8B030D-6E8A-4147-A177-3AD203B41FA5}">
                      <a16:colId xmlns:a16="http://schemas.microsoft.com/office/drawing/2014/main" val="160972169"/>
                    </a:ext>
                  </a:extLst>
                </a:gridCol>
                <a:gridCol w="1546634">
                  <a:extLst>
                    <a:ext uri="{9D8B030D-6E8A-4147-A177-3AD203B41FA5}">
                      <a16:colId xmlns:a16="http://schemas.microsoft.com/office/drawing/2014/main" val="1770735369"/>
                    </a:ext>
                  </a:extLst>
                </a:gridCol>
                <a:gridCol w="1546634">
                  <a:extLst>
                    <a:ext uri="{9D8B030D-6E8A-4147-A177-3AD203B41FA5}">
                      <a16:colId xmlns:a16="http://schemas.microsoft.com/office/drawing/2014/main" val="2498486048"/>
                    </a:ext>
                  </a:extLst>
                </a:gridCol>
                <a:gridCol w="1546634">
                  <a:extLst>
                    <a:ext uri="{9D8B030D-6E8A-4147-A177-3AD203B41FA5}">
                      <a16:colId xmlns:a16="http://schemas.microsoft.com/office/drawing/2014/main" val="358943201"/>
                    </a:ext>
                  </a:extLst>
                </a:gridCol>
                <a:gridCol w="1546634">
                  <a:extLst>
                    <a:ext uri="{9D8B030D-6E8A-4147-A177-3AD203B41FA5}">
                      <a16:colId xmlns:a16="http://schemas.microsoft.com/office/drawing/2014/main" val="3287355752"/>
                    </a:ext>
                  </a:extLst>
                </a:gridCol>
                <a:gridCol w="1546634">
                  <a:extLst>
                    <a:ext uri="{9D8B030D-6E8A-4147-A177-3AD203B41FA5}">
                      <a16:colId xmlns:a16="http://schemas.microsoft.com/office/drawing/2014/main" val="697403938"/>
                    </a:ext>
                  </a:extLst>
                </a:gridCol>
              </a:tblGrid>
              <a:tr h="463853">
                <a:tc>
                  <a:txBody>
                    <a:bodyPr/>
                    <a:lstStyle/>
                    <a:p>
                      <a:pPr algn="l" fontAlgn="t">
                        <a:buNone/>
                      </a:pPr>
                      <a:r>
                        <a:rPr lang="en-US" sz="1000">
                          <a:effectLst/>
                        </a:rPr>
                        <a:t>Phase</a:t>
                      </a:r>
                      <a:endParaRPr lang="en-US" sz="1000" b="0">
                        <a:solidFill>
                          <a:srgbClr val="FFFFFF"/>
                        </a:solidFill>
                        <a:effectLst/>
                      </a:endParaRPr>
                    </a:p>
                  </a:txBody>
                  <a:tcPr marL="111004" marR="111004" marT="97128" marB="97128"/>
                </a:tc>
                <a:tc>
                  <a:txBody>
                    <a:bodyPr/>
                    <a:lstStyle/>
                    <a:p>
                      <a:pPr algn="ctr" fontAlgn="t">
                        <a:buNone/>
                      </a:pPr>
                      <a:r>
                        <a:rPr lang="en-US" sz="1000">
                          <a:effectLst/>
                        </a:rPr>
                        <a:t>Time period</a:t>
                      </a:r>
                      <a:endParaRPr lang="en-US" sz="1000" b="0">
                        <a:solidFill>
                          <a:srgbClr val="FFFFFF"/>
                        </a:solidFill>
                        <a:effectLst/>
                      </a:endParaRPr>
                    </a:p>
                  </a:txBody>
                  <a:tcPr marL="111004" marR="111004" marT="97128" marB="97128"/>
                </a:tc>
                <a:tc>
                  <a:txBody>
                    <a:bodyPr/>
                    <a:lstStyle/>
                    <a:p>
                      <a:pPr algn="ctr" fontAlgn="t">
                        <a:buNone/>
                      </a:pPr>
                      <a:r>
                        <a:rPr lang="en-US" sz="1000">
                          <a:effectLst/>
                        </a:rPr>
                        <a:t>Core Discipline</a:t>
                      </a:r>
                      <a:endParaRPr lang="en-US" sz="1000" b="0">
                        <a:solidFill>
                          <a:srgbClr val="FFFFFF"/>
                        </a:solidFill>
                        <a:effectLst/>
                      </a:endParaRPr>
                    </a:p>
                  </a:txBody>
                  <a:tcPr marL="111004" marR="111004" marT="97128" marB="97128"/>
                </a:tc>
                <a:tc>
                  <a:txBody>
                    <a:bodyPr/>
                    <a:lstStyle/>
                    <a:p>
                      <a:pPr algn="ctr" fontAlgn="t">
                        <a:buNone/>
                      </a:pPr>
                      <a:r>
                        <a:rPr lang="en-US" sz="1000">
                          <a:effectLst/>
                        </a:rPr>
                        <a:t>What It Entails</a:t>
                      </a:r>
                      <a:endParaRPr lang="en-US" sz="1000" b="0">
                        <a:solidFill>
                          <a:srgbClr val="FFFFFF"/>
                        </a:solidFill>
                        <a:effectLst/>
                      </a:endParaRPr>
                    </a:p>
                  </a:txBody>
                  <a:tcPr marL="111004" marR="111004" marT="97128" marB="97128"/>
                </a:tc>
                <a:tc>
                  <a:txBody>
                    <a:bodyPr/>
                    <a:lstStyle/>
                    <a:p>
                      <a:pPr algn="ctr" fontAlgn="t">
                        <a:buNone/>
                      </a:pPr>
                      <a:r>
                        <a:rPr lang="en-US" sz="1000">
                          <a:effectLst/>
                        </a:rPr>
                        <a:t>Software Engineering Focus</a:t>
                      </a:r>
                      <a:endParaRPr lang="en-US" sz="1000" b="0">
                        <a:solidFill>
                          <a:srgbClr val="FFFFFF"/>
                        </a:solidFill>
                        <a:effectLst/>
                      </a:endParaRPr>
                    </a:p>
                  </a:txBody>
                  <a:tcPr marL="111004" marR="111004" marT="97128" marB="97128"/>
                </a:tc>
                <a:tc>
                  <a:txBody>
                    <a:bodyPr/>
                    <a:lstStyle/>
                    <a:p>
                      <a:pPr algn="ctr" fontAlgn="t">
                        <a:buNone/>
                      </a:pPr>
                      <a:r>
                        <a:rPr lang="en-US" sz="1000">
                          <a:effectLst/>
                        </a:rPr>
                        <a:t>Primary Output</a:t>
                      </a:r>
                      <a:endParaRPr lang="en-US" sz="1000" b="0">
                        <a:solidFill>
                          <a:srgbClr val="FFFFFF"/>
                        </a:solidFill>
                        <a:effectLst/>
                      </a:endParaRPr>
                    </a:p>
                  </a:txBody>
                  <a:tcPr marL="111004" marR="111004" marT="97128" marB="97128"/>
                </a:tc>
                <a:extLst>
                  <a:ext uri="{0D108BD9-81ED-4DB2-BD59-A6C34878D82A}">
                    <a16:rowId xmlns:a16="http://schemas.microsoft.com/office/drawing/2014/main" val="2962629126"/>
                  </a:ext>
                </a:extLst>
              </a:tr>
              <a:tr h="900420">
                <a:tc>
                  <a:txBody>
                    <a:bodyPr/>
                    <a:lstStyle/>
                    <a:p>
                      <a:pPr algn="l" fontAlgn="t">
                        <a:buNone/>
                      </a:pPr>
                      <a:r>
                        <a:rPr lang="en-US" sz="1000">
                          <a:effectLst/>
                        </a:rPr>
                        <a:t>1</a:t>
                      </a:r>
                      <a:endParaRPr lang="en-US" sz="1000">
                        <a:solidFill>
                          <a:srgbClr val="111827"/>
                        </a:solidFill>
                        <a:effectLst/>
                      </a:endParaRPr>
                    </a:p>
                  </a:txBody>
                  <a:tcPr marL="111004" marR="111004" marT="97128" marB="97128"/>
                </a:tc>
                <a:tc>
                  <a:txBody>
                    <a:bodyPr/>
                    <a:lstStyle/>
                    <a:p>
                      <a:pPr algn="ctr" fontAlgn="t">
                        <a:buNone/>
                      </a:pPr>
                      <a:r>
                        <a:rPr lang="en-US" sz="1000" dirty="0">
                          <a:effectLst/>
                        </a:rPr>
                        <a:t>2022–2023</a:t>
                      </a:r>
                      <a:endParaRPr lang="en-US" sz="1000" dirty="0">
                        <a:solidFill>
                          <a:srgbClr val="111827"/>
                        </a:solidFill>
                        <a:effectLst/>
                      </a:endParaRPr>
                    </a:p>
                  </a:txBody>
                  <a:tcPr marL="111004" marR="111004" marT="97128" marB="97128"/>
                </a:tc>
                <a:tc>
                  <a:txBody>
                    <a:bodyPr/>
                    <a:lstStyle/>
                    <a:p>
                      <a:pPr algn="ctr" fontAlgn="t">
                        <a:buNone/>
                      </a:pPr>
                      <a:r>
                        <a:rPr lang="en-US" sz="1000">
                          <a:effectLst/>
                        </a:rPr>
                        <a:t>Prompt Engineering</a:t>
                      </a:r>
                      <a:endParaRPr lang="en-US" sz="1000">
                        <a:solidFill>
                          <a:srgbClr val="111827"/>
                        </a:solidFill>
                        <a:effectLst/>
                      </a:endParaRPr>
                    </a:p>
                  </a:txBody>
                  <a:tcPr marL="111004" marR="111004" marT="97128" marB="97128"/>
                </a:tc>
                <a:tc>
                  <a:txBody>
                    <a:bodyPr/>
                    <a:lstStyle/>
                    <a:p>
                      <a:pPr algn="ctr" fontAlgn="t">
                        <a:buNone/>
                      </a:pPr>
                      <a:r>
                        <a:rPr lang="en-US" sz="1000">
                          <a:effectLst/>
                        </a:rPr>
                        <a:t>How we talk to the model</a:t>
                      </a:r>
                      <a:endParaRPr lang="en-US" sz="1000">
                        <a:solidFill>
                          <a:srgbClr val="111827"/>
                        </a:solidFill>
                        <a:effectLst/>
                      </a:endParaRPr>
                    </a:p>
                  </a:txBody>
                  <a:tcPr marL="111004" marR="111004" marT="97128" marB="97128"/>
                </a:tc>
                <a:tc>
                  <a:txBody>
                    <a:bodyPr/>
                    <a:lstStyle/>
                    <a:p>
                      <a:pPr algn="ctr" fontAlgn="t">
                        <a:buNone/>
                      </a:pPr>
                      <a:r>
                        <a:rPr lang="en-US" sz="1000">
                          <a:effectLst/>
                        </a:rPr>
                        <a:t>Syntax &amp; phrasing: Refining natural language instructions to get better logic</a:t>
                      </a:r>
                      <a:endParaRPr lang="en-US" sz="1000">
                        <a:solidFill>
                          <a:srgbClr val="111827"/>
                        </a:solidFill>
                        <a:effectLst/>
                      </a:endParaRPr>
                    </a:p>
                  </a:txBody>
                  <a:tcPr marL="111004" marR="111004" marT="97128" marB="97128"/>
                </a:tc>
                <a:tc>
                  <a:txBody>
                    <a:bodyPr/>
                    <a:lstStyle/>
                    <a:p>
                      <a:pPr algn="ctr" fontAlgn="t">
                        <a:buNone/>
                      </a:pPr>
                      <a:r>
                        <a:rPr lang="en-US" sz="1000">
                          <a:effectLst/>
                        </a:rPr>
                        <a:t>Code snippets: Autocomplete and boilerplate generation</a:t>
                      </a:r>
                      <a:endParaRPr lang="en-US" sz="1000">
                        <a:solidFill>
                          <a:srgbClr val="111827"/>
                        </a:solidFill>
                        <a:effectLst/>
                      </a:endParaRPr>
                    </a:p>
                  </a:txBody>
                  <a:tcPr marL="111004" marR="111004" marT="97128" marB="97128"/>
                </a:tc>
                <a:extLst>
                  <a:ext uri="{0D108BD9-81ED-4DB2-BD59-A6C34878D82A}">
                    <a16:rowId xmlns:a16="http://schemas.microsoft.com/office/drawing/2014/main" val="2435685448"/>
                  </a:ext>
                </a:extLst>
              </a:tr>
              <a:tr h="900420">
                <a:tc>
                  <a:txBody>
                    <a:bodyPr/>
                    <a:lstStyle/>
                    <a:p>
                      <a:pPr algn="l" fontAlgn="t">
                        <a:buNone/>
                      </a:pPr>
                      <a:r>
                        <a:rPr lang="en-US" sz="1000">
                          <a:effectLst/>
                        </a:rPr>
                        <a:t>2</a:t>
                      </a:r>
                      <a:endParaRPr lang="en-US" sz="1000">
                        <a:solidFill>
                          <a:srgbClr val="111827"/>
                        </a:solidFill>
                        <a:effectLst/>
                      </a:endParaRPr>
                    </a:p>
                  </a:txBody>
                  <a:tcPr marL="111004" marR="111004" marT="97128" marB="97128"/>
                </a:tc>
                <a:tc>
                  <a:txBody>
                    <a:bodyPr/>
                    <a:lstStyle/>
                    <a:p>
                      <a:pPr algn="ctr" fontAlgn="t">
                        <a:buNone/>
                      </a:pPr>
                      <a:r>
                        <a:rPr lang="en-US" sz="1000" dirty="0">
                          <a:effectLst/>
                        </a:rPr>
                        <a:t>2024–2025</a:t>
                      </a:r>
                      <a:endParaRPr lang="en-US" sz="1000" dirty="0">
                        <a:solidFill>
                          <a:srgbClr val="111827"/>
                        </a:solidFill>
                        <a:effectLst/>
                      </a:endParaRPr>
                    </a:p>
                  </a:txBody>
                  <a:tcPr marL="111004" marR="111004" marT="97128" marB="97128"/>
                </a:tc>
                <a:tc>
                  <a:txBody>
                    <a:bodyPr/>
                    <a:lstStyle/>
                    <a:p>
                      <a:pPr algn="ctr" fontAlgn="t">
                        <a:buNone/>
                      </a:pPr>
                      <a:r>
                        <a:rPr lang="en-US" sz="1000">
                          <a:effectLst/>
                        </a:rPr>
                        <a:t>Context Engineering</a:t>
                      </a:r>
                      <a:endParaRPr lang="en-US" sz="1000">
                        <a:solidFill>
                          <a:srgbClr val="111827"/>
                        </a:solidFill>
                        <a:effectLst/>
                      </a:endParaRPr>
                    </a:p>
                  </a:txBody>
                  <a:tcPr marL="111004" marR="111004" marT="97128" marB="97128"/>
                </a:tc>
                <a:tc>
                  <a:txBody>
                    <a:bodyPr/>
                    <a:lstStyle/>
                    <a:p>
                      <a:pPr algn="ctr" fontAlgn="t">
                        <a:buNone/>
                      </a:pPr>
                      <a:r>
                        <a:rPr lang="en-US" sz="1000">
                          <a:effectLst/>
                        </a:rPr>
                        <a:t>What the model knows</a:t>
                      </a:r>
                      <a:endParaRPr lang="en-US" sz="1000">
                        <a:solidFill>
                          <a:srgbClr val="111827"/>
                        </a:solidFill>
                        <a:effectLst/>
                      </a:endParaRPr>
                    </a:p>
                  </a:txBody>
                  <a:tcPr marL="111004" marR="111004" marT="97128" marB="97128"/>
                </a:tc>
                <a:tc>
                  <a:txBody>
                    <a:bodyPr/>
                    <a:lstStyle/>
                    <a:p>
                      <a:pPr algn="ctr" fontAlgn="t">
                        <a:buNone/>
                      </a:pPr>
                      <a:r>
                        <a:rPr lang="en-US" sz="1000">
                          <a:effectLst/>
                        </a:rPr>
                        <a:t>Relevance &amp; memory: Curating the right data and rules for the model’s window</a:t>
                      </a:r>
                      <a:endParaRPr lang="en-US" sz="1000">
                        <a:solidFill>
                          <a:srgbClr val="111827"/>
                        </a:solidFill>
                        <a:effectLst/>
                      </a:endParaRPr>
                    </a:p>
                  </a:txBody>
                  <a:tcPr marL="111004" marR="111004" marT="97128" marB="97128"/>
                </a:tc>
                <a:tc>
                  <a:txBody>
                    <a:bodyPr/>
                    <a:lstStyle/>
                    <a:p>
                      <a:pPr algn="ctr" fontAlgn="t">
                        <a:buNone/>
                      </a:pPr>
                      <a:r>
                        <a:rPr lang="en-US" sz="1000" dirty="0">
                          <a:effectLst/>
                        </a:rPr>
                        <a:t>Feature logic: Context-aware file and system updates</a:t>
                      </a:r>
                      <a:endParaRPr lang="en-US" sz="1000" dirty="0">
                        <a:solidFill>
                          <a:srgbClr val="111827"/>
                        </a:solidFill>
                        <a:effectLst/>
                      </a:endParaRPr>
                    </a:p>
                  </a:txBody>
                  <a:tcPr marL="111004" marR="111004" marT="97128" marB="97128"/>
                </a:tc>
                <a:extLst>
                  <a:ext uri="{0D108BD9-81ED-4DB2-BD59-A6C34878D82A}">
                    <a16:rowId xmlns:a16="http://schemas.microsoft.com/office/drawing/2014/main" val="1115493000"/>
                  </a:ext>
                </a:extLst>
              </a:tr>
              <a:tr h="791278">
                <a:tc>
                  <a:txBody>
                    <a:bodyPr/>
                    <a:lstStyle/>
                    <a:p>
                      <a:pPr algn="l" fontAlgn="t">
                        <a:buNone/>
                      </a:pPr>
                      <a:r>
                        <a:rPr lang="en-US" sz="1000">
                          <a:effectLst/>
                        </a:rPr>
                        <a:t>3</a:t>
                      </a:r>
                      <a:endParaRPr lang="en-US" sz="1000">
                        <a:solidFill>
                          <a:srgbClr val="111827"/>
                        </a:solidFill>
                        <a:effectLst/>
                      </a:endParaRPr>
                    </a:p>
                  </a:txBody>
                  <a:tcPr marL="111004" marR="111004" marT="97128" marB="97128"/>
                </a:tc>
                <a:tc>
                  <a:txBody>
                    <a:bodyPr/>
                    <a:lstStyle/>
                    <a:p>
                      <a:pPr algn="ctr" fontAlgn="t">
                        <a:buNone/>
                      </a:pPr>
                      <a:r>
                        <a:rPr lang="en-US" sz="1000">
                          <a:effectLst/>
                        </a:rPr>
                        <a:t>2026</a:t>
                      </a:r>
                      <a:endParaRPr lang="en-US" sz="1000">
                        <a:solidFill>
                          <a:srgbClr val="111827"/>
                        </a:solidFill>
                        <a:effectLst/>
                      </a:endParaRPr>
                    </a:p>
                  </a:txBody>
                  <a:tcPr marL="111004" marR="111004" marT="97128" marB="97128"/>
                </a:tc>
                <a:tc>
                  <a:txBody>
                    <a:bodyPr/>
                    <a:lstStyle/>
                    <a:p>
                      <a:pPr algn="ctr" fontAlgn="t">
                        <a:buNone/>
                      </a:pPr>
                      <a:r>
                        <a:rPr lang="en-US" sz="1000">
                          <a:effectLst/>
                        </a:rPr>
                        <a:t>Harness Engineering</a:t>
                      </a:r>
                      <a:endParaRPr lang="en-US" sz="1000">
                        <a:solidFill>
                          <a:srgbClr val="111827"/>
                        </a:solidFill>
                        <a:effectLst/>
                      </a:endParaRPr>
                    </a:p>
                  </a:txBody>
                  <a:tcPr marL="111004" marR="111004" marT="97128" marB="97128"/>
                </a:tc>
                <a:tc>
                  <a:txBody>
                    <a:bodyPr/>
                    <a:lstStyle/>
                    <a:p>
                      <a:pPr algn="ctr" fontAlgn="t">
                        <a:buNone/>
                      </a:pPr>
                      <a:r>
                        <a:rPr lang="en-US" sz="1000">
                          <a:effectLst/>
                        </a:rPr>
                        <a:t>How the model is allowed to act and self-correct</a:t>
                      </a:r>
                      <a:endParaRPr lang="en-US" sz="1000">
                        <a:solidFill>
                          <a:srgbClr val="111827"/>
                        </a:solidFill>
                        <a:effectLst/>
                      </a:endParaRPr>
                    </a:p>
                  </a:txBody>
                  <a:tcPr marL="111004" marR="111004" marT="97128" marB="97128"/>
                </a:tc>
                <a:tc>
                  <a:txBody>
                    <a:bodyPr/>
                    <a:lstStyle/>
                    <a:p>
                      <a:pPr algn="ctr" fontAlgn="t">
                        <a:buNone/>
                      </a:pPr>
                      <a:r>
                        <a:rPr lang="en-US" sz="1000" dirty="0">
                          <a:effectLst/>
                        </a:rPr>
                        <a:t>Autonomy &amp; control: Building the feedback loops and safety rails for agents</a:t>
                      </a:r>
                      <a:endParaRPr lang="en-US" sz="1000" dirty="0">
                        <a:solidFill>
                          <a:srgbClr val="111827"/>
                        </a:solidFill>
                        <a:effectLst/>
                      </a:endParaRPr>
                    </a:p>
                  </a:txBody>
                  <a:tcPr marL="111004" marR="111004" marT="97128" marB="97128"/>
                </a:tc>
                <a:tc>
                  <a:txBody>
                    <a:bodyPr/>
                    <a:lstStyle/>
                    <a:p>
                      <a:pPr algn="ctr" fontAlgn="t">
                        <a:buNone/>
                      </a:pPr>
                      <a:r>
                        <a:rPr lang="en-US" sz="1000" dirty="0">
                          <a:effectLst/>
                        </a:rPr>
                        <a:t>Autonomous tasks: End-to-end task execution and verification</a:t>
                      </a:r>
                      <a:endParaRPr lang="en-US" sz="1000" dirty="0">
                        <a:solidFill>
                          <a:srgbClr val="111827"/>
                        </a:solidFill>
                        <a:effectLst/>
                      </a:endParaRPr>
                    </a:p>
                  </a:txBody>
                  <a:tcPr marL="111004" marR="111004" marT="97128" marB="97128"/>
                </a:tc>
                <a:extLst>
                  <a:ext uri="{0D108BD9-81ED-4DB2-BD59-A6C34878D82A}">
                    <a16:rowId xmlns:a16="http://schemas.microsoft.com/office/drawing/2014/main" val="3921968341"/>
                  </a:ext>
                </a:extLst>
              </a:tr>
            </a:tbl>
          </a:graphicData>
        </a:graphic>
      </p:graphicFrame>
    </p:spTree>
    <p:extLst>
      <p:ext uri="{BB962C8B-B14F-4D97-AF65-F5344CB8AC3E}">
        <p14:creationId xmlns:p14="http://schemas.microsoft.com/office/powerpoint/2010/main" val="2355085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E3C4B4-017E-94A4-EE8E-802748F1E5FE}"/>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7C21B68B-29AE-9768-A233-8AC5B1F5A8CE}"/>
              </a:ext>
            </a:extLst>
          </p:cNvPr>
          <p:cNvSpPr>
            <a:spLocks noGrp="1"/>
          </p:cNvSpPr>
          <p:nvPr>
            <p:ph type="body" idx="2"/>
          </p:nvPr>
        </p:nvSpPr>
        <p:spPr/>
        <p:txBody>
          <a:bodyPr>
            <a:normAutofit fontScale="92500" lnSpcReduction="20000"/>
          </a:bodyPr>
          <a:lstStyle/>
          <a:p>
            <a:r>
              <a:rPr lang="en-US" dirty="0"/>
              <a:t>Loop Engineering:</a:t>
            </a:r>
          </a:p>
          <a:p>
            <a:r>
              <a:rPr lang="en-US" dirty="0"/>
              <a:t>Loop engineering is the practice of designing automated AI systems that let agents run repeated cycles of action, testing, and adjustment on their own until a goal is met.</a:t>
            </a:r>
          </a:p>
          <a:p>
            <a:r>
              <a:rPr lang="en-US" dirty="0"/>
              <a:t>Instead of a human prompting an AI model step by step, the developer builds a loop. The agent takes an action, checks the result against the target, and fixes errors until the job is done</a:t>
            </a:r>
          </a:p>
          <a:p>
            <a:r>
              <a:rPr lang="en-US" dirty="0"/>
              <a:t>Graph Engineering</a:t>
            </a:r>
          </a:p>
          <a:p>
            <a:r>
              <a:rPr lang="en-US" i="1" dirty="0"/>
              <a:t>Graph engineering</a:t>
            </a:r>
            <a:r>
              <a:rPr lang="en-US" dirty="0"/>
              <a:t> is the practice of designing the graph an agentic system executes in: the nodes that do the work, the edges that route work between them, and the shared state that travels along those edges. A node can be an LLM call, a deterministic function, a router, a verifier, or a human approval step. An edge encodes which node runs next, either as a fixed transition or as a decision made at runtime. State is the data structure that every node reads from and writes to as work moves through the system.</a:t>
            </a:r>
          </a:p>
        </p:txBody>
      </p:sp>
      <p:sp>
        <p:nvSpPr>
          <p:cNvPr id="4" name="Title 3">
            <a:extLst>
              <a:ext uri="{FF2B5EF4-FFF2-40B4-BE49-F238E27FC236}">
                <a16:creationId xmlns:a16="http://schemas.microsoft.com/office/drawing/2014/main" id="{F7934E1C-97E2-5FBC-9CAD-6603AA772C6C}"/>
              </a:ext>
            </a:extLst>
          </p:cNvPr>
          <p:cNvSpPr>
            <a:spLocks noGrp="1"/>
          </p:cNvSpPr>
          <p:nvPr>
            <p:ph type="title"/>
          </p:nvPr>
        </p:nvSpPr>
        <p:spPr/>
        <p:txBody>
          <a:bodyPr/>
          <a:lstStyle/>
          <a:p>
            <a:r>
              <a:rPr lang="en-US" dirty="0"/>
              <a:t>Two more New Phases</a:t>
            </a:r>
          </a:p>
        </p:txBody>
      </p:sp>
    </p:spTree>
    <p:extLst>
      <p:ext uri="{BB962C8B-B14F-4D97-AF65-F5344CB8AC3E}">
        <p14:creationId xmlns:p14="http://schemas.microsoft.com/office/powerpoint/2010/main" val="4290031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4E6D33-32C3-8166-6B2A-8D9D56E5E050}"/>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7F8B16A0-F8E5-50BB-2397-F10068802C93}"/>
              </a:ext>
            </a:extLst>
          </p:cNvPr>
          <p:cNvSpPr>
            <a:spLocks noGrp="1"/>
          </p:cNvSpPr>
          <p:nvPr>
            <p:ph type="body" idx="2"/>
          </p:nvPr>
        </p:nvSpPr>
        <p:spPr/>
        <p:txBody>
          <a:bodyPr/>
          <a:lstStyle/>
          <a:p>
            <a:r>
              <a:rPr lang="en-US" dirty="0"/>
              <a:t>The center of gravity in AI keeps drifting away from the model, and each shift picked up a name.</a:t>
            </a:r>
          </a:p>
          <a:p>
            <a:pPr lvl="0"/>
            <a:r>
              <a:rPr lang="en-US" b="1" dirty="0"/>
              <a:t>Prompt engineering.</a:t>
            </a:r>
            <a:r>
              <a:rPr lang="en-US" dirty="0"/>
              <a:t> The words you send.</a:t>
            </a:r>
          </a:p>
          <a:p>
            <a:pPr lvl="0"/>
            <a:r>
              <a:rPr lang="en-US" b="1" dirty="0"/>
              <a:t>Context engineering.</a:t>
            </a:r>
            <a:r>
              <a:rPr lang="en-US" dirty="0"/>
              <a:t> Everything the model sees, not just your instructions.</a:t>
            </a:r>
          </a:p>
          <a:p>
            <a:pPr lvl="0"/>
            <a:r>
              <a:rPr lang="en-US" b="1" dirty="0"/>
              <a:t>Harness engineering.</a:t>
            </a:r>
            <a:r>
              <a:rPr lang="en-US" dirty="0"/>
              <a:t> The code around the model that runs tools, tracks state, and handles errors.</a:t>
            </a:r>
          </a:p>
          <a:p>
            <a:pPr lvl="0"/>
            <a:r>
              <a:rPr lang="en-US" b="1" dirty="0"/>
              <a:t>Loop engineering.</a:t>
            </a:r>
            <a:r>
              <a:rPr lang="en-US" dirty="0"/>
              <a:t> The autonomous cycle that drives one agent toward a goal.</a:t>
            </a:r>
          </a:p>
          <a:p>
            <a:pPr lvl="0"/>
            <a:r>
              <a:rPr lang="en-US" b="1" dirty="0"/>
              <a:t>Graph engineering.</a:t>
            </a:r>
            <a:r>
              <a:rPr lang="en-US" dirty="0"/>
              <a:t> The coordination layer across many loops, covering what runs when, in what order, and who checks whom.</a:t>
            </a:r>
          </a:p>
          <a:p>
            <a:endParaRPr lang="en-US" dirty="0"/>
          </a:p>
        </p:txBody>
      </p:sp>
      <p:sp>
        <p:nvSpPr>
          <p:cNvPr id="4" name="Title 3">
            <a:extLst>
              <a:ext uri="{FF2B5EF4-FFF2-40B4-BE49-F238E27FC236}">
                <a16:creationId xmlns:a16="http://schemas.microsoft.com/office/drawing/2014/main" id="{BFB6BF6C-C935-1F9C-3E25-EBEA251F76AD}"/>
              </a:ext>
            </a:extLst>
          </p:cNvPr>
          <p:cNvSpPr>
            <a:spLocks noGrp="1"/>
          </p:cNvSpPr>
          <p:nvPr>
            <p:ph type="title"/>
          </p:nvPr>
        </p:nvSpPr>
        <p:spPr/>
        <p:txBody>
          <a:bodyPr>
            <a:normAutofit fontScale="90000"/>
          </a:bodyPr>
          <a:lstStyle/>
          <a:p>
            <a:br>
              <a:rPr lang="en-US" dirty="0"/>
            </a:br>
            <a:r>
              <a:rPr lang="en-US" dirty="0"/>
              <a:t>Layers of AI - SDLC</a:t>
            </a:r>
            <a:br>
              <a:rPr lang="en-US" dirty="0"/>
            </a:br>
            <a:endParaRPr lang="en-US" dirty="0"/>
          </a:p>
        </p:txBody>
      </p:sp>
    </p:spTree>
    <p:extLst>
      <p:ext uri="{BB962C8B-B14F-4D97-AF65-F5344CB8AC3E}">
        <p14:creationId xmlns:p14="http://schemas.microsoft.com/office/powerpoint/2010/main" val="417541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1F8D31-21F8-45FC-CEFF-461D1B51B65A}"/>
              </a:ext>
            </a:extLst>
          </p:cNvPr>
          <p:cNvSpPr>
            <a:spLocks noGrp="1"/>
          </p:cNvSpPr>
          <p:nvPr>
            <p:ph type="body" idx="1"/>
          </p:nvPr>
        </p:nvSpPr>
        <p:spPr/>
        <p:txBody>
          <a:bodyPr/>
          <a:lstStyle/>
          <a:p>
            <a:r>
              <a:rPr lang="en-US" dirty="0"/>
              <a:t>Generated by Gemini AI</a:t>
            </a:r>
          </a:p>
        </p:txBody>
      </p:sp>
      <p:sp>
        <p:nvSpPr>
          <p:cNvPr id="3" name="Text Placeholder 2">
            <a:extLst>
              <a:ext uri="{FF2B5EF4-FFF2-40B4-BE49-F238E27FC236}">
                <a16:creationId xmlns:a16="http://schemas.microsoft.com/office/drawing/2014/main" id="{0592BC46-8A34-E23B-39EF-B9A8312FC538}"/>
              </a:ext>
            </a:extLst>
          </p:cNvPr>
          <p:cNvSpPr>
            <a:spLocks noGrp="1"/>
          </p:cNvSpPr>
          <p:nvPr>
            <p:ph type="body" idx="2"/>
          </p:nvPr>
        </p:nvSpPr>
        <p:spPr/>
        <p:txBody>
          <a:bodyPr/>
          <a:lstStyle/>
          <a:p>
            <a:endParaRPr lang="en-US" dirty="0"/>
          </a:p>
        </p:txBody>
      </p:sp>
      <p:sp>
        <p:nvSpPr>
          <p:cNvPr id="4" name="Title 3">
            <a:extLst>
              <a:ext uri="{FF2B5EF4-FFF2-40B4-BE49-F238E27FC236}">
                <a16:creationId xmlns:a16="http://schemas.microsoft.com/office/drawing/2014/main" id="{EE9A65AB-BE7B-53F2-8B73-795D36B012DD}"/>
              </a:ext>
            </a:extLst>
          </p:cNvPr>
          <p:cNvSpPr>
            <a:spLocks noGrp="1"/>
          </p:cNvSpPr>
          <p:nvPr>
            <p:ph type="title"/>
          </p:nvPr>
        </p:nvSpPr>
        <p:spPr/>
        <p:txBody>
          <a:bodyPr/>
          <a:lstStyle/>
          <a:p>
            <a:r>
              <a:rPr lang="en-US" dirty="0"/>
              <a:t>Layers of AI - SDLC</a:t>
            </a:r>
          </a:p>
        </p:txBody>
      </p:sp>
      <p:pic>
        <p:nvPicPr>
          <p:cNvPr id="6" name="Picture 5">
            <a:extLst>
              <a:ext uri="{FF2B5EF4-FFF2-40B4-BE49-F238E27FC236}">
                <a16:creationId xmlns:a16="http://schemas.microsoft.com/office/drawing/2014/main" id="{4B80AA29-203F-5EE8-644A-5E75B4C335D3}"/>
              </a:ext>
            </a:extLst>
          </p:cNvPr>
          <p:cNvPicPr>
            <a:picLocks noChangeAspect="1"/>
          </p:cNvPicPr>
          <p:nvPr/>
        </p:nvPicPr>
        <p:blipFill>
          <a:blip r:embed="rId2"/>
          <a:stretch>
            <a:fillRect/>
          </a:stretch>
        </p:blipFill>
        <p:spPr>
          <a:xfrm>
            <a:off x="1219200" y="1732547"/>
            <a:ext cx="9753600" cy="4358690"/>
          </a:xfrm>
          <a:prstGeom prst="rect">
            <a:avLst/>
          </a:prstGeom>
        </p:spPr>
      </p:pic>
    </p:spTree>
    <p:extLst>
      <p:ext uri="{BB962C8B-B14F-4D97-AF65-F5344CB8AC3E}">
        <p14:creationId xmlns:p14="http://schemas.microsoft.com/office/powerpoint/2010/main" val="2313041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5008B3-9755-AABA-F098-0BB4B8F52BF9}"/>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0B1A3E05-42AF-3E8A-AD1A-D55BE9E2DA44}"/>
              </a:ext>
            </a:extLst>
          </p:cNvPr>
          <p:cNvSpPr>
            <a:spLocks noGrp="1"/>
          </p:cNvSpPr>
          <p:nvPr>
            <p:ph type="body" idx="2"/>
          </p:nvPr>
        </p:nvSpPr>
        <p:spPr/>
        <p:txBody>
          <a:bodyPr>
            <a:normAutofit fontScale="85000" lnSpcReduction="20000"/>
          </a:bodyPr>
          <a:lstStyle/>
          <a:p>
            <a:r>
              <a:rPr lang="en-US" b="1" dirty="0"/>
              <a:t>The Three-Layer Operating Model (Spec → Harness → Loop)</a:t>
            </a:r>
          </a:p>
          <a:p>
            <a:pPr lvl="1"/>
            <a:r>
              <a:rPr lang="en-US" b="1" dirty="0"/>
              <a:t>The Spec Layer:</a:t>
            </a:r>
            <a:r>
              <a:rPr lang="en-US" dirty="0"/>
              <a:t> Precise, human-authored intent and architectural constraints.</a:t>
            </a:r>
          </a:p>
          <a:p>
            <a:pPr lvl="1"/>
            <a:r>
              <a:rPr lang="en-US" b="1" dirty="0"/>
              <a:t>The Harness Layer:</a:t>
            </a:r>
            <a:r>
              <a:rPr lang="en-US" dirty="0"/>
              <a:t> Mechanized validation (test suites, security gates).</a:t>
            </a:r>
          </a:p>
          <a:p>
            <a:pPr lvl="1"/>
            <a:r>
              <a:rPr lang="en-US" b="1" dirty="0"/>
              <a:t>The Loop Layer:</a:t>
            </a:r>
            <a:r>
              <a:rPr lang="en-US" dirty="0"/>
              <a:t> The agent-driven continuous execution loop running until convergence</a:t>
            </a:r>
          </a:p>
          <a:p>
            <a:endParaRPr lang="en-US" b="1" dirty="0"/>
          </a:p>
          <a:p>
            <a:r>
              <a:rPr lang="en-US" b="1" dirty="0"/>
              <a:t>Three Gates of Agent Autonomy</a:t>
            </a:r>
          </a:p>
          <a:p>
            <a:pPr lvl="1"/>
            <a:r>
              <a:rPr lang="en-US" b="1" dirty="0"/>
              <a:t>Human-in-the-Loop:</a:t>
            </a:r>
            <a:r>
              <a:rPr lang="en-US" dirty="0"/>
              <a:t> Active manual review of every agent PR/action (ideal for high-risk domains).</a:t>
            </a:r>
          </a:p>
          <a:p>
            <a:pPr lvl="1"/>
            <a:r>
              <a:rPr lang="en-US" b="1" dirty="0"/>
              <a:t>Human-on-the-Loop:</a:t>
            </a:r>
            <a:r>
              <a:rPr lang="en-US" dirty="0"/>
              <a:t> Agent operates continuously while humans monitor dashboards and aggregate telemetry.</a:t>
            </a:r>
          </a:p>
          <a:p>
            <a:pPr lvl="1"/>
            <a:r>
              <a:rPr lang="en-US" b="1" dirty="0"/>
              <a:t>Autonomous:</a:t>
            </a:r>
            <a:r>
              <a:rPr lang="en-US" dirty="0"/>
              <a:t> Fully independent execution within bounded constraints (ideal for routine, well-harnessed tasks)</a:t>
            </a:r>
          </a:p>
          <a:p>
            <a:pPr marL="76200" indent="0">
              <a:buNone/>
            </a:pPr>
            <a:br>
              <a:rPr lang="en-US" dirty="0"/>
            </a:br>
            <a:endParaRPr lang="en-US" dirty="0"/>
          </a:p>
        </p:txBody>
      </p:sp>
      <p:sp>
        <p:nvSpPr>
          <p:cNvPr id="4" name="Title 3">
            <a:extLst>
              <a:ext uri="{FF2B5EF4-FFF2-40B4-BE49-F238E27FC236}">
                <a16:creationId xmlns:a16="http://schemas.microsoft.com/office/drawing/2014/main" id="{F932DA1D-D1A7-D7F6-F3A1-A31FEC2A1C40}"/>
              </a:ext>
            </a:extLst>
          </p:cNvPr>
          <p:cNvSpPr>
            <a:spLocks noGrp="1"/>
          </p:cNvSpPr>
          <p:nvPr>
            <p:ph type="title"/>
          </p:nvPr>
        </p:nvSpPr>
        <p:spPr/>
        <p:txBody>
          <a:bodyPr/>
          <a:lstStyle/>
          <a:p>
            <a:r>
              <a:rPr lang="en-US" dirty="0"/>
              <a:t>Layers of AI - SDLC </a:t>
            </a:r>
          </a:p>
        </p:txBody>
      </p:sp>
    </p:spTree>
    <p:extLst>
      <p:ext uri="{BB962C8B-B14F-4D97-AF65-F5344CB8AC3E}">
        <p14:creationId xmlns:p14="http://schemas.microsoft.com/office/powerpoint/2010/main" val="223092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C9E487-BD1C-7792-633D-707F56FA7C2F}"/>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E5B75B5C-777E-35B4-DE2C-D0C0E66D7D75}"/>
              </a:ext>
            </a:extLst>
          </p:cNvPr>
          <p:cNvSpPr>
            <a:spLocks noGrp="1"/>
          </p:cNvSpPr>
          <p:nvPr>
            <p:ph type="body" idx="2"/>
          </p:nvPr>
        </p:nvSpPr>
        <p:spPr/>
        <p:txBody>
          <a:bodyPr/>
          <a:lstStyle/>
          <a:p>
            <a:r>
              <a:rPr lang="en-US" dirty="0">
                <a:hlinkClick r:id="rId2"/>
              </a:rPr>
              <a:t>https://martinfowler.com/articles/harnessengineering.html</a:t>
            </a:r>
            <a:endParaRPr lang="en-US" dirty="0"/>
          </a:p>
          <a:p>
            <a:r>
              <a:rPr lang="en-US" dirty="0">
                <a:hlinkClick r:id="rId3"/>
              </a:rPr>
              <a:t>https://outshift.cisco.com/blog/ai-ml/agentic-sdlc-new-evolution-in-software-engineering</a:t>
            </a:r>
            <a:endParaRPr lang="en-US" dirty="0"/>
          </a:p>
          <a:p>
            <a:r>
              <a:rPr lang="en-US" dirty="0">
                <a:hlinkClick r:id="rId4"/>
              </a:rPr>
              <a:t>https://www.faros.ai/blog/harness-engineering</a:t>
            </a:r>
            <a:endParaRPr lang="en-US" dirty="0"/>
          </a:p>
          <a:p>
            <a:endParaRPr lang="en-US" dirty="0"/>
          </a:p>
        </p:txBody>
      </p:sp>
      <p:sp>
        <p:nvSpPr>
          <p:cNvPr id="4" name="Title 3">
            <a:extLst>
              <a:ext uri="{FF2B5EF4-FFF2-40B4-BE49-F238E27FC236}">
                <a16:creationId xmlns:a16="http://schemas.microsoft.com/office/drawing/2014/main" id="{9BBB71B0-72B9-EFC3-EB0E-EAC3D5E5FF50}"/>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3470054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4" name="Content Placeholder 3"/>
          <p:cNvSpPr>
            <a:spLocks noGrp="1"/>
          </p:cNvSpPr>
          <p:nvPr>
            <p:ph sz="quarter" idx="10"/>
          </p:nvPr>
        </p:nvSpPr>
        <p:spPr/>
        <p:txBody>
          <a:bodyPr/>
          <a:lstStyle/>
          <a:p>
            <a:pPr algn="ctr"/>
            <a:r>
              <a:rPr lang="en-US" dirty="0"/>
              <a:t>Thank you</a:t>
            </a: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C2324A8A8974418F4287FF4BA2FD86" ma:contentTypeVersion="3" ma:contentTypeDescription="Create a new document." ma:contentTypeScope="" ma:versionID="c20ae23d9ac856c6053e676649c543ef">
  <xsd:schema xmlns:xsd="http://www.w3.org/2001/XMLSchema" xmlns:xs="http://www.w3.org/2001/XMLSchema" xmlns:p="http://schemas.microsoft.com/office/2006/metadata/properties" xmlns:ns2="3719838a-b8de-4044-bbc5-cde9575f33d8" targetNamespace="http://schemas.microsoft.com/office/2006/metadata/properties" ma:root="true" ma:fieldsID="5bcd724bed00bb7cfe4f11aa70afd346" ns2:_="">
    <xsd:import namespace="3719838a-b8de-4044-bbc5-cde9575f33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19838a-b8de-4044-bbc5-cde9575f33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640290D-920C-41FF-B5A5-C06193A6A961}"/>
</file>

<file path=customXml/itemProps2.xml><?xml version="1.0" encoding="utf-8"?>
<ds:datastoreItem xmlns:ds="http://schemas.openxmlformats.org/officeDocument/2006/customXml" ds:itemID="{23E79652-B7D2-467E-88A9-0E35527F9EBD}"/>
</file>

<file path=customXml/itemProps3.xml><?xml version="1.0" encoding="utf-8"?>
<ds:datastoreItem xmlns:ds="http://schemas.openxmlformats.org/officeDocument/2006/customXml" ds:itemID="{1E395BB7-5248-499C-AFC3-8B91109579FF}"/>
</file>

<file path=docProps/app.xml><?xml version="1.0" encoding="utf-8"?>
<Properties xmlns="http://schemas.openxmlformats.org/officeDocument/2006/extended-properties" xmlns:vt="http://schemas.openxmlformats.org/officeDocument/2006/docPropsVTypes">
  <TotalTime>2006</TotalTime>
  <Words>2281</Words>
  <Application>Microsoft Office PowerPoint</Application>
  <PresentationFormat>Widescreen</PresentationFormat>
  <Paragraphs>237</Paragraphs>
  <Slides>32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Cambria Math</vt:lpstr>
      <vt:lpstr>dmsans</vt:lpstr>
      <vt:lpstr>Geist (Variable)</vt:lpstr>
      <vt:lpstr>Google Sans Text</vt:lpstr>
      <vt:lpstr>Helvetica</vt:lpstr>
      <vt:lpstr>Open Sans</vt:lpstr>
      <vt:lpstr>Wingdings</vt:lpstr>
      <vt:lpstr>1_Office Theme</vt:lpstr>
      <vt:lpstr>AI-Augmented Software Development Life Cycle  SEZG534</vt:lpstr>
      <vt:lpstr>PowerPoint Presentation</vt:lpstr>
      <vt:lpstr>AI Agent</vt:lpstr>
      <vt:lpstr>Example</vt:lpstr>
      <vt:lpstr>Types of AI Agents</vt:lpstr>
      <vt:lpstr>Harness engineering </vt:lpstr>
      <vt:lpstr>Types</vt:lpstr>
      <vt:lpstr>Harness engineering </vt:lpstr>
      <vt:lpstr>Feedforward vs. Feedback (Guides &amp; Sensors)</vt:lpstr>
      <vt:lpstr>Execution Mechanics:</vt:lpstr>
      <vt:lpstr>Examples</vt:lpstr>
      <vt:lpstr> Where harness engineering fits in the AI SDLC </vt:lpstr>
      <vt:lpstr>Context Engineering</vt:lpstr>
      <vt:lpstr>Context Engineering</vt:lpstr>
      <vt:lpstr> Why is context engineering important? </vt:lpstr>
      <vt:lpstr> Context engineering </vt:lpstr>
      <vt:lpstr> Context engineering </vt:lpstr>
      <vt:lpstr> Context engineeringPrompt and RAG </vt:lpstr>
      <vt:lpstr>Prompt Engineering</vt:lpstr>
      <vt:lpstr>Prompt</vt:lpstr>
      <vt:lpstr> Techniques in prompt engineering </vt:lpstr>
      <vt:lpstr>System Prompt and User Prompt</vt:lpstr>
      <vt:lpstr> Context engineering vs. prompt engineering </vt:lpstr>
      <vt:lpstr>RAG</vt:lpstr>
      <vt:lpstr>RAG</vt:lpstr>
      <vt:lpstr>The three phases of AI engineering maturity</vt:lpstr>
      <vt:lpstr>Two more New Phases</vt:lpstr>
      <vt:lpstr> Layers of AI - SDLC </vt:lpstr>
      <vt:lpstr>Layers of AI - SDLC</vt:lpstr>
      <vt:lpstr>Layers of AI - SDLC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Shivam Chauhan</dc:creator>
  <cp:lastModifiedBy>AKSHAYA GANESAN .</cp:lastModifiedBy>
  <cp:revision>80</cp:revision>
  <dcterms:created xsi:type="dcterms:W3CDTF">2022-09-26T09:02:06Z</dcterms:created>
  <dcterms:modified xsi:type="dcterms:W3CDTF">2026-08-29T04:50:50Z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0x0101001EC2324A8A8974418F4287FF4BA2FD86</vt:lpwstr>
  </property>
</Properties>
</file>