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57" r:id="rId2"/>
    <p:sldId id="260" r:id="rId3"/>
    <p:sldId id="294" r:id="rId4"/>
    <p:sldId id="295" r:id="rId5"/>
    <p:sldId id="296" r:id="rId6"/>
    <p:sldId id="297" r:id="rId7"/>
    <p:sldId id="298" r:id="rId8"/>
    <p:sldId id="299" r:id="rId9"/>
    <p:sldId id="265" r:id="rId10"/>
    <p:sldId id="300" r:id="rId11"/>
    <p:sldId id="301" r:id="rId12"/>
    <p:sldId id="302" r:id="rId13"/>
    <p:sldId id="303" r:id="rId14"/>
    <p:sldId id="325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34" r:id="rId34"/>
    <p:sldId id="322" r:id="rId35"/>
    <p:sldId id="323" r:id="rId36"/>
    <p:sldId id="261" r:id="rId37"/>
    <p:sldId id="291" r:id="rId38"/>
    <p:sldId id="292" r:id="rId39"/>
    <p:sldId id="293" r:id="rId40"/>
    <p:sldId id="262" r:id="rId41"/>
    <p:sldId id="263" r:id="rId42"/>
    <p:sldId id="264" r:id="rId43"/>
    <p:sldId id="266" r:id="rId44"/>
    <p:sldId id="267" r:id="rId45"/>
    <p:sldId id="268" r:id="rId46"/>
    <p:sldId id="269" r:id="rId47"/>
    <p:sldId id="270" r:id="rId48"/>
    <p:sldId id="271" r:id="rId49"/>
    <p:sldId id="272" r:id="rId50"/>
    <p:sldId id="273" r:id="rId51"/>
    <p:sldId id="274" r:id="rId52"/>
    <p:sldId id="284" r:id="rId53"/>
    <p:sldId id="275" r:id="rId54"/>
    <p:sldId id="286" r:id="rId55"/>
    <p:sldId id="276" r:id="rId56"/>
    <p:sldId id="285" r:id="rId57"/>
    <p:sldId id="287" r:id="rId58"/>
    <p:sldId id="277" r:id="rId59"/>
    <p:sldId id="278" r:id="rId60"/>
    <p:sldId id="279" r:id="rId61"/>
    <p:sldId id="280" r:id="rId62"/>
    <p:sldId id="288" r:id="rId63"/>
    <p:sldId id="281" r:id="rId64"/>
    <p:sldId id="282" r:id="rId65"/>
    <p:sldId id="289" r:id="rId66"/>
    <p:sldId id="283" r:id="rId67"/>
    <p:sldId id="290" r:id="rId68"/>
    <p:sldId id="326" r:id="rId69"/>
    <p:sldId id="327" r:id="rId70"/>
    <p:sldId id="328" r:id="rId71"/>
    <p:sldId id="329" r:id="rId72"/>
    <p:sldId id="330" r:id="rId73"/>
    <p:sldId id="331" r:id="rId74"/>
    <p:sldId id="333" r:id="rId75"/>
    <p:sldId id="332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24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customXml" Target="../customXml/item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customXml" Target="../customXml/item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4E17E-ACDA-4D33-BCAE-677FB616DBEF}" type="datetimeFigureOut">
              <a:rPr lang="en-IN" smtClean="0"/>
              <a:pPr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C08CD-08CE-4BE9-82DB-405CF9CCA28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8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C4215B-FC5D-415C-8681-64BF76B3DC12}" type="slidenum">
              <a:rPr lang="en-US"/>
              <a:pPr/>
              <a:t>43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6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14F39A-79E0-44D3-B02D-9B2A62F9029C}" type="slidenum">
              <a:rPr lang="en-US"/>
              <a:pPr/>
              <a:t>45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51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DA84A6-40C1-4FFB-A818-9384ADA4E8CF}" type="slidenum">
              <a:rPr lang="en-US"/>
              <a:pPr/>
              <a:t>46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82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1246A6-EEE5-4AE8-8F5F-EF4C305B04FB}" type="slidenum">
              <a:rPr lang="en-US"/>
              <a:pPr/>
              <a:t>49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4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2718F3-16B6-4083-B8D4-93F7A5B1C69F}" type="slidenum">
              <a:rPr lang="en-US"/>
              <a:pPr/>
              <a:t>50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6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70C8DA-5E7E-4EFE-93AE-36B79BE19805}" type="slidenum">
              <a:rPr lang="en-US"/>
              <a:pPr/>
              <a:t>53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55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</p:spPr>
      </p:pic>
      <p:grpSp>
        <p:nvGrpSpPr>
          <p:cNvPr id="32" name="Group 31"/>
          <p:cNvGrpSpPr/>
          <p:nvPr userDrawn="1"/>
        </p:nvGrpSpPr>
        <p:grpSpPr>
          <a:xfrm>
            <a:off x="-101600" y="5257800"/>
            <a:ext cx="2946400" cy="685800"/>
            <a:chOff x="76200" y="2209800"/>
            <a:chExt cx="2209800" cy="685800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52800" y="3810000"/>
            <a:ext cx="80264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9C1E6-9A33-4660-8215-AD7CFB9E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A9E00-0706-4B0C-9543-052F6176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3FD4A-D7E4-4CFD-9684-6D45C1B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09016" y="6356351"/>
            <a:ext cx="2582984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-101600" y="5257800"/>
            <a:ext cx="29464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352800" y="5410200"/>
            <a:ext cx="80264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2800" y="3810000"/>
            <a:ext cx="80264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40E3B-903D-44FF-B76A-1A74F8CAA9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AF849AF-005D-45B2-8B61-4DDF84849F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81B6769-8356-43BB-A576-AD606E3330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753600" y="6340476"/>
            <a:ext cx="24384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12192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/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9144000" y="762000"/>
            <a:ext cx="29464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3449E-F921-4097-ACEB-2539608ECFE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B3AF7-233A-45D2-85EE-5EC3FDF5EF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D4B6A-FADE-4F8D-8A09-32D7B6587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347200" y="6313489"/>
            <a:ext cx="2844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0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3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2"/>
            <a:ext cx="2844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66040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4368800" y="6596390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4B0F8-D031-4A9E-92CA-E8B9C130C6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8829-EECA-49B6-9EB3-BCB216DDBB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03438-FC3D-42A9-8AF7-A14C2054D94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96400" y="6142575"/>
            <a:ext cx="28448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0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2"/>
            <a:ext cx="5389033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0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4419600" y="6598919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4368800" y="6596390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DD9E3-F004-45EE-BC53-8795F8E881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C770E-EF70-4FCE-A166-B9462D1C0F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FC222-269D-47E2-8242-B002730600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347200" y="6217261"/>
            <a:ext cx="2844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1"/>
            <a:ext cx="6815667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00201"/>
            <a:ext cx="4011084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4368800" y="6596390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4CF8A-883F-4144-AB15-923DF648E0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C6268-F619-48BB-933B-E115CE93C6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EFE8-733E-4AFB-BDAB-0CE5D93733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206026"/>
            <a:ext cx="2844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407025"/>
            <a:ext cx="73152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4368800" y="6596390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B6E1B0A-851E-4A0C-B89D-3CC106FF0C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24DB619-8B4A-4430-9A32-51334D35E4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986382B-03E0-49E8-ABB3-DDB7651045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347200" y="6210935"/>
            <a:ext cx="2844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4368800" y="6596390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8191500" y="2552700"/>
            <a:ext cx="5867400" cy="1524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7538720" y="2560321"/>
            <a:ext cx="5181600" cy="6095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646087" y="1015799"/>
            <a:ext cx="2193193" cy="923596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48004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9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9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67" y="274638"/>
            <a:ext cx="10286933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02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" y="116632"/>
            <a:ext cx="1271456" cy="95359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871531" y="6356351"/>
            <a:ext cx="8448939" cy="365125"/>
          </a:xfrm>
        </p:spPr>
        <p:txBody>
          <a:bodyPr/>
          <a:lstStyle/>
          <a:p>
            <a:r>
              <a:rPr lang="en-AU"/>
              <a:t>SSZG653 Software Architectures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1029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0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3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2"/>
            <a:ext cx="2844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91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08C5D9-A13E-486C-5724-938B49E6D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0" y="3810000"/>
            <a:ext cx="6172200" cy="1981200"/>
          </a:xfrm>
        </p:spPr>
        <p:txBody>
          <a:bodyPr/>
          <a:lstStyle/>
          <a:p>
            <a:r>
              <a:rPr lang="en-US" dirty="0"/>
              <a:t>SEZG651/ SSZG653 </a:t>
            </a:r>
            <a:br>
              <a:rPr lang="en-US" dirty="0"/>
            </a:br>
            <a:r>
              <a:rPr lang="en-US" dirty="0"/>
              <a:t>Software Architectures</a:t>
            </a:r>
            <a:br>
              <a:rPr lang="en-US" dirty="0"/>
            </a:br>
            <a:r>
              <a:rPr lang="en-US" sz="3200" dirty="0"/>
              <a:t>Module 4</a:t>
            </a:r>
            <a:br>
              <a:rPr lang="en-US" sz="3200" dirty="0"/>
            </a:br>
            <a:r>
              <a:rPr lang="en-US" sz="2400" dirty="0"/>
              <a:t>CS06 </a:t>
            </a:r>
            <a:r>
              <a:rPr lang="en-IN" sz="2400" dirty="0"/>
              <a:t>Documenting Software Architecture</a:t>
            </a:r>
            <a:br>
              <a:rPr lang="en-IN" sz="2400" dirty="0"/>
            </a:br>
            <a:r>
              <a:rPr lang="en-IN" sz="2400" dirty="0"/>
              <a:t>Structures and Views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B7FCC-1E1B-4ED6-A110-099AFCD6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7C6D1-3127-44AB-815C-6CD30FAB8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BFEEC9-39FE-4ED3-9492-253B21FC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Architectural Structures and Views</a:t>
            </a:r>
            <a:endParaRPr lang="en-US" sz="18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Harvinder S Jabbal</a:t>
            </a:r>
          </a:p>
          <a:p>
            <a:r>
              <a:rPr lang="en-US" dirty="0"/>
              <a:t>SSZG653 Software Architectures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90C164-BD80-4958-B5AD-15C0024F6F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18058F-E2B6-466F-9CC1-565AF74727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BFCCC-1B52-43EB-9B30-A96190E558F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</p:spTree>
    <p:extLst>
      <p:ext uri="{BB962C8B-B14F-4D97-AF65-F5344CB8AC3E}">
        <p14:creationId xmlns:p14="http://schemas.microsoft.com/office/powerpoint/2010/main" val="1614498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D57622-A680-4565-A309-F44BB4BEF78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SEZG651/ SSZG653 </a:t>
            </a:r>
          </a:p>
          <a:p>
            <a:r>
              <a:rPr lang="en-US" dirty="0"/>
              <a:t>Software Architectures</a:t>
            </a:r>
          </a:p>
          <a:p>
            <a:r>
              <a:rPr lang="en-US" dirty="0"/>
              <a:t>Module 4 -CS 06/1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F9F50-F3AD-4DF3-8321-EDBABE15863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981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E5860-D1D7-4897-A469-54BD9019C51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4673F-73E7-4FD9-8B3A-47F0164AE4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056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Structure &amp;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BFEEC9-39FE-4ED3-9492-253B21FC61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7C6D1-3127-44AB-815C-6CD30FAB8E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B7FCC-1E1B-4ED6-A110-099AFCD682B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69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A </a:t>
            </a:r>
            <a:r>
              <a:rPr lang="en-IN" sz="3200" b="1" dirty="0"/>
              <a:t>view</a:t>
            </a:r>
            <a:r>
              <a:rPr lang="en-IN" sz="3200" dirty="0"/>
              <a:t> is a representation of a coherent set of architectural elements, as written by and read by system stakeholders.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It consists of a representation of a set of elements and the relations among them.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A </a:t>
            </a:r>
            <a:r>
              <a:rPr lang="en-IN" sz="3200" b="1" dirty="0"/>
              <a:t>structure</a:t>
            </a:r>
            <a:r>
              <a:rPr lang="en-IN" sz="3200" dirty="0"/>
              <a:t> is the set of elements itself, as they exist in software or hardware.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Structure &amp; View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97967-705A-447D-AEC0-09B799C298D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1E2D98D-3C01-486A-BD10-5FB36BC3F6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</p:spTree>
    <p:extLst>
      <p:ext uri="{BB962C8B-B14F-4D97-AF65-F5344CB8AC3E}">
        <p14:creationId xmlns:p14="http://schemas.microsoft.com/office/powerpoint/2010/main" val="854979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169C84-BE55-4224-BA3C-717FF9A04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A </a:t>
            </a:r>
            <a:r>
              <a:rPr lang="en-IN" sz="3200" b="1" dirty="0"/>
              <a:t>module structure</a:t>
            </a:r>
            <a:r>
              <a:rPr lang="en-IN" sz="3200" dirty="0"/>
              <a:t> is the set of the system's modules and their organization.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A </a:t>
            </a:r>
            <a:r>
              <a:rPr lang="en-IN" sz="3200" b="1" dirty="0"/>
              <a:t>module view</a:t>
            </a:r>
            <a:r>
              <a:rPr lang="en-IN" sz="3200" dirty="0"/>
              <a:t> is the representation of that structure, as documented by and used by some system stakeholders.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These terms are often used interchangeably, but we will adhere to these definitions.</a:t>
            </a:r>
            <a:endParaRPr lang="en-US" sz="3200" dirty="0"/>
          </a:p>
          <a:p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3B9A3-6D4D-4B04-929E-A93238501A9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403A6-E852-4218-BDBE-33CEAAA5E6F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4878B-2154-4DC0-8828-A260FEF2BD7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574A9-9234-4E83-9271-6EF364ED29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781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44997F-1C4E-4365-BC3A-B3083A2D768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Architectural structures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0FFBB-98D3-4A31-9EB4-3A03DE2D2B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BA28B-69D4-47C8-B5E6-443733D8239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522A7-C005-44C8-AFE7-4D2D6FE094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19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039F60-F04E-4887-BAF5-084552729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Here the elements are modules, which are units of implementation.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Modules represent a code-based way of considering the system.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They are assigned areas of functional responsibility.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There is less emphasis on how the resulting software manifests itself at runtime.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Module structures allow us to answer questions such as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What is the primary functional responsibility assigned to each module?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What other software elements is a module allowed to use?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What other software does it actually use?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What modules are related to other modules by generalization or specialization (i.e., inheritance) relationships?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0F738-40ED-486B-B196-9AB43D15710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Module structures.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A6672-5A9C-4D7C-8D4C-131375BA0CB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0EDF2-D93E-42B4-BE2D-65A0477A587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94DB1-4257-496C-85FC-8ADA7AB61E4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292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10D945-336F-475D-86B0-F7F805790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 Here the elements are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runtime components (which are the principal units of computation) and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connectors (which are the communication vehicles among components).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Component-and-connector structures help answer questions such as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What are the major executing components and how do they interact?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What are the major shared data stores?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Which parts of the system are replicated?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How does data progress through the system?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What parts of the system can run in parallel?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How can the system's structure change as it executes?</a:t>
            </a:r>
          </a:p>
          <a:p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09FE0-DC3B-4FE1-8640-5FF7BEF50F6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Component-and-connector structures.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16CD6-6F6A-43CE-B8FF-1435708BD5A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C2420-36AB-4C20-99C7-2727B4DFD8C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FFB45-ACE5-4153-81C8-6205F9E90B3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029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509283-1C4C-450F-A244-43D98377F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Allocation structures show the relationship between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the software elements and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the elements in one or more external environments in which the software is created and executed.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They answer questions such as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What processor does each software element execute on?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In what files is each element stored during development, testing, and system building?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What is the assignment of software elements to development teams?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F913C-EC53-4A54-96FB-F4368B0DC5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Allocation structures.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A458A-ADA0-49B9-BD57-006430AB6A6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007C6-5962-4CD6-BFBA-8D416BD002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BB5F3-F179-43D4-ADA9-3BA17F0E023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702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EFAEEA-648B-495C-8640-9F1414BED4B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architectural design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EB7459-3AFA-4DB9-BF9A-550D6FCEE5A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1A996B-9D8E-4D31-82D3-D437BC8209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7CCF80-98BC-41F1-9027-B817607D4C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159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138083-027C-43AB-B9FF-E0C3E3F6E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How is the system to be structured as a set of code units (modules)?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How is the system to be structured as a set of elements that have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runtime </a:t>
            </a:r>
            <a:r>
              <a:rPr lang="en-IN" sz="2000" dirty="0" err="1"/>
              <a:t>behavior</a:t>
            </a:r>
            <a:r>
              <a:rPr lang="en-IN" sz="2000" dirty="0"/>
              <a:t> (components) and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interactions (connectors)?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How is the system to relate to </a:t>
            </a:r>
            <a:r>
              <a:rPr lang="en-IN" sz="3200" dirty="0" err="1"/>
              <a:t>nonsoftware</a:t>
            </a:r>
            <a:r>
              <a:rPr lang="en-IN" sz="3200" dirty="0"/>
              <a:t> structures in its environment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(i.e., CPUs, file systems, networks, development teams, etc.)?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4701B-6908-4D93-8F96-CF96E10028F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3 structures </a:t>
            </a:r>
          </a:p>
          <a:p>
            <a:r>
              <a:rPr lang="en-IN" b="0" dirty="0"/>
              <a:t>		3 broad decision  types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219C8-8486-454F-A297-18480F53887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87DFB-36F0-4494-A274-F838DC1D7E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B2707-A435-4DDB-96C4-3D97A58676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313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AA4998-A89B-419B-9035-F3489485912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SOFTWARE STRUCTURES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5F9CB-76F9-4138-A1E3-EF685F542C1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F4C82-7B0E-400B-9281-BD51E3B7AC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1085A-5D0B-4B47-844D-14F5F312F1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577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F536AA9-C75A-8DF1-6AC5-68DFCFC48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1981" y="1493838"/>
            <a:ext cx="8481219" cy="486251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23003-C2EA-41AB-7A9F-94C8A915DE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3 Perspectives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6682A-64D2-1852-B605-A80B1E1AB0B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27A55-EE9F-73AC-504E-B9ECB4408D1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BED61-A97A-D3E2-FBEE-B7B8C1AB170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808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5A895-6ACB-448D-BBAA-310FA707881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SOFTWARE STRUCTURES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6AA32-F6BF-4A26-ABDC-95DB02272C8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1D4E2-2520-4C38-B528-2D194B5581A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90351-3CCA-47C0-B458-DC457B7FDE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26" name="Picture 2" descr="graphics/02fig03.gif">
            <a:extLst>
              <a:ext uri="{FF2B5EF4-FFF2-40B4-BE49-F238E27FC236}">
                <a16:creationId xmlns:a16="http://schemas.microsoft.com/office/drawing/2014/main" id="{8B3A430A-7106-4DBC-87EC-E619C1B01F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692" y="1600201"/>
            <a:ext cx="8466665" cy="472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1050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29B9D2-614F-40DF-B2A1-8C00E3E5F9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Module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C5E43A-20DB-4497-9971-1080874C1FF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23AAC-A998-439E-943B-90997CDAC1F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221EC-9C4B-41DF-8BB0-703B9ED39B1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562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35E358-52EC-46CF-8F06-22B213612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units are modules related to each other by the "is a submodule of " relation, showing how larger modules are decomposed into smaller ones recursively until they are small enough to be easily understood.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Modules in this structure represent a common starting point for design, as the architect enumerates what the units of software will have to do and assigns each item to a module for subsequent (more detailed) design and eventual implementation.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Modules often have associated products (i.e., interface specifications, code, test plans, etc.).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decomposition structure provides a large part of the system's modifiability, by ensuring that likely changes fall within the purview of at most a few small modules.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is often used as the basis for the development project's organization, including the structure of the documentation, and its integration and test plans. The units in this structure often have organization-specific names.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Certain U.S. Department of </a:t>
            </a:r>
            <a:r>
              <a:rPr lang="en-IN" dirty="0" err="1"/>
              <a:t>Defense</a:t>
            </a:r>
            <a:r>
              <a:rPr lang="en-IN" dirty="0"/>
              <a:t> standards, for instance, define Computer Software Configuration Items (CSCIs) and Computer Software Components (CSCs), which are units of modular decomposition.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C7009-037F-434A-B13A-BFD459BF32A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Decomposition.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7618C-EA9E-41A2-B08F-96B4634446D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D926F-AF69-4B3C-8D0A-650D10C0DC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501E1-71AF-4B8F-B0A7-67BBE551B4E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45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39D5FA-242E-497E-BA44-893B28214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units of this important but overlooked structure are also modules, or (in circumstances where a finer grain is warranted) procedures or resources on the interfaces of modules.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units are related by the uses relation.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One unit uses another if the correctness of the first requires the presence of a correct version (as opposed to a stub) of the second.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uses structure is used to engineer systems that can be easily extended to add functionality or from which useful functional subsets can be easily extracted.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ability to easily subset a working system allows for incremental development.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42471-10E1-4720-9E8C-2AA010B504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Uses.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DE5A1-6DB2-49E3-85FF-806FE119D70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BF7FF-6C11-4F0C-8E60-121FDEFA532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095E8-240D-41CF-8A19-D60B9A2B1AE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767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70D415-0566-4DD5-945D-D5C7BEE69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When the uses relations in this structure are carefully controlled in a particular way, a system of layers emerges, in which a layer is a coherent set of related functionality.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 a strictly layered structure, layer n may only use the services of layer n - 1.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Many variations of this (and a lessening of this structural restriction) occur in practice, however.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Layers are often designed as abstractions (virtual machines) that hide implementation specifics below from the layers above, engendering portability. 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C2187-9497-48D7-A40F-911F57CA32F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Layered.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9E226-BF43-49E0-B3D6-2A684010AE2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5B32E-5417-44F6-807A-4F6FC361C5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52E36-A23B-44DF-BFFC-F4E72BB0578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766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40DDFB-256A-45AC-A53B-5D2FD3AFF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module units in this structure are called classes.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relation is "inherits-from" or "is-an-instance-of."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view supports reasoning about collections of similar </a:t>
            </a:r>
            <a:r>
              <a:rPr lang="en-IN" dirty="0" err="1"/>
              <a:t>behavior</a:t>
            </a:r>
            <a:r>
              <a:rPr lang="en-IN" dirty="0"/>
              <a:t> or capability (i.e., the classes that other classes inherit from) and parameterized differences which are captured by </a:t>
            </a:r>
            <a:r>
              <a:rPr lang="en-IN" dirty="0" err="1"/>
              <a:t>subclassing</a:t>
            </a:r>
            <a:r>
              <a:rPr lang="en-IN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class structure allows us to reason about re-use and the incremental addition of functionality.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0DFC-9135-4C7D-8D7C-7C63800725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Class, or generalization.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41BB7-4F3A-4E67-A0C0-4475E89FE03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F7C6D-A38F-4027-BEC3-236E45F9647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9B757-27D6-4D87-ABE0-9A231FCE457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250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1261DF-4DE0-477F-A2E6-C3DD963F4B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Component and Connector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CE6BC-6ECD-4F80-9F6F-935DB93315E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537482-8D91-4D35-91BB-7D01626C7E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57C23-FF7D-4822-A30E-25DB0F65823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429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A52860-392C-4875-917C-944E17A62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Like all component-and-connector structures, this one is orthogonal to the module-based structures and deals with the dynamic aspects of a running system.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units here are processes or threads that are connected with each other by communication, synchronization, and/or exclusion operations.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relation in this (and in all component-and-connector structures) is attachment, showing how the components and connectors are hooked together.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process structure is important in helping to engineer a system's execution performance and availability.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F2DF9-048B-4D34-B248-10AD113FF6C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Process, or communicating processes.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6A2F3-34DA-4B6E-A8F6-B51615E5836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DE9C3-778D-4F22-A103-A5950A27B55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838A7-21CC-4E58-B818-6EFA20645DE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730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D4F3EF-E976-405D-B457-CC8309909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component-and-connector structure allows the architect to determine opportunities for parallelism and the locations where resource contention may occur.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units are components and the connectors are "logical threads."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logical thread is a sequence of computation that can be allocated to a separate physical thread later in the design process.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concurrency structure is used early in design to identify the requirements for managing the issues associated with concurrent execution.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471B-08CA-4FA8-BA7B-8BD1429D1D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Concurrency.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BF394-15FE-4BFB-BFBB-3243BA68C95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3EE53-1FFC-410D-BC60-C4E80BA42F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C6B2A-8644-473A-9873-AA394DA81C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84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167D0E-ECFA-461E-9811-E35D33450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structure comprises components and connectors that create, store, and access persistent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the system is in fact structured around one or more shared data repositories, this structure is a good one to illuminate.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shows how data is produced and consumed by runtime software elements, and it can be used to ensure good performance and data integrity.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164AE-4A33-4539-B867-9C9AD78A5BB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Shared data, or repository.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E2AFA-E915-4691-983A-EA2D2EE7733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7F340-7864-4334-A233-41581848A39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93F29-F712-4CFD-BABB-64C0781244F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593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B88C79-4575-4ED1-B858-1289CC17A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the system is built as a group of cooperating clients and servers, this is a good component-and-connector structure to illuminate.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components are the clients and servers, and the connectors are protocols and messages they share to carry out the system's work.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is useful for separation of concerns (supporting modifiability), for physical distribution, and for load balancing (supporting runtime performance).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4235B-C836-46CF-9F17-41A1DB0FC9A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Client-server.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CF919-131D-418B-AF16-A5561B51F9F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89747-4F7D-41A9-B722-F25BD1655F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13B2B-F272-4CC5-BF82-BE5F76244BE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393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C37956-3B96-4E98-B17B-44A265DF416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Allocation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FCA2E-F379-43AB-AE67-AE969E93184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169143-5326-4B4D-98CC-ACE398A877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93EB6-4BC9-4E9A-A1CA-74BA2C96992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475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A2062D-1634-4AEF-BD43-05CF1B52A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deployment structure shows how software is assigned to hardware-processing and communication elements.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elements are software (usually a process from a component-and-connector view), hardware entities (processors), and communication pathways.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Relations are "allocated-to," showing on which physical units the software elements reside, and "migrates-to," if the allocation is dynamic.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view allows an engineer to reason about performance, data integrity, availability, and security.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is of particular interest in distributed or parallel systems.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EFA77-6DA0-47B4-BD39-25CF6E4F897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Deployment.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915E4-31A1-4522-80FA-602D85BBEDC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E0002-7314-4DB9-B977-9DA7AC08432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26B0E-7D88-4395-A605-19BB2112EE0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537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09131-756C-4961-A06C-99C0D219A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structure shows how software elements (usually modules) are mapped to the file structure(s) in the system's development, integration, or configuration control environments.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is critical for the management of development activities and build processes.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40E2D-5074-46A1-8141-65D4BE69006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Implementation.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3073F-43CA-4E41-9D24-8DBE7CAB2EF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8A8C9-18BA-406B-B1AE-6EADB69DE2D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56079-A40D-403D-ABFC-83816FB028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09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26FC47-4A42-4954-AC51-569107122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structure assigns responsibility for implementing and integrating the modules to the appropriate development teams.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Having a work assignment structure as part of the architecture makes it clear that the decision about who does the work has architectural as well as management implications.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architect will know the expertise required on each team.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Also, on large multi-sourced distributed development projects, the work assignment structure is the means for calling out units of functional commonality and assigning them to a single team, rather than having them implemented by everyone who needs them.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3D0F6-5CD2-46C5-ACB6-F5718CA97B1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Work assignment. 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FA1FF-48FD-42BC-94FF-15F369908F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9BA18-BCDA-4008-B6D4-12B59E77DF7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2BB85-81AE-4962-BF20-B3BBBD365F7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715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CE8AE78-E194-4544-9C08-6EEDDCA86F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28800" y="1372870"/>
          <a:ext cx="8229600" cy="449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113008887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53394580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49996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Software Structure</a:t>
                      </a:r>
                    </a:p>
                  </a:txBody>
                  <a:tcPr marL="38100" marR="38100" marT="38100" marB="3810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Relations</a:t>
                      </a:r>
                    </a:p>
                  </a:txBody>
                  <a:tcPr marL="38100" marR="38100" marT="38100" marB="3810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Useful for</a:t>
                      </a:r>
                    </a:p>
                  </a:txBody>
                  <a:tcPr marL="38100" marR="38100" marT="38100" marB="38100" anchor="b"/>
                </a:tc>
                <a:extLst>
                  <a:ext uri="{0D108BD9-81ED-4DB2-BD59-A6C34878D82A}">
                    <a16:rowId xmlns:a16="http://schemas.microsoft.com/office/drawing/2014/main" val="118221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Decomposition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Is a submodule of; shares secret with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Resource allocation and project structuring and planning; information hiding, encapsulation; configuration control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08040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Uses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Requires the correct presence of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Engineering subsets; engineering extensions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96815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Layered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Requires the correct presence of; uses the services of; provides abstraction to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Incremental development; implementing systems on top of "virtual machines" portability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28912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Class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Is an instance of; shares access methods of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In object-oriented design systems, producing rapid almost-alike implementations from a common template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499407359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EB905-33F1-4ACF-B12C-5259309E1A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elements and relations in each structure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7A43E-28C8-42D9-90A2-95622E3F534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401F8-2EED-46B1-9103-3880F949C5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ACE04-DCD6-4D77-B06A-6F2A5D5C05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48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CE8AE78-E194-4544-9C08-6EEDDCA86F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28800" y="1372870"/>
          <a:ext cx="8229600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113008887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53394580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49996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Software Structure</a:t>
                      </a:r>
                    </a:p>
                  </a:txBody>
                  <a:tcPr marL="38100" marR="38100" marT="38100" marB="3810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Relations</a:t>
                      </a:r>
                    </a:p>
                  </a:txBody>
                  <a:tcPr marL="38100" marR="38100" marT="38100" marB="3810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Useful for</a:t>
                      </a:r>
                    </a:p>
                  </a:txBody>
                  <a:tcPr marL="38100" marR="38100" marT="38100" marB="38100" anchor="b"/>
                </a:tc>
                <a:extLst>
                  <a:ext uri="{0D108BD9-81ED-4DB2-BD59-A6C34878D82A}">
                    <a16:rowId xmlns:a16="http://schemas.microsoft.com/office/drawing/2014/main" val="118221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Client-Server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Communicates with; depends on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Distributed operation; separation of concerns; performance analysis; load balancing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651014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Process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Runs concurrently with; may run concurrently with; excludes; precedes; etc.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Scheduling analysis; performance analysis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540369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Concurrency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Runs on the same logical thread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Identifying locations where resource contention exists, where threads may fork, join, be created or be killed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804738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Shared Data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Produces data; consumes data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Performance; data integrity; modifiability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673514706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EB905-33F1-4ACF-B12C-5259309E1A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elements and relations in each structure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7A43E-28C8-42D9-90A2-95622E3F534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401F8-2EED-46B1-9103-3880F949C5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ACE04-DCD6-4D77-B06A-6F2A5D5C05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039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CE8AE78-E194-4544-9C08-6EEDDCA86F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28800" y="1372870"/>
          <a:ext cx="822960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113008887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53394580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49996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Software Structure</a:t>
                      </a:r>
                    </a:p>
                  </a:txBody>
                  <a:tcPr marL="38100" marR="38100" marT="38100" marB="3810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Relations</a:t>
                      </a:r>
                    </a:p>
                  </a:txBody>
                  <a:tcPr marL="38100" marR="38100" marT="38100" marB="3810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Useful for</a:t>
                      </a:r>
                    </a:p>
                  </a:txBody>
                  <a:tcPr marL="38100" marR="38100" marT="38100" marB="38100" anchor="b"/>
                </a:tc>
                <a:extLst>
                  <a:ext uri="{0D108BD9-81ED-4DB2-BD59-A6C34878D82A}">
                    <a16:rowId xmlns:a16="http://schemas.microsoft.com/office/drawing/2014/main" val="118221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Deployment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Allocated to; migrates to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Performance, availability, security analysis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262498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Implementation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Stored in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Configuration control, integration, test activities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768642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Work Assignment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Assigned to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Project management, best use of expertise, management of commonality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938142051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EB905-33F1-4ACF-B12C-5259309E1A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elements and relations in each structure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7A43E-28C8-42D9-90A2-95622E3F534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401F8-2EED-46B1-9103-3880F949C5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ACE04-DCD6-4D77-B06A-6F2A5D5C05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577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4C097CD-BCE9-1696-B4C3-FAF22C637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1493838"/>
            <a:ext cx="8077200" cy="45259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E34FB-CDDA-177C-4CEC-2367F260F60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Case Study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2A4E6D-FA53-A18D-8A86-FDBB5EAF6C3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37F9C-D4C2-972F-B117-05216A346AE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DD0B1-B0F9-7CAC-5420-42E9CA1FBD8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E3058-4555-6790-7561-F3626C6B2D9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836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518C35-B5E9-42CF-9D85-2DC82EDFD6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 err="1"/>
              <a:t>Kruchten's</a:t>
            </a:r>
            <a:r>
              <a:rPr lang="en-IN" b="0" dirty="0"/>
              <a:t> four views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A987A-82EF-44C6-8668-77D679DB242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FCD9F-C4BC-435A-92DA-2AE0D82F245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FF753-9568-4034-8343-7E5EC8D82E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1310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9F3E8A-0D5D-4977-9686-47451CBB1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Logical. </a:t>
            </a:r>
          </a:p>
          <a:p>
            <a:r>
              <a:rPr lang="en-IN" dirty="0"/>
              <a:t>	The elements are "key abstractions," which are manifested in the object-oriented world as objects or object classes. This is a module view.</a:t>
            </a:r>
          </a:p>
          <a:p>
            <a:r>
              <a:rPr lang="en-IN" dirty="0"/>
              <a:t>Process. </a:t>
            </a:r>
          </a:p>
          <a:p>
            <a:r>
              <a:rPr lang="en-IN" dirty="0"/>
              <a:t>	This view addresses concurrency and distribution of functionality. It is a component-and-connector view.</a:t>
            </a:r>
          </a:p>
          <a:p>
            <a:r>
              <a:rPr lang="en-IN" dirty="0"/>
              <a:t>Development. </a:t>
            </a:r>
          </a:p>
          <a:p>
            <a:r>
              <a:rPr lang="en-IN" dirty="0"/>
              <a:t>	This view shows the organization of software modules, libraries, subsystems, and units of development. It is an allocation view, mapping software to the development environment.</a:t>
            </a:r>
          </a:p>
          <a:p>
            <a:r>
              <a:rPr lang="en-IN" dirty="0"/>
              <a:t>Physical. </a:t>
            </a:r>
          </a:p>
          <a:p>
            <a:r>
              <a:rPr lang="en-IN" dirty="0"/>
              <a:t>	This view maps other elements onto processing and communication nodes and is also an allocation view (which others call the deployment view).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5921D-2869-403A-B330-16F8ED0201A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0" dirty="0"/>
              <a:t>WHICH STRUCTURES TO CHOOSE?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5A8D4-0B56-42D1-8E88-464DDF19F71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95579-69CD-4F4F-830E-92A5646FA95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D23C6-1F50-4E2F-B606-9657AB85FD3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755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657600" y="3810000"/>
            <a:ext cx="6400800" cy="1524000"/>
          </a:xfrm>
        </p:spPr>
        <p:txBody>
          <a:bodyPr/>
          <a:lstStyle/>
          <a:p>
            <a:r>
              <a:rPr lang="en-IN" sz="3200" dirty="0"/>
              <a:t>Documenting Architecture Views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Harvinder S Jabbal</a:t>
            </a:r>
          </a:p>
          <a:p>
            <a:r>
              <a:rPr lang="en-US" dirty="0"/>
              <a:t>SSZG653 Software Architectures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90C164-BD80-4958-B5AD-15C0024F6F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18058F-E2B6-466F-9CC1-565AF74727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BFCCC-1B52-43EB-9B30-A96190E558F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</p:spTree>
    <p:extLst>
      <p:ext uri="{BB962C8B-B14F-4D97-AF65-F5344CB8AC3E}">
        <p14:creationId xmlns:p14="http://schemas.microsoft.com/office/powerpoint/2010/main" val="15789347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D57622-A680-4565-A309-F44BB4BEF78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SEZG651/ SSZG653 </a:t>
            </a:r>
          </a:p>
          <a:p>
            <a:r>
              <a:rPr lang="en-US" dirty="0"/>
              <a:t>Software Architectures</a:t>
            </a:r>
          </a:p>
          <a:p>
            <a:r>
              <a:rPr lang="en-US" dirty="0"/>
              <a:t>Module 4-CS 06/2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F9F50-F3AD-4DF3-8321-EDBABE15863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981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E5860-D1D7-4897-A469-54BD9019C51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4673F-73E7-4FD9-8B3A-47F0164AE4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095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Architecture Views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BFEEC9-39FE-4ED3-9492-253B21FC61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7C6D1-3127-44AB-815C-6CD30FAB8E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B7FCC-1E1B-4ED6-A110-099AFCD682B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8051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sz="3600" dirty="0"/>
              <a:t>Representation of a coherent set of architectural elements , as written by and read by system stakeholders.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Views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1E2D98D-3C01-486A-BD10-5FB36BC3F6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97967-705A-447D-AEC0-09B799C298D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7810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sz="3600" dirty="0"/>
              <a:t>“Documenting an architecture is a matter of documenting the relevant</a:t>
            </a:r>
            <a:r>
              <a:rPr lang="en-US" sz="3600" b="1" dirty="0"/>
              <a:t> views </a:t>
            </a:r>
            <a:r>
              <a:rPr lang="en-US" sz="3600" dirty="0"/>
              <a:t>and then adding a documentation that applies to more than one view.”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Documenting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3232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3600" dirty="0"/>
              <a:t>Problem</a:t>
            </a:r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Architecture documents do not address the concerns of all stakeholders .</a:t>
            </a:r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CA" sz="2400" dirty="0"/>
              <a:t> Deferent Stakeholders : end-user, system engineers, developers and project managers.</a:t>
            </a:r>
            <a:endParaRPr lang="en-US" sz="2400" dirty="0"/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 Architecture documents  contained complex diagrams some times they are hard to be represented on the documentation.</a:t>
            </a:r>
            <a:endParaRPr lang="en-CA" sz="2400" dirty="0"/>
          </a:p>
          <a:p>
            <a:pPr>
              <a:buFont typeface="Arial" pitchFamily="34" charset="0"/>
              <a:buChar char="•"/>
            </a:pPr>
            <a:r>
              <a:rPr lang="en-CA" sz="3600" dirty="0"/>
              <a:t>Solution</a:t>
            </a:r>
          </a:p>
          <a:p>
            <a:pPr lvl="1">
              <a:buFont typeface="Arial" pitchFamily="34" charset="0"/>
              <a:buChar char="•"/>
            </a:pPr>
            <a:r>
              <a:rPr lang="en-CA" sz="2400" dirty="0"/>
              <a:t>Using different notations for several </a:t>
            </a:r>
            <a:r>
              <a:rPr lang="en-CA" sz="2400" b="1" dirty="0"/>
              <a:t>Views</a:t>
            </a:r>
            <a:r>
              <a:rPr lang="en-CA" sz="2400" dirty="0"/>
              <a:t> each one addressing one specific set for concerns.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Solution to a Problem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6063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683718" y="1524000"/>
            <a:ext cx="8868067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IN" sz="3200" b="0" dirty="0"/>
              <a:t>4+1 Model - </a:t>
            </a:r>
            <a:r>
              <a:rPr lang="en-US" sz="3200" b="0" i="1" dirty="0"/>
              <a:t> </a:t>
            </a:r>
          </a:p>
          <a:p>
            <a:r>
              <a:rPr lang="en-US" sz="2800" b="0" i="1" dirty="0"/>
              <a:t>Philippe </a:t>
            </a:r>
            <a:r>
              <a:rPr lang="en-US" sz="2800" b="0" i="1" dirty="0" err="1"/>
              <a:t>Kruchten</a:t>
            </a:r>
            <a:r>
              <a:rPr lang="en-US" sz="2800" b="0" i="1" dirty="0"/>
              <a:t>,  </a:t>
            </a:r>
            <a:r>
              <a:rPr lang="en-US" sz="2800" b="0" dirty="0"/>
              <a:t>Rational Software Corp.</a:t>
            </a:r>
            <a:endParaRPr lang="en-US" sz="3200" b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8718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800" dirty="0"/>
              <a:t>• </a:t>
            </a:r>
            <a:r>
              <a:rPr lang="en-US" sz="2800" b="1" dirty="0"/>
              <a:t>The logical view</a:t>
            </a:r>
            <a:r>
              <a:rPr lang="en-US" sz="2800" dirty="0"/>
              <a:t>, which is the object model of the design (when an object-oriented design method is used)</a:t>
            </a:r>
            <a:endParaRPr lang="en-US" sz="2800" b="1" dirty="0"/>
          </a:p>
          <a:p>
            <a:pPr eaLnBrk="1" hangingPunct="1">
              <a:buFont typeface="Wingdings" pitchFamily="2" charset="2"/>
              <a:buNone/>
            </a:pPr>
            <a:endParaRPr lang="en-US" sz="2800" b="1" dirty="0"/>
          </a:p>
          <a:p>
            <a:pPr lvl="1">
              <a:buFont typeface="Wingdings" pitchFamily="2" charset="2"/>
              <a:buNone/>
            </a:pPr>
            <a:r>
              <a:rPr lang="en-US" sz="2800" b="1" dirty="0"/>
              <a:t>Viewer:</a:t>
            </a:r>
            <a:r>
              <a:rPr lang="en-US" sz="2800" dirty="0"/>
              <a:t> End-user</a:t>
            </a:r>
            <a:endParaRPr lang="en-US" sz="2800" b="1" dirty="0"/>
          </a:p>
          <a:p>
            <a:pPr lvl="1">
              <a:buFont typeface="Wingdings" pitchFamily="2" charset="2"/>
              <a:buNone/>
            </a:pPr>
            <a:r>
              <a:rPr lang="en-US" sz="2800" b="1" dirty="0"/>
              <a:t>considers:</a:t>
            </a:r>
            <a:r>
              <a:rPr lang="en-US" sz="2800" dirty="0"/>
              <a:t> Functional requirements- What are the services must be provided by the system to the users.</a:t>
            </a:r>
          </a:p>
          <a:p>
            <a:pPr lvl="1">
              <a:buFont typeface="Wingdings" pitchFamily="2" charset="2"/>
              <a:buNone/>
            </a:pPr>
            <a:r>
              <a:rPr lang="en-US" sz="2800" b="1" dirty="0"/>
              <a:t>Notation: </a:t>
            </a:r>
            <a:r>
              <a:rPr lang="en-US" sz="2800" dirty="0"/>
              <a:t>The </a:t>
            </a:r>
            <a:r>
              <a:rPr lang="en-US" sz="2800" dirty="0" err="1"/>
              <a:t>Booch</a:t>
            </a:r>
            <a:r>
              <a:rPr lang="en-US" sz="2800" dirty="0"/>
              <a:t> notation</a:t>
            </a:r>
            <a:r>
              <a:rPr lang="en-US" sz="2800" b="1" dirty="0"/>
              <a:t> </a:t>
            </a:r>
            <a:r>
              <a:rPr lang="en-US" sz="2800" dirty="0"/>
              <a:t>. </a:t>
            </a:r>
          </a:p>
          <a:p>
            <a:pPr lvl="1">
              <a:buFont typeface="Wingdings" pitchFamily="2" charset="2"/>
              <a:buNone/>
            </a:pPr>
            <a:r>
              <a:rPr lang="en-CA" sz="2800" b="1" dirty="0"/>
              <a:t>Tool:</a:t>
            </a:r>
            <a:r>
              <a:rPr lang="en-CA" sz="2800" dirty="0"/>
              <a:t> Rational Rose</a:t>
            </a:r>
            <a:endParaRPr lang="en-US" sz="2800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dirty="0"/>
              <a:t>Logical View </a:t>
            </a:r>
          </a:p>
        </p:txBody>
      </p:sp>
      <p:sp>
        <p:nvSpPr>
          <p:cNvPr id="9218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5A79232C-7CBC-4EAE-83F5-E47622E63DB3}" type="slidenum">
              <a:rPr lang="en-US"/>
              <a:pPr/>
              <a:t>43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FE395-012F-45CC-98F2-CA31E37CAEF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12BBF5-8FC7-4D74-9BC9-70EDBEF4285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320384660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524000" y="1396415"/>
            <a:ext cx="8839200" cy="513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IN" dirty="0"/>
              <a:t>Notation for Logical View-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6B27F6-90E1-4BE5-8133-912B3AA6043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64B365-469C-472E-A67F-AACF8315E2E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73379-2C5C-4B3C-89B6-F15526A6360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5669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739034" y="1493838"/>
            <a:ext cx="4409133" cy="4525962"/>
          </a:xfrm>
          <a:noFill/>
        </p:spPr>
      </p:pic>
      <p:sp>
        <p:nvSpPr>
          <p:cNvPr id="8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Logical view Example PABX</a:t>
            </a:r>
            <a:r>
              <a:rPr lang="en-IN" dirty="0"/>
              <a:t>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endParaRPr lang="en-US" b="1" dirty="0"/>
          </a:p>
        </p:txBody>
      </p:sp>
      <p:sp>
        <p:nvSpPr>
          <p:cNvPr id="10242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C7BFD149-7ED0-45F5-9688-10789B4340EA}" type="slidenum">
              <a:rPr lang="en-US"/>
              <a:pPr/>
              <a:t>45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BFA31E-DC46-496B-8754-047A659AA30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AE9A7-BE4F-4E1D-9670-FE8970F1C46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48380823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The process view, </a:t>
            </a:r>
            <a:r>
              <a:rPr lang="en-US" dirty="0"/>
              <a:t>which captures the concurrency and synchronization aspects of the design</a:t>
            </a:r>
            <a:r>
              <a:rPr lang="en-CA" b="1" dirty="0"/>
              <a:t>(The process decomposition).</a:t>
            </a:r>
            <a:endParaRPr lang="en-US" b="1" dirty="0"/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viewer:</a:t>
            </a:r>
            <a:r>
              <a:rPr lang="en-US" dirty="0"/>
              <a:t> Integrators</a:t>
            </a:r>
            <a:endParaRPr lang="en-US" b="1" dirty="0"/>
          </a:p>
          <a:p>
            <a:pPr>
              <a:buNone/>
            </a:pPr>
            <a:r>
              <a:rPr lang="en-US" b="1" dirty="0"/>
              <a:t>considers: </a:t>
            </a:r>
            <a:r>
              <a:rPr lang="en-US" dirty="0"/>
              <a:t>Non - functional requirements (scalability, concurrency, and performance)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style:  </a:t>
            </a:r>
            <a:r>
              <a:rPr lang="en-US" dirty="0" err="1"/>
              <a:t>Garlan</a:t>
            </a:r>
            <a:r>
              <a:rPr lang="en-US" dirty="0"/>
              <a:t> and Shaw ‘s Architecture styles.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 fontScale="97500"/>
          </a:bodyPr>
          <a:lstStyle/>
          <a:p>
            <a:pPr eaLnBrk="1" hangingPunct="1"/>
            <a:r>
              <a:rPr lang="en-US" b="1" dirty="0"/>
              <a:t>Process View</a:t>
            </a:r>
            <a:r>
              <a:rPr lang="en-US" dirty="0"/>
              <a:t> </a:t>
            </a:r>
          </a:p>
        </p:txBody>
      </p:sp>
      <p:sp>
        <p:nvSpPr>
          <p:cNvPr id="11266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01961013-2A81-4C31-AF16-F3864AD3651A}" type="slidenum">
              <a:rPr lang="en-US"/>
              <a:pPr/>
              <a:t>46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9F31E-85CD-4D14-953A-E8294CD8A20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CAD1F2-E850-43DD-BF3C-2CF566C6A55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03358032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multiple levels of abstractions.</a:t>
            </a:r>
            <a:endParaRPr lang="en-US" u="sng" dirty="0"/>
          </a:p>
          <a:p>
            <a:pPr eaLnBrk="1" hangingPunct="1"/>
            <a:r>
              <a:rPr lang="en-CA" dirty="0"/>
              <a:t>A process is a grouping of tasks that form an executable unit:</a:t>
            </a:r>
            <a:endParaRPr lang="en-US" dirty="0"/>
          </a:p>
          <a:p>
            <a:pPr lvl="1" eaLnBrk="1" hangingPunct="1"/>
            <a:r>
              <a:rPr lang="en-US" dirty="0"/>
              <a:t>Major Tasks: Architecture  relevant tasks.</a:t>
            </a:r>
            <a:endParaRPr lang="en-US" u="sng" dirty="0"/>
          </a:p>
          <a:p>
            <a:pPr lvl="1" eaLnBrk="1" hangingPunct="1"/>
            <a:r>
              <a:rPr lang="en-US" dirty="0"/>
              <a:t>Minor  or helper Tasks: (Buffering</a:t>
            </a:r>
            <a:r>
              <a:rPr lang="en-US" u="sng" dirty="0"/>
              <a:t>)</a:t>
            </a:r>
          </a:p>
          <a:p>
            <a:pPr eaLnBrk="1" hangingPunct="1"/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en-CA" b="1" dirty="0"/>
              <a:t>Process </a:t>
            </a:r>
            <a:r>
              <a:rPr lang="en-CA" sz="2800" dirty="0"/>
              <a:t>(cont.)</a:t>
            </a:r>
            <a:endParaRPr lang="en-US" sz="2800" dirty="0"/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72B9B9EC-0D6C-4039-A278-428FFF0C1DE1}" type="slidenum">
              <a:rPr lang="en-US"/>
              <a:pPr/>
              <a:t>47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62AF9F-4697-4501-B398-18E50F2E65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DC7CE-D543-4834-BB76-6ABEF534964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26072115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8"/>
          <p:cNvSpPr>
            <a:spLocks noGrp="1"/>
          </p:cNvSpPr>
          <p:nvPr>
            <p:ph sz="quarter" idx="10"/>
          </p:nvPr>
        </p:nvSpPr>
        <p:spPr>
          <a:xfrm>
            <a:off x="1828800" y="216069"/>
            <a:ext cx="6324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Notation</a:t>
            </a:r>
            <a:r>
              <a:rPr lang="en-IN" dirty="0"/>
              <a:t>-</a:t>
            </a:r>
          </a:p>
          <a:p>
            <a:r>
              <a:rPr lang="en-US" sz="2800" b="0" i="1" dirty="0"/>
              <a:t>Philippe </a:t>
            </a:r>
            <a:r>
              <a:rPr lang="en-US" sz="2800" b="0" i="1" dirty="0" err="1"/>
              <a:t>Kruchten</a:t>
            </a:r>
            <a:r>
              <a:rPr lang="en-US" sz="2800" b="0" i="1" dirty="0"/>
              <a:t>,  </a:t>
            </a:r>
            <a:r>
              <a:rPr lang="en-US" sz="2800" b="0" dirty="0"/>
              <a:t>Rational Software Corp.</a:t>
            </a: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5898" y="1752600"/>
            <a:ext cx="8905603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BFDE4F-7A46-41A0-B8CB-9A9464A97A0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01EE6-6167-444B-B96F-F76B80CCAE3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91A6D-23FB-4023-B8EB-24B7F45236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1667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693383" y="1493838"/>
            <a:ext cx="6500435" cy="4525962"/>
          </a:xfrm>
          <a:noFill/>
        </p:spPr>
      </p:pic>
      <p:sp>
        <p:nvSpPr>
          <p:cNvPr id="8" name="Rectangle 5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Process View example PABX (partial)</a:t>
            </a:r>
            <a:r>
              <a:rPr lang="en-IN" dirty="0"/>
              <a:t>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endParaRPr lang="en-US" b="1" dirty="0"/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E659DA42-8C9D-44AC-A02B-7D150B86DC8C}" type="slidenum">
              <a:rPr lang="en-US"/>
              <a:pPr/>
              <a:t>49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2BBE6-A375-4E73-8A0A-57C82F78F7E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E4201A-8345-4C8A-92B4-24282EE3F5E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082372937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The </a:t>
            </a:r>
            <a:r>
              <a:rPr lang="en-US" b="1" i="1" dirty="0"/>
              <a:t>development </a:t>
            </a:r>
            <a:r>
              <a:rPr lang="en-US" b="1" dirty="0"/>
              <a:t>view</a:t>
            </a:r>
            <a:r>
              <a:rPr lang="en-US" dirty="0"/>
              <a:t>, which describes the </a:t>
            </a:r>
            <a:r>
              <a:rPr lang="en-US" b="1" dirty="0"/>
              <a:t>static</a:t>
            </a:r>
            <a:r>
              <a:rPr lang="en-US" dirty="0"/>
              <a:t> organization of the software in its development environment.</a:t>
            </a:r>
            <a:endParaRPr lang="en-US" b="1" dirty="0"/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Viewer: </a:t>
            </a:r>
            <a:r>
              <a:rPr lang="en-US" dirty="0"/>
              <a:t>Programmers and Software Managers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considers: </a:t>
            </a:r>
            <a:r>
              <a:rPr lang="en-US" dirty="0"/>
              <a:t>software module organization. </a:t>
            </a:r>
            <a:br>
              <a:rPr lang="en-US" dirty="0"/>
            </a:br>
            <a:r>
              <a:rPr lang="en-US" dirty="0"/>
              <a:t>(Hierarchy of layers, software management, reuse, constraints of tools).</a:t>
            </a:r>
            <a:endParaRPr lang="en-CA" b="1" dirty="0"/>
          </a:p>
          <a:p>
            <a:pPr>
              <a:buNone/>
            </a:pPr>
            <a:r>
              <a:rPr lang="en-CA" b="1" dirty="0"/>
              <a:t>Notation: </a:t>
            </a:r>
            <a:r>
              <a:rPr lang="en-CA" dirty="0"/>
              <a:t>the </a:t>
            </a:r>
            <a:r>
              <a:rPr lang="en-CA" dirty="0" err="1"/>
              <a:t>Booch</a:t>
            </a:r>
            <a:r>
              <a:rPr lang="en-CA" dirty="0"/>
              <a:t> notation.</a:t>
            </a:r>
            <a:endParaRPr lang="en-CA" b="1" dirty="0"/>
          </a:p>
          <a:p>
            <a:pPr eaLnBrk="1" hangingPunct="1">
              <a:buFont typeface="Wingdings" pitchFamily="2" charset="2"/>
              <a:buNone/>
            </a:pPr>
            <a:r>
              <a:rPr lang="en-CA" b="1" dirty="0"/>
              <a:t>Style: </a:t>
            </a:r>
            <a:r>
              <a:rPr lang="en-CA" dirty="0"/>
              <a:t>layered style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Development View </a:t>
            </a:r>
            <a:endParaRPr lang="en-US" dirty="0"/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AD08D2C3-9A79-4845-BBA7-819DF7745341}" type="slidenum">
              <a:rPr lang="en-US"/>
              <a:pPr/>
              <a:t>50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18AB0B-1ADA-4723-A758-BD6123E2104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54F755-F94D-4C1A-9802-9E3EF71C2E2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12747990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680788" y="1905000"/>
            <a:ext cx="8595058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CA" sz="5400" dirty="0"/>
              <a:t>Notation for Development blueprint</a:t>
            </a:r>
            <a:r>
              <a:rPr lang="en-IN" dirty="0"/>
              <a:t>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87C14-B043-4065-904A-1B33BC84E5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E12797-2407-4891-B550-ED67A81308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41F5E-BA26-4C6D-B25D-BAB35D5DD58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3235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CA" sz="5400" dirty="0"/>
              <a:t>Development View </a:t>
            </a:r>
            <a:r>
              <a:rPr lang="en-IN" dirty="0"/>
              <a:t>– Layered Style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441037"/>
            <a:ext cx="8700154" cy="480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320609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the physical view, </a:t>
            </a:r>
            <a:r>
              <a:rPr lang="en-US" dirty="0"/>
              <a:t>which describes the mapping(s) of the software onto the hardware and reflects its distributed aspect.</a:t>
            </a:r>
            <a:endParaRPr lang="en-US" b="1" dirty="0"/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Viewer: </a:t>
            </a:r>
            <a:r>
              <a:rPr lang="en-US" dirty="0"/>
              <a:t>System Engineers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Considers: </a:t>
            </a:r>
            <a:r>
              <a:rPr lang="en-US" dirty="0"/>
              <a:t>Non-functional requirement (reliability, availability and performance). regarding to underlying hardware.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 </a:t>
            </a:r>
            <a:r>
              <a:rPr lang="en-CA" sz="2000" b="1" dirty="0"/>
              <a:t>There may be two architecture</a:t>
            </a:r>
            <a:r>
              <a:rPr lang="en-CA" sz="2000" dirty="0"/>
              <a:t>:</a:t>
            </a:r>
          </a:p>
          <a:p>
            <a:pPr lvl="1" eaLnBrk="1" hangingPunct="1"/>
            <a:r>
              <a:rPr lang="en-CA" sz="1800" dirty="0"/>
              <a:t>Test and development</a:t>
            </a:r>
          </a:p>
          <a:p>
            <a:pPr lvl="1" eaLnBrk="1" hangingPunct="1"/>
            <a:r>
              <a:rPr lang="en-CA" sz="1800" dirty="0"/>
              <a:t>deployment</a:t>
            </a:r>
            <a:endParaRPr lang="en-US" sz="1800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Physical View</a:t>
            </a:r>
            <a:r>
              <a:rPr lang="en-US" dirty="0"/>
              <a:t> </a:t>
            </a:r>
          </a:p>
        </p:txBody>
      </p:sp>
      <p:sp>
        <p:nvSpPr>
          <p:cNvPr id="15362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B32DCCB4-CD1F-4D8C-A738-4FA74F56A584}" type="slidenum">
              <a:rPr lang="en-US"/>
              <a:pPr/>
              <a:t>53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6A82C6-B913-4521-AB1C-3E8FD8C4B7D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AB8BD2-8AED-4B22-A4C1-1BD69770350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271086104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CA" dirty="0"/>
              <a:t>Notation for Physical view</a:t>
            </a:r>
            <a:r>
              <a:rPr lang="en-IN" dirty="0"/>
              <a:t>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r>
              <a:rPr lang="en-CA" dirty="0"/>
              <a:t> </a:t>
            </a:r>
            <a:endParaRPr lang="en-US" dirty="0"/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3"/>
          </p:nvPr>
        </p:nvSpPr>
        <p:spPr>
          <a:noFill/>
        </p:spPr>
        <p:txBody>
          <a:bodyPr/>
          <a:lstStyle/>
          <a:p>
            <a:fld id="{10FDDF67-7FE6-4FFC-8446-62DB00A61132}" type="slidenum">
              <a:rPr lang="en-US"/>
              <a:pPr/>
              <a:t>54</a:t>
            </a:fld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3338" y="1447801"/>
            <a:ext cx="8637463" cy="4841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61B5EE-31E6-42D5-8ECE-8DBE4CB5BA2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1BD532-86B2-4CD7-9473-A30D5600BC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60198373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10FDDF67-7FE6-4FFC-8446-62DB00A61132}" type="slidenum">
              <a:rPr lang="en-US"/>
              <a:pPr/>
              <a:t>55</a:t>
            </a:fld>
            <a:endParaRPr lang="en-US"/>
          </a:p>
        </p:txBody>
      </p:sp>
      <p:sp>
        <p:nvSpPr>
          <p:cNvPr id="19" name="Content Placeholder 11"/>
          <p:cNvSpPr>
            <a:spLocks noGrp="1"/>
          </p:cNvSpPr>
          <p:nvPr>
            <p:ph sz="quarter" idx="10"/>
          </p:nvPr>
        </p:nvSpPr>
        <p:spPr>
          <a:xfrm>
            <a:off x="1828800" y="152400"/>
            <a:ext cx="8610600" cy="1143000"/>
          </a:xfrm>
        </p:spPr>
        <p:txBody>
          <a:bodyPr>
            <a:normAutofit/>
          </a:bodyPr>
          <a:lstStyle/>
          <a:p>
            <a:r>
              <a:rPr lang="en-CA" sz="3100" dirty="0"/>
              <a:t>Physical blueprint PABX</a:t>
            </a:r>
            <a:r>
              <a:rPr lang="en-IN" sz="3100" dirty="0"/>
              <a:t>-</a:t>
            </a:r>
          </a:p>
          <a:p>
            <a:r>
              <a:rPr lang="en-US" sz="2000" b="0" i="1" dirty="0"/>
              <a:t>Philippe Kruchten,  </a:t>
            </a:r>
            <a:r>
              <a:rPr lang="en-US" sz="2000" b="0" dirty="0"/>
              <a:t>Rational Software Corp.</a:t>
            </a:r>
            <a:r>
              <a:rPr lang="en-CA" dirty="0"/>
              <a:t> </a:t>
            </a:r>
            <a:r>
              <a:rPr lang="en-CA" sz="1400" dirty="0"/>
              <a:t>(PHYSICAL AUTOMATIC BRANCH EXCHANGE)</a:t>
            </a:r>
            <a:endParaRPr lang="en-US" dirty="0"/>
          </a:p>
        </p:txBody>
      </p:sp>
      <p:pic>
        <p:nvPicPr>
          <p:cNvPr id="205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3860" y="1447801"/>
            <a:ext cx="8004182" cy="4876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37E170-49E8-4C41-82B5-298F62BC4EC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6CF852-83AE-42AD-BE07-091C83BC712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077908442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924800" y="1905001"/>
            <a:ext cx="1781424" cy="3971429"/>
          </a:xfrm>
          <a:noFill/>
        </p:spPr>
      </p:pic>
      <p:sp>
        <p:nvSpPr>
          <p:cNvPr id="8" name="Rectangle 5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Physical view example</a:t>
            </a:r>
            <a:r>
              <a:rPr lang="en-IN" dirty="0"/>
              <a:t>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r>
              <a:rPr lang="en-CA" b="1" dirty="0"/>
              <a:t> </a:t>
            </a:r>
            <a:endParaRPr lang="en-US" b="1" dirty="0"/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10FDDF67-7FE6-4FFC-8446-62DB00A61132}" type="slidenum">
              <a:rPr lang="en-US"/>
              <a:pPr/>
              <a:t>56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133600" y="58674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 small PABX physical architecture with process allocation.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DFCDB1-E66E-401A-98B3-CE9969A9456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55EAD-86E9-4191-8834-0E193E0AFEE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926528678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Physical view example</a:t>
            </a:r>
            <a:r>
              <a:rPr lang="en-IN" dirty="0"/>
              <a:t>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r>
              <a:rPr lang="en-CA" b="1" dirty="0"/>
              <a:t> </a:t>
            </a:r>
            <a:endParaRPr lang="en-US" b="1" dirty="0"/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10FDDF67-7FE6-4FFC-8446-62DB00A61132}" type="slidenum">
              <a:rPr lang="en-US"/>
              <a:pPr/>
              <a:t>57</a:t>
            </a:fld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330095"/>
            <a:ext cx="8382000" cy="521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3776E1-69D2-44AD-9A43-A919C09252E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C7F716-9D2E-4224-86C8-F7686C2DFAD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938423112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CA" b="1" dirty="0"/>
              <a:t>(</a:t>
            </a:r>
            <a:r>
              <a:rPr lang="en-CA" dirty="0"/>
              <a:t>Putting all “4 views” together)</a:t>
            </a:r>
            <a:endParaRPr 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Viewer: </a:t>
            </a:r>
            <a:r>
              <a:rPr lang="en-US" dirty="0"/>
              <a:t>All users and Evaluators.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Considers: </a:t>
            </a:r>
            <a:r>
              <a:rPr lang="en-US" dirty="0"/>
              <a:t>System consistency and validity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/>
              <a:t>Notation: </a:t>
            </a:r>
            <a:r>
              <a:rPr lang="en-US" dirty="0"/>
              <a:t>Similar to logical view</a:t>
            </a: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Scenarios</a:t>
            </a:r>
            <a:r>
              <a:rPr lang="en-US" dirty="0"/>
              <a:t> </a:t>
            </a:r>
          </a:p>
        </p:txBody>
      </p:sp>
      <p:sp>
        <p:nvSpPr>
          <p:cNvPr id="19458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80D0DBDB-0248-4E63-A82E-819D2288E850}" type="slidenum">
              <a:rPr lang="en-US"/>
              <a:pPr/>
              <a:t>58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19D400-0E24-487F-8E82-A2CD4C2BA37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12376-4A0F-4A42-85B6-3636E02476B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242803391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72171" y="2327870"/>
            <a:ext cx="7342858" cy="2857899"/>
          </a:xfrm>
          <a:noFill/>
        </p:spPr>
      </p:pic>
      <p:sp>
        <p:nvSpPr>
          <p:cNvPr id="8" name="Rectangle 5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Scenario example</a:t>
            </a:r>
            <a:r>
              <a:rPr lang="en-IN" dirty="0"/>
              <a:t>-</a:t>
            </a:r>
          </a:p>
          <a:p>
            <a:r>
              <a:rPr lang="en-US" b="0" i="1" dirty="0"/>
              <a:t>Philippe </a:t>
            </a:r>
            <a:r>
              <a:rPr lang="en-US" b="0" i="1" dirty="0" err="1"/>
              <a:t>Kruchten</a:t>
            </a:r>
            <a:r>
              <a:rPr lang="en-US" b="0" i="1" dirty="0"/>
              <a:t>,  </a:t>
            </a:r>
            <a:r>
              <a:rPr lang="en-US" b="0" dirty="0"/>
              <a:t>Rational Software Corp.</a:t>
            </a:r>
            <a:endParaRPr lang="en-US" b="1" dirty="0"/>
          </a:p>
        </p:txBody>
      </p:sp>
      <p:sp>
        <p:nvSpPr>
          <p:cNvPr id="20482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15EBDA5C-E04E-4035-A650-DCB24EC7022B}" type="slidenum">
              <a:rPr lang="en-US"/>
              <a:pPr/>
              <a:t>59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09800" y="5486400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Scenario for a Local call – selection phase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01329-0402-4068-B42A-1D14C516FC7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AAE18-4A6E-48E7-AD6E-508ACB3AC57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5108709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</a:t>
            </a:r>
            <a:r>
              <a:rPr lang="en-US" b="1" dirty="0"/>
              <a:t>views</a:t>
            </a:r>
            <a:r>
              <a:rPr lang="en-US" dirty="0"/>
              <a:t> are interconnected. </a:t>
            </a:r>
          </a:p>
          <a:p>
            <a:pPr eaLnBrk="1" hangingPunct="1"/>
            <a:r>
              <a:rPr lang="en-US" dirty="0"/>
              <a:t>Start with Logical view and Move to Development / Process view and then finally go to Physical view. </a:t>
            </a:r>
          </a:p>
          <a:p>
            <a:pPr eaLnBrk="1" hangingPunct="1"/>
            <a:endParaRPr lang="en-US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>
            <a:normAutofit fontScale="97500"/>
          </a:bodyPr>
          <a:lstStyle/>
          <a:p>
            <a:pPr eaLnBrk="1" hangingPunct="1"/>
            <a:r>
              <a:rPr lang="en-US" b="1" dirty="0"/>
              <a:t>Correspondence between  the views</a:t>
            </a:r>
            <a:r>
              <a:rPr lang="en-US" sz="4800" dirty="0"/>
              <a:t> </a:t>
            </a:r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7D42B37E-B8DD-4189-9064-0269E46F0BBF}" type="slidenum">
              <a:rPr lang="en-US"/>
              <a:pPr/>
              <a:t>60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E66293-25B8-4831-8A3F-CA9C2A6299A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5D16E3-C304-4D31-BA6B-1B6EE00D315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4158414822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dirty="0"/>
              <a:t>Two strategies :</a:t>
            </a:r>
          </a:p>
          <a:p>
            <a:pPr lvl="1" eaLnBrk="1" hangingPunct="1"/>
            <a:r>
              <a:rPr lang="en-CA" dirty="0"/>
              <a:t>Inside-out: starting from Logical structure</a:t>
            </a:r>
          </a:p>
          <a:p>
            <a:pPr lvl="1" eaLnBrk="1" hangingPunct="1"/>
            <a:r>
              <a:rPr lang="en-CA" dirty="0"/>
              <a:t>Outside-in: starting from physical structure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en-CA" b="1" dirty="0"/>
              <a:t>From logical to Process view</a:t>
            </a:r>
            <a:endParaRPr lang="en-US" b="1" dirty="0"/>
          </a:p>
        </p:txBody>
      </p:sp>
      <p:sp>
        <p:nvSpPr>
          <p:cNvPr id="23554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9AC599B6-F5BD-4AE2-B7E7-16A6E87144E5}" type="slidenum">
              <a:rPr lang="en-US"/>
              <a:pPr/>
              <a:t>61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FCE92-DB53-4AF1-8A42-37172D719A0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02090-0490-4B6B-B65C-43174868365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0338591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CA" dirty="0"/>
              <a:t>From logical to Process view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493838"/>
            <a:ext cx="7239000" cy="5063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874830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dirty="0"/>
              <a:t>They are very close, but the larger the project, the greater the distance between these views.</a:t>
            </a:r>
          </a:p>
          <a:p>
            <a:pPr eaLnBrk="1" hangingPunct="1"/>
            <a:r>
              <a:rPr lang="en-CA" dirty="0"/>
              <a:t>Grouping to subsystems depending on:</a:t>
            </a:r>
          </a:p>
          <a:p>
            <a:pPr lvl="1"/>
            <a:r>
              <a:rPr lang="en-CA" dirty="0"/>
              <a:t>The team organization.</a:t>
            </a:r>
          </a:p>
          <a:p>
            <a:pPr lvl="1" eaLnBrk="1" hangingPunct="1"/>
            <a:r>
              <a:rPr lang="en-CA" dirty="0"/>
              <a:t>The class categories which includes the packages.</a:t>
            </a:r>
          </a:p>
          <a:p>
            <a:pPr lvl="1" eaLnBrk="1" hangingPunct="1"/>
            <a:r>
              <a:rPr lang="en-CA" dirty="0"/>
              <a:t>The Line of codes.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en-CA" b="1" dirty="0"/>
              <a:t>From Logical to development</a:t>
            </a:r>
            <a:endParaRPr lang="en-US" b="1" dirty="0"/>
          </a:p>
        </p:txBody>
      </p:sp>
      <p:sp>
        <p:nvSpPr>
          <p:cNvPr id="24578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C11B27BD-9D43-42F7-8A3A-D3AF95DF1B91}" type="slidenum">
              <a:rPr lang="en-US"/>
              <a:pPr/>
              <a:t>63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B1713C-E5FE-45C4-926C-138322420E1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8BCAB-4223-4841-9753-71CBE396B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0904012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dirty="0"/>
              <a:t>Not all architectures need all views.</a:t>
            </a:r>
          </a:p>
          <a:p>
            <a:pPr eaLnBrk="1" hangingPunct="1"/>
            <a:r>
              <a:rPr lang="en-CA" dirty="0"/>
              <a:t>A scenario-driven approach to develop the system is used to handle the iterative.</a:t>
            </a:r>
          </a:p>
          <a:p>
            <a:pPr eaLnBrk="1" hangingPunct="1"/>
            <a:r>
              <a:rPr lang="en-CA" b="1" dirty="0"/>
              <a:t>Documenting the architecture:</a:t>
            </a:r>
          </a:p>
          <a:p>
            <a:pPr lvl="1" eaLnBrk="1" hangingPunct="1"/>
            <a:r>
              <a:rPr lang="en-CA" b="1" dirty="0"/>
              <a:t>Software architecture document</a:t>
            </a:r>
            <a:r>
              <a:rPr lang="en-CA" dirty="0"/>
              <a:t>: follows closely “4+1” views.</a:t>
            </a:r>
          </a:p>
          <a:p>
            <a:pPr lvl="1" eaLnBrk="1" hangingPunct="1"/>
            <a:r>
              <a:rPr lang="en-CA" b="1" dirty="0"/>
              <a:t>Software design guidelines: </a:t>
            </a:r>
            <a:r>
              <a:rPr lang="en-CA" dirty="0"/>
              <a:t>it captured the most important design decisions that must be respected to </a:t>
            </a:r>
            <a:r>
              <a:rPr lang="en-CA" b="1" dirty="0"/>
              <a:t>maintain </a:t>
            </a:r>
            <a:r>
              <a:rPr lang="en-CA" dirty="0"/>
              <a:t>the architectural </a:t>
            </a:r>
            <a:r>
              <a:rPr lang="en-CA" b="1" dirty="0"/>
              <a:t>integrity</a:t>
            </a:r>
            <a:r>
              <a:rPr lang="en-CA" dirty="0"/>
              <a:t>.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en-CA" b="1" dirty="0"/>
              <a:t> Iterative process</a:t>
            </a:r>
            <a:endParaRPr lang="en-US" b="1" dirty="0"/>
          </a:p>
        </p:txBody>
      </p:sp>
      <p:sp>
        <p:nvSpPr>
          <p:cNvPr id="25602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37B0BFBB-686A-4E74-898B-12770EAEBE68}" type="slidenum">
              <a:rPr lang="en-US"/>
              <a:pPr/>
              <a:t>64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9D8889-29CC-4749-B69B-BBB546901AE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8C5256-4776-4715-ADFA-C79AEE292EF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6205655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Software Design Document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7674" y="1493838"/>
            <a:ext cx="6092527" cy="4896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9712704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/>
              <a:t>“4+1 views” methodology successfully used in the industry</a:t>
            </a:r>
          </a:p>
          <a:p>
            <a:pPr lvl="1" eaLnBrk="1" hangingPunct="1">
              <a:lnSpc>
                <a:spcPct val="90000"/>
              </a:lnSpc>
            </a:pPr>
            <a:r>
              <a:rPr lang="en-CA" dirty="0"/>
              <a:t>Air Traffic Control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Telecom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CA" dirty="0"/>
              <a:t>This paper missing the tools to integrate  these views which lead to an inconsistency problem.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CA" dirty="0"/>
              <a:t>The inconsistency problem is more tangible in the maintenance of the architecture.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4000" dirty="0"/>
              <a:t>Annotation:</a:t>
            </a:r>
            <a:endParaRPr lang="en-US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6" name="Slide Number Placeholder 5"/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/>
          <a:p>
            <a:fld id="{DDC83390-073E-4CF1-A43C-9F1D29BCF9E5}" type="slidenum">
              <a:rPr lang="en-US"/>
              <a:pPr/>
              <a:t>66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3E4BEC-85C6-4306-A3AE-2000EBC6FE6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0EE3AC-9AF1-423C-9291-F31725B5310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931519628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0452" y="1676400"/>
            <a:ext cx="9031411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6885649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069BC20-EB8A-1822-9CCF-5E3F345A6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8690994"/>
              </p:ext>
            </p:extLst>
          </p:nvPr>
        </p:nvGraphicFramePr>
        <p:xfrm>
          <a:off x="1905000" y="2080419"/>
          <a:ext cx="8153400" cy="33528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310720039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2391105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15526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SEI Structure Category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Kruchten 4+1 View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Focus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477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Module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Logical View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Functional decomposition, classes, and layers.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851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Component &amp; Connector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Process View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Runtime behavior, throughput, and scalability.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449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Allocation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Development View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Mapping software to the file system/CM environment.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210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Allocation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Physical View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Mapping software to hardware/cloud nodes.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207931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C6772-C55F-DA7A-3DDE-FC0A5A1B119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Synthesis: Mapping SEI Structures to 4+1 Views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8C4AD-8361-3EF1-1E1B-8CCE1BB4588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33377-0711-36EC-6BE3-3FC7978A1E9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84C44-91A4-EA00-3B6E-275AF2455A4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F330F-7235-FADF-DF03-E352DC7461E9}"/>
              </a:ext>
            </a:extLst>
          </p:cNvPr>
          <p:cNvSpPr txBox="1"/>
          <p:nvPr/>
        </p:nvSpPr>
        <p:spPr>
          <a:xfrm>
            <a:off x="1828800" y="1447801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Content:</a:t>
            </a:r>
            <a:r>
              <a:rPr lang="en-US" dirty="0"/>
              <a:t> While the terminology differs, the underlying architectural intent is the same. Understanding this mapping prevents "documentation silo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FEC8B-A92C-73A8-8EAA-9CFA4CDA2C6E}"/>
              </a:ext>
            </a:extLst>
          </p:cNvPr>
          <p:cNvSpPr txBox="1"/>
          <p:nvPr/>
        </p:nvSpPr>
        <p:spPr>
          <a:xfrm>
            <a:off x="1905000" y="5791201"/>
            <a:ext cx="739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takeaway:</a:t>
            </a:r>
            <a:r>
              <a:rPr lang="en-US" dirty="0"/>
              <a:t> Use SEI definitions for </a:t>
            </a:r>
            <a:r>
              <a:rPr lang="en-US" i="1" dirty="0"/>
              <a:t>what</a:t>
            </a:r>
            <a:r>
              <a:rPr lang="en-US" dirty="0"/>
              <a:t> to document, and 4+1 for </a:t>
            </a:r>
            <a:r>
              <a:rPr lang="en-US" i="1" dirty="0"/>
              <a:t>who</a:t>
            </a:r>
            <a:r>
              <a:rPr lang="en-US" dirty="0"/>
              <a:t> (stakeholders) you are documenting for.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63299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2DACD3-FBDC-A4A2-5835-9AB800CC7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Logical View: Beyond Booch to UML 2.5 </a:t>
            </a:r>
            <a:r>
              <a:rPr lang="en-US" b="1" dirty="0"/>
              <a:t>Content:</a:t>
            </a:r>
            <a:endParaRPr lang="en-US" dirty="0"/>
          </a:p>
          <a:p>
            <a:r>
              <a:rPr lang="en-US" b="1" dirty="0"/>
              <a:t>The Shift:</a:t>
            </a:r>
            <a:r>
              <a:rPr lang="en-US" dirty="0"/>
              <a:t> While the original 4+1 papers used Booch notation, modern architecture uses </a:t>
            </a:r>
            <a:r>
              <a:rPr lang="en-US" b="1" dirty="0"/>
              <a:t>UML (Unified Modeling Language)</a:t>
            </a:r>
            <a:r>
              <a:rPr lang="en-US" dirty="0"/>
              <a:t>.</a:t>
            </a:r>
          </a:p>
          <a:p>
            <a:r>
              <a:rPr lang="en-US" b="1" dirty="0"/>
              <a:t>Key Diagrams to Include:</a:t>
            </a:r>
            <a:endParaRPr lang="en-US" dirty="0"/>
          </a:p>
          <a:p>
            <a:pPr lvl="1"/>
            <a:r>
              <a:rPr lang="en-US" b="1" dirty="0"/>
              <a:t>Class Diagrams:</a:t>
            </a:r>
            <a:r>
              <a:rPr lang="en-US" dirty="0"/>
              <a:t> To show static relationships and "is-a" hierarchies.</a:t>
            </a:r>
          </a:p>
          <a:p>
            <a:pPr lvl="1"/>
            <a:r>
              <a:rPr lang="en-US" b="1" dirty="0"/>
              <a:t>Package Diagrams:</a:t>
            </a:r>
            <a:r>
              <a:rPr lang="en-US" dirty="0"/>
              <a:t> To show high-level module grouping and encapsulation.</a:t>
            </a:r>
          </a:p>
          <a:p>
            <a:r>
              <a:rPr lang="en-US" b="1" dirty="0"/>
              <a:t>Modern Context:</a:t>
            </a:r>
            <a:r>
              <a:rPr lang="en-US" dirty="0"/>
              <a:t> In a Microservices world, the Logical View defines the </a:t>
            </a:r>
            <a:r>
              <a:rPr lang="en-US" b="1" dirty="0"/>
              <a:t>Service API contracts</a:t>
            </a:r>
            <a:r>
              <a:rPr lang="en-US" dirty="0"/>
              <a:t> and domain boundaries (Bounded Contexts).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D1652-55C4-BF3D-40D9-139D5199B1B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Modernizing the Logical 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3BF8F-4159-BE22-D2F9-DDB568A2332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8DA38-8E0C-9483-052F-1304CBBCA3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3B9C4-94B1-1C87-145E-AF3E6389812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3463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9C16DA-C39B-0E05-3164-0AE38E2DE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View: Concurrency in the Cloud Era </a:t>
            </a:r>
            <a:r>
              <a:rPr lang="en-US" b="1" dirty="0"/>
              <a:t>Content:</a:t>
            </a:r>
            <a:endParaRPr lang="en-US" dirty="0"/>
          </a:p>
          <a:p>
            <a:r>
              <a:rPr lang="en-US" b="1" dirty="0"/>
              <a:t>From PABX to Microservices:</a:t>
            </a:r>
            <a:r>
              <a:rPr lang="en-US" dirty="0"/>
              <a:t> Modern components are often independent containers (Docker) or Serverless functions (Lambda).</a:t>
            </a:r>
          </a:p>
          <a:p>
            <a:r>
              <a:rPr lang="en-US" b="1" dirty="0"/>
              <a:t>Dynamic Behavior:</a:t>
            </a:r>
            <a:r>
              <a:rPr lang="en-US" dirty="0"/>
              <a:t> * </a:t>
            </a:r>
            <a:r>
              <a:rPr lang="en-US" b="1" dirty="0"/>
              <a:t>Sequence Diagrams:</a:t>
            </a:r>
            <a:r>
              <a:rPr lang="en-US" dirty="0"/>
              <a:t> Essential for showing how components exchange messages over time.</a:t>
            </a:r>
          </a:p>
          <a:p>
            <a:pPr lvl="1"/>
            <a:r>
              <a:rPr lang="en-US" b="1" dirty="0"/>
              <a:t>Activity Diagrams:</a:t>
            </a:r>
            <a:r>
              <a:rPr lang="en-US" dirty="0"/>
              <a:t> To model complex business workflows and parallel processing.</a:t>
            </a:r>
          </a:p>
          <a:p>
            <a:r>
              <a:rPr lang="en-US" b="1" dirty="0"/>
              <a:t>Concerns:</a:t>
            </a:r>
            <a:r>
              <a:rPr lang="en-US" dirty="0"/>
              <a:t> Focus on latency, deadlocks, and "Eventual Consistency" in distributed systems.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73B0C-7D2A-7626-771A-4801590B798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Evolution of the Process View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AA290-9791-8D57-EAAC-5A5B960F5D2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8E193-6E9B-7254-F445-C5FCD603018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4DC9-A1B2-B1DE-FB59-B35D68E670D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281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05080A-248F-1FD7-F61F-C9B7B7F07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Development View: The "Build" Environment </a:t>
            </a:r>
            <a:r>
              <a:rPr lang="en-US" b="1" dirty="0"/>
              <a:t>Content:</a:t>
            </a:r>
            <a:endParaRPr lang="en-US" dirty="0"/>
          </a:p>
          <a:p>
            <a:r>
              <a:rPr lang="en-US" b="1" dirty="0"/>
              <a:t>Scope:</a:t>
            </a:r>
            <a:r>
              <a:rPr lang="en-US" dirty="0"/>
              <a:t> This view must now account for </a:t>
            </a:r>
            <a:r>
              <a:rPr lang="en-US" b="1" dirty="0"/>
              <a:t>DevOps</a:t>
            </a:r>
            <a:r>
              <a:rPr lang="en-US" dirty="0"/>
              <a:t> and </a:t>
            </a:r>
            <a:r>
              <a:rPr lang="en-US" b="1" dirty="0"/>
              <a:t>CI/CD</a:t>
            </a:r>
            <a:r>
              <a:rPr lang="en-US" dirty="0"/>
              <a:t> pipelines.</a:t>
            </a:r>
          </a:p>
          <a:p>
            <a:r>
              <a:rPr lang="en-US" b="1" dirty="0"/>
              <a:t>Key Elements:</a:t>
            </a:r>
            <a:endParaRPr lang="en-US" dirty="0"/>
          </a:p>
          <a:p>
            <a:pPr lvl="1"/>
            <a:r>
              <a:rPr lang="en-US" b="1" dirty="0"/>
              <a:t>Repository Structure:</a:t>
            </a:r>
            <a:r>
              <a:rPr lang="en-US" dirty="0"/>
              <a:t> </a:t>
            </a:r>
            <a:r>
              <a:rPr lang="en-US" dirty="0" err="1"/>
              <a:t>Monorepo</a:t>
            </a:r>
            <a:r>
              <a:rPr lang="en-US" dirty="0"/>
              <a:t> vs. Multi-repo strategies.</a:t>
            </a:r>
          </a:p>
          <a:p>
            <a:pPr lvl="1"/>
            <a:r>
              <a:rPr lang="en-US" b="1" dirty="0"/>
              <a:t>Third-party Dependencies:</a:t>
            </a:r>
            <a:r>
              <a:rPr lang="en-US" dirty="0"/>
              <a:t> Managing NuGet/NPM/Maven packages.</a:t>
            </a:r>
          </a:p>
          <a:p>
            <a:r>
              <a:rPr lang="en-US" b="1" dirty="0"/>
              <a:t>Stakeholders:</a:t>
            </a:r>
            <a:r>
              <a:rPr lang="en-US" dirty="0"/>
              <a:t> Primarily for Developers and Build Engineers to ensure the system is "buildable" and "testable."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39D75-765A-A835-26AB-68DEE76220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Development View &amp; Modern Tooling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9C448-EABB-8621-36A3-B90F74076E8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70A93-845A-955D-33A4-E121D73018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25B90-1DDC-FC0B-7452-55800209232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2034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F00B28-EFB9-3F68-59A8-3A75EC5AD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Physical View: Deployment in the 2020s </a:t>
            </a:r>
            <a:r>
              <a:rPr lang="en-US" b="1" dirty="0"/>
              <a:t>Content:</a:t>
            </a:r>
            <a:endParaRPr lang="en-US" dirty="0"/>
          </a:p>
          <a:p>
            <a:r>
              <a:rPr lang="en-US" b="1" dirty="0"/>
              <a:t>The Virtualized Reality:</a:t>
            </a:r>
            <a:r>
              <a:rPr lang="en-US" dirty="0"/>
              <a:t> Physical nodes are rarely "bare metal" today; they are Virtual Machines (VMs) or Clusters (Kubernetes).</a:t>
            </a:r>
          </a:p>
          <a:p>
            <a:r>
              <a:rPr lang="en-US" b="1" dirty="0"/>
              <a:t>Key Concepts:</a:t>
            </a:r>
            <a:endParaRPr lang="en-US" dirty="0"/>
          </a:p>
          <a:p>
            <a:pPr lvl="1"/>
            <a:r>
              <a:rPr lang="en-US" b="1" dirty="0"/>
              <a:t>Elasticity:</a:t>
            </a:r>
            <a:r>
              <a:rPr lang="en-US" dirty="0"/>
              <a:t> How the architecture scales up/down automatically.</a:t>
            </a:r>
          </a:p>
          <a:p>
            <a:pPr lvl="1"/>
            <a:r>
              <a:rPr lang="en-US" b="1" dirty="0"/>
              <a:t>Network Topologies:</a:t>
            </a:r>
            <a:r>
              <a:rPr lang="en-US" dirty="0"/>
              <a:t> Firewalls, API Gateways, and Load Balancers.</a:t>
            </a:r>
          </a:p>
          <a:p>
            <a:r>
              <a:rPr lang="en-US" b="1" dirty="0"/>
              <a:t>Documentation Tool:</a:t>
            </a:r>
            <a:r>
              <a:rPr lang="en-US" dirty="0"/>
              <a:t> Use </a:t>
            </a:r>
            <a:r>
              <a:rPr lang="en-US" b="1" dirty="0"/>
              <a:t>Deployment Diagrams</a:t>
            </a:r>
            <a:r>
              <a:rPr lang="en-US" dirty="0"/>
              <a:t> to map software artifacts to execution environments.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CCF6D-1D86-6C09-9F84-7DDFC15F81F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Physical View: Hardware to Infrastructure as Code (</a:t>
            </a:r>
            <a:r>
              <a:rPr lang="en-US" dirty="0" err="1"/>
              <a:t>IaC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2ED22-6CED-9C3C-D971-95E8D4AF4A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EEB6C-1CE0-5710-409A-4FB177D5F2C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6BAC2-B0A6-C880-4A31-1F2F9C43282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4770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69D228-DDC2-204A-E4B8-752E2A600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Challenge of Architectural Drift </a:t>
            </a:r>
            <a:r>
              <a:rPr lang="en-US" b="1" dirty="0"/>
              <a:t>Content:</a:t>
            </a:r>
            <a:endParaRPr lang="en-US" dirty="0"/>
          </a:p>
          <a:p>
            <a:r>
              <a:rPr lang="en-US" b="1" dirty="0"/>
              <a:t>The Problem:</a:t>
            </a:r>
            <a:r>
              <a:rPr lang="en-US" dirty="0"/>
              <a:t> Over time, the code (Implementation) evolves faster than the documentation (Views). This is known as </a:t>
            </a:r>
            <a:r>
              <a:rPr lang="en-US" b="1" dirty="0"/>
              <a:t>Architectural Drift</a:t>
            </a:r>
            <a:r>
              <a:rPr lang="en-US" dirty="0"/>
              <a:t>.</a:t>
            </a:r>
          </a:p>
          <a:p>
            <a:r>
              <a:rPr lang="en-US" b="1" dirty="0"/>
              <a:t>The Solution:</a:t>
            </a:r>
            <a:endParaRPr lang="en-US" dirty="0"/>
          </a:p>
          <a:p>
            <a:pPr lvl="1"/>
            <a:r>
              <a:rPr lang="en-US" b="1" dirty="0"/>
              <a:t>Architecture as Code:</a:t>
            </a:r>
            <a:r>
              <a:rPr lang="en-US" dirty="0"/>
              <a:t> Using tools like </a:t>
            </a:r>
            <a:r>
              <a:rPr lang="en-US" i="1" dirty="0"/>
              <a:t>Mermaid.js</a:t>
            </a:r>
            <a:r>
              <a:rPr lang="en-US" dirty="0"/>
              <a:t> or </a:t>
            </a:r>
            <a:r>
              <a:rPr lang="en-US" i="1" dirty="0" err="1"/>
              <a:t>PlantUML</a:t>
            </a:r>
            <a:r>
              <a:rPr lang="en-US" dirty="0"/>
              <a:t> to keep diagrams in the same Git repo as the code.</a:t>
            </a:r>
          </a:p>
          <a:p>
            <a:pPr lvl="1"/>
            <a:r>
              <a:rPr lang="en-US" b="1" dirty="0"/>
              <a:t>Automated Checks:</a:t>
            </a:r>
            <a:r>
              <a:rPr lang="en-US" dirty="0"/>
              <a:t> Using "fitness functions" to ensure code dependencies don't violate the Layered structure defined in the Module View.</a:t>
            </a:r>
          </a:p>
          <a:p>
            <a:r>
              <a:rPr lang="en-US" b="1" dirty="0"/>
              <a:t>Goal:</a:t>
            </a:r>
            <a:r>
              <a:rPr lang="en-US" dirty="0"/>
              <a:t> The architecture should be a "living document," not a static PDF.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908F8-7176-20EB-B474-18AE5528730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Maintaining Architectural Integrity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09F7F-F1FA-B218-A3AC-A87D143856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541DB-707C-358F-A799-4C8DD661745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BA454-9115-426A-E777-3B1E701E5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03055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106BE7C-BBB7-A3C9-B77D-FA5BA8F7A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0619" y="1493838"/>
            <a:ext cx="4525962" cy="45259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C41C8-BC17-EF96-6B5B-E58E0EF70D7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CASE STUDY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1E92C-DF1D-B557-2930-506919ECAB3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9F669-8623-9EB3-E72B-AFC116C1021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E68CE-E08D-FF53-E479-E077D3DE52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4990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9A0E45-8927-6ED0-5B0F-63A0A5246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Summary: Choosing the Right View </a:t>
            </a:r>
            <a:r>
              <a:rPr lang="en-US" b="1" dirty="0"/>
              <a:t>Content:</a:t>
            </a:r>
            <a:r>
              <a:rPr lang="en-US" dirty="0"/>
              <a:t> Not every project needs every view. Use this guide to prioritize:</a:t>
            </a:r>
          </a:p>
          <a:p>
            <a:r>
              <a:rPr lang="en-US" b="1" dirty="0"/>
              <a:t>Building a complex UI?</a:t>
            </a:r>
            <a:r>
              <a:rPr lang="en-US" dirty="0"/>
              <a:t> Prioritize the </a:t>
            </a:r>
            <a:r>
              <a:rPr lang="en-US" b="1" dirty="0"/>
              <a:t>Logical View</a:t>
            </a:r>
            <a:r>
              <a:rPr lang="en-US" dirty="0"/>
              <a:t>.</a:t>
            </a:r>
          </a:p>
          <a:p>
            <a:r>
              <a:rPr lang="en-US" b="1" dirty="0"/>
              <a:t>High-performance/High-traffic?</a:t>
            </a:r>
            <a:r>
              <a:rPr lang="en-US" dirty="0"/>
              <a:t> Prioritize the </a:t>
            </a:r>
            <a:r>
              <a:rPr lang="en-US" b="1" dirty="0"/>
              <a:t>Process View</a:t>
            </a:r>
            <a:r>
              <a:rPr lang="en-US" dirty="0"/>
              <a:t>.</a:t>
            </a:r>
          </a:p>
          <a:p>
            <a:r>
              <a:rPr lang="en-US" b="1" dirty="0"/>
              <a:t>Large, distributed team?</a:t>
            </a:r>
            <a:r>
              <a:rPr lang="en-US" dirty="0"/>
              <a:t> Prioritize the </a:t>
            </a:r>
            <a:r>
              <a:rPr lang="en-US" b="1" dirty="0"/>
              <a:t>Development View</a:t>
            </a:r>
            <a:r>
              <a:rPr lang="en-US" dirty="0"/>
              <a:t>.</a:t>
            </a:r>
          </a:p>
          <a:p>
            <a:r>
              <a:rPr lang="en-US" b="1" dirty="0"/>
              <a:t>Cloud-native/Complex security?</a:t>
            </a:r>
            <a:r>
              <a:rPr lang="en-US" dirty="0"/>
              <a:t> Prioritize the </a:t>
            </a:r>
            <a:r>
              <a:rPr lang="en-US" b="1" dirty="0"/>
              <a:t>Physical View</a:t>
            </a:r>
            <a:r>
              <a:rPr lang="en-US" dirty="0"/>
              <a:t>.</a:t>
            </a:r>
          </a:p>
          <a:p>
            <a:r>
              <a:rPr lang="en-US" b="1" dirty="0"/>
              <a:t>Conclusion:</a:t>
            </a:r>
            <a:r>
              <a:rPr lang="en-US" dirty="0"/>
              <a:t> Document only what is necessary to communicate the design and mitigate risk.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EBE-5D39-9F38-3EDE-46B5E454484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Summary &amp; Stakeholder Mapping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7E941-4C9E-F815-D5C6-F1632654423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August 29,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FB39D-769E-A882-5B56-430B12E53C7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SSZG653 Software Architectures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B6E5-DBC8-DA43-6F89-82D227E5AC7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148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07BA72441AEE45A3CAE1ADD5070980" ma:contentTypeVersion="7" ma:contentTypeDescription="Create a new document." ma:contentTypeScope="" ma:versionID="257639c9bae52cceea61322fecbfd23b">
  <xsd:schema xmlns:xsd="http://www.w3.org/2001/XMLSchema" xmlns:xs="http://www.w3.org/2001/XMLSchema" xmlns:p="http://schemas.microsoft.com/office/2006/metadata/properties" xmlns:ns2="2723f1bc-7802-4c44-b827-a549654b530e" targetNamespace="http://schemas.microsoft.com/office/2006/metadata/properties" ma:root="true" ma:fieldsID="146ed545e40a9bf03aef0bb26930a53e" ns2:_="">
    <xsd:import namespace="2723f1bc-7802-4c44-b827-a549654b53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23f1bc-7802-4c44-b827-a549654b53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5AA0C5-1482-4E71-A0E4-0C6BEE23CF82}"/>
</file>

<file path=customXml/itemProps2.xml><?xml version="1.0" encoding="utf-8"?>
<ds:datastoreItem xmlns:ds="http://schemas.openxmlformats.org/officeDocument/2006/customXml" ds:itemID="{FB4A12E0-0E94-4180-9771-E3E253035060}"/>
</file>

<file path=customXml/itemProps3.xml><?xml version="1.0" encoding="utf-8"?>
<ds:datastoreItem xmlns:ds="http://schemas.openxmlformats.org/officeDocument/2006/customXml" ds:itemID="{54B0CC4B-2399-47D4-9C19-D1D7C0EECDD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</TotalTime>
  <Words>3907</Words>
  <Application>Microsoft Office PowerPoint</Application>
  <PresentationFormat>Widescreen</PresentationFormat>
  <Paragraphs>570</Paragraphs>
  <Slides>75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Arial</vt:lpstr>
      <vt:lpstr>Calibri</vt:lpstr>
      <vt:lpstr>Google Sans Text</vt:lpstr>
      <vt:lpstr>Times New Roman</vt:lpstr>
      <vt:lpstr>Wingdings</vt:lpstr>
      <vt:lpstr>Office Theme</vt:lpstr>
      <vt:lpstr>SEZG651/ SSZG653  Software Architectures Module 4 CS06 Documenting Software Architecture Structures and Views</vt:lpstr>
      <vt:lpstr>Architectural Structures and Views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Documenting Architecture Views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Harvinder Jabbal</dc:creator>
  <cp:lastModifiedBy>Harvinder Jabbal</cp:lastModifiedBy>
  <cp:revision>34</cp:revision>
  <dcterms:created xsi:type="dcterms:W3CDTF">2025-07-25T12:09:13Z</dcterms:created>
  <dcterms:modified xsi:type="dcterms:W3CDTF">2026-08-28T12:51:39Z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0x0101008507BA72441AEE45A3CAE1ADD5070980</vt:lpwstr>
  </property>
</Properties>
</file>