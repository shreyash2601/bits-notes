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311" r:id="rId2"/>
    <p:sldId id="312" r:id="rId3"/>
    <p:sldId id="327" r:id="rId4"/>
    <p:sldId id="315" r:id="rId5"/>
    <p:sldId id="313" r:id="rId6"/>
    <p:sldId id="316" r:id="rId7"/>
    <p:sldId id="317" r:id="rId8"/>
    <p:sldId id="319" r:id="rId9"/>
    <p:sldId id="320" r:id="rId10"/>
    <p:sldId id="321" r:id="rId11"/>
    <p:sldId id="322" r:id="rId12"/>
    <p:sldId id="323" r:id="rId13"/>
    <p:sldId id="318" r:id="rId14"/>
    <p:sldId id="314" r:id="rId15"/>
    <p:sldId id="324" r:id="rId16"/>
    <p:sldId id="325" r:id="rId17"/>
    <p:sldId id="326" r:id="rId18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utcomes_Two Content">
  <p:cSld name="Learning Outcomes_Two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3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3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20" name="Google Shape;20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1;p13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13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23" name="Google Shape;23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13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8" name="Google Shape;2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ctrTitle"/>
          </p:nvPr>
        </p:nvSpPr>
        <p:spPr>
          <a:xfrm>
            <a:off x="1774824" y="2369128"/>
            <a:ext cx="8642351" cy="70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5188226" y="4965618"/>
            <a:ext cx="1815548" cy="166607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17"/>
          <p:cNvGrpSpPr/>
          <p:nvPr/>
        </p:nvGrpSpPr>
        <p:grpSpPr>
          <a:xfrm>
            <a:off x="2" y="5876103"/>
            <a:ext cx="12192000" cy="54001"/>
            <a:chOff x="2" y="5876103"/>
            <a:chExt cx="12192000" cy="54001"/>
          </a:xfrm>
        </p:grpSpPr>
        <p:sp>
          <p:nvSpPr>
            <p:cNvPr id="70" name="Google Shape;70;p17"/>
            <p:cNvSpPr/>
            <p:nvPr/>
          </p:nvSpPr>
          <p:spPr>
            <a:xfrm rot="-5400000">
              <a:off x="1881002" y="3995103"/>
              <a:ext cx="54000" cy="38160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 rot="-5400000">
              <a:off x="10133002" y="3871103"/>
              <a:ext cx="54000" cy="40640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 rot="-5400000">
              <a:off x="6069000" y="3599104"/>
              <a:ext cx="54000" cy="46080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3" name="Google Shape;7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69373" y="5054309"/>
            <a:ext cx="144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0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100" name="Google Shape;100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0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0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103" name="Google Shape;103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body" idx="2"/>
          </p:nvPr>
        </p:nvSpPr>
        <p:spPr>
          <a:xfrm>
            <a:off x="695326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3"/>
          </p:nvPr>
        </p:nvSpPr>
        <p:spPr>
          <a:xfrm>
            <a:off x="6211959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094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wc.com/m1/en/publications/2026/docs/future-of-solutions-dev-and-delivery-in-the-rise-of-gen-ai.pdf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1 </a:t>
            </a:r>
            <a:r>
              <a:rPr lang="en-US" dirty="0">
                <a:latin typeface="Arial" charset="0"/>
                <a:cs typeface="Arial" charset="0"/>
              </a:rPr>
              <a:t>- </a:t>
            </a:r>
            <a:r>
              <a:rPr lang="en-IN" sz="3600" dirty="0"/>
              <a:t>Introduction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2E1E4D-047F-8D36-67FE-939F2E645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65760"/>
            <a:ext cx="10515600" cy="132588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Instructor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189B7-1E94-4088-8414-9899B7C6E81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41248" y="1882140"/>
            <a:ext cx="5067300" cy="252689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b="1" i="0" u="none" strike="noStrike" cap="none" dirty="0">
                <a:solidFill>
                  <a:srgbClr val="211D70"/>
                </a:solidFill>
              </a:rPr>
              <a:t>Akshaya Ganesan</a:t>
            </a:r>
          </a:p>
          <a:p>
            <a:pPr algn="ctr">
              <a:spcAft>
                <a:spcPts val="600"/>
              </a:spcAft>
            </a:pPr>
            <a:r>
              <a:rPr lang="en-US" b="1" i="0" u="none" strike="noStrike" cap="none" dirty="0">
                <a:solidFill>
                  <a:srgbClr val="211D70"/>
                </a:solidFill>
              </a:rPr>
              <a:t>Assistant Professor (Off Campus)</a:t>
            </a: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b="0" i="0" u="none" strike="noStrike" cap="none" dirty="0">
                <a:solidFill>
                  <a:srgbClr val="211D70"/>
                </a:solidFill>
              </a:rPr>
              <a:t>Teaches courses in the areas of Software Engineering which includes Full stack Application development, Microservices, User experience Design and </a:t>
            </a:r>
            <a:r>
              <a:rPr lang="en-US" b="0" i="0" u="none" strike="noStrike" cap="none" dirty="0" err="1">
                <a:solidFill>
                  <a:srgbClr val="211D70"/>
                </a:solidFill>
              </a:rPr>
              <a:t>Devops</a:t>
            </a:r>
            <a:r>
              <a:rPr lang="en-US" b="0" i="0" u="none" strike="noStrike" cap="none" dirty="0">
                <a:solidFill>
                  <a:srgbClr val="211D70"/>
                </a:solidFill>
              </a:rPr>
              <a:t>. </a:t>
            </a:r>
          </a:p>
          <a:p>
            <a:pPr algn="ctr">
              <a:spcAft>
                <a:spcPts val="600"/>
              </a:spcAft>
            </a:pPr>
            <a:endParaRPr lang="en-US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endParaRPr lang="en-US" b="0" i="0" u="none" strike="noStrike" cap="none" dirty="0">
              <a:solidFill>
                <a:srgbClr val="211D70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US" dirty="0" err="1">
                <a:solidFill>
                  <a:srgbClr val="211D70"/>
                </a:solidFill>
              </a:rPr>
              <a:t>Email:akshaya.ganesan@pilani.bits-pilani.ac.in</a:t>
            </a:r>
            <a:endParaRPr lang="en-US" b="0" i="0" u="none" strike="noStrike" cap="none" dirty="0">
              <a:solidFill>
                <a:srgbClr val="211D7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7EF16-95DF-5BF6-262E-7C1F9425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185"/>
          <a:stretch>
            <a:fillRect/>
          </a:stretch>
        </p:blipFill>
        <p:spPr>
          <a:xfrm>
            <a:off x="9424657" y="1691640"/>
            <a:ext cx="2297104" cy="20188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13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C3AD4D-C448-A4D4-C7C2-F736134D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7C2DA-6146-8CD0-2456-6A7AB148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AI Buzzwords you have heard recently?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2DAD6-FC76-2B79-CDAF-45F84439C33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7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F6AB-DD9B-089F-D155-7EAEF381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6BB71-5794-D1B0-6B23-CB7C1EB8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are you currently using AI the most?</a:t>
            </a:r>
          </a:p>
          <a:p>
            <a:r>
              <a:rPr lang="en-US" dirty="0"/>
              <a:t>A) Writing/refactoring code</a:t>
            </a:r>
          </a:p>
          <a:p>
            <a:r>
              <a:rPr lang="en-US" dirty="0"/>
              <a:t>B) Writing tests or documentation</a:t>
            </a:r>
          </a:p>
          <a:p>
            <a:r>
              <a:rPr lang="en-US" dirty="0"/>
              <a:t>C) Debugging errors / reading logs</a:t>
            </a:r>
          </a:p>
          <a:p>
            <a:r>
              <a:rPr lang="en-US" dirty="0"/>
              <a:t>D) Planning / breakdown of requirements</a:t>
            </a:r>
          </a:p>
          <a:p>
            <a:r>
              <a:rPr lang="en-US" dirty="0"/>
              <a:t>E) Learning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References and Self Reading</a:t>
            </a:r>
          </a:p>
        </p:txBody>
      </p:sp>
    </p:spTree>
    <p:extLst>
      <p:ext uri="{BB962C8B-B14F-4D97-AF65-F5344CB8AC3E}">
        <p14:creationId xmlns:p14="http://schemas.microsoft.com/office/powerpoint/2010/main" val="295124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C2173-47D9-EA1A-42A9-73F9E88A7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0BA20D-C14C-49F7-ED48-EC996AEF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F005C7-6873-9706-E5A0-28BB12C2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97" y="1233525"/>
            <a:ext cx="4373456" cy="43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0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F9D4CC-7B0A-3BFA-FDAC-F1C8C16F6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 generated in Gemini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1373C1-A242-67B9-049C-A2BB6C8A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Phases and Roles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3DE7F0-A62A-09B0-A93B-28745F1BB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86964"/>
              </p:ext>
            </p:extLst>
          </p:nvPr>
        </p:nvGraphicFramePr>
        <p:xfrm>
          <a:off x="941560" y="1428825"/>
          <a:ext cx="9841118" cy="4365606"/>
        </p:xfrm>
        <a:graphic>
          <a:graphicData uri="http://schemas.openxmlformats.org/drawingml/2006/table">
            <a:tbl>
              <a:tblPr/>
              <a:tblGrid>
                <a:gridCol w="2770891">
                  <a:extLst>
                    <a:ext uri="{9D8B030D-6E8A-4147-A177-3AD203B41FA5}">
                      <a16:colId xmlns:a16="http://schemas.microsoft.com/office/drawing/2014/main" val="532618250"/>
                    </a:ext>
                  </a:extLst>
                </a:gridCol>
                <a:gridCol w="3476209">
                  <a:extLst>
                    <a:ext uri="{9D8B030D-6E8A-4147-A177-3AD203B41FA5}">
                      <a16:colId xmlns:a16="http://schemas.microsoft.com/office/drawing/2014/main" val="2353213837"/>
                    </a:ext>
                  </a:extLst>
                </a:gridCol>
                <a:gridCol w="3594018">
                  <a:extLst>
                    <a:ext uri="{9D8B030D-6E8A-4147-A177-3AD203B41FA5}">
                      <a16:colId xmlns:a16="http://schemas.microsoft.com/office/drawing/2014/main" val="1632044208"/>
                    </a:ext>
                  </a:extLst>
                </a:gridCol>
              </a:tblGrid>
              <a:tr h="27923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SDLC Phase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Responsible Roles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Tasks &amp; Artifacts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13108"/>
                  </a:ext>
                </a:extLst>
              </a:tr>
              <a:tr h="4421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Planning &amp; Feasibility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 Manager (PM), Engineering Lead, Business Stakeholders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Defines project scope, budget, resource planning, and high-level timelines.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63859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Requirements Analysis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Business Analyst (BA), Product Owner (PO)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Gathers user stories, drafts the Software Requirement Specification (SRS), and clarifies acceptance criteria.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60004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Design &amp; Architecture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Solutions/System Architect, UI/UX Designer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Creates system architecture diagrams, database schemas, API specs, and visual user interface wireframes.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75608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 Implementation (Coding)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Software Engineers (Frontend, Backend, Mobile)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Writes production code, performs unit testing, and conducts peer code reviews based on design specs.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68204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 Testing &amp; QA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Quality Assurance (QA) Engineer, Automation Tester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Executes functional, integration, regression, and performance tests; reports and tracks bugs.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24485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 Deployment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DevOps Engineer, Site Reliability Engineer (SRE)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Sets up CI/CD pipelines, configures production infrastructure, manages releases, and executes cutover.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109867"/>
                  </a:ext>
                </a:extLst>
              </a:tr>
              <a:tr h="60499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 Maintenance &amp; Support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SRE, Support Engineers, Operations Team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Monitors uptime/performance, applies security patches, handles incident management, and logs feature requests.</a:t>
                      </a:r>
                    </a:p>
                  </a:txBody>
                  <a:tcPr marL="87259" marR="87259" marT="58173" marB="5817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476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54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EB76AE-C264-6C48-C089-1A71D172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3163" y="6088614"/>
            <a:ext cx="6979695" cy="158278"/>
          </a:xfrm>
        </p:spPr>
        <p:txBody>
          <a:bodyPr/>
          <a:lstStyle/>
          <a:p>
            <a:r>
              <a:rPr lang="en-US" dirty="0" err="1"/>
              <a:t>Source:</a:t>
            </a:r>
            <a:r>
              <a:rPr lang="en-US" dirty="0" err="1">
                <a:hlinkClick r:id="rId2"/>
              </a:rPr>
              <a:t>https</a:t>
            </a:r>
            <a:r>
              <a:rPr lang="en-US" dirty="0">
                <a:hlinkClick r:id="rId2"/>
              </a:rPr>
              <a:t>://www.pwc.com/m1/en/publications/2026/docs/future-of-solutions-dev-and-delivery-in-the-rise-of-gen-ai.pdf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3612FF-6FF2-4E31-E933-E83BCD32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AI Adoption- 2025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A86FB-529D-149C-4FF6-CAEA3E16D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48" y="1428825"/>
            <a:ext cx="9159981" cy="45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3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C8227C-2524-B6B3-AC28-8BBC0AB7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820000"/>
            <a:ext cx="9900000" cy="820000"/>
          </a:xfrm>
        </p:spPr>
        <p:txBody>
          <a:bodyPr/>
          <a:lstStyle/>
          <a:p>
            <a:r>
              <a:rPr lang="en-US" b="1" dirty="0"/>
              <a:t>Software Development Leads AI Adoption</a:t>
            </a:r>
          </a:p>
        </p:txBody>
      </p:sp>
      <p:sp>
        <p:nvSpPr>
          <p:cNvPr id="2" name="Subhead">
            <a:extLst>
              <a:ext uri="{FF2B5EF4-FFF2-40B4-BE49-F238E27FC236}">
                <a16:creationId xmlns:a16="http://schemas.microsoft.com/office/drawing/2014/main" id="{79B39188-4C40-F2AC-3323-4E82F5253BBE}"/>
              </a:ext>
            </a:extLst>
          </p:cNvPr>
          <p:cNvSpPr txBox="1">
            <a:spLocks/>
          </p:cNvSpPr>
          <p:nvPr/>
        </p:nvSpPr>
        <p:spPr>
          <a:xfrm>
            <a:off x="696000" y="1660000"/>
            <a:ext cx="10800000" cy="5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800" dirty="0">
                <a:solidFill>
                  <a:srgbClr val="404040"/>
                </a:solidFill>
              </a:rPr>
              <a:t>Adoption is real—but still mostly augmentative, not outright replacement.</a:t>
            </a:r>
          </a:p>
        </p:txBody>
      </p:sp>
      <p:sp>
        <p:nvSpPr>
          <p:cNvPr id="10" name="Stat Card 1"/>
          <p:cNvSpPr/>
          <p:nvPr/>
        </p:nvSpPr>
        <p:spPr>
          <a:xfrm>
            <a:off x="696000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058DC7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36%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of software roles use AI for at least a quarter of their tasks</a:t>
            </a:r>
          </a:p>
        </p:txBody>
      </p:sp>
      <p:sp>
        <p:nvSpPr>
          <p:cNvPr id="11" name="Stat Card 2"/>
          <p:cNvSpPr/>
          <p:nvPr/>
        </p:nvSpPr>
        <p:spPr>
          <a:xfrm>
            <a:off x="4389333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ED561B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4%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use AI extensively across the bulk of their work</a:t>
            </a:r>
          </a:p>
        </p:txBody>
      </p:sp>
      <p:sp>
        <p:nvSpPr>
          <p:cNvPr id="12" name="Stat Card 3"/>
          <p:cNvSpPr/>
          <p:nvPr/>
        </p:nvSpPr>
        <p:spPr>
          <a:xfrm>
            <a:off x="8082666" y="2560000"/>
            <a:ext cx="3413333" cy="2300000"/>
          </a:xfrm>
          <a:prstGeom prst="roundRect">
            <a:avLst>
              <a:gd name="adj" fmla="val 5000"/>
            </a:avLst>
          </a:prstGeom>
          <a:solidFill>
            <a:srgbClr val="E6A70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57%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of that AI usage augments the developer rather than replacing them</a:t>
            </a:r>
          </a:p>
        </p:txBody>
      </p:sp>
      <p:sp>
        <p:nvSpPr>
          <p:cNvPr id="3" name="Source">
            <a:extLst>
              <a:ext uri="{FF2B5EF4-FFF2-40B4-BE49-F238E27FC236}">
                <a16:creationId xmlns:a16="http://schemas.microsoft.com/office/drawing/2014/main" id="{3903A6AE-6695-476B-AB20-151FFAE0605C}"/>
              </a:ext>
            </a:extLst>
          </p:cNvPr>
          <p:cNvSpPr txBox="1">
            <a:spLocks/>
          </p:cNvSpPr>
          <p:nvPr/>
        </p:nvSpPr>
        <p:spPr>
          <a:xfrm>
            <a:off x="696000" y="5080000"/>
            <a:ext cx="108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1100" b="1" i="1" dirty="0">
                <a:solidFill>
                  <a:srgbClr val="808080"/>
                </a:solidFill>
              </a:rPr>
              <a:t>Source: Anthropic Economic Index — anthropic.com/news/the-anthropic-economic-index</a:t>
            </a:r>
          </a:p>
        </p:txBody>
      </p:sp>
    </p:spTree>
    <p:extLst>
      <p:ext uri="{BB962C8B-B14F-4D97-AF65-F5344CB8AC3E}">
        <p14:creationId xmlns:p14="http://schemas.microsoft.com/office/powerpoint/2010/main" val="1236304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91ED9F-9A2D-D663-EFB5-442328179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5FDB3-F63A-F82A-733E-D6F68466ABC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9DC2FE-124F-5108-9F7E-0F2EFAC1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Capability(AI) vs Productivity(Actual deployed value)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C8FDD-2696-B519-4E96-047FEF05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8" y="1257709"/>
            <a:ext cx="9468465" cy="463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3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A901D-8632-E023-9299-5D4C9F970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E2348-55A0-2DB7-7DA1-7C725783C7D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How much time does a software developer spend writing code /core feature work?</a:t>
            </a:r>
          </a:p>
          <a:p>
            <a:r>
              <a:rPr lang="en-US" dirty="0"/>
              <a:t>40% of their time on core feature work, while the remaining 60% is consumed by "The Everything Else"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1F8C01-F7C5-36CB-82A1-4997B63E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40/60 split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9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0C8318-2C9A-6E15-079E-0F0082C0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269240-D5D2-C2F0-1FB1-CFA1AEE1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SDLC vs AI-driven SDLC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3BC66-932C-0037-023E-B78FC94D9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1428825"/>
            <a:ext cx="9553575" cy="482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00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5A224C-AABD-25F0-2784-F6E7B2929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F3F0-F296-CA7B-2BAF-48D6280DF2A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For all its benefits, the AI-driven SDLC introduces new constraints on the technical, organizational, and cultural levels.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 AI is reshaping every stage of the SDLC</a:t>
            </a:r>
          </a:p>
          <a:p>
            <a:pPr lvl="1"/>
            <a:r>
              <a:rPr lang="en-US" b="1" dirty="0"/>
              <a:t>How to adapt to AI-driven delivery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8D47F-FB42-7278-C28F-FB62777F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challenges and constraints??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42F032-519C-70E8-DCD8-609467DE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AI-augmented SDLC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73481-2893-28BC-EBB2-44EDAD580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Rethinking how we deliver software under AI acceleration</a:t>
            </a:r>
          </a:p>
          <a:p>
            <a:endParaRPr lang="en-US" dirty="0"/>
          </a:p>
          <a:p>
            <a:r>
              <a:rPr lang="en-IN" dirty="0"/>
              <a:t>Evolution of SDLC models under AI acceleration; AI-driven change velocity and amplification of engineering risk; Impact of AI-assisted requirements analysis, design, coding, refactoring, testing, and review on lifecycle structure; Implications of developer AI interaction patterns on SDLC flow and control points; Rethinking limits, risks, validation strategies, and quality gates in AI accelerated lifecycles; Human-in-the-loop decision points across the lifecycle for quality, safety, and release control; Ownership and accountability in continuously changing systems; SDLC feedback loops from operations and incidents; Measuring lifecycle health through balanced indicators of productivity, quality, and reliability rather than speed alone.</a:t>
            </a:r>
            <a:endParaRPr lang="en-US" dirty="0"/>
          </a:p>
          <a:p>
            <a:pPr marL="76200" indent="0">
              <a:buNone/>
            </a:pPr>
            <a:r>
              <a:rPr lang="en-IN" dirty="0"/>
              <a:t> 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BFAAF-08FA-14C1-B137-8D10A7D20FA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4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1D5B8D-6641-C6D4-8D46-86337F04F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DAF9E5-5DE4-EFE7-B3A6-16BF62BC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03949"/>
              </p:ext>
            </p:extLst>
          </p:nvPr>
        </p:nvGraphicFramePr>
        <p:xfrm>
          <a:off x="1396181" y="1562997"/>
          <a:ext cx="8937522" cy="2153597"/>
        </p:xfrm>
        <a:graphic>
          <a:graphicData uri="http://schemas.openxmlformats.org/drawingml/2006/table">
            <a:tbl>
              <a:tblPr>
                <a:tableStyleId>{51A0E78D-CFBE-46A0-B656-1FB9B1C8EDF3}</a:tableStyleId>
              </a:tblPr>
              <a:tblGrid>
                <a:gridCol w="872340">
                  <a:extLst>
                    <a:ext uri="{9D8B030D-6E8A-4147-A177-3AD203B41FA5}">
                      <a16:colId xmlns:a16="http://schemas.microsoft.com/office/drawing/2014/main" val="454378295"/>
                    </a:ext>
                  </a:extLst>
                </a:gridCol>
                <a:gridCol w="8065182">
                  <a:extLst>
                    <a:ext uri="{9D8B030D-6E8A-4147-A177-3AD203B41FA5}">
                      <a16:colId xmlns:a16="http://schemas.microsoft.com/office/drawing/2014/main" val="1765524540"/>
                    </a:ext>
                  </a:extLst>
                </a:gridCol>
              </a:tblGrid>
              <a:tr h="2314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Course Objective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0477381"/>
                  </a:ext>
                </a:extLst>
              </a:tr>
              <a:tr h="4966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Understand the evolution of software development life cycle models under AI acceleration and how AI-driven change velocity alters lifecycle structure, risk, and control points.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2325486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Develop an understanding of AI fundamentals, prompt engineering, and agentic workflows required for applying AI tools effectively across software engineering tasks.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4242324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Explore practical applications of AI tools across all engineering phases including requirements engineering, architectural design, coding, testing, refactoring, code review, and CI/CD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612603"/>
                  </a:ext>
                </a:extLst>
              </a:tr>
              <a:tr h="4751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Understand the need and learn to define governance mechanisms, validation strategies, human-in-the-loop decision points, and lifecycle health metrics for safe, accountable, and reliable AI-augmented software development.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3848811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E259250-B9D6-9EFD-D98C-501BD876D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872" y="243295"/>
            <a:ext cx="10801350" cy="69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US" sz="3200" dirty="0"/>
              <a:t>Course Objectives</a:t>
            </a:r>
          </a:p>
        </p:txBody>
      </p:sp>
    </p:spTree>
    <p:extLst>
      <p:ext uri="{BB962C8B-B14F-4D97-AF65-F5344CB8AC3E}">
        <p14:creationId xmlns:p14="http://schemas.microsoft.com/office/powerpoint/2010/main" val="295035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11D1B4-7B6C-3BD8-F77C-67C145A15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A4CE1-8C7D-4287-C615-82897BD63D8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Module: 1 Foundations and Paradigm Shift – Evolution, Velocity, and Risk</a:t>
            </a:r>
            <a:endParaRPr lang="en-US" sz="1800" dirty="0"/>
          </a:p>
          <a:p>
            <a:r>
              <a:rPr lang="en-IN" sz="1800" dirty="0"/>
              <a:t>Module: 2 Fundamentals of AI and Prompt Engineering</a:t>
            </a:r>
            <a:endParaRPr lang="en-US" sz="1800" dirty="0"/>
          </a:p>
          <a:p>
            <a:r>
              <a:rPr lang="en-IN" sz="1800" dirty="0"/>
              <a:t>Module: 3 Requirements and Design</a:t>
            </a:r>
            <a:endParaRPr lang="en-US" sz="1800" dirty="0"/>
          </a:p>
          <a:p>
            <a:r>
              <a:rPr lang="en-IN" sz="1800" dirty="0"/>
              <a:t>Module: 4 Coding and Refactoring</a:t>
            </a:r>
            <a:endParaRPr lang="en-US" sz="1800" dirty="0"/>
          </a:p>
          <a:p>
            <a:r>
              <a:rPr lang="en-IN" sz="1800" dirty="0"/>
              <a:t>Module: 5 Testing and Quality Assurance</a:t>
            </a:r>
            <a:endParaRPr lang="en-US" sz="1800" dirty="0"/>
          </a:p>
          <a:p>
            <a:r>
              <a:rPr lang="en-IN" sz="1800" dirty="0"/>
              <a:t>Module: 6 Deployment, CI/CD, and Release Management</a:t>
            </a:r>
            <a:endParaRPr lang="en-US" sz="1800" dirty="0"/>
          </a:p>
          <a:p>
            <a:r>
              <a:rPr lang="en-IN" sz="1800" dirty="0"/>
              <a:t>Module: 7 Governance, Control Points, and Human-in-the-Loop</a:t>
            </a:r>
            <a:endParaRPr lang="en-US" sz="1800" dirty="0"/>
          </a:p>
          <a:p>
            <a:r>
              <a:rPr lang="en-IN" sz="1800" dirty="0"/>
              <a:t>Module: 8 Operational Feedback Loops and Lifecycle Health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7B9D37-2220-18A5-5866-E4A49D88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u="sng" dirty="0"/>
            </a:br>
            <a:r>
              <a:rPr lang="en-IN" dirty="0"/>
              <a:t>Modular Content Structure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8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A65855-B88F-FC41-2344-23C7E24A8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5EEF7-CF32-B56E-BE0F-E31E8C58FAC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0CC24D-063A-FB2F-6F3B-54385CD2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5BD2BF-06B5-0466-3287-FB8C76679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12736"/>
              </p:ext>
            </p:extLst>
          </p:nvPr>
        </p:nvGraphicFramePr>
        <p:xfrm>
          <a:off x="1231725" y="1968511"/>
          <a:ext cx="9092535" cy="1726578"/>
        </p:xfrm>
        <a:graphic>
          <a:graphicData uri="http://schemas.openxmlformats.org/drawingml/2006/table">
            <a:tbl>
              <a:tblPr bandRow="1">
                <a:tableStyleId>{51A0E78D-CFBE-46A0-B656-1FB9B1C8EDF3}</a:tableStyleId>
              </a:tblPr>
              <a:tblGrid>
                <a:gridCol w="1208238">
                  <a:extLst>
                    <a:ext uri="{9D8B030D-6E8A-4147-A177-3AD203B41FA5}">
                      <a16:colId xmlns:a16="http://schemas.microsoft.com/office/drawing/2014/main" val="806423971"/>
                    </a:ext>
                  </a:extLst>
                </a:gridCol>
                <a:gridCol w="3672017">
                  <a:extLst>
                    <a:ext uri="{9D8B030D-6E8A-4147-A177-3AD203B41FA5}">
                      <a16:colId xmlns:a16="http://schemas.microsoft.com/office/drawing/2014/main" val="706941157"/>
                    </a:ext>
                  </a:extLst>
                </a:gridCol>
                <a:gridCol w="1685388">
                  <a:extLst>
                    <a:ext uri="{9D8B030D-6E8A-4147-A177-3AD203B41FA5}">
                      <a16:colId xmlns:a16="http://schemas.microsoft.com/office/drawing/2014/main" val="2144483263"/>
                    </a:ext>
                  </a:extLst>
                </a:gridCol>
                <a:gridCol w="1179058">
                  <a:extLst>
                    <a:ext uri="{9D8B030D-6E8A-4147-A177-3AD203B41FA5}">
                      <a16:colId xmlns:a16="http://schemas.microsoft.com/office/drawing/2014/main" val="3349905034"/>
                    </a:ext>
                  </a:extLst>
                </a:gridCol>
                <a:gridCol w="1347834">
                  <a:extLst>
                    <a:ext uri="{9D8B030D-6E8A-4147-A177-3AD203B41FA5}">
                      <a16:colId xmlns:a16="http://schemas.microsoft.com/office/drawing/2014/main" val="4248720306"/>
                    </a:ext>
                  </a:extLst>
                </a:gridCol>
              </a:tblGrid>
              <a:tr h="32899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EC – 1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  <a:latin typeface="+mn-lt"/>
                        </a:rPr>
                        <a:t>Quiz – 1 and 2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Online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1 week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1490638"/>
                  </a:ext>
                </a:extLst>
              </a:tr>
              <a:tr h="37282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Assignment 1 and 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Online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20 %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10 days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136730"/>
                  </a:ext>
                </a:extLst>
              </a:tr>
              <a:tr h="3289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EC - 2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  <a:latin typeface="+mn-lt"/>
                        </a:rPr>
                        <a:t>Mid-Semester Test</a:t>
                      </a:r>
                      <a:endParaRPr lang="en-US" sz="11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Closed Book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30%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 hours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1957446"/>
                  </a:ext>
                </a:extLst>
              </a:tr>
              <a:tr h="6957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EC - 3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  <a:latin typeface="+mn-lt"/>
                        </a:rPr>
                        <a:t>Comprehensive Exam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Open Book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40%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2 ½ Hours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077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240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0" ma:contentTypeDescription="Create a new document." ma:contentTypeScope="" ma:versionID="7b0be9a04410e7e27552f2385bbfc4e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88A3B4-854B-43C1-81FF-AD2EC7B7AE1F}"/>
</file>

<file path=customXml/itemProps2.xml><?xml version="1.0" encoding="utf-8"?>
<ds:datastoreItem xmlns:ds="http://schemas.openxmlformats.org/officeDocument/2006/customXml" ds:itemID="{654BE36A-AB27-4581-9E9F-04287FF17A41}"/>
</file>

<file path=customXml/itemProps3.xml><?xml version="1.0" encoding="utf-8"?>
<ds:datastoreItem xmlns:ds="http://schemas.openxmlformats.org/officeDocument/2006/customXml" ds:itemID="{7B0C7B43-19B1-4EE7-AA71-494CF8B138D6}"/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923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Google Sans Text</vt:lpstr>
      <vt:lpstr>Helvetica</vt:lpstr>
      <vt:lpstr>1_Office Theme</vt:lpstr>
      <vt:lpstr>AI-Augmented Software Development Life Cycle  SEZG534</vt:lpstr>
      <vt:lpstr>PowerPoint Presentation</vt:lpstr>
      <vt:lpstr>Instructor</vt:lpstr>
      <vt:lpstr>Q and A</vt:lpstr>
      <vt:lpstr>Q and A</vt:lpstr>
      <vt:lpstr>SDLC</vt:lpstr>
      <vt:lpstr>SDLC Phases and Roles</vt:lpstr>
      <vt:lpstr>State of AI Adoption- 2025</vt:lpstr>
      <vt:lpstr>Software Development Leads AI Adoption</vt:lpstr>
      <vt:lpstr>Capability(AI) vs Productivity(Actual deployed value)</vt:lpstr>
      <vt:lpstr>40/60 split </vt:lpstr>
      <vt:lpstr>Traditional SDLC vs AI-driven SDLC</vt:lpstr>
      <vt:lpstr>New challenges and constraints?? </vt:lpstr>
      <vt:lpstr>AI-augmented SDLC</vt:lpstr>
      <vt:lpstr>Course Objectives</vt:lpstr>
      <vt:lpstr> Modular Content Structure </vt:lpstr>
      <vt:lpstr>Evaluation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63</cp:revision>
  <dcterms:created xsi:type="dcterms:W3CDTF">2022-09-26T09:02:06Z</dcterms:created>
  <dcterms:modified xsi:type="dcterms:W3CDTF">2026-07-25T14:04:21Z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