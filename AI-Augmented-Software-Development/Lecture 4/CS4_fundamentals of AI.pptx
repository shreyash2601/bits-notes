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311" r:id="rId2"/>
    <p:sldId id="312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5" r:id="rId12"/>
    <p:sldId id="364" r:id="rId13"/>
    <p:sldId id="367" r:id="rId14"/>
    <p:sldId id="368" r:id="rId15"/>
    <p:sldId id="369" r:id="rId16"/>
    <p:sldId id="370" r:id="rId17"/>
    <p:sldId id="363" r:id="rId18"/>
    <p:sldId id="366" r:id="rId19"/>
    <p:sldId id="328" r:id="rId20"/>
    <p:sldId id="26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go9uSRA0WETdhqdHWNBKCI42g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0E78D-CFBE-46A0-B656-1FB9B1C8EDF3}">
  <a:tblStyle styleId="{51A0E78D-CFBE-46A0-B656-1FB9B1C8ED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schemas.openxmlformats.org/officeDocument/2006/relationships/presProps" Target="presProps.xml"/><Relationship Id="rId71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8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77" name="Google Shape;7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8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18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0" name="Google Shape;8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8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8" name="Google Shape;88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9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9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91" name="Google Shape;91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9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99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7" name="Rectangle 6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9" name="TextBox 8"/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111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6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67210A1-D9D8-4406-AA8C-189570548DAB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19D97FF-0E15-4DEA-9B96-99199D6F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8" r:id="rId3"/>
    <p:sldLayoutId id="2147483659" r:id="rId4"/>
    <p:sldLayoutId id="2147483660" r:id="rId5"/>
    <p:sldLayoutId id="2147483661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reasoning-model#692473874" TargetMode="External"/><Relationship Id="rId2" Type="http://schemas.openxmlformats.org/officeDocument/2006/relationships/hyperlink" Target="https://www.ibm.com/think/topics/ai-mode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79003" y="3810000"/>
            <a:ext cx="8500198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AI-Augmented Software Development Life Cycle </a:t>
            </a:r>
            <a:br>
              <a:rPr lang="en-US" sz="4000" dirty="0"/>
            </a:br>
            <a:r>
              <a:rPr lang="en-US" sz="4000" dirty="0"/>
              <a:t>SEZG534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Akshaya</a:t>
            </a:r>
            <a:r>
              <a:rPr lang="en-US" altLang="en-US" dirty="0"/>
              <a:t> </a:t>
            </a:r>
            <a:r>
              <a:rPr lang="en-US" altLang="en-US" dirty="0" err="1"/>
              <a:t>Ganesan</a:t>
            </a: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CSIS, WILP</a:t>
            </a:r>
          </a:p>
        </p:txBody>
      </p:sp>
    </p:spTree>
    <p:extLst>
      <p:ext uri="{BB962C8B-B14F-4D97-AF65-F5344CB8AC3E}">
        <p14:creationId xmlns:p14="http://schemas.microsoft.com/office/powerpoint/2010/main" val="201877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sz="3600" dirty="0">
                <a:latin typeface="Arial" charset="0"/>
                <a:cs typeface="Arial" charset="0"/>
              </a:rPr>
              <a:t>Contact Session: 4 </a:t>
            </a:r>
            <a:r>
              <a:rPr lang="en-US" dirty="0">
                <a:latin typeface="Arial" charset="0"/>
                <a:cs typeface="Arial" charset="0"/>
              </a:rPr>
              <a:t>– Fundamentals of AI</a:t>
            </a:r>
            <a:endParaRPr lang="en-US" sz="36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6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9ADD31-5A01-78F1-990E-6FC613457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92A37-6C70-D63F-5D06-50E546E546E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The fundamentals of Artificial Intelligence (AI) combine computer science, mathematics, and data to create systems capable of tasks that typically require human intelligence.</a:t>
            </a:r>
          </a:p>
          <a:p>
            <a:r>
              <a:rPr lang="en-US" dirty="0"/>
              <a:t>The core capabilities that allow AI systems to mimic human thought processes are </a:t>
            </a:r>
          </a:p>
          <a:p>
            <a:pPr marL="990600" lvl="2" indent="0">
              <a:buNone/>
            </a:pPr>
            <a:r>
              <a:rPr lang="en-US" dirty="0"/>
              <a:t>1. Learning</a:t>
            </a:r>
          </a:p>
          <a:p>
            <a:pPr marL="990600" lvl="2" indent="0">
              <a:buNone/>
            </a:pPr>
            <a:r>
              <a:rPr lang="en-US" dirty="0"/>
              <a:t>2. Reasoning</a:t>
            </a:r>
          </a:p>
          <a:p>
            <a:pPr marL="990600" lvl="2" indent="0">
              <a:buNone/>
            </a:pPr>
            <a:r>
              <a:rPr lang="en-US" dirty="0"/>
              <a:t>3. Perception</a:t>
            </a:r>
          </a:p>
          <a:p>
            <a:pPr marL="990600" lvl="2" indent="0">
              <a:buNone/>
            </a:pPr>
            <a:r>
              <a:rPr lang="en-US" dirty="0"/>
              <a:t>4. Problem-Solving/Action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8F7437-A088-1851-ADA3-A7A66BB0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03462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35A2F0-A4F2-29A7-C30A-56B16C204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98584-ED17-A75B-550F-E58DC3606EA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It is the process by which an AI improves its performance on a task over time by extracting patterns from data, rather than being explicitly programmed with hardcoded rules.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6D77AB-9119-F05A-0474-4131296C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BF39DE-F642-AB47-F8FA-D08DE9579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75" y="2660317"/>
            <a:ext cx="6580572" cy="350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38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426DE8-A95D-3A66-A6D2-63C74D32B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B21A-8745-E210-4745-01590308482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US" b="1" dirty="0"/>
              <a:t>Machine Learning (ML):</a:t>
            </a:r>
            <a:r>
              <a:rPr lang="en-US" dirty="0"/>
              <a:t> ML models use statistical AI to autonomously train on sample data and optimize their performance over time without explicit programming.</a:t>
            </a:r>
          </a:p>
          <a:p>
            <a:pPr lvl="0"/>
            <a:r>
              <a:rPr lang="en-US" b="1" dirty="0"/>
              <a:t>ML Techniques:</a:t>
            </a:r>
            <a:endParaRPr lang="en-US" dirty="0"/>
          </a:p>
          <a:p>
            <a:pPr lvl="1"/>
            <a:r>
              <a:rPr lang="en-US" sz="2400" b="1" i="1" dirty="0"/>
              <a:t>Supervised Learning</a:t>
            </a:r>
            <a:r>
              <a:rPr lang="en-US" sz="2400" i="1" dirty="0"/>
              <a:t>:</a:t>
            </a:r>
            <a:r>
              <a:rPr lang="en-US" sz="2400" dirty="0"/>
              <a:t> Requires human-labeled training data (such as tagging images as "dog" or "cat").</a:t>
            </a:r>
          </a:p>
          <a:p>
            <a:pPr lvl="1"/>
            <a:r>
              <a:rPr lang="en-US" sz="2400" b="1" i="1" dirty="0"/>
              <a:t>Unsupervised Learning:</a:t>
            </a:r>
            <a:r>
              <a:rPr lang="en-US" sz="2400" b="1" dirty="0"/>
              <a:t> </a:t>
            </a:r>
            <a:r>
              <a:rPr lang="en-US" sz="2400" dirty="0"/>
              <a:t>Does not use labels; instead, it detects inherent clusters and patterns (frequently used in e-commerce recommendation engines).</a:t>
            </a:r>
          </a:p>
          <a:p>
            <a:pPr lvl="1"/>
            <a:r>
              <a:rPr lang="en-US" sz="2400" b="1" i="1" dirty="0"/>
              <a:t>Reinforcement Learning</a:t>
            </a:r>
            <a:r>
              <a:rPr lang="en-US" sz="2400" i="1" dirty="0"/>
              <a:t>:</a:t>
            </a:r>
            <a:r>
              <a:rPr lang="en-US" sz="2400" dirty="0"/>
              <a:t> Learns trial-and-error behaviors by receiving systematic rewards or penalties (e.g., self-driving cars, stock trading).</a:t>
            </a:r>
          </a:p>
          <a:p>
            <a:pPr lvl="1"/>
            <a:r>
              <a:rPr lang="en-US" sz="2400" b="1" i="1" dirty="0"/>
              <a:t>Deep Learning</a:t>
            </a:r>
            <a:r>
              <a:rPr lang="en-US" sz="2400" i="1" dirty="0"/>
              <a:t>:</a:t>
            </a:r>
            <a:r>
              <a:rPr lang="en-US" sz="2400" dirty="0"/>
              <a:t> An evolved subset of unsupervised learning modeled on neural networks to mimic the human brain, utilizing forward propagation to process data and backpropagation to correct errors. Deep learning is a subset of machine learning driven by multilayered neural networks whose design is inspired by the structure of the human brain.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8A8790-EC76-5A48-2615-5BFE5DF3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dirty="0"/>
            </a:br>
            <a:r>
              <a:rPr lang="en-US" b="0" dirty="0"/>
              <a:t>Machine learning</a:t>
            </a:r>
            <a:br>
              <a:rPr lang="en-US" b="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07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02C8A2-CACB-2411-75EF-8496C2831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84298-8193-9750-94BF-871FEB5753D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fontAlgn="base"/>
            <a:r>
              <a:rPr lang="en-US" b="1" dirty="0"/>
              <a:t>Rule-Based AI:</a:t>
            </a:r>
            <a:r>
              <a:rPr lang="en-US" dirty="0"/>
              <a:t> The simplest models (e.g., rules engines, expert systems, symbolic AI, knowledge graphs) rely on explicit "if-then-else" statements programmed by humans.</a:t>
            </a:r>
          </a:p>
          <a:p>
            <a:pPr fontAlgn="base"/>
            <a:r>
              <a:rPr lang="en-US" dirty="0"/>
              <a:t>AI models can automate decision-making, but only models capable of machine learning (ML) are able to autonomously optimize their performance over time.</a:t>
            </a:r>
          </a:p>
          <a:p>
            <a:pPr fontAlgn="base"/>
            <a:r>
              <a:rPr lang="en-US" dirty="0"/>
              <a:t>While all ML models are AI, not all AI involves ML. 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327698-A702-847D-9738-CD3F5C03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ML</a:t>
            </a:r>
          </a:p>
        </p:txBody>
      </p:sp>
    </p:spTree>
    <p:extLst>
      <p:ext uri="{BB962C8B-B14F-4D97-AF65-F5344CB8AC3E}">
        <p14:creationId xmlns:p14="http://schemas.microsoft.com/office/powerpoint/2010/main" val="624886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D2427E-1689-E710-354F-173B3C402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D3C88-88AF-04B7-FF12-A5202A12C75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Reasoning</a:t>
            </a:r>
            <a:r>
              <a:rPr lang="en-US" dirty="0"/>
              <a:t> is the ability to connect facts, apply logic, and derive new conclusions from existing information or premise statements.</a:t>
            </a:r>
          </a:p>
          <a:p>
            <a:r>
              <a:rPr lang="en-US" b="1" dirty="0"/>
              <a:t>How AI Approaches It:</a:t>
            </a:r>
            <a:endParaRPr lang="en-US" dirty="0"/>
          </a:p>
          <a:p>
            <a:pPr lvl="0"/>
            <a:r>
              <a:rPr lang="en-US" b="1" dirty="0"/>
              <a:t>Symbolic &amp; Knowledge-Graph AI:</a:t>
            </a:r>
            <a:r>
              <a:rPr lang="en-US" dirty="0"/>
              <a:t> Uses strict mathematical logic and predefined "if-then" rule frameworks to draw explicit, guaranteed deductions.</a:t>
            </a:r>
          </a:p>
          <a:p>
            <a:pPr lvl="0"/>
            <a:r>
              <a:rPr lang="en-US" b="1" dirty="0"/>
              <a:t>Probabilistic &amp; Statistical Inference:</a:t>
            </a:r>
            <a:r>
              <a:rPr lang="en-US" dirty="0"/>
              <a:t> Estimates the likelihood of various outcomes based on incomplete data using Bayesian networks or statistical distributions.</a:t>
            </a:r>
          </a:p>
          <a:p>
            <a:pPr lvl="0"/>
            <a:r>
              <a:rPr lang="en-US" b="1" dirty="0"/>
              <a:t>Chain-of-Thought (Neural Reasoning):</a:t>
            </a:r>
            <a:r>
              <a:rPr lang="en-US" dirty="0"/>
              <a:t> Modern Large Language Models break complex prompts down into intermediate logical steps before generating a response, mimicking human step-by-step thinking.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9FD35C-105E-0155-C5D8-9BCD7ECD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Reasoning</a:t>
            </a:r>
          </a:p>
        </p:txBody>
      </p:sp>
    </p:spTree>
    <p:extLst>
      <p:ext uri="{BB962C8B-B14F-4D97-AF65-F5344CB8AC3E}">
        <p14:creationId xmlns:p14="http://schemas.microsoft.com/office/powerpoint/2010/main" val="1570579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8AADCD-D73A-77AB-20EC-9B5289B2E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F3502-D929-8FC7-B9CE-08520B37D0A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b="1" dirty="0"/>
              <a:t>Problem-Solving</a:t>
            </a:r>
            <a:r>
              <a:rPr lang="en-US" dirty="0"/>
              <a:t> involves identifying a desired goal state and searching for or generating a sequence of actions to reach that goal from a current starting point.</a:t>
            </a:r>
          </a:p>
          <a:p>
            <a:pPr lvl="0"/>
            <a:r>
              <a:rPr lang="en-US" b="1" dirty="0"/>
              <a:t>How AI Approaches It:</a:t>
            </a:r>
            <a:endParaRPr lang="en-US" dirty="0"/>
          </a:p>
          <a:p>
            <a:pPr lvl="1"/>
            <a:r>
              <a:rPr lang="en-US" b="1" dirty="0"/>
              <a:t>Search &amp; Optimization Algorithms:</a:t>
            </a:r>
            <a:r>
              <a:rPr lang="en-US" dirty="0"/>
              <a:t> AI evaluates possible future moves using state-tree searches (like A* search or Monte Carlo Tree Search) to navigate massive decision spaces (e.g., chess, logistics routing).</a:t>
            </a:r>
          </a:p>
          <a:p>
            <a:pPr lvl="1"/>
            <a:r>
              <a:rPr lang="en-US" b="1" dirty="0"/>
              <a:t>Agentic Planning:</a:t>
            </a:r>
            <a:r>
              <a:rPr lang="en-US" dirty="0"/>
              <a:t> Autonomous AI agents break down a complex, high-level task into actionable sub-tasks, execute tools or API calls, check intermediate outputs, and re-plan if an step fails.</a:t>
            </a:r>
          </a:p>
          <a:p>
            <a:pPr lvl="1"/>
            <a:r>
              <a:rPr lang="en-US" b="1" dirty="0"/>
              <a:t>Constraint Satisfaction:</a:t>
            </a:r>
            <a:r>
              <a:rPr lang="en-US" dirty="0"/>
              <a:t> Systems analyze mathematical parameters to find valid configurations that meet strict criteria (e.g., airline flight scheduling).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D54F2E-A717-9E42-04C5-F3BA959C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Problem-Solving</a:t>
            </a:r>
          </a:p>
        </p:txBody>
      </p:sp>
    </p:spTree>
    <p:extLst>
      <p:ext uri="{BB962C8B-B14F-4D97-AF65-F5344CB8AC3E}">
        <p14:creationId xmlns:p14="http://schemas.microsoft.com/office/powerpoint/2010/main" val="225146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3F7C3C-19BA-F160-ED28-2CB7C6258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83311-B0CA-E7E2-37B2-39F9044C739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Perception</a:t>
            </a:r>
            <a:r>
              <a:rPr lang="en-US" dirty="0"/>
              <a:t> is how an AI system receives raw physical or visual sensor data from the real world and translates it into structured, meaningful representations.</a:t>
            </a:r>
          </a:p>
          <a:p>
            <a:r>
              <a:rPr lang="en-US" b="1" dirty="0"/>
              <a:t>How AI Approaches It:</a:t>
            </a:r>
            <a:endParaRPr lang="en-US" dirty="0"/>
          </a:p>
          <a:p>
            <a:pPr lvl="0"/>
            <a:r>
              <a:rPr lang="en-US" b="1" dirty="0"/>
              <a:t>Computer Vision:</a:t>
            </a:r>
            <a:r>
              <a:rPr lang="en-US" dirty="0"/>
              <a:t> Convolutional Neural Networks (CNNs) and Vision Transformers process raw pixel matrices to detect objects, segment scenes, and measure depth in real time (e.g., autonomous driving).</a:t>
            </a:r>
          </a:p>
          <a:p>
            <a:pPr lvl="0"/>
            <a:r>
              <a:rPr lang="en-US" b="1" dirty="0"/>
              <a:t>Speech &amp; Audio Processing:</a:t>
            </a:r>
            <a:r>
              <a:rPr lang="en-US" dirty="0"/>
              <a:t> Models convert continuous sound frequencies into text tokens using acoustic spectral models.</a:t>
            </a:r>
          </a:p>
          <a:p>
            <a:pPr lvl="0"/>
            <a:r>
              <a:rPr lang="en-US" b="1" dirty="0"/>
              <a:t>Multimodal Fusion:</a:t>
            </a:r>
            <a:r>
              <a:rPr lang="en-US" dirty="0"/>
              <a:t> Modern frontier models combine text, image, audio, and sensor inputs simultaneously into unified mathematical spaces, allowing the AI to "see" and "hear" contexts as a single integrated stream.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592779-4AA0-5E83-2C93-963C172C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Perception</a:t>
            </a:r>
          </a:p>
        </p:txBody>
      </p:sp>
    </p:spTree>
    <p:extLst>
      <p:ext uri="{BB962C8B-B14F-4D97-AF65-F5344CB8AC3E}">
        <p14:creationId xmlns:p14="http://schemas.microsoft.com/office/powerpoint/2010/main" val="3094275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C6E129-4BCB-78ED-AD0C-53AC960D2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2646-929E-4865-EC1D-40DD1AC9760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i="1" dirty="0"/>
              <a:t>Symbolic Logic Systems: </a:t>
            </a:r>
            <a:r>
              <a:rPr lang="en-US" dirty="0"/>
              <a:t>Symbolic logic systems mark the earliest phase of AI, utilizing rules and logical principles to represent knowledge and draw conclusions</a:t>
            </a:r>
          </a:p>
          <a:p>
            <a:r>
              <a:rPr lang="en-US" dirty="0"/>
              <a:t>Traditional Machine Learning (1990s–2010s)</a:t>
            </a:r>
          </a:p>
          <a:p>
            <a:r>
              <a:rPr lang="en-US" dirty="0"/>
              <a:t>Deep Learning &amp; Foundation LLMs (2017–2023)</a:t>
            </a:r>
          </a:p>
          <a:p>
            <a:r>
              <a:rPr lang="en-US" dirty="0"/>
              <a:t>Test-Time Compute &amp; Reasoning Models (2024–Present)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F5CA89-644C-A08D-CA1C-285CB0AF7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i="1" dirty="0"/>
            </a:br>
            <a:r>
              <a:rPr lang="en-US" dirty="0"/>
              <a:t>The evolution of AI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255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3DF9E1-4905-BB69-9DF6-803E39564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AB186-ED15-AED3-B499-9872837A69A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 language model encodes statistical information about one or more languages. Intuitively, this information tells us how likely a word is to appear in a given context.</a:t>
            </a:r>
          </a:p>
          <a:p>
            <a:r>
              <a:rPr lang="en-US" dirty="0"/>
              <a:t>The basic unit of a language model is </a:t>
            </a:r>
            <a:r>
              <a:rPr lang="en-US" i="1" dirty="0"/>
              <a:t>token.</a:t>
            </a:r>
          </a:p>
          <a:p>
            <a:r>
              <a:rPr lang="en-US" dirty="0"/>
              <a:t>What’s special about language models that made them the center of the scaling approach that caused the ChatGPT moment?</a:t>
            </a:r>
          </a:p>
          <a:p>
            <a:r>
              <a:rPr lang="en-US" b="1" dirty="0"/>
              <a:t>Self-supervision</a:t>
            </a:r>
            <a:endParaRPr lang="en-US" i="1" dirty="0"/>
          </a:p>
          <a:p>
            <a:r>
              <a:rPr lang="en-US" dirty="0"/>
              <a:t>How large does a language model have to be to be considered </a:t>
            </a:r>
            <a:r>
              <a:rPr lang="en-US" i="1" dirty="0"/>
              <a:t>large</a:t>
            </a:r>
            <a:r>
              <a:rPr lang="en-US" dirty="0"/>
              <a:t>?</a:t>
            </a:r>
          </a:p>
          <a:p>
            <a:r>
              <a:rPr lang="en-US" dirty="0"/>
              <a:t>A model’s size is typically measured by its number of parameters.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374A8A-DEF0-FCD4-F62A-78C7932D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586457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616F41-6375-4D5F-4980-2D648BC52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AE42F-86A6-0CBA-9F51-E0B3F6C37C1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Foundation Model</a:t>
            </a:r>
            <a:r>
              <a:rPr lang="en-US" dirty="0"/>
              <a:t> is a massive, general-purpose AI system trained on vast, multimodal data (text, images, code, audio) using self-supervised learning.</a:t>
            </a:r>
          </a:p>
          <a:p>
            <a:r>
              <a:rPr lang="en-US" dirty="0"/>
              <a:t>Deep learning models are most trained through supervised learning on labeled data to perform regression and classification tasks. </a:t>
            </a:r>
          </a:p>
          <a:p>
            <a:r>
              <a:rPr lang="en-US" dirty="0"/>
              <a:t>But because large-scale neural networks usually require a massive amount of training data which adds to cost and labor, using </a:t>
            </a:r>
            <a:r>
              <a:rPr lang="en-US" dirty="0" err="1"/>
              <a:t>unlabled</a:t>
            </a:r>
            <a:r>
              <a:rPr lang="en-US" dirty="0"/>
              <a:t> data was introduced.</a:t>
            </a:r>
          </a:p>
          <a:p>
            <a:r>
              <a:rPr lang="en-US" b="1" dirty="0"/>
              <a:t>Self-supervised learning </a:t>
            </a:r>
            <a:r>
              <a:rPr lang="en-US" dirty="0"/>
              <a:t>has since emerged as a prominent mode of training neural networks, particularly for the foundation models underpinning generative AI.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7B0134-54F1-9E62-CF27-CE70CEC8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 Models (The Base)</a:t>
            </a:r>
          </a:p>
        </p:txBody>
      </p:sp>
    </p:spTree>
    <p:extLst>
      <p:ext uri="{BB962C8B-B14F-4D97-AF65-F5344CB8AC3E}">
        <p14:creationId xmlns:p14="http://schemas.microsoft.com/office/powerpoint/2010/main" val="3914348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484D-F380-B6FF-B47A-5FBFEA97D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863BEC-C8B2-337E-E26E-86B4F739F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D037C-9751-7585-72BB-8D56E6E3311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LLMs are built on a type of neural network architecture called a transformer which excels at handling sequences of words and capturing patterns in text.</a:t>
            </a:r>
          </a:p>
          <a:p>
            <a:r>
              <a:rPr lang="en-US" dirty="0"/>
              <a:t>LLMs are initially trained with self-supervised learning.</a:t>
            </a:r>
          </a:p>
          <a:p>
            <a:r>
              <a:rPr lang="en-US" dirty="0"/>
              <a:t>Transformer models, introduced in 2017, are useful due to their self-attention mechanism, which allows them to “pay attention to” different tokens at different moments.</a:t>
            </a:r>
          </a:p>
          <a:p>
            <a:r>
              <a:rPr lang="en-US" dirty="0"/>
              <a:t>https://poloclub.github.io/transformer-explainer/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70F957-05E7-2E05-A9CC-7F1A846DE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Models- Transformers</a:t>
            </a:r>
          </a:p>
        </p:txBody>
      </p:sp>
    </p:spTree>
    <p:extLst>
      <p:ext uri="{BB962C8B-B14F-4D97-AF65-F5344CB8AC3E}">
        <p14:creationId xmlns:p14="http://schemas.microsoft.com/office/powerpoint/2010/main" val="357097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45FE55-32AA-E5E2-DB48-289A5C872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BB57C-3769-C0F6-D780-5474EEE5590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It is a large language model (LLM) that has been fine-tuned to perform multi-step problem-solving by generating intermediate steps, often called “reasoning traces”.</a:t>
            </a:r>
          </a:p>
          <a:p>
            <a:r>
              <a:rPr lang="en-US" dirty="0"/>
              <a:t>A reasoning model generates an internal, hidden chain of thought before writing a single line of output. It allocates extra compute time at inference to test hypotheses and verify logic </a:t>
            </a:r>
          </a:p>
          <a:p>
            <a:r>
              <a:rPr lang="en-US" dirty="0"/>
              <a:t>In the context of reasoning LLMs, AI research literature often references “System 1” and “System 2” thinking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C68482-3CA8-0559-73FB-5024AC14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 reasoning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7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A968C2-B27B-F330-B1B0-CAD988A63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85740-FC42-007E-93BD-F56990196A1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b="1" dirty="0"/>
              <a:t>System 1 and System 2 thinking describes two distinct modes of cognitive processing introduced by Daniel Kahneman in his book Thinking, Fast and Slow.</a:t>
            </a:r>
          </a:p>
          <a:p>
            <a:r>
              <a:rPr lang="en-US" b="1" dirty="0"/>
              <a:t>System 1</a:t>
            </a:r>
            <a:r>
              <a:rPr lang="en-US" dirty="0"/>
              <a:t> is fast, automatic, and intuitive, operating with little to no effort. This mode of thinking allows us to make quick decisions and judgments based on patterns and experiences. </a:t>
            </a:r>
          </a:p>
          <a:p>
            <a:r>
              <a:rPr lang="en-US" dirty="0"/>
              <a:t>In contrast, </a:t>
            </a:r>
            <a:r>
              <a:rPr lang="en-US" b="1" dirty="0"/>
              <a:t>System 2</a:t>
            </a:r>
            <a:r>
              <a:rPr lang="en-US" dirty="0"/>
              <a:t> is slow, deliberate, and conscious, requiring intentional effort. This type of thinking is used for complex problem-solving and analytical tasks where more thought and consideration are necessary.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793F6B-F4AE-A26E-6F48-A2CD4AC2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System 1 and System 2 Thinking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031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82F6DA-A14C-3DCC-D093-F914FADFC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D49AF-2B57-619F-CE8C-3819DB33552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5325" y="1226065"/>
            <a:ext cx="10259368" cy="4938048"/>
          </a:xfrm>
        </p:spPr>
        <p:txBody>
          <a:bodyPr>
            <a:normAutofit/>
          </a:bodyPr>
          <a:lstStyle/>
          <a:p>
            <a:r>
              <a:rPr lang="en-US" sz="1400" dirty="0"/>
              <a:t>S2A, an early inference scaling method. By adding steps between input and response—in this case, to rewrite the original prompt—the model improves its final output. Taken from the paper "System 2 Attention (is something you might need too)."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E06F8E-54EE-D2D8-C09D-461DBF5D2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System 2 Attention” (S2A)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BE8EE-1046-AC4F-17BD-14CEA187E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31" y="1801798"/>
            <a:ext cx="8130012" cy="473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48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1BD997-1A54-7022-DB09-EF3E1E723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23991-E733-3D03-C449-029EDDB2BA6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Automated Code Bug Fixing</a:t>
            </a:r>
          </a:p>
          <a:p>
            <a:r>
              <a:rPr lang="en-US" dirty="0"/>
              <a:t>Consider fixing a critical bug in a complex microservices codebase</a:t>
            </a:r>
          </a:p>
          <a:p>
            <a:r>
              <a:rPr lang="en-US" dirty="0"/>
              <a:t>Traditional ML: Identifies which line or file likely contains a bug based on historical commit log classification, but cannot write or evaluate the fix.</a:t>
            </a:r>
          </a:p>
          <a:p>
            <a:r>
              <a:rPr lang="en-US" dirty="0"/>
              <a:t>Standard LLM: Inspects the buggy function and rapidly writes a plausible patch. However, it may overlook edge-case race conditions or introduce breaking API changes elsewhere because it outputs the solution in a single pass.</a:t>
            </a:r>
          </a:p>
          <a:p>
            <a:r>
              <a:rPr lang="en-US" dirty="0"/>
              <a:t>Reasoning Model: </a:t>
            </a:r>
          </a:p>
          <a:p>
            <a:pPr lvl="1"/>
            <a:r>
              <a:rPr lang="en-US" dirty="0"/>
              <a:t>Executes an internal scratchpad thought process:</a:t>
            </a:r>
          </a:p>
          <a:p>
            <a:pPr lvl="1"/>
            <a:r>
              <a:rPr lang="en-US" dirty="0"/>
              <a:t>Traces the call stack across services mentally.</a:t>
            </a:r>
          </a:p>
          <a:p>
            <a:pPr lvl="1"/>
            <a:r>
              <a:rPr lang="en-US" dirty="0"/>
              <a:t>Hypothesizes three potential root causes (memory leak, null pointer, race condition).</a:t>
            </a:r>
          </a:p>
          <a:p>
            <a:pPr lvl="1"/>
            <a:r>
              <a:rPr lang="en-US" dirty="0"/>
              <a:t>Simulates running the code against edge cases to disprove 2 of the hypotheses.</a:t>
            </a:r>
          </a:p>
          <a:p>
            <a:pPr lvl="1"/>
            <a:r>
              <a:rPr lang="en-US" dirty="0"/>
              <a:t>Drafts the fix, double-checks for breaking dependencies, and only then outputs the final code block.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B3A80C-CA8F-BADC-30D0-76CEF905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</a:t>
            </a:r>
            <a:r>
              <a:rPr lang="en-US" dirty="0" err="1"/>
              <a:t>Usecase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378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1B4CE3-B451-A4A0-F418-8F4610C98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BAA3D-F67D-9E0E-88FB-FD40E29025B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 token can be a character, a word, or a part of a word (like -</a:t>
            </a:r>
            <a:r>
              <a:rPr lang="en-US" dirty="0" err="1"/>
              <a:t>tion</a:t>
            </a:r>
            <a:r>
              <a:rPr lang="en-US" dirty="0"/>
              <a:t>), depending on the model.</a:t>
            </a:r>
          </a:p>
          <a:p>
            <a:r>
              <a:rPr lang="en-US" dirty="0"/>
              <a:t>The process of breaking the original text into tokens is called </a:t>
            </a:r>
            <a:r>
              <a:rPr lang="en-US" i="1" dirty="0"/>
              <a:t>tokenization</a:t>
            </a:r>
            <a:r>
              <a:rPr lang="en-US" dirty="0"/>
              <a:t>.</a:t>
            </a:r>
          </a:p>
          <a:p>
            <a:r>
              <a:rPr lang="en-US" dirty="0"/>
              <a:t>Why do language models use </a:t>
            </a:r>
            <a:r>
              <a:rPr lang="en-US" i="1" dirty="0"/>
              <a:t>token </a:t>
            </a:r>
            <a:r>
              <a:rPr lang="en-US" dirty="0"/>
              <a:t>as their unit instead of </a:t>
            </a:r>
            <a:r>
              <a:rPr lang="en-US" i="1" dirty="0"/>
              <a:t>word </a:t>
            </a:r>
            <a:r>
              <a:rPr lang="en-US" dirty="0"/>
              <a:t>or </a:t>
            </a:r>
            <a:r>
              <a:rPr lang="en-US" i="1" dirty="0"/>
              <a:t>character</a:t>
            </a:r>
            <a:r>
              <a:rPr lang="en-US" dirty="0"/>
              <a:t>??</a:t>
            </a:r>
          </a:p>
          <a:p>
            <a:r>
              <a:rPr lang="en-US" dirty="0"/>
              <a:t>https://platform.openai.com/tokenizer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E616CA-88E4-DA34-140C-130AE1FB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i="1" dirty="0"/>
            </a:br>
            <a:r>
              <a:rPr lang="en-US" i="1" dirty="0"/>
              <a:t>Tokenization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02D8D3-6972-ACA3-7B2D-249603A9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01" y="4260374"/>
            <a:ext cx="9054790" cy="40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C9E487-BD1C-7792-633D-707F56FA7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75B5C-777E-35B4-DE2C-D0C0E66D7D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https://www.ibm.com/think/topics/ai-model</a:t>
            </a:r>
            <a:endParaRPr lang="en-US" dirty="0"/>
          </a:p>
          <a:p>
            <a:r>
              <a:rPr lang="en-US" dirty="0">
                <a:hlinkClick r:id="rId3"/>
              </a:rPr>
              <a:t>https://www.ibm.com/think/topics/reasoning-model#692473874</a:t>
            </a:r>
            <a:endParaRPr lang="en-US" dirty="0"/>
          </a:p>
          <a:p>
            <a:r>
              <a:rPr lang="en-IN" dirty="0"/>
              <a:t>AI Engineering: Building Applications with Foundation Models by Chip Huyen , Oreilly, 2025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BB71B0-72B9-EFC3-EB0E-EAC3D5E5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470054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C2324A8A8974418F4287FF4BA2FD86" ma:contentTypeVersion="3" ma:contentTypeDescription="Create a new document." ma:contentTypeScope="" ma:versionID="c20ae23d9ac856c6053e676649c543ef">
  <xsd:schema xmlns:xsd="http://www.w3.org/2001/XMLSchema" xmlns:xs="http://www.w3.org/2001/XMLSchema" xmlns:p="http://schemas.microsoft.com/office/2006/metadata/properties" xmlns:ns2="3719838a-b8de-4044-bbc5-cde9575f33d8" targetNamespace="http://schemas.microsoft.com/office/2006/metadata/properties" ma:root="true" ma:fieldsID="5bcd724bed00bb7cfe4f11aa70afd346" ns2:_="">
    <xsd:import namespace="3719838a-b8de-4044-bbc5-cde9575f33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19838a-b8de-4044-bbc5-cde9575f33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1ECB5B-1D9B-48CF-8859-6B44915CB244}"/>
</file>

<file path=customXml/itemProps2.xml><?xml version="1.0" encoding="utf-8"?>
<ds:datastoreItem xmlns:ds="http://schemas.openxmlformats.org/officeDocument/2006/customXml" ds:itemID="{D2D43136-CA55-4EFF-BABB-EC10FD16B7D4}"/>
</file>

<file path=customXml/itemProps3.xml><?xml version="1.0" encoding="utf-8"?>
<ds:datastoreItem xmlns:ds="http://schemas.openxmlformats.org/officeDocument/2006/customXml" ds:itemID="{14FC3C2A-E8A7-42B3-9724-63C4E0CBE55F}"/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1539</Words>
  <Application>Microsoft Office PowerPoint</Application>
  <PresentationFormat>Widescreen</PresentationFormat>
  <Paragraphs>95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Helvetica</vt:lpstr>
      <vt:lpstr>1_Office Theme</vt:lpstr>
      <vt:lpstr>AI-Augmented Software Development Life Cycle  SEZG534</vt:lpstr>
      <vt:lpstr>PowerPoint Presentation</vt:lpstr>
      <vt:lpstr>Artificial Intelligence</vt:lpstr>
      <vt:lpstr>1. Learning</vt:lpstr>
      <vt:lpstr> Machine learning </vt:lpstr>
      <vt:lpstr>AI and ML</vt:lpstr>
      <vt:lpstr>2. Reasoning</vt:lpstr>
      <vt:lpstr>3. Problem-Solving</vt:lpstr>
      <vt:lpstr>4. Perception</vt:lpstr>
      <vt:lpstr> The evolution of AI </vt:lpstr>
      <vt:lpstr>Large Language Models</vt:lpstr>
      <vt:lpstr>Foundation Models (The Base)</vt:lpstr>
      <vt:lpstr>Large Language Models- Transformers</vt:lpstr>
      <vt:lpstr>A reasoning model</vt:lpstr>
      <vt:lpstr> System 1 and System 2 Thinking </vt:lpstr>
      <vt:lpstr>System 2 Attention” (S2A)</vt:lpstr>
      <vt:lpstr>Real-World Usecase</vt:lpstr>
      <vt:lpstr> Tokenization.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Shivam Chauhan</dc:creator>
  <cp:lastModifiedBy>AKSHAYA GANESAN .</cp:lastModifiedBy>
  <cp:revision>75</cp:revision>
  <dcterms:created xsi:type="dcterms:W3CDTF">2022-09-26T09:02:06Z</dcterms:created>
  <dcterms:modified xsi:type="dcterms:W3CDTF">2026-08-21T13:21:02Z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0x0101001EC2324A8A8974418F4287FF4BA2FD86</vt:lpwstr>
  </property>
</Properties>
</file>