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333" r:id="rId3"/>
    <p:sldId id="536" r:id="rId4"/>
    <p:sldId id="558" r:id="rId5"/>
    <p:sldId id="538" r:id="rId6"/>
    <p:sldId id="539" r:id="rId7"/>
    <p:sldId id="543" r:id="rId8"/>
    <p:sldId id="547" r:id="rId9"/>
    <p:sldId id="545" r:id="rId10"/>
    <p:sldId id="540" r:id="rId11"/>
    <p:sldId id="541" r:id="rId12"/>
    <p:sldId id="556" r:id="rId13"/>
    <p:sldId id="557" r:id="rId14"/>
    <p:sldId id="559" r:id="rId15"/>
    <p:sldId id="535" r:id="rId16"/>
    <p:sldId id="549" r:id="rId17"/>
    <p:sldId id="548" r:id="rId18"/>
    <p:sldId id="553" r:id="rId19"/>
    <p:sldId id="550" r:id="rId20"/>
    <p:sldId id="555" r:id="rId21"/>
    <p:sldId id="554" r:id="rId22"/>
    <p:sldId id="560" r:id="rId23"/>
    <p:sldId id="561" r:id="rId24"/>
    <p:sldId id="456" r:id="rId25"/>
    <p:sldId id="532" r:id="rId26"/>
    <p:sldId id="533" r:id="rId27"/>
    <p:sldId id="542" r:id="rId28"/>
    <p:sldId id="562" r:id="rId29"/>
    <p:sldId id="563" r:id="rId30"/>
    <p:sldId id="564" r:id="rId31"/>
    <p:sldId id="565" r:id="rId32"/>
    <p:sldId id="566" r:id="rId33"/>
    <p:sldId id="534" r:id="rId34"/>
    <p:sldId id="567" r:id="rId35"/>
    <p:sldId id="568" r:id="rId36"/>
    <p:sldId id="569" r:id="rId37"/>
    <p:sldId id="546" r:id="rId38"/>
    <p:sldId id="570" r:id="rId39"/>
    <p:sldId id="537" r:id="rId40"/>
    <p:sldId id="551" r:id="rId41"/>
    <p:sldId id="552" r:id="rId42"/>
    <p:sldId id="571" r:id="rId43"/>
    <p:sldId id="572" r:id="rId44"/>
    <p:sldId id="573" r:id="rId45"/>
    <p:sldId id="574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0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5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88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4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5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4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AU"/>
              <a:t>SSZG653 Software Architectures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10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September 12,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resources.sei.cmu.edu/asset_files/TechnicalNote/2003_004_001_14141.pdf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resources.sei.cmu.edu/asset_files/TechnicalReport/2003_005_001_14081.pdf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mod.inria.fr/archives/papers/Duca09c-TSE-SOAArchitectureExtraction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08C5D9-A13E-486C-5724-938B49E6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810000"/>
            <a:ext cx="6172200" cy="1981200"/>
          </a:xfrm>
        </p:spPr>
        <p:txBody>
          <a:bodyPr/>
          <a:lstStyle/>
          <a:p>
            <a:r>
              <a:rPr lang="en-US" dirty="0"/>
              <a:t>SEZG651/ SSZG653 </a:t>
            </a:r>
            <a:br>
              <a:rPr lang="en-US" dirty="0"/>
            </a:br>
            <a:r>
              <a:rPr lang="en-US" dirty="0"/>
              <a:t>Software Architectures</a:t>
            </a:r>
            <a:br>
              <a:rPr lang="en-US" dirty="0"/>
            </a:br>
            <a:r>
              <a:rPr lang="en-US" sz="3200" dirty="0"/>
              <a:t>Module 5</a:t>
            </a:r>
            <a:br>
              <a:rPr lang="en-US" sz="3200" dirty="0"/>
            </a:br>
            <a:r>
              <a:rPr lang="en-US" sz="2400" dirty="0"/>
              <a:t>CS08 </a:t>
            </a:r>
            <a:r>
              <a:rPr lang="en-IN" sz="2400" dirty="0"/>
              <a:t>Conformance Testing Reconstruction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12,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6390769B-2EF6-B8A3-E6E9-4D6E57760A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750" y="5181600"/>
            <a:ext cx="6019800" cy="91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000"/>
              <a:t>Harvinder S Jabbal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SEZG651/SSZG653 Software Architectures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D11131A-95C2-F405-909E-23FA3BDC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657600"/>
            <a:ext cx="62484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Software Architecture</a:t>
            </a:r>
            <a:br>
              <a:rPr lang="en-US" sz="3300" dirty="0"/>
            </a:br>
            <a:r>
              <a:rPr lang="en-US" sz="3200" dirty="0"/>
              <a:t>Module 5</a:t>
            </a:r>
            <a:br>
              <a:rPr lang="en-US" sz="3300" dirty="0"/>
            </a:br>
            <a:r>
              <a:rPr lang="en-US" sz="3300" dirty="0"/>
              <a:t>Ensuring conformance to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3DEA3-FE98-6577-966F-B3BF740C807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063DE-3B80-AC77-2A31-84508F75CD2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BB67-4124-A9B1-62C5-694BBE8C18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2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7B4E7855-4C71-757D-061C-ACC3C81DC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1800" dirty="0"/>
              <a:t>Examples of drift:</a:t>
            </a:r>
          </a:p>
          <a:p>
            <a:pPr marL="400050" lvl="1" indent="0" fontAlgn="base">
              <a:spcAft>
                <a:spcPct val="0"/>
              </a:spcAft>
              <a:buFont typeface="Arial" pitchFamily="34" charset="0"/>
              <a:buNone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Not sticking to the discipline of layers – an object in one layer calling an object located in a layer beyond the adjacent layer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Accessing data base directly without going through data access layer 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Notifying different modules one by one instead of using ‘publish – subscribe’ model, 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Not making use of a common logging mechanism, etc.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defRPr/>
            </a:pPr>
            <a:r>
              <a:rPr lang="en-IN" altLang="en-US" sz="1800" dirty="0">
                <a:solidFill>
                  <a:srgbClr val="FF0000"/>
                </a:solidFill>
              </a:rPr>
              <a:t>What other architecture violations have you come across?</a:t>
            </a: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5DEF-3623-89D2-E603-43241A52F6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Code may drift away from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ED506-CCDA-5115-B0E4-7D9B1AA0673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0C79C-CE3C-447F-B77C-B3EF41E4A5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5366" name="Slide Number Placeholder 4">
            <a:extLst>
              <a:ext uri="{FF2B5EF4-FFF2-40B4-BE49-F238E27FC236}">
                <a16:creationId xmlns:a16="http://schemas.microsoft.com/office/drawing/2014/main" id="{85EAD070-31B4-C3F1-580F-FB03D16B35E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782BFD-7278-4ABE-915B-CB80E33F91BF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2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C4D8D7BC-3F68-0553-5219-DB9DF8F7F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Embed design concepts in the code (Architecturally evident coding style)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Use frameworks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Use code templates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Update architecture documentation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B4D64-E401-CCA3-360B-4F3F17365D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Techniques to keep the code and architecture consistent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CEB09-C0FD-B62A-9EA6-9C05B2DE767C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A54CC-9FA7-6481-FDAF-B464A598A4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2EF033EB-F6A0-FEF6-3186-C13463BAF29A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AFBBE1-096D-4BFF-96C1-9388D0C3E376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0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FB715485-4CFA-DAED-4311-FF60FBE3D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1800"/>
              <a:t>Follow ‘Architecturally Evident Coding Style’</a:t>
            </a:r>
          </a:p>
          <a:p>
            <a:pPr fontAlgn="base">
              <a:spcAft>
                <a:spcPct val="0"/>
              </a:spcAft>
            </a:pPr>
            <a:endParaRPr lang="en-IN" altLang="en-US" sz="1800"/>
          </a:p>
          <a:p>
            <a:pPr fontAlgn="base">
              <a:spcAft>
                <a:spcPct val="0"/>
              </a:spcAft>
            </a:pPr>
            <a:r>
              <a:rPr lang="en-IN" altLang="en-US" sz="1800"/>
              <a:t>Indicate in the code, aspects of architecture being implemented. Example:</a:t>
            </a:r>
          </a:p>
          <a:p>
            <a:pPr fontAlgn="base">
              <a:spcAft>
                <a:spcPct val="0"/>
              </a:spcAft>
            </a:pPr>
            <a:endParaRPr lang="en-IN" altLang="en-US" sz="1800"/>
          </a:p>
          <a:p>
            <a:pPr lvl="1" fontAlgn="base">
              <a:spcAft>
                <a:spcPct val="0"/>
              </a:spcAft>
            </a:pPr>
            <a:r>
              <a:rPr lang="en-IN" altLang="en-US" sz="1800"/>
              <a:t>If we are using a layered architecture, indicate to which layer the code belongs</a:t>
            </a:r>
          </a:p>
          <a:p>
            <a:pPr lvl="1" fontAlgn="base">
              <a:spcAft>
                <a:spcPct val="0"/>
              </a:spcAft>
            </a:pPr>
            <a:endParaRPr lang="en-IN" altLang="en-US" sz="1800"/>
          </a:p>
          <a:p>
            <a:pPr lvl="1" fontAlgn="base">
              <a:spcAft>
                <a:spcPct val="0"/>
              </a:spcAft>
            </a:pPr>
            <a:r>
              <a:rPr lang="en-IN" altLang="en-US" sz="1800"/>
              <a:t>If we are using ‘Publish – Subscribe’ pattern, indicate in the code whether it belongs to Publisher or Subscriber</a:t>
            </a:r>
          </a:p>
          <a:p>
            <a:pPr lvl="1" fontAlgn="base">
              <a:spcAft>
                <a:spcPct val="0"/>
              </a:spcAft>
            </a:pPr>
            <a:endParaRPr lang="en-IN" altLang="en-US" sz="1800"/>
          </a:p>
          <a:p>
            <a:pPr lvl="1" fontAlgn="base">
              <a:spcAft>
                <a:spcPct val="0"/>
              </a:spcAft>
            </a:pPr>
            <a:r>
              <a:rPr lang="en-IN" altLang="en-US" sz="1800"/>
              <a:t>If we are using Message queues (MQ) for communication between components, indicate what the component is doing - inserting message or retrieving message from the MQ.</a:t>
            </a:r>
          </a:p>
          <a:p>
            <a:pPr lvl="1" fontAlgn="base">
              <a:spcAft>
                <a:spcPct val="0"/>
              </a:spcAft>
            </a:pPr>
            <a:endParaRPr lang="en-IN" altLang="en-US" sz="1800"/>
          </a:p>
          <a:p>
            <a:pPr fontAlgn="base">
              <a:spcAft>
                <a:spcPct val="0"/>
              </a:spcAft>
            </a:pPr>
            <a:endParaRPr lang="en-IN" altLang="en-US" sz="2800"/>
          </a:p>
          <a:p>
            <a:pPr fontAlgn="base">
              <a:spcAft>
                <a:spcPct val="0"/>
              </a:spcAft>
            </a:pPr>
            <a:endParaRPr lang="en-IN" alt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ADFF-56BF-5DE2-132C-6DC09EB559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Embed design in code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66CC2-8331-A055-7464-165E5DA8C8F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C5008-2986-6E96-35C5-97B45F62D4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7414" name="Slide Number Placeholder 4">
            <a:extLst>
              <a:ext uri="{FF2B5EF4-FFF2-40B4-BE49-F238E27FC236}">
                <a16:creationId xmlns:a16="http://schemas.microsoft.com/office/drawing/2014/main" id="{F1BD04F2-D67B-B72B-6F4A-402D9FD8076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AB6581-2EEB-46C6-9C31-2545EAE1CE7E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55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>
            <a:extLst>
              <a:ext uri="{FF2B5EF4-FFF2-40B4-BE49-F238E27FC236}">
                <a16:creationId xmlns:a16="http://schemas.microsoft.com/office/drawing/2014/main" id="{3E985946-C8F1-74FD-09FB-0ECA29BBE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57150" indent="0" fontAlgn="base">
              <a:spcAft>
                <a:spcPct val="0"/>
              </a:spcAft>
              <a:defRPr/>
            </a:pPr>
            <a:r>
              <a:rPr lang="en-IN" altLang="en-US" sz="2800" dirty="0"/>
              <a:t>Examples of frameworks: 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2800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dirty="0"/>
              <a:t>Spring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dirty="0"/>
              <a:t>Hibernate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dirty="0" err="1"/>
              <a:t>Autosar</a:t>
            </a:r>
            <a:r>
              <a:rPr lang="en-IN" altLang="en-US" dirty="0"/>
              <a:t> - </a:t>
            </a:r>
            <a:r>
              <a:rPr lang="en-IN" dirty="0" err="1"/>
              <a:t>AUTomotive</a:t>
            </a:r>
            <a:r>
              <a:rPr lang="en-IN" dirty="0"/>
              <a:t> Open System Architecture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dirty="0"/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dirty="0"/>
          </a:p>
          <a:p>
            <a:pPr fontAlgn="base">
              <a:spcAft>
                <a:spcPct val="0"/>
              </a:spcAft>
              <a:defRPr/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2DC1-D469-94C6-4D27-911CE40325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Use Frameworks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EA1BC6-83F1-3C48-3881-F2D33267BB9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2236B-B693-4AC6-D1F6-7C44BA2E88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BE6DDC0B-A1B0-998B-27A4-873A302BD3D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29677E-70E7-4585-AD68-037B0E10C8A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86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>
            <a:extLst>
              <a:ext uri="{FF2B5EF4-FFF2-40B4-BE49-F238E27FC236}">
                <a16:creationId xmlns:a16="http://schemas.microsoft.com/office/drawing/2014/main" id="{9EA4DCED-A8F2-FDB2-C716-F43DECAB0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2239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Supports Model-View-Controller framework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Here code belongs to one of the 3 component types - Model, View or Controller</a:t>
            </a:r>
          </a:p>
          <a:p>
            <a:pPr marL="685800" lvl="1">
              <a:buSzPts val="1000"/>
              <a:buFont typeface="Arial" pitchFamily="34" charset="0"/>
              <a:buChar char="•"/>
              <a:tabLst>
                <a:tab pos="457200" algn="l"/>
              </a:tabLst>
              <a:defRPr/>
            </a:pPr>
            <a:r>
              <a:rPr lang="en-IN" sz="1800" b="1" dirty="0">
                <a:ea typeface="Times New Roman" panose="02020603050405020304" pitchFamily="18" charset="0"/>
              </a:rPr>
              <a:t>Model</a:t>
            </a:r>
            <a:r>
              <a:rPr lang="en-IN" sz="1800" dirty="0">
                <a:ea typeface="Times New Roman" panose="02020603050405020304" pitchFamily="18" charset="0"/>
              </a:rPr>
              <a:t> encapsulates the application data</a:t>
            </a:r>
          </a:p>
          <a:p>
            <a:pPr marL="685800" lvl="1">
              <a:buSzPts val="1000"/>
              <a:buFont typeface="Arial" pitchFamily="34" charset="0"/>
              <a:buChar char="•"/>
              <a:tabLst>
                <a:tab pos="457200" algn="l"/>
              </a:tabLst>
              <a:defRPr/>
            </a:pPr>
            <a:r>
              <a:rPr lang="en-IN" sz="1800" b="1" dirty="0">
                <a:ea typeface="Times New Roman" panose="02020603050405020304" pitchFamily="18" charset="0"/>
              </a:rPr>
              <a:t>View</a:t>
            </a:r>
            <a:r>
              <a:rPr lang="en-IN" sz="1800" dirty="0">
                <a:ea typeface="Times New Roman" panose="02020603050405020304" pitchFamily="18" charset="0"/>
              </a:rPr>
              <a:t> renders screens on browser</a:t>
            </a:r>
          </a:p>
          <a:p>
            <a:pPr marL="685800" lvl="1">
              <a:buSzPts val="1000"/>
              <a:buFont typeface="Arial" pitchFamily="34" charset="0"/>
              <a:buChar char="•"/>
              <a:tabLst>
                <a:tab pos="457200" algn="l"/>
              </a:tabLst>
              <a:defRPr/>
            </a:pPr>
            <a:r>
              <a:rPr lang="en-IN" sz="1800" b="1" dirty="0">
                <a:ea typeface="Times New Roman" panose="02020603050405020304" pitchFamily="18" charset="0"/>
              </a:rPr>
              <a:t>Controller</a:t>
            </a:r>
            <a:r>
              <a:rPr lang="en-IN" sz="1800" dirty="0">
                <a:ea typeface="Times New Roman" panose="02020603050405020304" pitchFamily="18" charset="0"/>
              </a:rPr>
              <a:t> processes user requests, interacts with Model components and passes information to View components for rendering</a:t>
            </a:r>
          </a:p>
          <a:p>
            <a:pPr lvl="1" fontAlgn="base">
              <a:spcAft>
                <a:spcPct val="0"/>
              </a:spcAft>
              <a:defRPr/>
            </a:pPr>
            <a:endParaRPr lang="en-IN" alt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C4DA-983A-F6F8-98C3-1F62B099D1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Spring MVC Framework</a:t>
            </a:r>
          </a:p>
        </p:txBody>
      </p:sp>
      <p:pic>
        <p:nvPicPr>
          <p:cNvPr id="19460" name="Content Placeholder 1">
            <a:extLst>
              <a:ext uri="{FF2B5EF4-FFF2-40B4-BE49-F238E27FC236}">
                <a16:creationId xmlns:a16="http://schemas.microsoft.com/office/drawing/2014/main" id="{8ACFB1FA-B49B-DF15-0317-B72DE41F8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81400"/>
            <a:ext cx="45704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C347B-33E7-9448-D731-253C68F7FB3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D2035-76A8-97C8-7892-12A1651C18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9463" name="Slide Number Placeholder 4">
            <a:extLst>
              <a:ext uri="{FF2B5EF4-FFF2-40B4-BE49-F238E27FC236}">
                <a16:creationId xmlns:a16="http://schemas.microsoft.com/office/drawing/2014/main" id="{E6BEE1DF-984E-BB90-ACFD-DE99D2B7CE1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B8B1EB-C322-4B5B-A0E1-9EF886A6A093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6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>
            <a:extLst>
              <a:ext uri="{FF2B5EF4-FFF2-40B4-BE49-F238E27FC236}">
                <a16:creationId xmlns:a16="http://schemas.microsoft.com/office/drawing/2014/main" id="{FEB87947-9BDE-EA2B-86FF-8537BC78A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2000">
                <a:solidFill>
                  <a:srgbClr val="FF0000"/>
                </a:solidFill>
              </a:rPr>
              <a:t>Can you give examples of other frameworks that you have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81AD1-D02F-55A2-BBE0-2DBEB8AE53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Experience sharing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0AFA0-2D79-3EA2-1193-F7C3EF00009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CD76E-93E2-7CDF-6FCE-E8B38023A4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0486" name="Slide Number Placeholder 4">
            <a:extLst>
              <a:ext uri="{FF2B5EF4-FFF2-40B4-BE49-F238E27FC236}">
                <a16:creationId xmlns:a16="http://schemas.microsoft.com/office/drawing/2014/main" id="{E9388B2E-A8BB-2F1C-E562-0100948197A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CA982A-B76B-410C-BE82-10882B56C2F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7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>
            <a:extLst>
              <a:ext uri="{FF2B5EF4-FFF2-40B4-BE49-F238E27FC236}">
                <a16:creationId xmlns:a16="http://schemas.microsoft.com/office/drawing/2014/main" id="{5D1A3553-89B1-F4C5-A4AE-641CF4A1D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Publish – Subscribe framework (JMS)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Workflow framework of SalesForce.com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Rules engine (DROOLS)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Logging  framework - Log4J (for logging events)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D2BF-5FA5-4765-4635-038061FD896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Other examples of frameworks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DD68D-FA47-7983-F805-AFA06E0B69C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37D64-C484-0C3F-E42D-4817228611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1510" name="Slide Number Placeholder 4">
            <a:extLst>
              <a:ext uri="{FF2B5EF4-FFF2-40B4-BE49-F238E27FC236}">
                <a16:creationId xmlns:a16="http://schemas.microsoft.com/office/drawing/2014/main" id="{2E97BC13-6A23-8F91-9057-1AB9C5E6CFEE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633033-97B3-4112-8CE5-EC05EEF9712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52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2D2991-2185-C7E9-25EA-350C21341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>
            <a:normAutofit fontScale="92500" lnSpcReduction="2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IN" sz="1600" dirty="0"/>
              <a:t>A template provides a structure for developers to code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IN" sz="1600" dirty="0"/>
              <a:t>For example a template for developing a code that needs to be fault tolerant will have the following sections in the template </a:t>
            </a:r>
          </a:p>
          <a:p>
            <a:pPr>
              <a:buFont typeface="Arial" pitchFamily="34" charset="0"/>
              <a:buChar char="•"/>
              <a:defRPr/>
            </a:pPr>
            <a:endParaRPr lang="en-IN" sz="1600" dirty="0"/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Get event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Case (Event type)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b="1" dirty="0">
                <a:solidFill>
                  <a:srgbClr val="FF0000"/>
                </a:solidFill>
              </a:rPr>
              <a:t>Normal: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// received by primary process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Process X; Send state to backup process;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Process Y; Send state to backup process;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b="1" dirty="0">
                <a:solidFill>
                  <a:srgbClr val="FF0000"/>
                </a:solidFill>
              </a:rPr>
              <a:t>Update State data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: // received by Backup process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Update state data;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IN" b="1" dirty="0">
                <a:solidFill>
                  <a:srgbClr val="FF0000"/>
                </a:solidFill>
              </a:rPr>
              <a:t>Switch over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: // received by Backup process</a:t>
            </a:r>
          </a:p>
          <a:p>
            <a:pPr marL="1828800" lvl="4" indent="0">
              <a:buFont typeface="Arial" panose="020B0604020202020204" pitchFamily="34" charset="0"/>
              <a:buNone/>
              <a:defRPr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Notify clients about change in Primary process;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</a:p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End case;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30A1D-2CFA-1C03-E9CC-6F9319DA8C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Use Code templates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6619673-173D-4D1B-B8E3-4126A1BA72E9}"/>
              </a:ext>
            </a:extLst>
          </p:cNvPr>
          <p:cNvSpPr/>
          <p:nvPr/>
        </p:nvSpPr>
        <p:spPr>
          <a:xfrm>
            <a:off x="7086600" y="3581400"/>
            <a:ext cx="2057400" cy="1066800"/>
          </a:xfrm>
          <a:prstGeom prst="wedgeRoundRectCallout">
            <a:avLst>
              <a:gd name="adj1" fmla="val -87583"/>
              <a:gd name="adj2" fmla="val 25000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Code needs to be accommodated in this template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5CEA1-8244-B5AC-94C2-A7E923D1F58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2D6C1-6AD7-6D60-742A-EA8D70666A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2535" name="Slide Number Placeholder 6">
            <a:extLst>
              <a:ext uri="{FF2B5EF4-FFF2-40B4-BE49-F238E27FC236}">
                <a16:creationId xmlns:a16="http://schemas.microsoft.com/office/drawing/2014/main" id="{ACA1BF93-0C22-D80E-E191-7CBDE356CF9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00C481-68F4-4D54-8585-26ADC97782C0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1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>
            <a:extLst>
              <a:ext uri="{FF2B5EF4-FFF2-40B4-BE49-F238E27FC236}">
                <a16:creationId xmlns:a16="http://schemas.microsoft.com/office/drawing/2014/main" id="{C245E8EA-BA68-DEE7-CCB0-919B1D823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Changes to code should be accompanied with changes to architecture document when applicable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At least mark parts of the arch document that is no longer applicable as ‘No longer applicable’. This increases trust on remainder of the document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Technique: At release time, synchronize the arch doc with code.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AAD0-664F-9788-E89A-716040686C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Update architecture documentation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DBC0A-CB57-9B6D-E295-F696DCE9C6E9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CE052-50F1-1F0F-79CE-01452F2DDD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3558" name="Slide Number Placeholder 4">
            <a:extLst>
              <a:ext uri="{FF2B5EF4-FFF2-40B4-BE49-F238E27FC236}">
                <a16:creationId xmlns:a16="http://schemas.microsoft.com/office/drawing/2014/main" id="{94BC50EF-73F1-E9F9-DF03-DF8B9AF6EBE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2C5429-5A4A-4D18-8929-FC581A9A305F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9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>
            <a:extLst>
              <a:ext uri="{FF2B5EF4-FFF2-40B4-BE49-F238E27FC236}">
                <a16:creationId xmlns:a16="http://schemas.microsoft.com/office/drawing/2014/main" id="{B1AAF603-48E4-5F54-B016-E7ADD5CB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>
                <a:solidFill>
                  <a:srgbClr val="FF0000"/>
                </a:solidFill>
              </a:rPr>
              <a:t>What other techniques can we think of to ensure that code does not drift away from architecture?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3AE3-7222-69F1-1F53-97DB0D2FE0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Exercise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93F4A-7ED7-D1F6-9B19-23AB479689B2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447D2-1067-6D93-2AA0-1E3DBC1A0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4582" name="Slide Number Placeholder 4">
            <a:extLst>
              <a:ext uri="{FF2B5EF4-FFF2-40B4-BE49-F238E27FC236}">
                <a16:creationId xmlns:a16="http://schemas.microsoft.com/office/drawing/2014/main" id="{E2F7A309-E319-16C3-A1D8-696C71BD7708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C6039E-47B0-471F-8504-8DA128E6BED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353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BB9583DB-0484-223A-E89F-65793394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IN" altLang="en-US" sz="1800">
                <a:solidFill>
                  <a:srgbClr val="FF0000"/>
                </a:solidFill>
              </a:rPr>
              <a:t>What other techniques can we think of to ensure that code does not drift away from architecture?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Educate new team members about the architecture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Do Code reviews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Create folders for each architectural aspect such as layer, service, UI, external interfaces, etc. and follow a discipline of storing the code in respective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7918-71B3-1F17-4044-96144435DF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Exercise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10B5A-75E6-8308-6376-5BC51D1B3A8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C234F-0216-C7DF-FED7-BACFE4D1C5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5606" name="Slide Number Placeholder 4">
            <a:extLst>
              <a:ext uri="{FF2B5EF4-FFF2-40B4-BE49-F238E27FC236}">
                <a16:creationId xmlns:a16="http://schemas.microsoft.com/office/drawing/2014/main" id="{EB5BE6FD-2E00-24DF-E527-660C61982BB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C8D166-715D-41CB-9BF6-AA84CF544B2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62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DC9E0D89-CCA3-7AA9-554A-85CD62470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750" y="5181600"/>
            <a:ext cx="6019800" cy="91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000"/>
              <a:t>Harvinder S Jabbal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SEZG651/SSZG653 Software Architectures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D487FE43-C4C8-4FC7-5F10-4B44AC9F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657600"/>
            <a:ext cx="62484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Software Architecture</a:t>
            </a:r>
            <a:br>
              <a:rPr lang="en-US" sz="3300" dirty="0"/>
            </a:br>
            <a:r>
              <a:rPr lang="en-US" sz="3200" dirty="0"/>
              <a:t>Module 5</a:t>
            </a:r>
            <a:br>
              <a:rPr lang="en-US" sz="3300" dirty="0"/>
            </a:br>
            <a:r>
              <a:rPr lang="en-US" sz="3300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80207-478E-4032-8664-85C5394402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4ACC0-539D-5A5E-BBDC-68E156EDE7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3111-9061-D831-EF2B-D5EEFD273B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2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C32F6736-ED9F-80DB-CB7B-1DA0F31C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endParaRPr lang="en-IN" altLang="en-US" sz="2800" dirty="0"/>
          </a:p>
          <a:p>
            <a:pPr marL="0" indent="0" fontAlgn="base">
              <a:spcAft>
                <a:spcPct val="0"/>
              </a:spcAft>
              <a:defRPr/>
            </a:pPr>
            <a:endParaRPr lang="en-IN" altLang="en-US" sz="2800" dirty="0"/>
          </a:p>
          <a:p>
            <a:pPr marL="0" indent="0" fontAlgn="base">
              <a:spcAft>
                <a:spcPct val="0"/>
              </a:spcAft>
              <a:defRPr/>
            </a:pPr>
            <a:r>
              <a:rPr lang="en-IN" altLang="en-US" dirty="0">
                <a:solidFill>
                  <a:srgbClr val="FF0000"/>
                </a:solidFill>
              </a:rPr>
              <a:t>How does architecture help in testing activities?</a:t>
            </a:r>
            <a:endParaRPr lang="en-IN" altLang="en-US" sz="320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defRPr/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D3FD1-D91A-399E-A389-9FBD6544F9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4EF39-C413-BF42-9C8D-ADEBF7D9F5D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5ADE3-FF32-5FD2-D7A0-5204AFFFF7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5366" name="Slide Number Placeholder 4">
            <a:extLst>
              <a:ext uri="{FF2B5EF4-FFF2-40B4-BE49-F238E27FC236}">
                <a16:creationId xmlns:a16="http://schemas.microsoft.com/office/drawing/2014/main" id="{0C1757B7-5682-7B68-7B11-5A32F3AE826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2043E1-251F-4AEF-A072-BE38D872221C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04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6CAD1670-0AE9-55B6-F69C-37AB7F68D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Arch helps prioritize test cases based on ASRs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marL="285750" indent="-28575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Architecture can help in creation of integration test plan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1800" dirty="0"/>
              <a:t>Architecture needs to be designed to support testability requirements</a:t>
            </a: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8D7D-CE54-209C-CF3F-0130C3E872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3D57D-0D27-2994-6B15-85A5DFA90023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0C179-7B8F-A7D5-51C2-EABB291749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1A74388D-2F47-A31C-3CFA-0C3C50527F72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157A4B-82E8-4E73-9BB1-95C87DDCA5D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16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0FA530BF-85C3-6E85-E2F3-3BD605E52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Arch helps prioritize test cases based on ASRs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>
                <a:solidFill>
                  <a:srgbClr val="FF0000"/>
                </a:solidFill>
              </a:rPr>
              <a:t>What work product of architecture design can we use to prioritize the test cases?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 b="1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CCB4F-9FFD-FC57-6A70-86EDB1797F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7D6E5-2C94-7170-C0E6-CB5FA44B3F4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A3335-6872-0992-AF47-5D1A7A77D3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7414" name="Slide Number Placeholder 4">
            <a:extLst>
              <a:ext uri="{FF2B5EF4-FFF2-40B4-BE49-F238E27FC236}">
                <a16:creationId xmlns:a16="http://schemas.microsoft.com/office/drawing/2014/main" id="{027A9141-7B2D-7E34-0F55-1F0494BF7E9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B50DF4-9983-4B95-8E28-0DDD4824A96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188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>
            <a:extLst>
              <a:ext uri="{FF2B5EF4-FFF2-40B4-BE49-F238E27FC236}">
                <a16:creationId xmlns:a16="http://schemas.microsoft.com/office/drawing/2014/main" id="{7A88C306-D4EF-7F34-4BE0-1DB1714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2000">
                <a:solidFill>
                  <a:srgbClr val="FF0000"/>
                </a:solidFill>
              </a:rPr>
              <a:t>What work product of architecture design can we use to prioritize the test cases?</a:t>
            </a: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IN" altLang="en-US" sz="2000"/>
              <a:t>Utility tree can be used to identify high priority scenarios (high on business value and high on architectural impact) which will translate into high priority test cases</a:t>
            </a: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IN" altLang="en-US" sz="200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FA92B-5224-F309-BA3C-C5652C6D0C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03741-36CC-5DBF-8829-73E81E14AE1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06906-5C17-74AD-F576-3C834AC2B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2E411A9D-7071-3438-E285-75A2796084C2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66F5E6-8DF3-41FA-9FFB-56AD9BCE8B8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248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E3AB8825-E2D9-C7F3-779A-F451DF60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2000" dirty="0"/>
              <a:t>Architecture can help in creation of integration test plan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defRPr/>
            </a:pPr>
            <a:r>
              <a:rPr lang="en-IN" altLang="en-US" sz="2000" dirty="0">
                <a:solidFill>
                  <a:srgbClr val="FF0000"/>
                </a:solidFill>
              </a:rPr>
              <a:t>How?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69B84-8AA5-89F3-B031-2A2B1E08D2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3B1FD-0BE6-D68B-CD5F-8CB55AC83E5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80464-EF02-159A-A9F3-34E22C87A0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9462" name="Slide Number Placeholder 4">
            <a:extLst>
              <a:ext uri="{FF2B5EF4-FFF2-40B4-BE49-F238E27FC236}">
                <a16:creationId xmlns:a16="http://schemas.microsoft.com/office/drawing/2014/main" id="{E7C6943D-B88F-B629-1A07-64BEAE607FC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4E1EEC-A699-409F-B258-B0E8F4738623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2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B2CB6E77-7089-1BED-63AB-0FF11ABC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2000" dirty="0"/>
              <a:t>Architecture can help in creation of integration test plan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fontAlgn="base">
              <a:spcAft>
                <a:spcPct val="0"/>
              </a:spcAft>
              <a:defRPr/>
            </a:pPr>
            <a:r>
              <a:rPr lang="en-IN" altLang="en-US" sz="2000" dirty="0">
                <a:solidFill>
                  <a:srgbClr val="FF0000"/>
                </a:solidFill>
              </a:rPr>
              <a:t>How?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200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2000" dirty="0"/>
              <a:t>Architecture tells us what modules interact with each other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2000" dirty="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2000" dirty="0"/>
              <a:t>Architecture tells us which modules depend on which other modules.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2000" dirty="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IN" altLang="en-US" sz="2000" dirty="0"/>
              <a:t>This helps us identify integration test cases and identify modules needed for integration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DC730-2A62-6F9F-2EC8-888DF414EC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28C99-B2E5-1CC6-677B-7DB94C0FCC2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D2DED-528C-0419-1295-D53D49E8F5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0486" name="Slide Number Placeholder 4">
            <a:extLst>
              <a:ext uri="{FF2B5EF4-FFF2-40B4-BE49-F238E27FC236}">
                <a16:creationId xmlns:a16="http://schemas.microsoft.com/office/drawing/2014/main" id="{26682A09-A077-C11E-5D17-C5839202158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9CD869-6D1D-47B5-AC8D-82E3C582783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12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B5C63416-3D58-4D08-2725-CCBF7FCA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IN" altLang="en-US" sz="1800" b="1" dirty="0"/>
              <a:t>Architecture needs to be designed to support testability requirements </a:t>
            </a:r>
            <a:r>
              <a:rPr lang="en-IN" altLang="en-US" sz="1800" dirty="0"/>
              <a:t>such as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IN" altLang="en-US" sz="1800" dirty="0"/>
          </a:p>
          <a:p>
            <a:pPr lvl="1" fontAlgn="base">
              <a:spcAft>
                <a:spcPct val="0"/>
              </a:spcAft>
              <a:defRPr/>
            </a:pPr>
            <a:r>
              <a:rPr lang="en-IN" altLang="en-US" sz="1800" dirty="0"/>
              <a:t>Ability to switch data sources (Test data &amp; Production data)</a:t>
            </a:r>
          </a:p>
          <a:p>
            <a:pPr lvl="1" fontAlgn="base">
              <a:spcAft>
                <a:spcPct val="0"/>
              </a:spcAft>
              <a:defRPr/>
            </a:pPr>
            <a:endParaRPr lang="en-IN" altLang="en-US" sz="1800" dirty="0"/>
          </a:p>
          <a:p>
            <a:pPr lvl="1" fontAlgn="base">
              <a:spcAft>
                <a:spcPct val="0"/>
              </a:spcAft>
              <a:defRPr/>
            </a:pPr>
            <a:r>
              <a:rPr lang="en-IN" altLang="en-US" sz="1800" dirty="0"/>
              <a:t>Roll back changes made by test cases (to restore system to original state, so that we can execute more test cases later)</a:t>
            </a:r>
          </a:p>
          <a:p>
            <a:pPr lvl="1" fontAlgn="base">
              <a:spcAft>
                <a:spcPct val="0"/>
              </a:spcAft>
              <a:defRPr/>
            </a:pPr>
            <a:endParaRPr lang="en-IN" altLang="en-US" sz="1800" dirty="0"/>
          </a:p>
          <a:p>
            <a:pPr lvl="1" fontAlgn="base">
              <a:spcAft>
                <a:spcPct val="0"/>
              </a:spcAft>
              <a:defRPr/>
            </a:pPr>
            <a:r>
              <a:rPr lang="en-IN" altLang="en-US" sz="1800" dirty="0"/>
              <a:t>Ability to replace components (simulators of payment gateway, sensors, external systems such as </a:t>
            </a:r>
            <a:r>
              <a:rPr lang="en-IN" altLang="en-US" sz="1800" dirty="0" err="1"/>
              <a:t>Aadhar</a:t>
            </a:r>
            <a:r>
              <a:rPr lang="en-IN" altLang="en-US" sz="1800" dirty="0"/>
              <a:t> system)</a:t>
            </a:r>
          </a:p>
          <a:p>
            <a:pPr fontAlgn="base">
              <a:spcAft>
                <a:spcPct val="0"/>
              </a:spcAft>
              <a:defRPr/>
            </a:pPr>
            <a:endParaRPr lang="en-IN" alt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E81D-42AE-40BE-59D1-A53F63D0AF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Architecture &amp; 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6B488-4209-7060-8FDE-134278D8191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F0857-3473-0133-6CD3-A265FB9391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1510" name="Slide Number Placeholder 4">
            <a:extLst>
              <a:ext uri="{FF2B5EF4-FFF2-40B4-BE49-F238E27FC236}">
                <a16:creationId xmlns:a16="http://schemas.microsoft.com/office/drawing/2014/main" id="{ECA09D3D-F7F5-7599-2D91-2539A470154C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331913-51B2-432E-8124-13C29F5435DC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815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>
            <a:extLst>
              <a:ext uri="{FF2B5EF4-FFF2-40B4-BE49-F238E27FC236}">
                <a16:creationId xmlns:a16="http://schemas.microsoft.com/office/drawing/2014/main" id="{92BB3BFB-317A-5238-B21B-1FFD764BF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  <a:p>
            <a:pPr fontAlgn="base">
              <a:spcAft>
                <a:spcPct val="0"/>
              </a:spcAft>
            </a:pPr>
            <a:r>
              <a:rPr lang="en-IN" altLang="en-US"/>
              <a:t>Can you describe how your architect helped the testing team?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C4DE-B949-E057-7916-6A35693B7C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Experience sharing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FCFB2-AE32-9C0E-902E-AEB11BEA1C4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24EAB-650B-82C4-4A2D-4B570705F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2534" name="Slide Number Placeholder 4">
            <a:extLst>
              <a:ext uri="{FF2B5EF4-FFF2-40B4-BE49-F238E27FC236}">
                <a16:creationId xmlns:a16="http://schemas.microsoft.com/office/drawing/2014/main" id="{450FD86A-8015-A908-9118-989F91B3A2C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4712D5-DD4B-4BC6-A56C-C90374C71BD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03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FCEDC4EC-5C70-FEAF-BC5F-190068873C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750" y="5181600"/>
            <a:ext cx="6019800" cy="91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000"/>
              <a:t>Harvinder S Jabbal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SEZG651/SSZG653 Software Architectures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8BD7213-6B29-A850-F3E6-826AF387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3657600"/>
            <a:ext cx="62484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Software Architecture</a:t>
            </a:r>
            <a:br>
              <a:rPr lang="en-US" sz="3300" dirty="0"/>
            </a:br>
            <a:r>
              <a:rPr lang="en-US" sz="3200" dirty="0"/>
              <a:t>Module 5</a:t>
            </a:r>
            <a:br>
              <a:rPr lang="en-US" sz="3300" dirty="0"/>
            </a:br>
            <a:r>
              <a:rPr lang="en-US" sz="3300" dirty="0"/>
              <a:t>Architecture Reconstruction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53921-7706-70FD-AFC6-28F307CDE6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September 12,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235BA-B679-1043-3208-9CCF4E0F13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22E2-883D-796F-47F2-3C5222B9A7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4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>
            <a:extLst>
              <a:ext uri="{FF2B5EF4-FFF2-40B4-BE49-F238E27FC236}">
                <a16:creationId xmlns:a16="http://schemas.microsoft.com/office/drawing/2014/main" id="{8CFA2B4B-BF32-D0E8-49F4-D205CC1F5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Purpose of architecture reconstruction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Architecture reconstruction technique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/>
              <a:t>Reconstruction tools.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C8CB-DC8C-7B9E-1A4E-8E397A985D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5BF86-AE21-DFE7-A330-98FBED1A38B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ED7BD-428B-B7E6-D5E3-BE159F5996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5366" name="Slide Number Placeholder 4">
            <a:extLst>
              <a:ext uri="{FF2B5EF4-FFF2-40B4-BE49-F238E27FC236}">
                <a16:creationId xmlns:a16="http://schemas.microsoft.com/office/drawing/2014/main" id="{01B7CCFD-F946-0AB0-D344-7ADCB5A6ED9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BA0C0A-0DA1-43D7-A163-7E41C4C4D67A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6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3A842286-46A0-BB19-36C2-F77F5B47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8307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To understand the architecture of a system for which no documentation exists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To migrate a system from old technology to new. Ex. Mainframe to Web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To identify reusable components in a system, such as logging component, security component,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3C3ED-1996-3A02-24DE-7D585CD188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Purpose of architecture reconstruction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0DFC1-059C-38BE-1B28-5217E123392C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3A528-B836-BDE0-F8D6-B76FFE57F8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74BB24A4-58E9-FDFE-1C49-B0C42A24412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1D8004-4268-4400-AC33-77535328D0E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994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D682D3A2-4320-7DCF-188D-D882C753B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Identify components and their relationship (using a tool)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Aggregate components into abstract components (specify grouping to tool)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Analyse the architecture (tool displays 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96A3-6B31-A93B-E376-D129CBF157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Phases of architecture reconstruction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C68D8B-FF0C-5B92-71A0-BB460A49ACE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792B7-E715-44C0-7C91-CA52A321C6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7414" name="Slide Number Placeholder 4">
            <a:extLst>
              <a:ext uri="{FF2B5EF4-FFF2-40B4-BE49-F238E27FC236}">
                <a16:creationId xmlns:a16="http://schemas.microsoft.com/office/drawing/2014/main" id="{EA9B6D1F-DD3D-FB01-42F9-DB5F3553CB8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EC612A-F326-40E0-903C-D043F62B6C96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481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>
            <a:extLst>
              <a:ext uri="{FF2B5EF4-FFF2-40B4-BE49-F238E27FC236}">
                <a16:creationId xmlns:a16="http://schemas.microsoft.com/office/drawing/2014/main" id="{E6355433-6880-EBA1-5699-A7BE9E65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Extract information from 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Source code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Execution traces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Build scripts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Etc.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This gets info such as 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classes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file they use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‘Caller – callee’ relationship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global data accessed by different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08FA2-6D05-240A-EB23-06E3557C965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Identify components &amp; their relationship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470F2-6E05-5191-5216-CE45C88AE7A7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DA669-9ADA-CE2B-2E61-69291C8007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8438" name="Slide Number Placeholder 4">
            <a:extLst>
              <a:ext uri="{FF2B5EF4-FFF2-40B4-BE49-F238E27FC236}">
                <a16:creationId xmlns:a16="http://schemas.microsoft.com/office/drawing/2014/main" id="{DF75EBEA-8DC1-6020-8CA7-CD13FA250AF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4D213-8C6B-46A2-A9CB-F661C78DFA6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413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A2F1-838B-A142-7E22-42CC4F3805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Examples of component extraction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23A55948-233D-C1F1-E4A8-DE071E0C6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76400"/>
            <a:ext cx="8304212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Box 4">
            <a:extLst>
              <a:ext uri="{FF2B5EF4-FFF2-40B4-BE49-F238E27FC236}">
                <a16:creationId xmlns:a16="http://schemas.microsoft.com/office/drawing/2014/main" id="{A66F35F4-F720-AD0B-56C3-13C52C5E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172200"/>
            <a:ext cx="6810375" cy="3698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Ref: Text book: Software Arch in practice by Len Bass and others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7109D-EC6D-63A0-3A31-1873CBD089E0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571F8-E1FA-7AC0-5A0C-A3F35ABB0C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19463" name="Slide Number Placeholder 4">
            <a:extLst>
              <a:ext uri="{FF2B5EF4-FFF2-40B4-BE49-F238E27FC236}">
                <a16:creationId xmlns:a16="http://schemas.microsoft.com/office/drawing/2014/main" id="{15642856-CE4C-4F63-C918-EC59EDD7B89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FDB74A-2D50-4F71-BDD0-B2AFE97E24D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737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EFC26-8AE3-AD63-84CD-075BA455E3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Execution trace of method calls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42A9480D-34BD-120F-BC79-BE1B1C837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43050"/>
            <a:ext cx="5791200" cy="355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4" name="Content Placeholder 1">
            <a:extLst>
              <a:ext uri="{FF2B5EF4-FFF2-40B4-BE49-F238E27FC236}">
                <a16:creationId xmlns:a16="http://schemas.microsoft.com/office/drawing/2014/main" id="{90566584-DFA4-7901-D94C-AA952339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5562600"/>
            <a:ext cx="8686800" cy="1001713"/>
          </a:xfrm>
          <a:solidFill>
            <a:schemeClr val="bg2"/>
          </a:solidFill>
        </p:spPr>
        <p:txBody>
          <a:bodyPr>
            <a:normAutofit lnSpcReduction="10000"/>
          </a:bodyPr>
          <a:lstStyle/>
          <a:p>
            <a:pPr fontAlgn="base">
              <a:spcAft>
                <a:spcPct val="0"/>
              </a:spcAft>
            </a:pPr>
            <a:r>
              <a:rPr lang="en-IN" altLang="en-US" sz="1400"/>
              <a:t>Ref: Techniques to Simplify the Analysis of Execution Traces for Program Comprehension by Abdelwahab Hamou-Lhadj</a:t>
            </a:r>
          </a:p>
          <a:p>
            <a:pPr fontAlgn="base">
              <a:spcAft>
                <a:spcPct val="0"/>
              </a:spcAft>
            </a:pPr>
            <a:endParaRPr lang="en-IN" altLang="en-US" sz="1400"/>
          </a:p>
          <a:p>
            <a:pPr fontAlgn="base">
              <a:spcAft>
                <a:spcPct val="0"/>
              </a:spcAft>
            </a:pPr>
            <a:r>
              <a:rPr lang="en-IN" altLang="en-US" sz="1400"/>
              <a:t>https://pdfs.semanticscholar.org/3db0/dd1980586c0a9d489e4b94c2996f117df2d5.pdf</a:t>
            </a:r>
          </a:p>
          <a:p>
            <a:pPr fontAlgn="base">
              <a:spcAft>
                <a:spcPct val="0"/>
              </a:spcAft>
            </a:pPr>
            <a:endParaRPr lang="en-IN" altLang="en-US" sz="14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10E44-20AB-2AD0-9F4D-0719707331C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425C6-9746-0140-F46D-8036BBAC00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0487" name="Slide Number Placeholder 4">
            <a:extLst>
              <a:ext uri="{FF2B5EF4-FFF2-40B4-BE49-F238E27FC236}">
                <a16:creationId xmlns:a16="http://schemas.microsoft.com/office/drawing/2014/main" id="{6F54E66A-62E2-34B6-3A91-8EDB5289D825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1CB607-A0C7-4C04-8D67-CDF4122CAD8A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017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97D7-A7D4-DD96-5C79-55D0AD8FCE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Case study: ‘Vanish’ System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9FE5781-E677-827C-DADF-55D6D792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519863"/>
            <a:ext cx="822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600"/>
              <a:t>Ref: </a:t>
            </a:r>
            <a:r>
              <a:rPr lang="en-IN" altLang="en-US" sz="1600">
                <a:hlinkClick r:id="rId2"/>
              </a:rPr>
              <a:t>https://resources.sei.cmu.edu/asset_files/TechnicalNote/2003_004_001_14141.pdf</a:t>
            </a:r>
            <a:endParaRPr lang="en-IN" altLang="en-US" sz="1600"/>
          </a:p>
          <a:p>
            <a:pPr>
              <a:spcBef>
                <a:spcPct val="0"/>
              </a:spcBef>
              <a:buFontTx/>
              <a:buNone/>
            </a:pPr>
            <a:endParaRPr lang="en-IN" altLang="en-US" sz="1600"/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B87010A0-6056-7AF3-9895-A72299483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591026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08063E-45BF-9207-4BBA-120B9D8C8C3C}"/>
              </a:ext>
            </a:extLst>
          </p:cNvPr>
          <p:cNvSpPr/>
          <p:nvPr/>
        </p:nvSpPr>
        <p:spPr>
          <a:xfrm>
            <a:off x="304800" y="5791200"/>
            <a:ext cx="6934200" cy="3698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</a:rPr>
              <a:t>White-Noise” View Showing All of the Elements and Relations </a:t>
            </a:r>
          </a:p>
        </p:txBody>
      </p:sp>
      <p:sp>
        <p:nvSpPr>
          <p:cNvPr id="21510" name="TextBox 6">
            <a:extLst>
              <a:ext uri="{FF2B5EF4-FFF2-40B4-BE49-F238E27FC236}">
                <a16:creationId xmlns:a16="http://schemas.microsoft.com/office/drawing/2014/main" id="{DF8D6504-587A-F106-0FBF-46E40F0F4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633663"/>
            <a:ext cx="22431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Tool used for reconstruction: </a:t>
            </a:r>
            <a:r>
              <a:rPr lang="en-IN" altLang="en-US" sz="1800" b="1">
                <a:solidFill>
                  <a:srgbClr val="FF0000"/>
                </a:solidFill>
              </a:rPr>
              <a:t>ARMIN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3A8F7732-45F8-98F2-08DD-DDFD4A6F5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14800"/>
            <a:ext cx="23241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latin typeface="Times New Roman" panose="02020603050405020304" pitchFamily="18" charset="0"/>
              </a:rPr>
              <a:t>(ARchitecture Reconstruction and MINing) </a:t>
            </a:r>
            <a:endParaRPr lang="en-IN" alt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8D2B9-4FD8-24CD-27BC-FF544674C781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6FFD-5649-6E6A-FAB7-C00F56785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1514" name="Slide Number Placeholder 4">
            <a:extLst>
              <a:ext uri="{FF2B5EF4-FFF2-40B4-BE49-F238E27FC236}">
                <a16:creationId xmlns:a16="http://schemas.microsoft.com/office/drawing/2014/main" id="{0B2B00F5-8934-F585-C9EF-FCA5B9B8B25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CDF386-7EDA-4096-89FE-0846C655A8B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690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05D137-39BF-2D8B-2502-90A041ED7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1746250"/>
            <a:ext cx="3352800" cy="996950"/>
          </a:xfrm>
          <a:solidFill>
            <a:schemeClr val="accent6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pPr algn="ctr">
              <a:defRPr/>
            </a:pPr>
            <a:r>
              <a:rPr lang="en-IN" sz="2000" b="1" dirty="0">
                <a:solidFill>
                  <a:schemeClr val="bg1"/>
                </a:solidFill>
              </a:rPr>
              <a:t>Architecture view after aggregation of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B4D0-8ECC-5C21-568C-18B735103B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Case study: ‘Vanish’ System</a:t>
            </a:r>
          </a:p>
        </p:txBody>
      </p:sp>
      <p:pic>
        <p:nvPicPr>
          <p:cNvPr id="22532" name="Picture 3">
            <a:extLst>
              <a:ext uri="{FF2B5EF4-FFF2-40B4-BE49-F238E27FC236}">
                <a16:creationId xmlns:a16="http://schemas.microsoft.com/office/drawing/2014/main" id="{0156E836-FAA2-0313-B578-3A39F97FF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5138738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3">
            <a:extLst>
              <a:ext uri="{FF2B5EF4-FFF2-40B4-BE49-F238E27FC236}">
                <a16:creationId xmlns:a16="http://schemas.microsoft.com/office/drawing/2014/main" id="{417F931B-8F26-FCB4-B2A8-D91BF63AC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657600"/>
            <a:ext cx="3200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One can take help of the technical team to get a broad understanding of the system, before starting the aggregation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A082E-DC46-27A0-8F1B-C21C79AD66C5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E023F-3D67-E567-E995-68AB0FE08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2536" name="Slide Number Placeholder 5">
            <a:extLst>
              <a:ext uri="{FF2B5EF4-FFF2-40B4-BE49-F238E27FC236}">
                <a16:creationId xmlns:a16="http://schemas.microsoft.com/office/drawing/2014/main" id="{0CA61CD4-6C57-58A3-5B5F-EF5EB899D8BC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2EB957-5D5E-4244-94CE-72F68F6A1C9D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85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13CCD6-AED4-8CD0-2D3C-7E5A56C5E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1746250"/>
            <a:ext cx="3352800" cy="539750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>
              <a:defRPr/>
            </a:pPr>
            <a:r>
              <a:rPr lang="en-IN" sz="2000" b="1" dirty="0">
                <a:solidFill>
                  <a:schemeClr val="bg1"/>
                </a:solidFill>
              </a:rPr>
              <a:t>Analyse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2D241-2094-023A-B8D5-8D2C02EB93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Case study: ‘Vanish’ System</a:t>
            </a: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D8C3FACC-16D6-E1A4-4DF7-CDD23A909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5138738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Box 4">
            <a:extLst>
              <a:ext uri="{FF2B5EF4-FFF2-40B4-BE49-F238E27FC236}">
                <a16:creationId xmlns:a16="http://schemas.microsoft.com/office/drawing/2014/main" id="{1C4A18EE-A162-17F4-ED9B-E9D2543E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29000"/>
            <a:ext cx="3505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One can notice that the architecture of ‘Vanish’ is not strictly layered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9A1D-5AD8-C193-9769-3E6223EC5CF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700D-98FA-B58D-A276-21934FB94C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3560" name="Slide Number Placeholder 5">
            <a:extLst>
              <a:ext uri="{FF2B5EF4-FFF2-40B4-BE49-F238E27FC236}">
                <a16:creationId xmlns:a16="http://schemas.microsoft.com/office/drawing/2014/main" id="{8FC4B03B-0DB1-4F80-C9BC-B617380E7661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A5EC07-BA3A-460F-A2FE-DA0A4B64777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81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>
            <a:extLst>
              <a:ext uri="{FF2B5EF4-FFF2-40B4-BE49-F238E27FC236}">
                <a16:creationId xmlns:a16="http://schemas.microsoft.com/office/drawing/2014/main" id="{F89C7B4C-9223-3BE0-7B46-FCECBE07C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/>
              <a:t>Dali, ARMIN, Lattix, Sonar J, Structure 101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  <a:p>
            <a:pPr fontAlgn="base">
              <a:spcAft>
                <a:spcPct val="0"/>
              </a:spcAft>
            </a:pPr>
            <a:r>
              <a:rPr lang="en-IN" altLang="en-US"/>
              <a:t>References: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  <a:p>
            <a:pPr fontAlgn="base">
              <a:spcAft>
                <a:spcPct val="0"/>
              </a:spcAft>
            </a:pPr>
            <a:r>
              <a:rPr lang="en-IN" altLang="en-US">
                <a:hlinkClick r:id="rId2"/>
              </a:rPr>
              <a:t>https://resources.sei.cmu.edu/asset_files/TechnicalReport/2003_005_001_14081.pdf</a:t>
            </a:r>
            <a:endParaRPr lang="en-IN" altLang="en-US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A678-0EC4-EFA4-E514-64D59EEA41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Tools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445C1-E1FC-EA51-883C-9C1895D6B20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0F6A2-9572-116F-0BB3-71507C5A48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4582" name="Slide Number Placeholder 4">
            <a:extLst>
              <a:ext uri="{FF2B5EF4-FFF2-40B4-BE49-F238E27FC236}">
                <a16:creationId xmlns:a16="http://schemas.microsoft.com/office/drawing/2014/main" id="{6D9CD8D3-FB5E-B1E6-F6E9-9BEA13B093FF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3C6BF4-75C0-40FD-B10B-CBD8C7D94F1E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54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FAC1D6E2-2248-5D45-4589-05CB7C663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2000"/>
              <a:t>Were you involved in architecture reconstruction of an existing system?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20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2000"/>
              <a:t>How did you go about it?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20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2000"/>
              <a:t>What tools did you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08894-EEB6-6738-FC2E-91FBF62468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Experience sharing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FF96F-F596-5275-8877-9658698A8C58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8EC69-0C2A-8460-3A3A-CE757479F0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5606" name="Slide Number Placeholder 4">
            <a:extLst>
              <a:ext uri="{FF2B5EF4-FFF2-40B4-BE49-F238E27FC236}">
                <a16:creationId xmlns:a16="http://schemas.microsoft.com/office/drawing/2014/main" id="{0C8B2FA4-4B42-BBB9-83F0-9861E337616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50C24C-8E5B-4375-9F1A-66BDACE8A8CC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62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F431742B-5B4B-917B-3F0F-7D52FAD9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B6F4-DF0E-747A-8CF6-B7AA683AEB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Appendix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30D48-430E-FA8B-9366-2941E9F51BE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16CE5-2845-CF07-2EF2-625DB0BD29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6630" name="Slide Number Placeholder 4">
            <a:extLst>
              <a:ext uri="{FF2B5EF4-FFF2-40B4-BE49-F238E27FC236}">
                <a16:creationId xmlns:a16="http://schemas.microsoft.com/office/drawing/2014/main" id="{B2020C31-BFAF-7A35-F952-E59124F49464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5538CE-23A6-4839-9816-E641C0A9462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619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D4F1-0A86-F26E-9A32-D6D1979FE4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381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IN" dirty="0"/>
              <a:t>SAR: </a:t>
            </a:r>
            <a:r>
              <a:rPr lang="en-IN" dirty="0" err="1"/>
              <a:t>Sw</a:t>
            </a:r>
            <a:r>
              <a:rPr lang="en-IN" dirty="0"/>
              <a:t> Arch Reconstruction</a:t>
            </a:r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124CFC42-FB6D-015F-81EF-AF3A1251D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85800"/>
            <a:ext cx="7794625" cy="544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4">
            <a:extLst>
              <a:ext uri="{FF2B5EF4-FFF2-40B4-BE49-F238E27FC236}">
                <a16:creationId xmlns:a16="http://schemas.microsoft.com/office/drawing/2014/main" id="{9829384A-2114-23DE-9A42-59901546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6172200"/>
            <a:ext cx="8632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600"/>
              <a:t>Ref: </a:t>
            </a:r>
            <a:r>
              <a:rPr lang="en-IN" altLang="en-US" sz="1600">
                <a:hlinkClick r:id="rId3"/>
              </a:rPr>
              <a:t>https://rmod.inria.fr/archives/papers/Duca09c-TSE-SOAArchitectureExtraction.pdf</a:t>
            </a:r>
            <a:endParaRPr lang="en-IN" altLang="en-US" sz="1600"/>
          </a:p>
          <a:p>
            <a:pPr>
              <a:spcBef>
                <a:spcPct val="0"/>
              </a:spcBef>
              <a:buFontTx/>
              <a:buNone/>
            </a:pPr>
            <a:endParaRPr lang="en-IN" altLang="en-US" sz="16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E46FA-BCAA-6893-DA8E-4DFDAF7E1961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67BF1-533B-FAB6-3F23-ECFE006F3E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7655" name="Slide Number Placeholder 4">
            <a:extLst>
              <a:ext uri="{FF2B5EF4-FFF2-40B4-BE49-F238E27FC236}">
                <a16:creationId xmlns:a16="http://schemas.microsoft.com/office/drawing/2014/main" id="{9862B51C-32C3-5565-13A7-E179D85DAA1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7721B7-9F8C-41B3-B1FC-1FA30B0AF5ED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32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>
            <a:extLst>
              <a:ext uri="{FF2B5EF4-FFF2-40B4-BE49-F238E27FC236}">
                <a16:creationId xmlns:a16="http://schemas.microsoft.com/office/drawing/2014/main" id="{268D8863-09F7-7726-5889-513E99AF7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Raw view extraction </a:t>
            </a:r>
            <a:r>
              <a:rPr lang="en-IN" altLang="en-US" sz="1800"/>
              <a:t>gets information from source code, execution traces and build scripts. It gets info such as classes, file / data they use, caller – callee relationship, global data accessed by different objects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DB construction</a:t>
            </a:r>
            <a:r>
              <a:rPr lang="en-IN" altLang="en-US" sz="1800"/>
              <a:t>: Putting extracted data into a common format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View fusion</a:t>
            </a:r>
            <a:r>
              <a:rPr lang="en-IN" altLang="en-US" sz="1800"/>
              <a:t>: Combines views of info stored in DB. Source code analysis gives a static view. If some objects are dynamically bound at run time then execution trace will provide this information. Then an expert may group the elements into a layer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Arch analysis</a:t>
            </a:r>
            <a:r>
              <a:rPr lang="en-IN" altLang="en-US" sz="1800"/>
              <a:t>: Validate the correctness of architecture elements obtained from view fusion phase. Ex. There could be restriction that a layer calls objects in adjacent layers only. Or all db access should be via an entity bean only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Iterate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1B6DE-89E4-000C-9897-6C6951B213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Phases of architecture reconstruction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352A2-F235-42A9-98C3-C90A4B9C1EA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A3674-84A1-44B4-BDA2-3F58F14C67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8678" name="Slide Number Placeholder 4">
            <a:extLst>
              <a:ext uri="{FF2B5EF4-FFF2-40B4-BE49-F238E27FC236}">
                <a16:creationId xmlns:a16="http://schemas.microsoft.com/office/drawing/2014/main" id="{A91C81B1-DE79-38A6-8CA3-5602CD07D6CE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F5EF17-A8E5-486A-BB42-75D1ADE6FB9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2542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>
            <a:extLst>
              <a:ext uri="{FF2B5EF4-FFF2-40B4-BE49-F238E27FC236}">
                <a16:creationId xmlns:a16="http://schemas.microsoft.com/office/drawing/2014/main" id="{8FC09462-022B-0C52-172D-7A5BD0D1F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147F-C91B-B92D-0DFC-35C7C174BB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766A7C9C-1B18-0102-7462-01DE1EB1F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1143000"/>
            <a:ext cx="6691312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6D098-6BCC-EFA6-B8C7-4157DCEA433B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C4687-FC5D-29BF-259F-E8F3AA81D8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29703" name="Slide Number Placeholder 4">
            <a:extLst>
              <a:ext uri="{FF2B5EF4-FFF2-40B4-BE49-F238E27FC236}">
                <a16:creationId xmlns:a16="http://schemas.microsoft.com/office/drawing/2014/main" id="{C68F85AC-29DD-BAA4-A1A6-5D4ADA0622B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7B3D1F-4B2C-4873-B5BC-A73DA344202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247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33979BA2-0EFF-3998-D77E-E37F01FBF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053013"/>
            <a:ext cx="8229600" cy="966787"/>
          </a:xfrm>
        </p:spPr>
        <p:txBody>
          <a:bodyPr>
            <a:normAutofit fontScale="85000" lnSpcReduction="10000"/>
          </a:bodyPr>
          <a:lstStyle/>
          <a:p>
            <a:pPr fontAlgn="base">
              <a:spcAft>
                <a:spcPct val="0"/>
              </a:spcAft>
            </a:pPr>
            <a:r>
              <a:rPr lang="en-IN" altLang="en-US" sz="1800"/>
              <a:t>Ref: Techniques to Simplify the Analysis of Execution Traces for Program Comprehension by Abdelwahab Hamou-Lhadj</a:t>
            </a:r>
          </a:p>
          <a:p>
            <a:pPr fontAlgn="base">
              <a:spcAft>
                <a:spcPct val="0"/>
              </a:spcAft>
            </a:pPr>
            <a:r>
              <a:rPr lang="en-IN" altLang="en-US" sz="1800"/>
              <a:t>https://pdfs.semanticscholar.org/3db0/dd1980586c0a9d489e4b94c2996f117df2d5.pdf</a:t>
            </a:r>
          </a:p>
          <a:p>
            <a:pPr fontAlgn="base">
              <a:spcAft>
                <a:spcPct val="0"/>
              </a:spcAft>
            </a:pPr>
            <a:endParaRPr lang="en-I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4211A-637F-5F38-B973-4FF5A879C5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29FAA7E8-FF29-3EF1-C48A-9957BA3EE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1676400"/>
            <a:ext cx="45910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39AE6-DB65-2F4D-61DE-B52067458F9D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5F331-D403-5832-064E-C06AD11ADB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0727" name="Slide Number Placeholder 4">
            <a:extLst>
              <a:ext uri="{FF2B5EF4-FFF2-40B4-BE49-F238E27FC236}">
                <a16:creationId xmlns:a16="http://schemas.microsoft.com/office/drawing/2014/main" id="{B695CE15-8F81-56FD-CFB0-D5069EAE555D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BE01F2-1CCA-430A-88DD-ECCFD5D3C5E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2707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>
            <a:extLst>
              <a:ext uri="{FF2B5EF4-FFF2-40B4-BE49-F238E27FC236}">
                <a16:creationId xmlns:a16="http://schemas.microsoft.com/office/drawing/2014/main" id="{C261EA5D-0357-FE06-3DB4-4B757F9F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5635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b="1"/>
              <a:t>SonarCube Explores All Execution Paths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A4781-0267-501D-EA8F-E6FD33E358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31748" name="Picture 3">
            <a:extLst>
              <a:ext uri="{FF2B5EF4-FFF2-40B4-BE49-F238E27FC236}">
                <a16:creationId xmlns:a16="http://schemas.microsoft.com/office/drawing/2014/main" id="{30ABDA7F-D6E2-4BD8-A70E-5E0A47DD2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2582863"/>
            <a:ext cx="5121275" cy="305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4">
            <a:extLst>
              <a:ext uri="{FF2B5EF4-FFF2-40B4-BE49-F238E27FC236}">
                <a16:creationId xmlns:a16="http://schemas.microsoft.com/office/drawing/2014/main" id="{8EF8E7D2-BE4D-5955-2217-235E94A7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638800"/>
            <a:ext cx="7967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https://www.sonarqube.org/features/issues-tracking/</a:t>
            </a:r>
          </a:p>
        </p:txBody>
      </p:sp>
      <p:sp>
        <p:nvSpPr>
          <p:cNvPr id="31750" name="TextBox 5">
            <a:extLst>
              <a:ext uri="{FF2B5EF4-FFF2-40B4-BE49-F238E27FC236}">
                <a16:creationId xmlns:a16="http://schemas.microsoft.com/office/drawing/2014/main" id="{092459C9-5313-F538-30E6-6A443428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138" y="2255838"/>
            <a:ext cx="850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Issues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1CDD15-8054-0CFE-9B3D-964D77AFF377}"/>
              </a:ext>
            </a:extLst>
          </p:cNvPr>
          <p:cNvCxnSpPr/>
          <p:nvPr/>
        </p:nvCxnSpPr>
        <p:spPr>
          <a:xfrm flipH="1">
            <a:off x="4876800" y="2582863"/>
            <a:ext cx="1524000" cy="312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D6595-9B59-C9DB-E653-18391DF38604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01CDE-2FFB-7F10-2299-097D61D38F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1754" name="Slide Number Placeholder 4">
            <a:extLst>
              <a:ext uri="{FF2B5EF4-FFF2-40B4-BE49-F238E27FC236}">
                <a16:creationId xmlns:a16="http://schemas.microsoft.com/office/drawing/2014/main" id="{B7A6E2B5-034E-61CB-60FC-4A98546E203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1E9934-1F17-4422-9E14-705AFA2B0F5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81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>
            <a:extLst>
              <a:ext uri="{FF2B5EF4-FFF2-40B4-BE49-F238E27FC236}">
                <a16:creationId xmlns:a16="http://schemas.microsoft.com/office/drawing/2014/main" id="{08F00BD0-A618-1313-926B-7C4ABE85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Combines views of info stored in DB.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View 1: Source code analysis gives a static view.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View 2: If some objects are dynamically bound at run time then execution trace will provide this information.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View 3: Then an expert may group the elements into a layer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Combine all these views to form a consolidated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4C94D-19A5-CD6E-4C87-C070836569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altLang="en-US" dirty="0"/>
              <a:t>Group extracted components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D8F53-AA88-487F-FFD7-E5415DD24D3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899DF-B7FD-6840-881C-99215B209B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2774" name="Slide Number Placeholder 4">
            <a:extLst>
              <a:ext uri="{FF2B5EF4-FFF2-40B4-BE49-F238E27FC236}">
                <a16:creationId xmlns:a16="http://schemas.microsoft.com/office/drawing/2014/main" id="{F2430279-4B03-4261-6579-8B8A3A79363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B33D82-0C1D-489A-8C7C-4E8A7949B40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25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1">
            <a:extLst>
              <a:ext uri="{FF2B5EF4-FFF2-40B4-BE49-F238E27FC236}">
                <a16:creationId xmlns:a16="http://schemas.microsoft.com/office/drawing/2014/main" id="{D20E9908-7E32-4065-79C7-61E994972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467350"/>
            <a:ext cx="8229600" cy="781050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 sz="1800"/>
              <a:t>Sonar tool allows definition of layers and vertical slices through the layers</a:t>
            </a:r>
          </a:p>
          <a:p>
            <a:pPr fontAlgn="base">
              <a:spcAft>
                <a:spcPct val="0"/>
              </a:spcAft>
            </a:pPr>
            <a:r>
              <a:rPr lang="en-IN" altLang="en-US" sz="1800"/>
              <a:t>The tool will populate the layers &amp; slices with components /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5178-A2B2-086B-0526-46D2C83392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Sample View fusion using Sonar tool</a:t>
            </a:r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25F7D9D2-324C-98A5-6D96-6FCB862CF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619250"/>
            <a:ext cx="80581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D367D-C800-FE65-21E5-147D702CCB7F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4918D-B80E-BC0E-67A4-DF23FC84AF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3799" name="Slide Number Placeholder 4">
            <a:extLst>
              <a:ext uri="{FF2B5EF4-FFF2-40B4-BE49-F238E27FC236}">
                <a16:creationId xmlns:a16="http://schemas.microsoft.com/office/drawing/2014/main" id="{AEA51151-BBAF-F1FB-A8FB-FCC3B4CBFEAC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0BE8F5-FF92-401F-84EF-A156F51D7AD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068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>
            <a:extLst>
              <a:ext uri="{FF2B5EF4-FFF2-40B4-BE49-F238E27FC236}">
                <a16:creationId xmlns:a16="http://schemas.microsoft.com/office/drawing/2014/main" id="{88ABACAA-CDCF-B4A1-50A4-388B8CADB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 b="1"/>
              <a:t>Check conformance to architecture</a:t>
            </a:r>
            <a:r>
              <a:rPr lang="en-IN" altLang="en-US" sz="1800"/>
              <a:t>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IN" altLang="en-US" sz="1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Ex. There could be restriction that a layer calls objects in adjacent layers only. Or 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IN" altLang="en-US" sz="1800"/>
              <a:t>Ex. All db access should be via an entity bean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A4C1-9E0E-580E-1B17-5FDE210563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altLang="en-US" dirty="0"/>
              <a:t>Architecture analysis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A23B5-13E5-D985-E06E-420D3E45831E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3CBF0-F938-A22D-C63D-598D977A80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4822" name="Slide Number Placeholder 4">
            <a:extLst>
              <a:ext uri="{FF2B5EF4-FFF2-40B4-BE49-F238E27FC236}">
                <a16:creationId xmlns:a16="http://schemas.microsoft.com/office/drawing/2014/main" id="{8C272D0A-60E8-B078-AE52-5D963E7A348A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1D797-5BF2-4BF9-BE66-6D090F9FC54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128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1A152F-A48A-C966-8D2F-0499A0247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843588"/>
            <a:ext cx="8229600" cy="7096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>
              <a:defRPr/>
            </a:pPr>
            <a:r>
              <a:rPr lang="en-IN" sz="2000" dirty="0"/>
              <a:t>No portion of the application should depend upon Junit. Based on this specification, Sonar detects the rule violation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876A-E911-36B1-8148-84B59776F1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IN" dirty="0"/>
              <a:t>Example of violation of architecture (detected by Sonar)</a:t>
            </a:r>
          </a:p>
        </p:txBody>
      </p:sp>
      <p:pic>
        <p:nvPicPr>
          <p:cNvPr id="35844" name="Picture 3">
            <a:extLst>
              <a:ext uri="{FF2B5EF4-FFF2-40B4-BE49-F238E27FC236}">
                <a16:creationId xmlns:a16="http://schemas.microsoft.com/office/drawing/2014/main" id="{49D6A46B-70C4-8E6C-C38F-87E84EC83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1243013"/>
            <a:ext cx="5762625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D2C88-2991-9323-63B7-5BA868E42D67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54C9D-B534-5384-3EE5-B6CFB907A1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5847" name="Slide Number Placeholder 5">
            <a:extLst>
              <a:ext uri="{FF2B5EF4-FFF2-40B4-BE49-F238E27FC236}">
                <a16:creationId xmlns:a16="http://schemas.microsoft.com/office/drawing/2014/main" id="{A71AC4B1-E783-F450-E591-6AA6F254896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F1E6EA-4997-4780-828C-9949C1BFFB6F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9637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D904EF-2D0E-1D66-DF01-7CA16C226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019800"/>
            <a:ext cx="8229600" cy="685800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>
              <a:defRPr/>
            </a:pPr>
            <a:r>
              <a:rPr lang="en-IN" sz="1800" dirty="0"/>
              <a:t>All database access is supposed to be managed by entity beans. Discovered by tool Disco </a:t>
            </a:r>
            <a:r>
              <a:rPr lang="en-IN" sz="1800" dirty="0" err="1"/>
              <a:t>Tect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81E0-BE8D-37B8-9C76-5BFD9C37E3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Example of architecture violation (detected by Sonar)</a:t>
            </a:r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23A83839-F764-D968-FAE2-557AA5EB1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1333500"/>
            <a:ext cx="47879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AAC5D7-9107-F09A-96EC-80EC4AEE4D67}"/>
              </a:ext>
            </a:extLst>
          </p:cNvPr>
          <p:cNvCxnSpPr/>
          <p:nvPr/>
        </p:nvCxnSpPr>
        <p:spPr>
          <a:xfrm flipH="1" flipV="1">
            <a:off x="5943600" y="3124200"/>
            <a:ext cx="990600" cy="1600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93C4-FD7A-97BA-6CA3-02952CECEAE3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457200" y="61737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September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FE3EC-F8CB-0B93-856B-7CB36294A0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SSZG653 Software Architectures</a:t>
            </a:r>
          </a:p>
        </p:txBody>
      </p:sp>
      <p:sp>
        <p:nvSpPr>
          <p:cNvPr id="36872" name="Slide Number Placeholder 6">
            <a:extLst>
              <a:ext uri="{FF2B5EF4-FFF2-40B4-BE49-F238E27FC236}">
                <a16:creationId xmlns:a16="http://schemas.microsoft.com/office/drawing/2014/main" id="{FD17B43A-44F9-FE82-55E2-C6C072AF2B47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115D7F-C8C9-4E09-9685-F2EEC87D098B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8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7" ma:contentTypeDescription="Create a new document." ma:contentTypeScope="" ma:versionID="257639c9bae52cceea61322fecbfd23b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146ed545e40a9bf03aef0bb26930a53e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5AF9E6-1012-4273-B6BA-249E9D801C40}"/>
</file>

<file path=customXml/itemProps2.xml><?xml version="1.0" encoding="utf-8"?>
<ds:datastoreItem xmlns:ds="http://schemas.openxmlformats.org/officeDocument/2006/customXml" ds:itemID="{F5A4867D-6777-4749-9DDD-D99B1E4C8745}"/>
</file>

<file path=customXml/itemProps3.xml><?xml version="1.0" encoding="utf-8"?>
<ds:datastoreItem xmlns:ds="http://schemas.openxmlformats.org/officeDocument/2006/customXml" ds:itemID="{BDCC2C0D-6A07-4D57-A265-739C9A2096B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1977</Words>
  <Application>Microsoft Office PowerPoint</Application>
  <PresentationFormat>On-screen Show (4:3)</PresentationFormat>
  <Paragraphs>370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Times New Roman</vt:lpstr>
      <vt:lpstr>Office Theme</vt:lpstr>
      <vt:lpstr>SEZG651/ SSZG653  Software Architectures Module 5 CS08 Conformance Testing Reconstruction</vt:lpstr>
      <vt:lpstr>Software Architecture Module 5 Ensuring conformance to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Architecture Module 5 Architecture &amp;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Architecture Module 5 Architecture Reconstruction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Harvinder Jabbal</dc:creator>
  <cp:lastModifiedBy>Harvinder Jabbal</cp:lastModifiedBy>
  <cp:revision>34</cp:revision>
  <dcterms:created xsi:type="dcterms:W3CDTF">2025-07-25T12:09:13Z</dcterms:created>
  <dcterms:modified xsi:type="dcterms:W3CDTF">2026-09-12T02:05:46Z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0x0101008507BA72441AEE45A3CAE1ADD5070980</vt:lpwstr>
  </property>
</Properties>
</file>